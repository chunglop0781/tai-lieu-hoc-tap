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2"/>
  </p:notesMasterIdLst>
  <p:handoutMasterIdLst>
    <p:handoutMasterId r:id="rId43"/>
  </p:handoutMasterIdLst>
  <p:sldIdLst>
    <p:sldId id="266" r:id="rId5"/>
    <p:sldId id="330" r:id="rId6"/>
    <p:sldId id="331" r:id="rId7"/>
    <p:sldId id="268" r:id="rId8"/>
    <p:sldId id="326" r:id="rId9"/>
    <p:sldId id="327" r:id="rId10"/>
    <p:sldId id="359" r:id="rId11"/>
    <p:sldId id="329" r:id="rId12"/>
    <p:sldId id="325" r:id="rId13"/>
    <p:sldId id="332" r:id="rId14"/>
    <p:sldId id="334" r:id="rId15"/>
    <p:sldId id="335" r:id="rId16"/>
    <p:sldId id="336" r:id="rId17"/>
    <p:sldId id="337" r:id="rId18"/>
    <p:sldId id="338" r:id="rId19"/>
    <p:sldId id="339" r:id="rId20"/>
    <p:sldId id="340" r:id="rId21"/>
    <p:sldId id="341" r:id="rId22"/>
    <p:sldId id="342" r:id="rId23"/>
    <p:sldId id="343" r:id="rId24"/>
    <p:sldId id="344" r:id="rId25"/>
    <p:sldId id="345" r:id="rId26"/>
    <p:sldId id="346" r:id="rId27"/>
    <p:sldId id="347" r:id="rId28"/>
    <p:sldId id="348" r:id="rId29"/>
    <p:sldId id="349" r:id="rId30"/>
    <p:sldId id="350" r:id="rId31"/>
    <p:sldId id="351" r:id="rId32"/>
    <p:sldId id="352" r:id="rId33"/>
    <p:sldId id="353" r:id="rId34"/>
    <p:sldId id="354" r:id="rId35"/>
    <p:sldId id="355" r:id="rId36"/>
    <p:sldId id="356" r:id="rId37"/>
    <p:sldId id="357" r:id="rId38"/>
    <p:sldId id="358" r:id="rId39"/>
    <p:sldId id="360" r:id="rId40"/>
    <p:sldId id="265" r:id="rId41"/>
  </p:sldIdLst>
  <p:sldSz cx="9144000" cy="6858000" type="screen4x3"/>
  <p:notesSz cx="6735763" cy="9866313"/>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BE7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2DF0B3-BEB7-40C8-82B6-CE3F7BD7E66E}" v="2" dt="2022-10-31T01:11:36.9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88" autoAdjust="0"/>
    <p:restoredTop sz="91536" autoAdjust="0"/>
  </p:normalViewPr>
  <p:slideViewPr>
    <p:cSldViewPr>
      <p:cViewPr varScale="1">
        <p:scale>
          <a:sx n="63" d="100"/>
          <a:sy n="63" d="100"/>
        </p:scale>
        <p:origin x="1878" y="78"/>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varScale="1">
      <p:scale>
        <a:sx n="100" d="100"/>
        <a:sy n="100" d="100"/>
      </p:scale>
      <p:origin x="0" y="-38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342DF0B3-BEB7-40C8-82B6-CE3F7BD7E66E}"/>
    <pc:docChg chg="delSld">
      <pc:chgData name="" userId="" providerId="" clId="Web-{342DF0B3-BEB7-40C8-82B6-CE3F7BD7E66E}" dt="2022-10-31T01:11:12.423" v="0"/>
      <pc:docMkLst>
        <pc:docMk/>
      </pc:docMkLst>
      <pc:sldChg chg="del">
        <pc:chgData name="" userId="" providerId="" clId="Web-{342DF0B3-BEB7-40C8-82B6-CE3F7BD7E66E}" dt="2022-10-31T01:11:12.423" v="0"/>
        <pc:sldMkLst>
          <pc:docMk/>
          <pc:sldMk cId="915879784" sldId="267"/>
        </pc:sldMkLst>
      </pc:sldChg>
    </pc:docChg>
  </pc:docChgLst>
  <pc:docChgLst>
    <pc:chgData name="NGUYỄN THÀNH VINH" userId="S::vinh221231052@lms.utc.edu.vn::3d69ae96-3f5e-464f-819d-9806deea71bf" providerId="AD" clId="Web-{342DF0B3-BEB7-40C8-82B6-CE3F7BD7E66E}"/>
    <pc:docChg chg="modSld">
      <pc:chgData name="NGUYỄN THÀNH VINH" userId="S::vinh221231052@lms.utc.edu.vn::3d69ae96-3f5e-464f-819d-9806deea71bf" providerId="AD" clId="Web-{342DF0B3-BEB7-40C8-82B6-CE3F7BD7E66E}" dt="2022-10-31T01:11:36.974" v="0" actId="1076"/>
      <pc:docMkLst>
        <pc:docMk/>
      </pc:docMkLst>
      <pc:sldChg chg="modSp">
        <pc:chgData name="NGUYỄN THÀNH VINH" userId="S::vinh221231052@lms.utc.edu.vn::3d69ae96-3f5e-464f-819d-9806deea71bf" providerId="AD" clId="Web-{342DF0B3-BEB7-40C8-82B6-CE3F7BD7E66E}" dt="2022-10-31T01:11:36.974" v="0" actId="1076"/>
        <pc:sldMkLst>
          <pc:docMk/>
          <pc:sldMk cId="539624589" sldId="268"/>
        </pc:sldMkLst>
        <pc:spChg chg="mod">
          <ac:chgData name="NGUYỄN THÀNH VINH" userId="S::vinh221231052@lms.utc.edu.vn::3d69ae96-3f5e-464f-819d-9806deea71bf" providerId="AD" clId="Web-{342DF0B3-BEB7-40C8-82B6-CE3F7BD7E66E}" dt="2022-10-31T01:11:36.974" v="0" actId="1076"/>
          <ac:spMkLst>
            <pc:docMk/>
            <pc:sldMk cId="539624589" sldId="268"/>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413" cy="493713"/>
          </a:xfrm>
          <a:prstGeom prst="rect">
            <a:avLst/>
          </a:prstGeom>
        </p:spPr>
        <p:txBody>
          <a:bodyPr vert="horz" wrap="square" lIns="90750" tIns="45376" rIns="90750" bIns="45376" numCol="1" anchor="t" anchorCtr="0" compatLnSpc="1">
            <a:prstTxWarp prst="textNoShape">
              <a:avLst/>
            </a:prstTxWarp>
          </a:bodyPr>
          <a:lstStyle>
            <a:lvl1pPr>
              <a:defRPr sz="1200">
                <a:cs typeface="Arial" charset="0"/>
              </a:defRPr>
            </a:lvl1pPr>
          </a:lstStyle>
          <a:p>
            <a:pPr>
              <a:defRPr/>
            </a:pPr>
            <a:endParaRPr lang="en-US" altLang="en-US"/>
          </a:p>
        </p:txBody>
      </p:sp>
      <p:sp>
        <p:nvSpPr>
          <p:cNvPr id="3" name="Date Placeholder 2"/>
          <p:cNvSpPr>
            <a:spLocks noGrp="1"/>
          </p:cNvSpPr>
          <p:nvPr>
            <p:ph type="dt" sz="quarter" idx="1"/>
          </p:nvPr>
        </p:nvSpPr>
        <p:spPr>
          <a:xfrm>
            <a:off x="3814763" y="0"/>
            <a:ext cx="2919412" cy="493713"/>
          </a:xfrm>
          <a:prstGeom prst="rect">
            <a:avLst/>
          </a:prstGeom>
        </p:spPr>
        <p:txBody>
          <a:bodyPr vert="horz" wrap="square" lIns="90750" tIns="45376" rIns="90750" bIns="45376" numCol="1" anchor="t" anchorCtr="0" compatLnSpc="1">
            <a:prstTxWarp prst="textNoShape">
              <a:avLst/>
            </a:prstTxWarp>
          </a:bodyPr>
          <a:lstStyle>
            <a:lvl1pPr algn="r">
              <a:defRPr sz="1200">
                <a:cs typeface="Arial" charset="0"/>
              </a:defRPr>
            </a:lvl1pPr>
          </a:lstStyle>
          <a:p>
            <a:pPr>
              <a:defRPr/>
            </a:pPr>
            <a:fld id="{6452CE8D-4DE5-4615-8509-918B5CDBD4CD}" type="datetimeFigureOut">
              <a:rPr lang="en-US" altLang="en-US"/>
              <a:pPr>
                <a:defRPr/>
              </a:pPr>
              <a:t>10/30/2022</a:t>
            </a:fld>
            <a:endParaRPr lang="en-US" altLang="en-US"/>
          </a:p>
        </p:txBody>
      </p:sp>
      <p:sp>
        <p:nvSpPr>
          <p:cNvPr id="4" name="Footer Placeholder 3"/>
          <p:cNvSpPr>
            <a:spLocks noGrp="1"/>
          </p:cNvSpPr>
          <p:nvPr>
            <p:ph type="ftr" sz="quarter" idx="2"/>
          </p:nvPr>
        </p:nvSpPr>
        <p:spPr>
          <a:xfrm>
            <a:off x="0" y="9372600"/>
            <a:ext cx="2919413" cy="493713"/>
          </a:xfrm>
          <a:prstGeom prst="rect">
            <a:avLst/>
          </a:prstGeom>
        </p:spPr>
        <p:txBody>
          <a:bodyPr vert="horz" wrap="square" lIns="90750" tIns="45376" rIns="90750" bIns="45376" numCol="1" anchor="b" anchorCtr="0" compatLnSpc="1">
            <a:prstTxWarp prst="textNoShape">
              <a:avLst/>
            </a:prstTxWarp>
          </a:bodyPr>
          <a:lstStyle>
            <a:lvl1pPr>
              <a:defRPr sz="1200">
                <a:cs typeface="Arial" charset="0"/>
              </a:defRPr>
            </a:lvl1pPr>
          </a:lstStyle>
          <a:p>
            <a:pPr>
              <a:defRPr/>
            </a:pPr>
            <a:endParaRPr lang="en-US" altLang="en-US"/>
          </a:p>
        </p:txBody>
      </p:sp>
      <p:sp>
        <p:nvSpPr>
          <p:cNvPr id="5" name="Slide Number Placeholder 4"/>
          <p:cNvSpPr>
            <a:spLocks noGrp="1"/>
          </p:cNvSpPr>
          <p:nvPr>
            <p:ph type="sldNum" sz="quarter" idx="3"/>
          </p:nvPr>
        </p:nvSpPr>
        <p:spPr>
          <a:xfrm>
            <a:off x="3814763" y="9372600"/>
            <a:ext cx="2919412" cy="493713"/>
          </a:xfrm>
          <a:prstGeom prst="rect">
            <a:avLst/>
          </a:prstGeom>
        </p:spPr>
        <p:txBody>
          <a:bodyPr vert="horz" wrap="square" lIns="90750" tIns="45376" rIns="90750" bIns="45376" numCol="1" anchor="b" anchorCtr="0" compatLnSpc="1">
            <a:prstTxWarp prst="textNoShape">
              <a:avLst/>
            </a:prstTxWarp>
          </a:bodyPr>
          <a:lstStyle>
            <a:lvl1pPr algn="r">
              <a:defRPr sz="1200"/>
            </a:lvl1pPr>
          </a:lstStyle>
          <a:p>
            <a:fld id="{9835BDCC-C97E-4BBF-8061-82A2E5C05F29}"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413" cy="493713"/>
          </a:xfrm>
          <a:prstGeom prst="rect">
            <a:avLst/>
          </a:prstGeom>
        </p:spPr>
        <p:txBody>
          <a:bodyPr vert="horz" wrap="square" lIns="90750" tIns="45376" rIns="90750" bIns="45376" numCol="1" anchor="t" anchorCtr="0" compatLnSpc="1">
            <a:prstTxWarp prst="textNoShape">
              <a:avLst/>
            </a:prstTxWarp>
          </a:bodyPr>
          <a:lstStyle>
            <a:lvl1pPr eaLnBrk="1" hangingPunct="1">
              <a:defRPr sz="1200">
                <a:cs typeface="Arial" charset="0"/>
              </a:defRPr>
            </a:lvl1pPr>
          </a:lstStyle>
          <a:p>
            <a:pPr>
              <a:defRPr/>
            </a:pPr>
            <a:endParaRPr lang="en-US" altLang="en-US"/>
          </a:p>
        </p:txBody>
      </p:sp>
      <p:sp>
        <p:nvSpPr>
          <p:cNvPr id="3" name="Date Placeholder 2"/>
          <p:cNvSpPr>
            <a:spLocks noGrp="1"/>
          </p:cNvSpPr>
          <p:nvPr>
            <p:ph type="dt" idx="1"/>
          </p:nvPr>
        </p:nvSpPr>
        <p:spPr>
          <a:xfrm>
            <a:off x="3814763" y="0"/>
            <a:ext cx="2919412" cy="493713"/>
          </a:xfrm>
          <a:prstGeom prst="rect">
            <a:avLst/>
          </a:prstGeom>
        </p:spPr>
        <p:txBody>
          <a:bodyPr vert="horz" wrap="square" lIns="90750" tIns="45376" rIns="90750" bIns="45376" numCol="1" anchor="t" anchorCtr="0" compatLnSpc="1">
            <a:prstTxWarp prst="textNoShape">
              <a:avLst/>
            </a:prstTxWarp>
          </a:bodyPr>
          <a:lstStyle>
            <a:lvl1pPr algn="r" eaLnBrk="1" hangingPunct="1">
              <a:defRPr sz="1200">
                <a:cs typeface="Arial" charset="0"/>
              </a:defRPr>
            </a:lvl1pPr>
          </a:lstStyle>
          <a:p>
            <a:pPr>
              <a:defRPr/>
            </a:pPr>
            <a:fld id="{B25D454E-CD6B-4C0B-9114-3B78A27C778F}" type="datetimeFigureOut">
              <a:rPr lang="en-US" altLang="en-US"/>
              <a:pPr>
                <a:defRPr/>
              </a:pPr>
              <a:t>10/30/2022</a:t>
            </a:fld>
            <a:endParaRPr lang="en-US" altLang="en-US"/>
          </a:p>
        </p:txBody>
      </p:sp>
      <p:sp>
        <p:nvSpPr>
          <p:cNvPr id="4" name="Slide Image Placeholder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0750" tIns="45376" rIns="90750" bIns="45376" rtlCol="0" anchor="ctr"/>
          <a:lstStyle/>
          <a:p>
            <a:pPr lvl="0"/>
            <a:endParaRPr lang="en-US" noProof="0"/>
          </a:p>
        </p:txBody>
      </p:sp>
      <p:sp>
        <p:nvSpPr>
          <p:cNvPr id="5" name="Notes Placeholder 4"/>
          <p:cNvSpPr>
            <a:spLocks noGrp="1"/>
          </p:cNvSpPr>
          <p:nvPr>
            <p:ph type="body" sz="quarter" idx="3"/>
          </p:nvPr>
        </p:nvSpPr>
        <p:spPr>
          <a:xfrm>
            <a:off x="673100" y="4686300"/>
            <a:ext cx="5389563" cy="4440238"/>
          </a:xfrm>
          <a:prstGeom prst="rect">
            <a:avLst/>
          </a:prstGeom>
        </p:spPr>
        <p:txBody>
          <a:bodyPr vert="horz" lIns="90750" tIns="45376" rIns="90750" bIns="45376"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371013"/>
            <a:ext cx="2919413" cy="493712"/>
          </a:xfrm>
          <a:prstGeom prst="rect">
            <a:avLst/>
          </a:prstGeom>
        </p:spPr>
        <p:txBody>
          <a:bodyPr vert="horz" wrap="square" lIns="90750" tIns="45376" rIns="90750" bIns="45376" numCol="1" anchor="b" anchorCtr="0" compatLnSpc="1">
            <a:prstTxWarp prst="textNoShape">
              <a:avLst/>
            </a:prstTxWarp>
          </a:bodyPr>
          <a:lstStyle>
            <a:lvl1pPr eaLnBrk="1" hangingPunct="1">
              <a:defRPr sz="1200">
                <a:cs typeface="Arial" charset="0"/>
              </a:defRPr>
            </a:lvl1pPr>
          </a:lstStyle>
          <a:p>
            <a:pPr>
              <a:defRPr/>
            </a:pPr>
            <a:endParaRPr lang="en-US" altLang="en-US"/>
          </a:p>
        </p:txBody>
      </p:sp>
      <p:sp>
        <p:nvSpPr>
          <p:cNvPr id="7" name="Slide Number Placeholder 6"/>
          <p:cNvSpPr>
            <a:spLocks noGrp="1"/>
          </p:cNvSpPr>
          <p:nvPr>
            <p:ph type="sldNum" sz="quarter" idx="5"/>
          </p:nvPr>
        </p:nvSpPr>
        <p:spPr>
          <a:xfrm>
            <a:off x="3814763" y="9371013"/>
            <a:ext cx="2919412" cy="493712"/>
          </a:xfrm>
          <a:prstGeom prst="rect">
            <a:avLst/>
          </a:prstGeom>
        </p:spPr>
        <p:txBody>
          <a:bodyPr vert="horz" wrap="square" lIns="90750" tIns="45376" rIns="90750" bIns="45376" numCol="1" anchor="b" anchorCtr="0" compatLnSpc="1">
            <a:prstTxWarp prst="textNoShape">
              <a:avLst/>
            </a:prstTxWarp>
          </a:bodyPr>
          <a:lstStyle>
            <a:lvl1pPr algn="r" eaLnBrk="1" hangingPunct="1">
              <a:defRPr sz="1200"/>
            </a:lvl1pPr>
          </a:lstStyle>
          <a:p>
            <a:fld id="{FB02F604-5D6E-4A55-AC85-D284686D9A6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B02F604-5D6E-4A55-AC85-D284686D9A61}" type="slidenum">
              <a:rPr lang="en-US" altLang="en-US" smtClean="0"/>
              <a:pPr/>
              <a:t>29</a:t>
            </a:fld>
            <a:endParaRPr lang="en-US" altLang="en-US"/>
          </a:p>
        </p:txBody>
      </p:sp>
    </p:spTree>
    <p:extLst>
      <p:ext uri="{BB962C8B-B14F-4D97-AF65-F5344CB8AC3E}">
        <p14:creationId xmlns:p14="http://schemas.microsoft.com/office/powerpoint/2010/main" val="1117775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rgbClr val="002060"/>
                </a:solidFill>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28DB1C2-3987-4718-B168-638FA0FA7052}" type="datetime1">
              <a:rPr lang="en-US" altLang="en-US" smtClean="0"/>
              <a:t>10/30/2022</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fld id="{7D08990A-1F63-4BB5-A92D-CA36487E63F1}" type="slidenum">
              <a:rPr lang="en-US" altLang="en-US"/>
              <a:pPr/>
              <a:t>‹#›</a:t>
            </a:fld>
            <a:endParaRPr lang="en-US" altLang="en-US"/>
          </a:p>
        </p:txBody>
      </p:sp>
    </p:spTree>
    <p:extLst>
      <p:ext uri="{BB962C8B-B14F-4D97-AF65-F5344CB8AC3E}">
        <p14:creationId xmlns:p14="http://schemas.microsoft.com/office/powerpoint/2010/main" val="3357589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990600"/>
          </a:xfrm>
        </p:spPr>
        <p:txBody>
          <a:bodyPr/>
          <a:lstStyle>
            <a:lvl1pPr algn="l">
              <a:defRPr sz="3000">
                <a:solidFill>
                  <a:srgbClr val="FFFF0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457200" y="1323105"/>
            <a:ext cx="8229600" cy="4678363"/>
          </a:xfrm>
        </p:spPr>
        <p:txBody>
          <a:bodyPr/>
          <a:lstStyle>
            <a:lvl1pPr marL="342900" indent="-342900">
              <a:buFont typeface="Wingdings" panose="05000000000000000000" pitchFamily="2" charset="2"/>
              <a:buChar char="q"/>
              <a:defRPr sz="2600" b="1">
                <a:solidFill>
                  <a:schemeClr val="tx1">
                    <a:lumMod val="95000"/>
                    <a:lumOff val="5000"/>
                  </a:schemeClr>
                </a:solidFill>
                <a:latin typeface="Arial" panose="020B0604020202020204" pitchFamily="34" charset="0"/>
                <a:cs typeface="Arial" panose="020B0604020202020204" pitchFamily="34" charset="0"/>
              </a:defRPr>
            </a:lvl1pPr>
            <a:lvl2pPr>
              <a:defRPr sz="2400">
                <a:solidFill>
                  <a:schemeClr val="tx1"/>
                </a:solidFill>
              </a:defRPr>
            </a:lvl2pPr>
            <a:lvl3pPr>
              <a:defRPr sz="2400">
                <a:solidFill>
                  <a:schemeClr val="tx1"/>
                </a:solidFill>
              </a:defRPr>
            </a:lvl3pPr>
            <a:lvl4pPr>
              <a:defRPr sz="2400">
                <a:solidFill>
                  <a:schemeClr val="tx1"/>
                </a:solidFill>
              </a:defRPr>
            </a:lvl4pPr>
            <a:lvl5pP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DFC72CB4-BBA4-4B4D-BEDC-111189EE794C}" type="datetime1">
              <a:rPr lang="en-US" altLang="en-US" smtClean="0"/>
              <a:t>10/30/2022</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fld id="{73E9613B-F541-4B9F-824A-15521B777744}" type="slidenum">
              <a:rPr lang="en-US" altLang="en-US"/>
              <a:pPr/>
              <a:t>‹#›</a:t>
            </a:fld>
            <a:endParaRPr lang="en-US" altLang="en-US"/>
          </a:p>
        </p:txBody>
      </p:sp>
    </p:spTree>
    <p:extLst>
      <p:ext uri="{BB962C8B-B14F-4D97-AF65-F5344CB8AC3E}">
        <p14:creationId xmlns:p14="http://schemas.microsoft.com/office/powerpoint/2010/main" val="2708391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5"/>
          <p:cNvPicPr>
            <a:picLocks noChangeAspect="1" noChangeArrowheads="1"/>
          </p:cNvPicPr>
          <p:nvPr userDrawn="1"/>
        </p:nvPicPr>
        <p:blipFill>
          <a:blip r:embed="rId2">
            <a:extLst>
              <a:ext uri="{28A0092B-C50C-407E-A947-70E740481C1C}">
                <a14:useLocalDpi xmlns:a14="http://schemas.microsoft.com/office/drawing/2010/main" val="0"/>
              </a:ext>
            </a:extLst>
          </a:blip>
          <a:srcRect t="8081" b="8862"/>
          <a:stretch>
            <a:fillRect/>
          </a:stretch>
        </p:blipFill>
        <p:spPr bwMode="auto">
          <a:xfrm>
            <a:off x="0" y="1131888"/>
            <a:ext cx="9144000" cy="537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0" y="2057400"/>
            <a:ext cx="9144000" cy="2057400"/>
          </a:xfrm>
        </p:spPr>
        <p:txBody>
          <a:bodyPr anchor="t"/>
          <a:lstStyle>
            <a:lvl1pPr algn="ctr">
              <a:defRPr sz="4000" b="1" cap="all">
                <a:solidFill>
                  <a:srgbClr val="FF0000"/>
                </a:solidFill>
                <a:latin typeface="Arial" pitchFamily="34" charset="0"/>
                <a:cs typeface="Arial" pitchFamily="34" charset="0"/>
              </a:defRPr>
            </a:lvl1pPr>
          </a:lstStyle>
          <a:p>
            <a:r>
              <a:rPr lang="en-US" dirty="0"/>
              <a:t>Click to edit Master title style</a:t>
            </a:r>
          </a:p>
        </p:txBody>
      </p:sp>
      <p:sp>
        <p:nvSpPr>
          <p:cNvPr id="3" name="Text Placeholder 2"/>
          <p:cNvSpPr>
            <a:spLocks noGrp="1"/>
          </p:cNvSpPr>
          <p:nvPr>
            <p:ph type="body" idx="1"/>
          </p:nvPr>
        </p:nvSpPr>
        <p:spPr>
          <a:xfrm>
            <a:off x="457200" y="76200"/>
            <a:ext cx="7239000" cy="990600"/>
          </a:xfrm>
        </p:spPr>
        <p:txBody>
          <a:bodyPr anchor="ctr"/>
          <a:lstStyle>
            <a:lvl1pPr marL="0" indent="0">
              <a:buNone/>
              <a:defRPr sz="3000">
                <a:solidFill>
                  <a:srgbClr val="FFFF00"/>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5" name="Date Placeholder 3"/>
          <p:cNvSpPr>
            <a:spLocks noGrp="1"/>
          </p:cNvSpPr>
          <p:nvPr>
            <p:ph type="dt" sz="half" idx="10"/>
          </p:nvPr>
        </p:nvSpPr>
        <p:spPr/>
        <p:txBody>
          <a:bodyPr/>
          <a:lstStyle>
            <a:lvl1pPr>
              <a:defRPr/>
            </a:lvl1pPr>
          </a:lstStyle>
          <a:p>
            <a:pPr>
              <a:defRPr/>
            </a:pPr>
            <a:fld id="{F1180AFE-FBF4-4916-A3D2-FE22DC21A0C1}" type="datetime1">
              <a:rPr lang="en-US" altLang="en-US" smtClean="0"/>
              <a:t>10/30/2022</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fld id="{E27BE039-08CD-42D3-98D2-E475D9DD1AC2}" type="slidenum">
              <a:rPr lang="en-US" altLang="en-US"/>
              <a:pPr/>
              <a:t>‹#›</a:t>
            </a:fld>
            <a:endParaRPr lang="en-US" altLang="en-US"/>
          </a:p>
        </p:txBody>
      </p:sp>
    </p:spTree>
    <p:extLst>
      <p:ext uri="{BB962C8B-B14F-4D97-AF65-F5344CB8AC3E}">
        <p14:creationId xmlns:p14="http://schemas.microsoft.com/office/powerpoint/2010/main" val="3060960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6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6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21191B35-FC03-47CE-8B32-C8D50FAA8F4C}" type="datetime1">
              <a:rPr lang="en-US" altLang="en-US" smtClean="0"/>
              <a:t>10/30/2022</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fld id="{2ED4CFA4-ADCF-4D52-ABF6-C3F6FD7F98F6}" type="slidenum">
              <a:rPr lang="en-US" altLang="en-US"/>
              <a:pPr/>
              <a:t>‹#›</a:t>
            </a:fld>
            <a:endParaRPr lang="en-US" altLang="en-US"/>
          </a:p>
        </p:txBody>
      </p:sp>
    </p:spTree>
    <p:extLst>
      <p:ext uri="{BB962C8B-B14F-4D97-AF65-F5344CB8AC3E}">
        <p14:creationId xmlns:p14="http://schemas.microsoft.com/office/powerpoint/2010/main" val="4003632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9ED73D11-3119-4D42-B993-BB79D92C54F9}" type="datetime1">
              <a:rPr lang="en-US" altLang="en-US" smtClean="0"/>
              <a:t>10/30/2022</a:t>
            </a:fld>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ltLang="en-US"/>
          </a:p>
        </p:txBody>
      </p:sp>
      <p:sp>
        <p:nvSpPr>
          <p:cNvPr id="9" name="Slide Number Placeholder 5"/>
          <p:cNvSpPr>
            <a:spLocks noGrp="1"/>
          </p:cNvSpPr>
          <p:nvPr>
            <p:ph type="sldNum" sz="quarter" idx="12"/>
          </p:nvPr>
        </p:nvSpPr>
        <p:spPr/>
        <p:txBody>
          <a:bodyPr/>
          <a:lstStyle>
            <a:lvl1pPr>
              <a:defRPr/>
            </a:lvl1pPr>
          </a:lstStyle>
          <a:p>
            <a:fld id="{14A32558-B019-4C2C-BD4C-AECD94E13116}" type="slidenum">
              <a:rPr lang="en-US" altLang="en-US"/>
              <a:pPr/>
              <a:t>‹#›</a:t>
            </a:fld>
            <a:endParaRPr lang="en-US" altLang="en-US"/>
          </a:p>
        </p:txBody>
      </p:sp>
    </p:spTree>
    <p:extLst>
      <p:ext uri="{BB962C8B-B14F-4D97-AF65-F5344CB8AC3E}">
        <p14:creationId xmlns:p14="http://schemas.microsoft.com/office/powerpoint/2010/main" val="110003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11BD9699-AAFB-449B-871C-AC18B8DC8CA8}" type="datetime1">
              <a:rPr lang="en-US" altLang="en-US" smtClean="0"/>
              <a:t>10/30/2022</a:t>
            </a:fld>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US" altLang="en-US"/>
          </a:p>
        </p:txBody>
      </p:sp>
      <p:sp>
        <p:nvSpPr>
          <p:cNvPr id="5" name="Slide Number Placeholder 5"/>
          <p:cNvSpPr>
            <a:spLocks noGrp="1"/>
          </p:cNvSpPr>
          <p:nvPr>
            <p:ph type="sldNum" sz="quarter" idx="12"/>
          </p:nvPr>
        </p:nvSpPr>
        <p:spPr/>
        <p:txBody>
          <a:bodyPr/>
          <a:lstStyle>
            <a:lvl1pPr>
              <a:defRPr/>
            </a:lvl1pPr>
          </a:lstStyle>
          <a:p>
            <a:fld id="{A66621F5-6C39-4B99-8DFC-C24DF0D85F11}" type="slidenum">
              <a:rPr lang="en-US" altLang="en-US"/>
              <a:pPr/>
              <a:t>‹#›</a:t>
            </a:fld>
            <a:endParaRPr lang="en-US" altLang="en-US"/>
          </a:p>
        </p:txBody>
      </p:sp>
    </p:spTree>
    <p:extLst>
      <p:ext uri="{BB962C8B-B14F-4D97-AF65-F5344CB8AC3E}">
        <p14:creationId xmlns:p14="http://schemas.microsoft.com/office/powerpoint/2010/main" val="2137590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C9DFE57-7D55-45F5-9D8F-D235AB16A3C2}" type="datetime1">
              <a:rPr lang="en-US" altLang="en-US" smtClean="0"/>
              <a:t>10/30/2022</a:t>
            </a:fld>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US" altLang="en-US"/>
          </a:p>
        </p:txBody>
      </p:sp>
      <p:sp>
        <p:nvSpPr>
          <p:cNvPr id="4" name="Slide Number Placeholder 5"/>
          <p:cNvSpPr>
            <a:spLocks noGrp="1"/>
          </p:cNvSpPr>
          <p:nvPr>
            <p:ph type="sldNum" sz="quarter" idx="12"/>
          </p:nvPr>
        </p:nvSpPr>
        <p:spPr/>
        <p:txBody>
          <a:bodyPr/>
          <a:lstStyle>
            <a:lvl1pPr>
              <a:defRPr/>
            </a:lvl1pPr>
          </a:lstStyle>
          <a:p>
            <a:fld id="{F288DECD-8E43-41A0-9A0C-E6B0055199B3}" type="slidenum">
              <a:rPr lang="en-US" altLang="en-US"/>
              <a:pPr/>
              <a:t>‹#›</a:t>
            </a:fld>
            <a:endParaRPr lang="en-US" altLang="en-US"/>
          </a:p>
        </p:txBody>
      </p:sp>
    </p:spTree>
    <p:extLst>
      <p:ext uri="{BB962C8B-B14F-4D97-AF65-F5344CB8AC3E}">
        <p14:creationId xmlns:p14="http://schemas.microsoft.com/office/powerpoint/2010/main" val="1888650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5BC5C3F-6171-4750-A28B-97ACED467F7A}" type="datetime1">
              <a:rPr lang="en-US" altLang="en-US" smtClean="0"/>
              <a:t>10/30/2022</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fld id="{C5BAA532-7882-4ECB-9DA1-1F126C1939DA}" type="slidenum">
              <a:rPr lang="en-US" altLang="en-US"/>
              <a:pPr/>
              <a:t>‹#›</a:t>
            </a:fld>
            <a:endParaRPr lang="en-US" altLang="en-US"/>
          </a:p>
        </p:txBody>
      </p:sp>
    </p:spTree>
    <p:extLst>
      <p:ext uri="{BB962C8B-B14F-4D97-AF65-F5344CB8AC3E}">
        <p14:creationId xmlns:p14="http://schemas.microsoft.com/office/powerpoint/2010/main" val="3400667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8694FC5-6FF9-4438-98A1-42F6148BF868}" type="datetime1">
              <a:rPr lang="en-US" altLang="en-US" smtClean="0"/>
              <a:t>10/30/2022</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fld id="{DF68E4C9-1371-4695-A826-32EBAEA454FB}" type="slidenum">
              <a:rPr lang="en-US" altLang="en-US"/>
              <a:pPr/>
              <a:t>‹#›</a:t>
            </a:fld>
            <a:endParaRPr lang="en-US" altLang="en-US"/>
          </a:p>
        </p:txBody>
      </p:sp>
    </p:spTree>
    <p:extLst>
      <p:ext uri="{BB962C8B-B14F-4D97-AF65-F5344CB8AC3E}">
        <p14:creationId xmlns:p14="http://schemas.microsoft.com/office/powerpoint/2010/main" val="3708651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7BB0ECE-2BC6-4F4C-970C-8E9AF583BF9D}" type="datetime1">
              <a:rPr lang="en-US" altLang="en-US" smtClean="0"/>
              <a:t>10/30/2022</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fld id="{966109D0-3962-4CA9-89AB-C4D649D1EB46}" type="slidenum">
              <a:rPr lang="en-US" altLang="en-US"/>
              <a:pPr/>
              <a:t>‹#›</a:t>
            </a:fld>
            <a:endParaRPr lang="en-US" altLang="en-US"/>
          </a:p>
        </p:txBody>
      </p:sp>
    </p:spTree>
    <p:extLst>
      <p:ext uri="{BB962C8B-B14F-4D97-AF65-F5344CB8AC3E}">
        <p14:creationId xmlns:p14="http://schemas.microsoft.com/office/powerpoint/2010/main" val="3186621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5B849DB-D88C-4C7F-A187-3C167E1D7E6C}" type="datetime1">
              <a:rPr lang="en-US" altLang="en-US" smtClean="0"/>
              <a:t>10/30/2022</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fld id="{F66DC621-3EFC-4B51-AEC1-17541151FC00}" type="slidenum">
              <a:rPr lang="en-US" altLang="en-US"/>
              <a:pPr/>
              <a:t>‹#›</a:t>
            </a:fld>
            <a:endParaRPr lang="en-US" altLang="en-US"/>
          </a:p>
        </p:txBody>
      </p:sp>
    </p:spTree>
    <p:extLst>
      <p:ext uri="{BB962C8B-B14F-4D97-AF65-F5344CB8AC3E}">
        <p14:creationId xmlns:p14="http://schemas.microsoft.com/office/powerpoint/2010/main" val="24155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p:nvPr>
        </p:nvSpPr>
        <p:spPr bwMode="auto">
          <a:xfrm>
            <a:off x="457200" y="152400"/>
            <a:ext cx="7467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noChangeArrowheads="1"/>
          </p:cNvSpPr>
          <p:nvPr>
            <p:ph type="body" idx="1"/>
          </p:nvPr>
        </p:nvSpPr>
        <p:spPr bwMode="auto">
          <a:xfrm>
            <a:off x="457200" y="1371600"/>
            <a:ext cx="82296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cs typeface="Arial" charset="0"/>
              </a:defRPr>
            </a:lvl1pPr>
          </a:lstStyle>
          <a:p>
            <a:pPr>
              <a:defRPr/>
            </a:pPr>
            <a:fld id="{C17E9365-4C86-4F63-A082-778054EDC6BD}" type="datetime1">
              <a:rPr lang="en-US" altLang="en-US" smtClean="0"/>
              <a:t>10/30/2022</a:t>
            </a:fld>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cs typeface="Arial" charset="0"/>
              </a:defRPr>
            </a:lvl1pPr>
          </a:lstStyle>
          <a:p>
            <a:pPr>
              <a:defRPr/>
            </a:pPr>
            <a:endParaRPr lang="en-US"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a:solidFill>
                  <a:srgbClr val="0000FF"/>
                </a:solidFill>
                <a:latin typeface="Arial" panose="020B0604020202020204" pitchFamily="34" charset="0"/>
              </a:defRPr>
            </a:lvl1pPr>
          </a:lstStyle>
          <a:p>
            <a:fld id="{52666095-8ADE-4767-824D-6CD9D97975E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51"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hf hdr="0" ftr="0" dt="0"/>
  <p:txStyles>
    <p:titleStyle>
      <a:lvl1pPr algn="ctr" rtl="0" eaLnBrk="0" fontAlgn="base" hangingPunct="0">
        <a:spcBef>
          <a:spcPct val="0"/>
        </a:spcBef>
        <a:spcAft>
          <a:spcPct val="0"/>
        </a:spcAft>
        <a:defRPr sz="3600" b="1" kern="1200">
          <a:solidFill>
            <a:srgbClr val="FFFF00"/>
          </a:solidFill>
          <a:latin typeface="+mj-lt"/>
          <a:ea typeface="+mj-ea"/>
          <a:cs typeface="+mj-cs"/>
        </a:defRPr>
      </a:lvl1pPr>
      <a:lvl2pPr algn="ctr" rtl="0" eaLnBrk="0" fontAlgn="base" hangingPunct="0">
        <a:spcBef>
          <a:spcPct val="0"/>
        </a:spcBef>
        <a:spcAft>
          <a:spcPct val="0"/>
        </a:spcAft>
        <a:defRPr sz="3600" b="1">
          <a:solidFill>
            <a:srgbClr val="FFFF00"/>
          </a:solidFill>
          <a:latin typeface="Calibri" panose="020F0502020204030204" pitchFamily="34" charset="0"/>
        </a:defRPr>
      </a:lvl2pPr>
      <a:lvl3pPr algn="ctr" rtl="0" eaLnBrk="0" fontAlgn="base" hangingPunct="0">
        <a:spcBef>
          <a:spcPct val="0"/>
        </a:spcBef>
        <a:spcAft>
          <a:spcPct val="0"/>
        </a:spcAft>
        <a:defRPr sz="3600" b="1">
          <a:solidFill>
            <a:srgbClr val="FFFF00"/>
          </a:solidFill>
          <a:latin typeface="Calibri" panose="020F0502020204030204" pitchFamily="34" charset="0"/>
        </a:defRPr>
      </a:lvl3pPr>
      <a:lvl4pPr algn="ctr" rtl="0" eaLnBrk="0" fontAlgn="base" hangingPunct="0">
        <a:spcBef>
          <a:spcPct val="0"/>
        </a:spcBef>
        <a:spcAft>
          <a:spcPct val="0"/>
        </a:spcAft>
        <a:defRPr sz="3600" b="1">
          <a:solidFill>
            <a:srgbClr val="FFFF00"/>
          </a:solidFill>
          <a:latin typeface="Calibri" panose="020F0502020204030204" pitchFamily="34" charset="0"/>
        </a:defRPr>
      </a:lvl4pPr>
      <a:lvl5pPr algn="ctr" rtl="0" eaLnBrk="0" fontAlgn="base" hangingPunct="0">
        <a:spcBef>
          <a:spcPct val="0"/>
        </a:spcBef>
        <a:spcAft>
          <a:spcPct val="0"/>
        </a:spcAft>
        <a:defRPr sz="3600" b="1">
          <a:solidFill>
            <a:srgbClr val="FFFF00"/>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ts val="100"/>
        </a:spcBef>
        <a:spcAft>
          <a:spcPts val="200"/>
        </a:spcAft>
        <a:buFont typeface="Arial" panose="020B0604020202020204" pitchFamily="34" charset="0"/>
        <a:buChar char="•"/>
        <a:defRPr sz="2800" b="1" kern="1200">
          <a:solidFill>
            <a:srgbClr val="002060"/>
          </a:solidFill>
          <a:latin typeface="Arial" panose="020B0604020202020204" pitchFamily="34" charset="0"/>
          <a:ea typeface="Arial" charset="0"/>
          <a:cs typeface="Arial" panose="020B0604020202020204" pitchFamily="34" charset="0"/>
        </a:defRPr>
      </a:lvl1pPr>
      <a:lvl2pPr marL="742950" indent="-285750" algn="l" rtl="0" eaLnBrk="0" fontAlgn="base" hangingPunct="0">
        <a:spcBef>
          <a:spcPts val="300"/>
        </a:spcBef>
        <a:spcAft>
          <a:spcPts val="300"/>
        </a:spcAft>
        <a:buFont typeface="Arial" panose="020B0604020202020204" pitchFamily="34" charset="0"/>
        <a:buChar char="–"/>
        <a:defRPr sz="2400" kern="1200">
          <a:solidFill>
            <a:srgbClr val="002060"/>
          </a:solidFill>
          <a:latin typeface="Arial" pitchFamily="34" charset="0"/>
          <a:ea typeface="Arial" charset="0"/>
          <a:cs typeface="Arial" pitchFamily="34" charset="0"/>
        </a:defRPr>
      </a:lvl2pPr>
      <a:lvl3pPr marL="11430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itchFamily="34" charset="0"/>
          <a:ea typeface="Arial" charset="0"/>
          <a:cs typeface="Arial" pitchFamily="34" charset="0"/>
        </a:defRPr>
      </a:lvl3pPr>
      <a:lvl4pPr marL="16002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itchFamily="34" charset="0"/>
          <a:ea typeface="Arial" charset="0"/>
          <a:cs typeface="Arial" pitchFamily="34" charset="0"/>
        </a:defRPr>
      </a:lvl4pPr>
      <a:lvl5pPr marL="20574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itchFamily="34" charset="0"/>
          <a:ea typeface="Arial"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cuscsoft.com/index.php?content/1/1/256"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mic.gov.vn/Pages/TinTuc/138757/Bo-TT-TT-phat-hanh--Tai-lieu-nhung-dieu-can-biet-ve-nghe-CNTT-.html"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wmf"/><Relationship Id="rId4"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3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3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05890" y="2184371"/>
            <a:ext cx="7176110" cy="1211229"/>
          </a:xfrm>
          <a:prstGeom prst="rect">
            <a:avLst/>
          </a:prstGeom>
        </p:spPr>
        <p:txBody>
          <a:bodyPr vert="horz" wrap="square" lIns="0" tIns="109855" rIns="0" bIns="0" rtlCol="0">
            <a:spAutoFit/>
          </a:bodyPr>
          <a:lstStyle/>
          <a:p>
            <a:pPr marL="1905" algn="ctr">
              <a:lnSpc>
                <a:spcPct val="100000"/>
              </a:lnSpc>
              <a:spcBef>
                <a:spcPts val="865"/>
              </a:spcBef>
            </a:pPr>
            <a:r>
              <a:rPr lang="en-US" sz="3200" b="1" err="1">
                <a:solidFill>
                  <a:srgbClr val="FF0000"/>
                </a:solidFill>
                <a:latin typeface="Arial"/>
                <a:cs typeface="Arial"/>
              </a:rPr>
              <a:t>Chương</a:t>
            </a:r>
            <a:r>
              <a:rPr lang="en-US" sz="3200" b="1">
                <a:solidFill>
                  <a:srgbClr val="FF0000"/>
                </a:solidFill>
                <a:latin typeface="Arial"/>
                <a:cs typeface="Arial"/>
              </a:rPr>
              <a:t> 3</a:t>
            </a:r>
            <a:endParaRPr lang="en-US" sz="3200" b="1" dirty="0">
              <a:solidFill>
                <a:srgbClr val="FF0000"/>
              </a:solidFill>
              <a:latin typeface="Arial"/>
              <a:cs typeface="Arial"/>
            </a:endParaRPr>
          </a:p>
          <a:p>
            <a:pPr marL="1905" algn="ctr">
              <a:lnSpc>
                <a:spcPct val="100000"/>
              </a:lnSpc>
              <a:spcBef>
                <a:spcPts val="865"/>
              </a:spcBef>
            </a:pPr>
            <a:r>
              <a:rPr lang="en-US" sz="3200" b="1">
                <a:solidFill>
                  <a:srgbClr val="FF0000"/>
                </a:solidFill>
                <a:latin typeface="Arial"/>
                <a:cs typeface="Arial"/>
              </a:rPr>
              <a:t>CÁC LĨNH VỰC NGÀNH NGHỀ CNTT</a:t>
            </a:r>
            <a:endParaRPr sz="3200" dirty="0">
              <a:solidFill>
                <a:srgbClr val="FF0000"/>
              </a:solidFill>
              <a:latin typeface="Arial"/>
              <a:cs typeface="Arial"/>
            </a:endParaRPr>
          </a:p>
        </p:txBody>
      </p:sp>
      <p:sp>
        <p:nvSpPr>
          <p:cNvPr id="7" name="Rectangle 6"/>
          <p:cNvSpPr/>
          <p:nvPr/>
        </p:nvSpPr>
        <p:spPr>
          <a:xfrm>
            <a:off x="1600200" y="304800"/>
            <a:ext cx="5181600" cy="523220"/>
          </a:xfrm>
          <a:prstGeom prst="rect">
            <a:avLst/>
          </a:prstGeom>
        </p:spPr>
        <p:txBody>
          <a:bodyPr wrap="square">
            <a:spAutoFit/>
          </a:bodyPr>
          <a:lstStyle/>
          <a:p>
            <a:pPr algn="ctr" eaLnBrk="1" hangingPunct="1"/>
            <a:r>
              <a:rPr lang="en-US" altLang="en-US" sz="2800" b="1" dirty="0">
                <a:solidFill>
                  <a:srgbClr val="FFFF00"/>
                </a:solidFill>
                <a:latin typeface="Times New Roman" panose="02020603050405020304" pitchFamily="18" charset="0"/>
                <a:cs typeface="Times New Roman" panose="02020603050405020304" pitchFamily="18" charset="0"/>
              </a:rPr>
              <a:t>NHẬP MÔN NGÀNH CNTT</a:t>
            </a:r>
          </a:p>
        </p:txBody>
      </p:sp>
      <p:sp>
        <p:nvSpPr>
          <p:cNvPr id="8" name="Slide Number Placeholder 7"/>
          <p:cNvSpPr>
            <a:spLocks noGrp="1"/>
          </p:cNvSpPr>
          <p:nvPr>
            <p:ph type="sldNum" sz="quarter" idx="12"/>
          </p:nvPr>
        </p:nvSpPr>
        <p:spPr/>
        <p:txBody>
          <a:bodyPr/>
          <a:lstStyle/>
          <a:p>
            <a:fld id="{F288DECD-8E43-41A0-9A0C-E6B0055199B3}" type="slidenum">
              <a:rPr lang="en-US" altLang="en-US" smtClean="0"/>
              <a:pPr/>
              <a:t>1</a:t>
            </a:fld>
            <a:endParaRPr lang="en-US" altLang="en-US"/>
          </a:p>
        </p:txBody>
      </p:sp>
      <p:sp>
        <p:nvSpPr>
          <p:cNvPr id="3" name="TextBox 2">
            <a:extLst>
              <a:ext uri="{FF2B5EF4-FFF2-40B4-BE49-F238E27FC236}">
                <a16:creationId xmlns:a16="http://schemas.microsoft.com/office/drawing/2014/main" id="{3EB0206D-0F99-4B9E-B3A7-0BB2F5B71D28}"/>
              </a:ext>
            </a:extLst>
          </p:cNvPr>
          <p:cNvSpPr txBox="1"/>
          <p:nvPr/>
        </p:nvSpPr>
        <p:spPr>
          <a:xfrm>
            <a:off x="304800" y="4953000"/>
            <a:ext cx="6248400" cy="1200329"/>
          </a:xfrm>
          <a:prstGeom prst="rect">
            <a:avLst/>
          </a:prstGeom>
          <a:noFill/>
        </p:spPr>
        <p:txBody>
          <a:bodyPr wrap="square" rtlCol="0">
            <a:spAutoFit/>
          </a:bodyPr>
          <a:lstStyle/>
          <a:p>
            <a:r>
              <a:rPr lang="en-US" b="1" dirty="0">
                <a:solidFill>
                  <a:schemeClr val="accent1">
                    <a:lumMod val="75000"/>
                  </a:schemeClr>
                </a:solidFill>
              </a:rPr>
              <a:t>Khoa </a:t>
            </a:r>
            <a:r>
              <a:rPr lang="en-US" b="1" dirty="0" err="1">
                <a:solidFill>
                  <a:schemeClr val="accent1">
                    <a:lumMod val="75000"/>
                  </a:schemeClr>
                </a:solidFill>
              </a:rPr>
              <a:t>Công</a:t>
            </a:r>
            <a:r>
              <a:rPr lang="en-US" b="1" dirty="0">
                <a:solidFill>
                  <a:schemeClr val="accent1">
                    <a:lumMod val="75000"/>
                  </a:schemeClr>
                </a:solidFill>
              </a:rPr>
              <a:t> </a:t>
            </a:r>
            <a:r>
              <a:rPr lang="en-US" b="1" dirty="0" err="1">
                <a:solidFill>
                  <a:schemeClr val="accent1">
                    <a:lumMod val="75000"/>
                  </a:schemeClr>
                </a:solidFill>
              </a:rPr>
              <a:t>nghệ</a:t>
            </a:r>
            <a:r>
              <a:rPr lang="en-US" b="1" dirty="0">
                <a:solidFill>
                  <a:schemeClr val="accent1">
                    <a:lumMod val="75000"/>
                  </a:schemeClr>
                </a:solidFill>
              </a:rPr>
              <a:t> </a:t>
            </a:r>
            <a:r>
              <a:rPr lang="en-US" b="1" dirty="0" err="1">
                <a:solidFill>
                  <a:schemeClr val="accent1">
                    <a:lumMod val="75000"/>
                  </a:schemeClr>
                </a:solidFill>
              </a:rPr>
              <a:t>thông</a:t>
            </a:r>
            <a:r>
              <a:rPr lang="en-US" b="1" dirty="0">
                <a:solidFill>
                  <a:schemeClr val="accent1">
                    <a:lumMod val="75000"/>
                  </a:schemeClr>
                </a:solidFill>
              </a:rPr>
              <a:t> tin, </a:t>
            </a:r>
            <a:r>
              <a:rPr lang="en-US" b="1" dirty="0" err="1">
                <a:solidFill>
                  <a:schemeClr val="accent1">
                    <a:lumMod val="75000"/>
                  </a:schemeClr>
                </a:solidFill>
              </a:rPr>
              <a:t>Trường</a:t>
            </a:r>
            <a:r>
              <a:rPr lang="en-US" b="1" dirty="0">
                <a:solidFill>
                  <a:schemeClr val="accent1">
                    <a:lumMod val="75000"/>
                  </a:schemeClr>
                </a:solidFill>
              </a:rPr>
              <a:t> </a:t>
            </a:r>
            <a:r>
              <a:rPr lang="en-US" b="1" dirty="0" err="1">
                <a:solidFill>
                  <a:schemeClr val="accent1">
                    <a:lumMod val="75000"/>
                  </a:schemeClr>
                </a:solidFill>
              </a:rPr>
              <a:t>Đại</a:t>
            </a:r>
            <a:r>
              <a:rPr lang="en-US" b="1" dirty="0">
                <a:solidFill>
                  <a:schemeClr val="accent1">
                    <a:lumMod val="75000"/>
                  </a:schemeClr>
                </a:solidFill>
              </a:rPr>
              <a:t> </a:t>
            </a:r>
            <a:r>
              <a:rPr lang="en-US" b="1" dirty="0" err="1">
                <a:solidFill>
                  <a:schemeClr val="accent1">
                    <a:lumMod val="75000"/>
                  </a:schemeClr>
                </a:solidFill>
              </a:rPr>
              <a:t>học</a:t>
            </a:r>
            <a:r>
              <a:rPr lang="en-US" b="1" dirty="0">
                <a:solidFill>
                  <a:schemeClr val="accent1">
                    <a:lumMod val="75000"/>
                  </a:schemeClr>
                </a:solidFill>
              </a:rPr>
              <a:t> Giao </a:t>
            </a:r>
            <a:r>
              <a:rPr lang="en-US" b="1" dirty="0" err="1">
                <a:solidFill>
                  <a:schemeClr val="accent1">
                    <a:lumMod val="75000"/>
                  </a:schemeClr>
                </a:solidFill>
              </a:rPr>
              <a:t>thông</a:t>
            </a:r>
            <a:r>
              <a:rPr lang="en-US" b="1" dirty="0">
                <a:solidFill>
                  <a:schemeClr val="accent1">
                    <a:lumMod val="75000"/>
                  </a:schemeClr>
                </a:solidFill>
              </a:rPr>
              <a:t> </a:t>
            </a:r>
            <a:r>
              <a:rPr lang="en-US" b="1" dirty="0" err="1">
                <a:solidFill>
                  <a:schemeClr val="accent1">
                    <a:lumMod val="75000"/>
                  </a:schemeClr>
                </a:solidFill>
              </a:rPr>
              <a:t>vận</a:t>
            </a:r>
            <a:r>
              <a:rPr lang="en-US" b="1" dirty="0">
                <a:solidFill>
                  <a:schemeClr val="accent1">
                    <a:lumMod val="75000"/>
                  </a:schemeClr>
                </a:solidFill>
              </a:rPr>
              <a:t> </a:t>
            </a:r>
            <a:r>
              <a:rPr lang="en-US" b="1" dirty="0" err="1">
                <a:solidFill>
                  <a:schemeClr val="accent1">
                    <a:lumMod val="75000"/>
                  </a:schemeClr>
                </a:solidFill>
              </a:rPr>
              <a:t>tải</a:t>
            </a:r>
            <a:endParaRPr lang="en-US" b="1" dirty="0">
              <a:solidFill>
                <a:schemeClr val="accent1">
                  <a:lumMod val="75000"/>
                </a:schemeClr>
              </a:solidFill>
            </a:endParaRPr>
          </a:p>
          <a:p>
            <a:r>
              <a:rPr lang="en-US" b="1" dirty="0">
                <a:solidFill>
                  <a:schemeClr val="accent1">
                    <a:lumMod val="75000"/>
                  </a:schemeClr>
                </a:solidFill>
              </a:rPr>
              <a:t>Email: khoacntt@utc.edu.vn</a:t>
            </a:r>
          </a:p>
          <a:p>
            <a:r>
              <a:rPr lang="en-US" b="1" dirty="0" err="1">
                <a:solidFill>
                  <a:schemeClr val="accent1">
                    <a:lumMod val="75000"/>
                  </a:schemeClr>
                </a:solidFill>
              </a:rPr>
              <a:t>Webiste</a:t>
            </a:r>
            <a:r>
              <a:rPr lang="en-US" b="1" dirty="0">
                <a:solidFill>
                  <a:schemeClr val="accent1">
                    <a:lumMod val="75000"/>
                  </a:schemeClr>
                </a:solidFill>
              </a:rPr>
              <a:t>: http://fit.utc.edu.vn </a:t>
            </a:r>
          </a:p>
          <a:p>
            <a:r>
              <a:rPr lang="en-US" b="1" dirty="0">
                <a:solidFill>
                  <a:schemeClr val="accent1">
                    <a:lumMod val="75000"/>
                  </a:schemeClr>
                </a:solidFill>
              </a:rPr>
              <a:t>Facebook: </a:t>
            </a:r>
          </a:p>
        </p:txBody>
      </p:sp>
    </p:spTree>
    <p:extLst>
      <p:ext uri="{BB962C8B-B14F-4D97-AF65-F5344CB8AC3E}">
        <p14:creationId xmlns:p14="http://schemas.microsoft.com/office/powerpoint/2010/main" val="3579476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Ngành nghề Công nghệ Thông tin </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a:t>
            </a:fld>
            <a:endParaRPr lang="en-US" altLang="en-US"/>
          </a:p>
        </p:txBody>
      </p:sp>
      <p:pic>
        <p:nvPicPr>
          <p:cNvPr id="6" name="Picture 5"/>
          <p:cNvPicPr>
            <a:picLocks noChangeAspect="1"/>
          </p:cNvPicPr>
          <p:nvPr/>
        </p:nvPicPr>
        <p:blipFill>
          <a:blip r:embed="rId2"/>
          <a:stretch>
            <a:fillRect/>
          </a:stretch>
        </p:blipFill>
        <p:spPr>
          <a:xfrm>
            <a:off x="0" y="1139710"/>
            <a:ext cx="9128760" cy="5718289"/>
          </a:xfrm>
          <a:prstGeom prst="rect">
            <a:avLst/>
          </a:prstGeom>
        </p:spPr>
      </p:pic>
    </p:spTree>
    <p:extLst>
      <p:ext uri="{BB962C8B-B14F-4D97-AF65-F5344CB8AC3E}">
        <p14:creationId xmlns:p14="http://schemas.microsoft.com/office/powerpoint/2010/main" val="883035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Ngành nghề Công nghệ Thông tin </a:t>
            </a:r>
          </a:p>
        </p:txBody>
      </p:sp>
      <p:sp>
        <p:nvSpPr>
          <p:cNvPr id="3" name="Content Placeholder 2"/>
          <p:cNvSpPr>
            <a:spLocks noGrp="1"/>
          </p:cNvSpPr>
          <p:nvPr>
            <p:ph idx="1"/>
          </p:nvPr>
        </p:nvSpPr>
        <p:spPr>
          <a:xfrm>
            <a:off x="76200" y="1323105"/>
            <a:ext cx="2577465" cy="4678363"/>
          </a:xfrm>
        </p:spPr>
        <p:txBody>
          <a:bodyPr/>
          <a:lstStyle/>
          <a:p>
            <a:pPr marL="0" indent="0">
              <a:buNone/>
            </a:pPr>
            <a:r>
              <a:rPr lang="en-US" sz="2000">
                <a:solidFill>
                  <a:srgbClr val="0070C0"/>
                </a:solidFill>
              </a:rPr>
              <a:t>Tương lai của bạn</a:t>
            </a:r>
          </a:p>
          <a:p>
            <a:pPr marL="0" indent="0">
              <a:buNone/>
            </a:pPr>
            <a:endParaRPr lang="en-US" sz="2000"/>
          </a:p>
          <a:p>
            <a:r>
              <a:rPr lang="en-US">
                <a:solidFill>
                  <a:srgbClr val="FF0000"/>
                </a:solidFill>
              </a:rPr>
              <a:t>Hoặc sẽ là nhà quản lý</a:t>
            </a:r>
          </a:p>
          <a:p>
            <a:pPr marL="0" indent="0">
              <a:buNone/>
            </a:pPr>
            <a:endParaRPr lang="en-US">
              <a:solidFill>
                <a:srgbClr val="FF0000"/>
              </a:solidFill>
            </a:endParaRPr>
          </a:p>
          <a:p>
            <a:r>
              <a:rPr lang="en-US">
                <a:solidFill>
                  <a:srgbClr val="FF0000"/>
                </a:solidFill>
              </a:rPr>
              <a:t>Hoặc sẽ là chuyên gia CNTT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a:t>
            </a:fld>
            <a:endParaRPr lang="en-US" altLang="en-US"/>
          </a:p>
        </p:txBody>
      </p:sp>
      <p:pic>
        <p:nvPicPr>
          <p:cNvPr id="5" name="Picture 4"/>
          <p:cNvPicPr>
            <a:picLocks noChangeAspect="1"/>
          </p:cNvPicPr>
          <p:nvPr/>
        </p:nvPicPr>
        <p:blipFill>
          <a:blip r:embed="rId2"/>
          <a:stretch>
            <a:fillRect/>
          </a:stretch>
        </p:blipFill>
        <p:spPr>
          <a:xfrm>
            <a:off x="2653665" y="1143000"/>
            <a:ext cx="6490335" cy="5715000"/>
          </a:xfrm>
          <a:prstGeom prst="rect">
            <a:avLst/>
          </a:prstGeom>
        </p:spPr>
      </p:pic>
    </p:spTree>
    <p:extLst>
      <p:ext uri="{BB962C8B-B14F-4D97-AF65-F5344CB8AC3E}">
        <p14:creationId xmlns:p14="http://schemas.microsoft.com/office/powerpoint/2010/main" val="175605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48213"/>
            <a:ext cx="7178040" cy="474489"/>
          </a:xfrm>
          <a:prstGeom prst="rect">
            <a:avLst/>
          </a:prstGeom>
        </p:spPr>
        <p:txBody>
          <a:bodyPr vert="horz" wrap="square" lIns="0" tIns="12700" rIns="0" bIns="0" rtlCol="0">
            <a:spAutoFit/>
          </a:bodyPr>
          <a:lstStyle/>
          <a:p>
            <a:pPr marL="12700" algn="ctr">
              <a:lnSpc>
                <a:spcPct val="100000"/>
              </a:lnSpc>
              <a:spcBef>
                <a:spcPts val="100"/>
              </a:spcBef>
            </a:pPr>
            <a:r>
              <a:rPr lang="en-US" spc="-5"/>
              <a:t>2</a:t>
            </a:r>
            <a:r>
              <a:rPr spc="-5"/>
              <a:t>. </a:t>
            </a:r>
            <a:r>
              <a:rPr lang="en-US"/>
              <a:t>Một số cách phân loại ngành CNTT</a:t>
            </a:r>
            <a:endParaRPr spc="-10" dirty="0"/>
          </a:p>
        </p:txBody>
      </p:sp>
      <p:sp>
        <p:nvSpPr>
          <p:cNvPr id="3" name="object 3"/>
          <p:cNvSpPr txBox="1"/>
          <p:nvPr/>
        </p:nvSpPr>
        <p:spPr>
          <a:xfrm>
            <a:off x="308251" y="1785668"/>
            <a:ext cx="8534400" cy="4870564"/>
          </a:xfrm>
          <a:prstGeom prst="rect">
            <a:avLst/>
          </a:prstGeom>
        </p:spPr>
        <p:txBody>
          <a:bodyPr vert="horz" wrap="square" lIns="0" tIns="114300" rIns="0" bIns="0" rtlCol="0">
            <a:spAutoFit/>
          </a:bodyPr>
          <a:lstStyle/>
          <a:p>
            <a:pPr marL="355600" indent="-343535">
              <a:lnSpc>
                <a:spcPct val="100000"/>
              </a:lnSpc>
              <a:spcBef>
                <a:spcPts val="900"/>
              </a:spcBef>
              <a:buClr>
                <a:srgbClr val="3366FF"/>
              </a:buClr>
              <a:buFont typeface="Wingdings"/>
              <a:buChar char=""/>
              <a:tabLst>
                <a:tab pos="355600" algn="l"/>
                <a:tab pos="356235" algn="l"/>
              </a:tabLst>
            </a:pPr>
            <a:r>
              <a:rPr lang="en-US" sz="2800">
                <a:latin typeface="Arial"/>
                <a:cs typeface="Arial"/>
              </a:rPr>
              <a:t>Danh mục ngành nghề phần mềm và CNTT của Hiệp hội Phần mềm và dịch vụ CNTT Việt Nam </a:t>
            </a:r>
          </a:p>
          <a:p>
            <a:pPr marL="355600" indent="-343535">
              <a:lnSpc>
                <a:spcPct val="100000"/>
              </a:lnSpc>
              <a:spcBef>
                <a:spcPts val="900"/>
              </a:spcBef>
              <a:buClr>
                <a:srgbClr val="3366FF"/>
              </a:buClr>
              <a:buFont typeface="Wingdings"/>
              <a:buChar char=""/>
              <a:tabLst>
                <a:tab pos="355600" algn="l"/>
                <a:tab pos="356235" algn="l"/>
              </a:tabLst>
            </a:pPr>
            <a:r>
              <a:rPr lang="en-US" sz="2800">
                <a:latin typeface="Arial"/>
                <a:cs typeface="Arial"/>
              </a:rPr>
              <a:t>Phân loại theo việc làm trong các doanh nghiệp phần mềm</a:t>
            </a:r>
          </a:p>
          <a:p>
            <a:pPr marL="355600" indent="-343535">
              <a:lnSpc>
                <a:spcPct val="100000"/>
              </a:lnSpc>
              <a:spcBef>
                <a:spcPts val="900"/>
              </a:spcBef>
              <a:buClr>
                <a:srgbClr val="3366FF"/>
              </a:buClr>
              <a:buFont typeface="Wingdings"/>
              <a:buChar char=""/>
              <a:tabLst>
                <a:tab pos="355600" algn="l"/>
                <a:tab pos="356235" algn="l"/>
              </a:tabLst>
            </a:pPr>
            <a:r>
              <a:rPr lang="en-US" sz="2800">
                <a:latin typeface="Arial"/>
                <a:cs typeface="Arial"/>
              </a:rPr>
              <a:t>Phân loại theo các chương trình đào tạo hiện nay</a:t>
            </a:r>
          </a:p>
          <a:p>
            <a:pPr marL="355600" indent="-343535">
              <a:spcBef>
                <a:spcPts val="900"/>
              </a:spcBef>
              <a:buClr>
                <a:srgbClr val="3366FF"/>
              </a:buClr>
              <a:buFont typeface="Wingdings"/>
              <a:buChar char=""/>
              <a:tabLst>
                <a:tab pos="355600" algn="l"/>
                <a:tab pos="356235" algn="l"/>
              </a:tabLst>
            </a:pPr>
            <a:r>
              <a:rPr lang="en-US" sz="2800">
                <a:latin typeface="Arial"/>
                <a:cs typeface="Arial"/>
              </a:rPr>
              <a:t>Phân loại của Bộ Thông tin và truyền thông</a:t>
            </a:r>
          </a:p>
          <a:p>
            <a:pPr marL="355600" indent="-343535">
              <a:lnSpc>
                <a:spcPct val="100000"/>
              </a:lnSpc>
              <a:spcBef>
                <a:spcPts val="900"/>
              </a:spcBef>
              <a:buClr>
                <a:srgbClr val="3366FF"/>
              </a:buClr>
              <a:buFont typeface="Wingdings"/>
              <a:buChar char=""/>
              <a:tabLst>
                <a:tab pos="355600" algn="l"/>
                <a:tab pos="356235" algn="l"/>
              </a:tabLst>
            </a:pPr>
            <a:endParaRPr lang="en-US" sz="2800">
              <a:latin typeface="Arial"/>
              <a:cs typeface="Arial"/>
            </a:endParaRPr>
          </a:p>
          <a:p>
            <a:pPr marL="355600" indent="-343535">
              <a:lnSpc>
                <a:spcPct val="100000"/>
              </a:lnSpc>
              <a:spcBef>
                <a:spcPts val="900"/>
              </a:spcBef>
              <a:buClr>
                <a:srgbClr val="3366FF"/>
              </a:buClr>
              <a:buFont typeface="Wingdings"/>
              <a:buChar char=""/>
              <a:tabLst>
                <a:tab pos="355600" algn="l"/>
                <a:tab pos="356235" algn="l"/>
              </a:tabLst>
            </a:pPr>
            <a:endParaRPr lang="en-US" sz="2800">
              <a:latin typeface="Arial"/>
              <a:cs typeface="Arial"/>
            </a:endParaRPr>
          </a:p>
          <a:p>
            <a:pPr marL="355600" indent="-343535">
              <a:lnSpc>
                <a:spcPct val="100000"/>
              </a:lnSpc>
              <a:spcBef>
                <a:spcPts val="900"/>
              </a:spcBef>
              <a:buClr>
                <a:srgbClr val="3366FF"/>
              </a:buClr>
              <a:buFont typeface="Wingdings"/>
              <a:buChar char=""/>
              <a:tabLst>
                <a:tab pos="355600" algn="l"/>
                <a:tab pos="356235" algn="l"/>
              </a:tabLst>
            </a:pPr>
            <a:endParaRPr sz="4000" dirty="0">
              <a:latin typeface="Arial"/>
              <a:cs typeface="Arial"/>
            </a:endParaRPr>
          </a:p>
        </p:txBody>
      </p:sp>
      <p:sp>
        <p:nvSpPr>
          <p:cNvPr id="5" name="Slide Number Placeholder 4"/>
          <p:cNvSpPr>
            <a:spLocks noGrp="1"/>
          </p:cNvSpPr>
          <p:nvPr>
            <p:ph type="sldNum" sz="quarter" idx="12"/>
          </p:nvPr>
        </p:nvSpPr>
        <p:spPr/>
        <p:txBody>
          <a:bodyPr/>
          <a:lstStyle/>
          <a:p>
            <a:fld id="{73E9613B-F541-4B9F-824A-15521B777744}" type="slidenum">
              <a:rPr lang="en-US" altLang="en-US" smtClean="0"/>
              <a:pPr/>
              <a:t>4</a:t>
            </a:fld>
            <a:endParaRPr lang="en-US" altLang="en-US"/>
          </a:p>
        </p:txBody>
      </p:sp>
    </p:spTree>
    <p:extLst>
      <p:ext uri="{BB962C8B-B14F-4D97-AF65-F5344CB8AC3E}">
        <p14:creationId xmlns:p14="http://schemas.microsoft.com/office/powerpoint/2010/main" val="539624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48213"/>
            <a:ext cx="7178040" cy="474489"/>
          </a:xfrm>
          <a:prstGeom prst="rect">
            <a:avLst/>
          </a:prstGeom>
        </p:spPr>
        <p:txBody>
          <a:bodyPr vert="horz" wrap="square" lIns="0" tIns="12700" rIns="0" bIns="0" rtlCol="0">
            <a:spAutoFit/>
          </a:bodyPr>
          <a:lstStyle/>
          <a:p>
            <a:pPr marL="12700" algn="ctr">
              <a:lnSpc>
                <a:spcPct val="100000"/>
              </a:lnSpc>
              <a:spcBef>
                <a:spcPts val="100"/>
              </a:spcBef>
            </a:pPr>
            <a:r>
              <a:rPr lang="en-US" spc="-5"/>
              <a:t>2</a:t>
            </a:r>
            <a:r>
              <a:rPr spc="-5"/>
              <a:t>. </a:t>
            </a:r>
            <a:r>
              <a:rPr lang="en-US"/>
              <a:t>Một số cách phân loại ngành CNTT</a:t>
            </a:r>
            <a:endParaRPr spc="-10" dirty="0"/>
          </a:p>
        </p:txBody>
      </p:sp>
      <p:sp>
        <p:nvSpPr>
          <p:cNvPr id="3" name="object 3"/>
          <p:cNvSpPr txBox="1"/>
          <p:nvPr/>
        </p:nvSpPr>
        <p:spPr>
          <a:xfrm>
            <a:off x="381000" y="1139253"/>
            <a:ext cx="8534400" cy="730969"/>
          </a:xfrm>
          <a:prstGeom prst="rect">
            <a:avLst/>
          </a:prstGeom>
        </p:spPr>
        <p:txBody>
          <a:bodyPr vert="horz" wrap="square" lIns="0" tIns="114300" rIns="0" bIns="0" rtlCol="0">
            <a:spAutoFit/>
          </a:bodyPr>
          <a:lstStyle/>
          <a:p>
            <a:pPr marL="355600" indent="-343535">
              <a:lnSpc>
                <a:spcPct val="100000"/>
              </a:lnSpc>
              <a:spcBef>
                <a:spcPts val="900"/>
              </a:spcBef>
              <a:buClr>
                <a:srgbClr val="3366FF"/>
              </a:buClr>
              <a:buFont typeface="Wingdings"/>
              <a:buChar char=""/>
              <a:tabLst>
                <a:tab pos="355600" algn="l"/>
                <a:tab pos="356235" algn="l"/>
              </a:tabLst>
            </a:pPr>
            <a:r>
              <a:rPr lang="en-US" sz="2000">
                <a:latin typeface="Arial"/>
                <a:cs typeface="Arial"/>
                <a:hlinkClick r:id="rId2"/>
              </a:rPr>
              <a:t>Danh mục ngành nghề phần mềm và CNTT của Hiệp hội Phần mềm và dịch vụ CNTT Việt Nam (VINASA) năm 2011 có 9 ngạch, 33 phân ngạch</a:t>
            </a:r>
            <a:endParaRPr sz="3200" dirty="0">
              <a:latin typeface="Arial"/>
              <a:cs typeface="Arial"/>
            </a:endParaRPr>
          </a:p>
        </p:txBody>
      </p:sp>
      <p:sp>
        <p:nvSpPr>
          <p:cNvPr id="5" name="Slide Number Placeholder 4"/>
          <p:cNvSpPr>
            <a:spLocks noGrp="1"/>
          </p:cNvSpPr>
          <p:nvPr>
            <p:ph type="sldNum" sz="quarter" idx="12"/>
          </p:nvPr>
        </p:nvSpPr>
        <p:spPr/>
        <p:txBody>
          <a:bodyPr/>
          <a:lstStyle/>
          <a:p>
            <a:fld id="{73E9613B-F541-4B9F-824A-15521B777744}" type="slidenum">
              <a:rPr lang="en-US" altLang="en-US" smtClean="0"/>
              <a:pPr/>
              <a:t>5</a:t>
            </a:fld>
            <a:endParaRPr lang="en-US" altLang="en-US"/>
          </a:p>
        </p:txBody>
      </p:sp>
      <p:pic>
        <p:nvPicPr>
          <p:cNvPr id="7" name="Picture 6"/>
          <p:cNvPicPr>
            <a:picLocks noChangeAspect="1"/>
          </p:cNvPicPr>
          <p:nvPr/>
        </p:nvPicPr>
        <p:blipFill>
          <a:blip r:embed="rId3"/>
          <a:stretch>
            <a:fillRect/>
          </a:stretch>
        </p:blipFill>
        <p:spPr>
          <a:xfrm>
            <a:off x="152400" y="1906270"/>
            <a:ext cx="6200775" cy="4391025"/>
          </a:xfrm>
          <a:prstGeom prst="rect">
            <a:avLst/>
          </a:prstGeom>
        </p:spPr>
      </p:pic>
      <p:pic>
        <p:nvPicPr>
          <p:cNvPr id="8" name="Picture 7"/>
          <p:cNvPicPr>
            <a:picLocks noChangeAspect="1"/>
          </p:cNvPicPr>
          <p:nvPr/>
        </p:nvPicPr>
        <p:blipFill>
          <a:blip r:embed="rId4"/>
          <a:stretch>
            <a:fillRect/>
          </a:stretch>
        </p:blipFill>
        <p:spPr>
          <a:xfrm>
            <a:off x="2800350" y="1222375"/>
            <a:ext cx="6115050" cy="5133975"/>
          </a:xfrm>
          <a:prstGeom prst="rect">
            <a:avLst/>
          </a:prstGeom>
        </p:spPr>
      </p:pic>
    </p:spTree>
    <p:extLst>
      <p:ext uri="{BB962C8B-B14F-4D97-AF65-F5344CB8AC3E}">
        <p14:creationId xmlns:p14="http://schemas.microsoft.com/office/powerpoint/2010/main" val="3835078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48213"/>
            <a:ext cx="7178040" cy="474489"/>
          </a:xfrm>
          <a:prstGeom prst="rect">
            <a:avLst/>
          </a:prstGeom>
        </p:spPr>
        <p:txBody>
          <a:bodyPr vert="horz" wrap="square" lIns="0" tIns="12700" rIns="0" bIns="0" rtlCol="0">
            <a:spAutoFit/>
          </a:bodyPr>
          <a:lstStyle/>
          <a:p>
            <a:pPr marL="12700" algn="ctr">
              <a:lnSpc>
                <a:spcPct val="100000"/>
              </a:lnSpc>
              <a:spcBef>
                <a:spcPts val="100"/>
              </a:spcBef>
            </a:pPr>
            <a:r>
              <a:rPr lang="en-US" spc="-5"/>
              <a:t>2</a:t>
            </a:r>
            <a:r>
              <a:rPr spc="-5"/>
              <a:t>. </a:t>
            </a:r>
            <a:r>
              <a:rPr lang="en-US"/>
              <a:t>Một số cách phân loại ngành CNTT</a:t>
            </a:r>
            <a:endParaRPr spc="-10" dirty="0"/>
          </a:p>
        </p:txBody>
      </p:sp>
      <p:sp>
        <p:nvSpPr>
          <p:cNvPr id="3" name="object 3"/>
          <p:cNvSpPr txBox="1"/>
          <p:nvPr/>
        </p:nvSpPr>
        <p:spPr>
          <a:xfrm>
            <a:off x="381000" y="1139253"/>
            <a:ext cx="8534400" cy="1638910"/>
          </a:xfrm>
          <a:prstGeom prst="rect">
            <a:avLst/>
          </a:prstGeom>
        </p:spPr>
        <p:txBody>
          <a:bodyPr vert="horz" wrap="square" lIns="0" tIns="114300" rIns="0" bIns="0" rtlCol="0">
            <a:spAutoFit/>
          </a:bodyPr>
          <a:lstStyle/>
          <a:p>
            <a:pPr marL="355600" indent="-343535">
              <a:lnSpc>
                <a:spcPct val="100000"/>
              </a:lnSpc>
              <a:spcBef>
                <a:spcPts val="900"/>
              </a:spcBef>
              <a:buClr>
                <a:srgbClr val="3366FF"/>
              </a:buClr>
              <a:buFont typeface="Wingdings"/>
              <a:buChar char=""/>
              <a:tabLst>
                <a:tab pos="355600" algn="l"/>
                <a:tab pos="356235" algn="l"/>
              </a:tabLst>
            </a:pPr>
            <a:r>
              <a:rPr lang="en-US" sz="2000">
                <a:latin typeface="Arial"/>
                <a:cs typeface="Arial"/>
              </a:rPr>
              <a:t>Phân loại theo các doanh nghiệp phần mềm hiện nay</a:t>
            </a:r>
            <a:endParaRPr lang="en-US" sz="2400">
              <a:latin typeface="Arial"/>
              <a:cs typeface="Arial"/>
            </a:endParaRPr>
          </a:p>
          <a:p>
            <a:pPr marL="812800" lvl="1" indent="-343535">
              <a:spcBef>
                <a:spcPts val="900"/>
              </a:spcBef>
              <a:buClr>
                <a:srgbClr val="3366FF"/>
              </a:buClr>
              <a:buFont typeface="Wingdings"/>
              <a:buChar char=""/>
              <a:tabLst>
                <a:tab pos="355600" algn="l"/>
                <a:tab pos="356235" algn="l"/>
              </a:tabLst>
            </a:pPr>
            <a:endParaRPr lang="en-US" sz="3200">
              <a:latin typeface="Arial"/>
              <a:cs typeface="Arial"/>
            </a:endParaRPr>
          </a:p>
          <a:p>
            <a:pPr marL="812800" lvl="1" indent="-343535">
              <a:spcBef>
                <a:spcPts val="900"/>
              </a:spcBef>
              <a:buClr>
                <a:srgbClr val="3366FF"/>
              </a:buClr>
              <a:buFont typeface="Wingdings"/>
              <a:buChar char=""/>
              <a:tabLst>
                <a:tab pos="355600" algn="l"/>
                <a:tab pos="356235" algn="l"/>
              </a:tabLst>
            </a:pPr>
            <a:endParaRPr sz="3200" dirty="0">
              <a:latin typeface="Arial"/>
              <a:cs typeface="Arial"/>
            </a:endParaRPr>
          </a:p>
        </p:txBody>
      </p:sp>
      <p:sp>
        <p:nvSpPr>
          <p:cNvPr id="5" name="Slide Number Placeholder 4"/>
          <p:cNvSpPr>
            <a:spLocks noGrp="1"/>
          </p:cNvSpPr>
          <p:nvPr>
            <p:ph type="sldNum" sz="quarter" idx="12"/>
          </p:nvPr>
        </p:nvSpPr>
        <p:spPr/>
        <p:txBody>
          <a:bodyPr/>
          <a:lstStyle/>
          <a:p>
            <a:fld id="{73E9613B-F541-4B9F-824A-15521B777744}" type="slidenum">
              <a:rPr lang="en-US" altLang="en-US" smtClean="0"/>
              <a:pPr/>
              <a:t>6</a:t>
            </a:fld>
            <a:endParaRPr lang="en-US" altLang="en-US"/>
          </a:p>
        </p:txBody>
      </p:sp>
      <p:sp>
        <p:nvSpPr>
          <p:cNvPr id="7" name="Rectangle 6"/>
          <p:cNvSpPr/>
          <p:nvPr/>
        </p:nvSpPr>
        <p:spPr>
          <a:xfrm>
            <a:off x="381000" y="1518077"/>
            <a:ext cx="8305800" cy="5098832"/>
          </a:xfrm>
          <a:prstGeom prst="rect">
            <a:avLst/>
          </a:prstGeom>
        </p:spPr>
        <p:txBody>
          <a:bodyPr wrap="square">
            <a:spAutoFit/>
          </a:bodyPr>
          <a:lstStyle/>
          <a:p>
            <a:pPr>
              <a:spcBef>
                <a:spcPts val="400"/>
              </a:spcBef>
            </a:pPr>
            <a:r>
              <a:rPr lang="vi-VN" sz="2400">
                <a:latin typeface="Times New Roman (Headings)"/>
              </a:rPr>
              <a:t>– </a:t>
            </a:r>
            <a:r>
              <a:rPr lang="vi-VN" sz="2400">
                <a:solidFill>
                  <a:srgbClr val="FF0000"/>
                </a:solidFill>
                <a:latin typeface="Times New Roman (Headings)"/>
              </a:rPr>
              <a:t>Software Engineer/Developer</a:t>
            </a:r>
            <a:r>
              <a:rPr lang="vi-VN" sz="2400">
                <a:latin typeface="Times New Roman (Headings)"/>
              </a:rPr>
              <a:t>: lập trình viên phần mềm ứng dụng trên máy tính hoặc các phương tiện điện tử khác.</a:t>
            </a:r>
          </a:p>
          <a:p>
            <a:pPr>
              <a:spcBef>
                <a:spcPts val="400"/>
              </a:spcBef>
            </a:pPr>
            <a:r>
              <a:rPr lang="vi-VN" sz="2400">
                <a:latin typeface="Times New Roman (Headings)"/>
              </a:rPr>
              <a:t>– </a:t>
            </a:r>
            <a:r>
              <a:rPr lang="vi-VN" sz="2400">
                <a:solidFill>
                  <a:srgbClr val="FF0000"/>
                </a:solidFill>
                <a:latin typeface="Times New Roman (Headings)"/>
              </a:rPr>
              <a:t>Computer and Information Research Scientists</a:t>
            </a:r>
            <a:r>
              <a:rPr lang="vi-VN" sz="2400">
                <a:latin typeface="Times New Roman (Headings)"/>
              </a:rPr>
              <a:t>: những nhà khoa học nghiên cứu</a:t>
            </a:r>
            <a:r>
              <a:rPr lang="en-US" sz="2400">
                <a:latin typeface="Times New Roman (Headings)"/>
              </a:rPr>
              <a:t>, </a:t>
            </a:r>
            <a:r>
              <a:rPr lang="vi-VN" sz="2400">
                <a:latin typeface="Times New Roman (Headings)"/>
              </a:rPr>
              <a:t>phát m</a:t>
            </a:r>
            <a:r>
              <a:rPr lang="en-US" sz="2400">
                <a:latin typeface="Times New Roman (Headings)"/>
              </a:rPr>
              <a:t>i</a:t>
            </a:r>
            <a:r>
              <a:rPr lang="vi-VN" sz="2400">
                <a:latin typeface="Times New Roman (Headings)"/>
              </a:rPr>
              <a:t>nh những công nghệ mới giải quyết những vấn đề phức tạp trong những lịch vực khác nha</a:t>
            </a:r>
            <a:r>
              <a:rPr lang="en-US" sz="2400">
                <a:latin typeface="Times New Roman (Headings)"/>
              </a:rPr>
              <a:t>.</a:t>
            </a:r>
          </a:p>
          <a:p>
            <a:pPr>
              <a:spcBef>
                <a:spcPts val="400"/>
              </a:spcBef>
            </a:pPr>
            <a:r>
              <a:rPr lang="vi-VN" sz="2400">
                <a:latin typeface="Times New Roman (Headings)"/>
              </a:rPr>
              <a:t>– </a:t>
            </a:r>
            <a:r>
              <a:rPr lang="vi-VN" sz="2400">
                <a:solidFill>
                  <a:srgbClr val="FF0000"/>
                </a:solidFill>
                <a:latin typeface="Times New Roman (Headings)"/>
              </a:rPr>
              <a:t>Computer System Analysist</a:t>
            </a:r>
            <a:r>
              <a:rPr lang="vi-VN" sz="2400">
                <a:latin typeface="Times New Roman (Headings)"/>
              </a:rPr>
              <a:t>: nhà phân tích hệ thống máy tính</a:t>
            </a:r>
            <a:r>
              <a:rPr lang="en-US" sz="2400">
                <a:latin typeface="Times New Roman (Headings)"/>
              </a:rPr>
              <a:t>,</a:t>
            </a:r>
            <a:r>
              <a:rPr lang="vi-VN" sz="2400">
                <a:latin typeface="Times New Roman (Headings)"/>
              </a:rPr>
              <a:t> đưa ra những thay đổi nhằm cải thiện chúng.</a:t>
            </a:r>
          </a:p>
          <a:p>
            <a:pPr>
              <a:spcBef>
                <a:spcPts val="400"/>
              </a:spcBef>
            </a:pPr>
            <a:r>
              <a:rPr lang="vi-VN" sz="2400">
                <a:latin typeface="Times New Roman (Headings)"/>
              </a:rPr>
              <a:t>– </a:t>
            </a:r>
            <a:r>
              <a:rPr lang="vi-VN" sz="2400">
                <a:solidFill>
                  <a:srgbClr val="FF0000"/>
                </a:solidFill>
                <a:latin typeface="Times New Roman (Headings)"/>
              </a:rPr>
              <a:t>Computer Support Specialist</a:t>
            </a:r>
            <a:r>
              <a:rPr lang="vi-VN" sz="2400">
                <a:latin typeface="Times New Roman (Headings)"/>
              </a:rPr>
              <a:t>: chuyên gia hỗ trợ máy tính làm việc tại các tổ chức và tập đoàn có nhiệm vụ giải quyết và hỗ trợ người dùng những vấn đề liên quan đến máy tính.</a:t>
            </a:r>
          </a:p>
          <a:p>
            <a:pPr>
              <a:spcBef>
                <a:spcPts val="400"/>
              </a:spcBef>
            </a:pPr>
            <a:r>
              <a:rPr lang="vi-VN" sz="2400">
                <a:latin typeface="Times New Roman (Headings)"/>
              </a:rPr>
              <a:t>– </a:t>
            </a:r>
            <a:r>
              <a:rPr lang="vi-VN" sz="2400">
                <a:solidFill>
                  <a:srgbClr val="FF0000"/>
                </a:solidFill>
                <a:latin typeface="Times New Roman (Headings)"/>
              </a:rPr>
              <a:t>Database Administrator:</a:t>
            </a:r>
            <a:r>
              <a:rPr lang="vi-VN" sz="2400">
                <a:latin typeface="Times New Roman (Headings)"/>
              </a:rPr>
              <a:t> người quản trị dữ liệu có nhiệm vụ </a:t>
            </a:r>
            <a:r>
              <a:rPr lang="en-US" sz="2400">
                <a:latin typeface="Times New Roman (Headings)"/>
              </a:rPr>
              <a:t>tổ chức</a:t>
            </a:r>
            <a:r>
              <a:rPr lang="vi-VN" sz="2400">
                <a:latin typeface="Times New Roman (Headings)"/>
              </a:rPr>
              <a:t> </a:t>
            </a:r>
            <a:r>
              <a:rPr lang="en-US" sz="2400">
                <a:latin typeface="Times New Roman (Headings)"/>
              </a:rPr>
              <a:t>lưu</a:t>
            </a:r>
            <a:r>
              <a:rPr lang="vi-VN" sz="2400">
                <a:latin typeface="Times New Roman (Headings)"/>
              </a:rPr>
              <a:t> trữ dữ liệu cho các doanh nghiệp, cơ </a:t>
            </a:r>
            <a:r>
              <a:rPr lang="en-US" sz="2400">
                <a:latin typeface="Times New Roman (Headings)"/>
              </a:rPr>
              <a:t>quan.</a:t>
            </a:r>
            <a:endParaRPr lang="vi-VN" sz="2400">
              <a:latin typeface="Times New Roman (Headings)"/>
            </a:endParaRPr>
          </a:p>
        </p:txBody>
      </p:sp>
    </p:spTree>
    <p:extLst>
      <p:ext uri="{BB962C8B-B14F-4D97-AF65-F5344CB8AC3E}">
        <p14:creationId xmlns:p14="http://schemas.microsoft.com/office/powerpoint/2010/main" val="1642470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48213"/>
            <a:ext cx="7178040" cy="474489"/>
          </a:xfrm>
          <a:prstGeom prst="rect">
            <a:avLst/>
          </a:prstGeom>
        </p:spPr>
        <p:txBody>
          <a:bodyPr vert="horz" wrap="square" lIns="0" tIns="12700" rIns="0" bIns="0" rtlCol="0">
            <a:spAutoFit/>
          </a:bodyPr>
          <a:lstStyle/>
          <a:p>
            <a:pPr marL="12700" algn="ctr">
              <a:lnSpc>
                <a:spcPct val="100000"/>
              </a:lnSpc>
              <a:spcBef>
                <a:spcPts val="100"/>
              </a:spcBef>
            </a:pPr>
            <a:r>
              <a:rPr lang="en-US" spc="-5"/>
              <a:t>2</a:t>
            </a:r>
            <a:r>
              <a:rPr spc="-5"/>
              <a:t>. </a:t>
            </a:r>
            <a:r>
              <a:rPr lang="en-US"/>
              <a:t>Một số cách phân loại ngành CNTT</a:t>
            </a:r>
            <a:endParaRPr spc="-10" dirty="0"/>
          </a:p>
        </p:txBody>
      </p:sp>
      <p:sp>
        <p:nvSpPr>
          <p:cNvPr id="3" name="object 3"/>
          <p:cNvSpPr txBox="1"/>
          <p:nvPr/>
        </p:nvSpPr>
        <p:spPr>
          <a:xfrm>
            <a:off x="381000" y="1139253"/>
            <a:ext cx="8534400" cy="1638910"/>
          </a:xfrm>
          <a:prstGeom prst="rect">
            <a:avLst/>
          </a:prstGeom>
        </p:spPr>
        <p:txBody>
          <a:bodyPr vert="horz" wrap="square" lIns="0" tIns="114300" rIns="0" bIns="0" rtlCol="0">
            <a:spAutoFit/>
          </a:bodyPr>
          <a:lstStyle/>
          <a:p>
            <a:pPr marL="355600" indent="-343535">
              <a:lnSpc>
                <a:spcPct val="100000"/>
              </a:lnSpc>
              <a:spcBef>
                <a:spcPts val="900"/>
              </a:spcBef>
              <a:buClr>
                <a:srgbClr val="3366FF"/>
              </a:buClr>
              <a:buFont typeface="Wingdings"/>
              <a:buChar char=""/>
              <a:tabLst>
                <a:tab pos="355600" algn="l"/>
                <a:tab pos="356235" algn="l"/>
              </a:tabLst>
            </a:pPr>
            <a:r>
              <a:rPr lang="en-US" sz="2000">
                <a:latin typeface="Arial"/>
                <a:cs typeface="Arial"/>
              </a:rPr>
              <a:t>Phân loại theo các doanh nghiệp phần mềm hiện nay</a:t>
            </a:r>
            <a:endParaRPr lang="en-US" sz="2400">
              <a:latin typeface="Arial"/>
              <a:cs typeface="Arial"/>
            </a:endParaRPr>
          </a:p>
          <a:p>
            <a:pPr marL="812800" lvl="1" indent="-343535">
              <a:spcBef>
                <a:spcPts val="900"/>
              </a:spcBef>
              <a:buClr>
                <a:srgbClr val="3366FF"/>
              </a:buClr>
              <a:buFont typeface="Wingdings"/>
              <a:buChar char=""/>
              <a:tabLst>
                <a:tab pos="355600" algn="l"/>
                <a:tab pos="356235" algn="l"/>
              </a:tabLst>
            </a:pPr>
            <a:endParaRPr lang="en-US" sz="3200">
              <a:latin typeface="Arial"/>
              <a:cs typeface="Arial"/>
            </a:endParaRPr>
          </a:p>
          <a:p>
            <a:pPr marL="812800" lvl="1" indent="-343535">
              <a:spcBef>
                <a:spcPts val="900"/>
              </a:spcBef>
              <a:buClr>
                <a:srgbClr val="3366FF"/>
              </a:buClr>
              <a:buFont typeface="Wingdings"/>
              <a:buChar char=""/>
              <a:tabLst>
                <a:tab pos="355600" algn="l"/>
                <a:tab pos="356235" algn="l"/>
              </a:tabLst>
            </a:pPr>
            <a:endParaRPr sz="3200" dirty="0">
              <a:latin typeface="Arial"/>
              <a:cs typeface="Arial"/>
            </a:endParaRPr>
          </a:p>
        </p:txBody>
      </p:sp>
      <p:sp>
        <p:nvSpPr>
          <p:cNvPr id="5" name="Slide Number Placeholder 4"/>
          <p:cNvSpPr>
            <a:spLocks noGrp="1"/>
          </p:cNvSpPr>
          <p:nvPr>
            <p:ph type="sldNum" sz="quarter" idx="12"/>
          </p:nvPr>
        </p:nvSpPr>
        <p:spPr/>
        <p:txBody>
          <a:bodyPr/>
          <a:lstStyle/>
          <a:p>
            <a:fld id="{73E9613B-F541-4B9F-824A-15521B777744}" type="slidenum">
              <a:rPr lang="en-US" altLang="en-US" smtClean="0"/>
              <a:pPr/>
              <a:t>7</a:t>
            </a:fld>
            <a:endParaRPr lang="en-US" altLang="en-US"/>
          </a:p>
        </p:txBody>
      </p:sp>
      <p:sp>
        <p:nvSpPr>
          <p:cNvPr id="7" name="Rectangle 6"/>
          <p:cNvSpPr/>
          <p:nvPr/>
        </p:nvSpPr>
        <p:spPr>
          <a:xfrm>
            <a:off x="533400" y="1518077"/>
            <a:ext cx="8382000" cy="4770537"/>
          </a:xfrm>
          <a:prstGeom prst="rect">
            <a:avLst/>
          </a:prstGeom>
        </p:spPr>
        <p:txBody>
          <a:bodyPr wrap="square">
            <a:spAutoFit/>
          </a:bodyPr>
          <a:lstStyle/>
          <a:p>
            <a:pPr>
              <a:spcBef>
                <a:spcPts val="300"/>
              </a:spcBef>
            </a:pPr>
            <a:r>
              <a:rPr lang="vi-VN" sz="2100">
                <a:latin typeface="Times New Roman (Headings)"/>
              </a:rPr>
              <a:t>– </a:t>
            </a:r>
            <a:r>
              <a:rPr lang="vi-VN" sz="2100">
                <a:solidFill>
                  <a:srgbClr val="FF0000"/>
                </a:solidFill>
                <a:latin typeface="Times New Roman (Headings)"/>
              </a:rPr>
              <a:t>Computer Network Architects</a:t>
            </a:r>
            <a:r>
              <a:rPr lang="vi-VN" sz="2100">
                <a:latin typeface="Times New Roman (Headings)"/>
              </a:rPr>
              <a:t>: người phát triển mạng lưới máy tính thiết lập các mạng nội bộ </a:t>
            </a:r>
            <a:r>
              <a:rPr lang="en-US" sz="2100">
                <a:latin typeface="Times New Roman (Headings)"/>
              </a:rPr>
              <a:t>cho</a:t>
            </a:r>
            <a:r>
              <a:rPr lang="vi-VN" sz="2100">
                <a:latin typeface="Times New Roman (Headings)"/>
              </a:rPr>
              <a:t> doanh nghiệp</a:t>
            </a:r>
            <a:endParaRPr lang="en-US" sz="2100">
              <a:latin typeface="Times New Roman (Headings)"/>
            </a:endParaRPr>
          </a:p>
          <a:p>
            <a:pPr>
              <a:spcBef>
                <a:spcPts val="300"/>
              </a:spcBef>
            </a:pPr>
            <a:r>
              <a:rPr lang="vi-VN" sz="2100">
                <a:latin typeface="Times New Roman (Headings)"/>
              </a:rPr>
              <a:t>– </a:t>
            </a:r>
            <a:r>
              <a:rPr lang="vi-VN" sz="2100">
                <a:solidFill>
                  <a:srgbClr val="FF0000"/>
                </a:solidFill>
                <a:latin typeface="Times New Roman (Headings)"/>
              </a:rPr>
              <a:t>Web Developers</a:t>
            </a:r>
            <a:r>
              <a:rPr lang="vi-VN" sz="2100">
                <a:latin typeface="Times New Roman (Headings)"/>
              </a:rPr>
              <a:t>: người phát triển website thiết lập và phát triển các website cho doanh nghiệp và tổ chức.</a:t>
            </a:r>
          </a:p>
          <a:p>
            <a:pPr>
              <a:spcBef>
                <a:spcPts val="300"/>
              </a:spcBef>
            </a:pPr>
            <a:r>
              <a:rPr lang="vi-VN" sz="2100">
                <a:latin typeface="Times New Roman (Headings)"/>
              </a:rPr>
              <a:t>– </a:t>
            </a:r>
            <a:r>
              <a:rPr lang="vi-VN" sz="2100">
                <a:solidFill>
                  <a:srgbClr val="FF0000"/>
                </a:solidFill>
                <a:latin typeface="Times New Roman (Headings)"/>
              </a:rPr>
              <a:t>Information System Security Staff</a:t>
            </a:r>
            <a:r>
              <a:rPr lang="vi-VN" sz="2100">
                <a:latin typeface="Times New Roman (Headings)"/>
              </a:rPr>
              <a:t>: nhân viên bảo mật hệ thống thông tin</a:t>
            </a:r>
            <a:r>
              <a:rPr lang="en-US" sz="2100">
                <a:latin typeface="Times New Roman (Headings)"/>
              </a:rPr>
              <a:t>, </a:t>
            </a:r>
            <a:r>
              <a:rPr lang="vi-VN" sz="2100">
                <a:latin typeface="Times New Roman (Headings)"/>
              </a:rPr>
              <a:t>đảm bảo an toàn cho hệ thống thông tin của doanh nghiệp và tổ chức khỏi các phần tử hacker trên hệ thống Internet.</a:t>
            </a:r>
          </a:p>
          <a:p>
            <a:pPr>
              <a:spcBef>
                <a:spcPts val="300"/>
              </a:spcBef>
            </a:pPr>
            <a:r>
              <a:rPr lang="vi-VN" sz="2100">
                <a:latin typeface="Times New Roman (Headings)"/>
              </a:rPr>
              <a:t>– </a:t>
            </a:r>
            <a:r>
              <a:rPr lang="vi-VN" sz="2100">
                <a:solidFill>
                  <a:srgbClr val="FF0000"/>
                </a:solidFill>
                <a:latin typeface="Times New Roman (Headings)"/>
              </a:rPr>
              <a:t>Software Testers</a:t>
            </a:r>
            <a:r>
              <a:rPr lang="vi-VN" sz="2100">
                <a:latin typeface="Times New Roman (Headings)"/>
              </a:rPr>
              <a:t>: người kiểm </a:t>
            </a:r>
            <a:r>
              <a:rPr lang="en-US" sz="2100">
                <a:latin typeface="Times New Roman (Headings)"/>
              </a:rPr>
              <a:t>thử</a:t>
            </a:r>
            <a:r>
              <a:rPr lang="vi-VN" sz="2100">
                <a:latin typeface="Times New Roman (Headings)"/>
              </a:rPr>
              <a:t> phần mềm có trách nhiệm phát hiện lỗi của phần mềm sau </a:t>
            </a:r>
            <a:r>
              <a:rPr lang="en-US" sz="2100">
                <a:latin typeface="Times New Roman (Headings)"/>
              </a:rPr>
              <a:t>để nâng cấp, bảo trì</a:t>
            </a:r>
            <a:endParaRPr lang="vi-VN" sz="2100">
              <a:latin typeface="Times New Roman (Headings)"/>
            </a:endParaRPr>
          </a:p>
          <a:p>
            <a:pPr>
              <a:spcBef>
                <a:spcPts val="300"/>
              </a:spcBef>
            </a:pPr>
            <a:r>
              <a:rPr lang="vi-VN" sz="2100">
                <a:latin typeface="Times New Roman (Headings)"/>
              </a:rPr>
              <a:t>– </a:t>
            </a:r>
            <a:r>
              <a:rPr lang="vi-VN" sz="2100">
                <a:solidFill>
                  <a:srgbClr val="FF0000"/>
                </a:solidFill>
                <a:latin typeface="Times New Roman (Headings)"/>
              </a:rPr>
              <a:t>Quality Assurance Engineers</a:t>
            </a:r>
            <a:r>
              <a:rPr lang="vi-VN" sz="2100">
                <a:latin typeface="Times New Roman (Headings)"/>
              </a:rPr>
              <a:t>: kĩ sư đánh giá chất lượng chịu trách nhiệm kiểm soát quá trình phát triển phần mềm và kiểm tra chất lượng qua mỗi giai đoạn phát triển. </a:t>
            </a:r>
            <a:r>
              <a:rPr lang="en-US" sz="2100">
                <a:latin typeface="Times New Roman (Headings)"/>
              </a:rPr>
              <a:t>Khác với </a:t>
            </a:r>
            <a:r>
              <a:rPr lang="vi-VN" sz="2100">
                <a:latin typeface="Times New Roman (Headings)"/>
              </a:rPr>
              <a:t>testers</a:t>
            </a:r>
            <a:r>
              <a:rPr lang="en-US" sz="2100">
                <a:latin typeface="Times New Roman (Headings)"/>
              </a:rPr>
              <a:t>, công việc</a:t>
            </a:r>
            <a:r>
              <a:rPr lang="vi-VN" sz="2100">
                <a:latin typeface="Times New Roman (Headings)"/>
              </a:rPr>
              <a:t> này chịu trách nhiệm phát triển những kế hoạch kiểm tra phần mềm, đánh giá kết quả, tìm lỗi và báo </a:t>
            </a:r>
            <a:r>
              <a:rPr lang="en-US" sz="2100">
                <a:latin typeface="Times New Roman (Headings)"/>
              </a:rPr>
              <a:t>cáo</a:t>
            </a:r>
            <a:r>
              <a:rPr lang="vi-VN" sz="2100">
                <a:latin typeface="Times New Roman (Headings)"/>
              </a:rPr>
              <a:t>.</a:t>
            </a:r>
          </a:p>
        </p:txBody>
      </p:sp>
    </p:spTree>
    <p:extLst>
      <p:ext uri="{BB962C8B-B14F-4D97-AF65-F5344CB8AC3E}">
        <p14:creationId xmlns:p14="http://schemas.microsoft.com/office/powerpoint/2010/main" val="3616798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5"/>
              <a:t>2. </a:t>
            </a:r>
            <a:r>
              <a:rPr lang="en-US"/>
              <a:t>Một số cách phân loại ngành CNTT</a:t>
            </a:r>
          </a:p>
        </p:txBody>
      </p:sp>
      <p:sp>
        <p:nvSpPr>
          <p:cNvPr id="3" name="Content Placeholder 2"/>
          <p:cNvSpPr>
            <a:spLocks noGrp="1"/>
          </p:cNvSpPr>
          <p:nvPr>
            <p:ph idx="1"/>
          </p:nvPr>
        </p:nvSpPr>
        <p:spPr/>
        <p:txBody>
          <a:bodyPr/>
          <a:lstStyle/>
          <a:p>
            <a:r>
              <a:rPr lang="en-US"/>
              <a:t>Phân loại theo ngành đào tạo</a:t>
            </a:r>
          </a:p>
          <a:p>
            <a:pPr lvl="1">
              <a:buFontTx/>
              <a:buChar char="-"/>
            </a:pPr>
            <a:r>
              <a:rPr lang="en-US"/>
              <a:t>Khoa học máy tính</a:t>
            </a:r>
          </a:p>
          <a:p>
            <a:pPr lvl="1">
              <a:buFontTx/>
              <a:buChar char="-"/>
            </a:pPr>
            <a:r>
              <a:rPr lang="en-US"/>
              <a:t>Công nghệ phần mềm</a:t>
            </a:r>
          </a:p>
          <a:p>
            <a:pPr lvl="1">
              <a:buFontTx/>
              <a:buChar char="-"/>
            </a:pPr>
            <a:r>
              <a:rPr lang="en-US"/>
              <a:t>Hệ thống thông tin</a:t>
            </a:r>
          </a:p>
          <a:p>
            <a:pPr lvl="1">
              <a:buFontTx/>
              <a:buChar char="-"/>
            </a:pPr>
            <a:r>
              <a:rPr lang="en-US"/>
              <a:t>Khoa học dữ liệu</a:t>
            </a:r>
          </a:p>
          <a:p>
            <a:pPr lvl="1">
              <a:buFontTx/>
              <a:buChar char="-"/>
            </a:pPr>
            <a:r>
              <a:rPr lang="en-US"/>
              <a:t>Trí tuệ nhân tạo và các hệ thống thông minh</a:t>
            </a:r>
          </a:p>
          <a:p>
            <a:pPr lvl="1">
              <a:buFontTx/>
              <a:buChar char="-"/>
            </a:pPr>
            <a:r>
              <a:rPr lang="en-US"/>
              <a:t>Mạng máy tính và truyền thông</a:t>
            </a:r>
          </a:p>
          <a:p>
            <a:pPr lvl="1">
              <a:buFontTx/>
              <a:buChar char="-"/>
            </a:pPr>
            <a:r>
              <a:rPr lang="en-US"/>
              <a:t>Robotics</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8</a:t>
            </a:fld>
            <a:endParaRPr lang="en-US" altLang="en-US"/>
          </a:p>
        </p:txBody>
      </p:sp>
    </p:spTree>
    <p:extLst>
      <p:ext uri="{BB962C8B-B14F-4D97-AF65-F5344CB8AC3E}">
        <p14:creationId xmlns:p14="http://schemas.microsoft.com/office/powerpoint/2010/main" val="1445246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pPr marL="0" indent="0">
              <a:buNone/>
            </a:pP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9</a:t>
            </a:fld>
            <a:endParaRPr lang="en-US" altLang="en-US"/>
          </a:p>
        </p:txBody>
      </p:sp>
      <p:pic>
        <p:nvPicPr>
          <p:cNvPr id="5" name="Picture 4">
            <a:hlinkClick r:id="rId2"/>
          </p:cNvPr>
          <p:cNvPicPr>
            <a:picLocks noChangeAspect="1"/>
          </p:cNvPicPr>
          <p:nvPr/>
        </p:nvPicPr>
        <p:blipFill>
          <a:blip r:embed="rId3"/>
          <a:stretch>
            <a:fillRect/>
          </a:stretch>
        </p:blipFill>
        <p:spPr>
          <a:xfrm>
            <a:off x="457200" y="1278336"/>
            <a:ext cx="4064032" cy="5230096"/>
          </a:xfrm>
          <a:prstGeom prst="rect">
            <a:avLst/>
          </a:prstGeom>
        </p:spPr>
      </p:pic>
      <p:pic>
        <p:nvPicPr>
          <p:cNvPr id="6" name="Picture 5"/>
          <p:cNvPicPr>
            <a:picLocks noChangeAspect="1"/>
          </p:cNvPicPr>
          <p:nvPr/>
        </p:nvPicPr>
        <p:blipFill>
          <a:blip r:embed="rId4"/>
          <a:stretch>
            <a:fillRect/>
          </a:stretch>
        </p:blipFill>
        <p:spPr>
          <a:xfrm>
            <a:off x="4876800" y="1363663"/>
            <a:ext cx="3620930" cy="2623515"/>
          </a:xfrm>
          <a:prstGeom prst="rect">
            <a:avLst/>
          </a:prstGeom>
        </p:spPr>
      </p:pic>
      <p:pic>
        <p:nvPicPr>
          <p:cNvPr id="7" name="Picture 6"/>
          <p:cNvPicPr>
            <a:picLocks noChangeAspect="1"/>
          </p:cNvPicPr>
          <p:nvPr/>
        </p:nvPicPr>
        <p:blipFill>
          <a:blip r:embed="rId5"/>
          <a:stretch>
            <a:fillRect/>
          </a:stretch>
        </p:blipFill>
        <p:spPr>
          <a:xfrm>
            <a:off x="4953000" y="4207364"/>
            <a:ext cx="3529490" cy="1794103"/>
          </a:xfrm>
          <a:prstGeom prst="rect">
            <a:avLst/>
          </a:prstGeom>
        </p:spPr>
      </p:pic>
    </p:spTree>
    <p:extLst>
      <p:ext uri="{BB962C8B-B14F-4D97-AF65-F5344CB8AC3E}">
        <p14:creationId xmlns:p14="http://schemas.microsoft.com/office/powerpoint/2010/main" val="9920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10</a:t>
            </a:fld>
            <a:endParaRPr lang="en-US" altLang="en-US"/>
          </a:p>
        </p:txBody>
      </p:sp>
      <p:pic>
        <p:nvPicPr>
          <p:cNvPr id="6" name="Picture 5"/>
          <p:cNvPicPr>
            <a:picLocks noChangeAspect="1"/>
          </p:cNvPicPr>
          <p:nvPr/>
        </p:nvPicPr>
        <p:blipFill>
          <a:blip r:embed="rId2"/>
          <a:stretch>
            <a:fillRect/>
          </a:stretch>
        </p:blipFill>
        <p:spPr>
          <a:xfrm>
            <a:off x="1447800" y="1114157"/>
            <a:ext cx="6324600" cy="5650786"/>
          </a:xfrm>
          <a:prstGeom prst="rect">
            <a:avLst/>
          </a:prstGeom>
        </p:spPr>
      </p:pic>
    </p:spTree>
    <p:extLst>
      <p:ext uri="{BB962C8B-B14F-4D97-AF65-F5344CB8AC3E}">
        <p14:creationId xmlns:p14="http://schemas.microsoft.com/office/powerpoint/2010/main" val="2030290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57200" y="1140224"/>
            <a:ext cx="8229600" cy="615802"/>
          </a:xfrm>
        </p:spPr>
        <p:txBody>
          <a:bodyPr/>
          <a:lstStyle/>
          <a:p>
            <a:pPr marL="0" indent="0">
              <a:buNone/>
            </a:pPr>
            <a:r>
              <a:rPr lang="en-US"/>
              <a:t>A.1. Lập trình viên – Kỹ sư phát triển phần mềm</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11</a:t>
            </a:fld>
            <a:endParaRPr lang="en-US" altLang="en-US"/>
          </a:p>
        </p:txBody>
      </p:sp>
      <p:pic>
        <p:nvPicPr>
          <p:cNvPr id="5" name="Picture 4"/>
          <p:cNvPicPr>
            <a:picLocks noChangeAspect="1"/>
          </p:cNvPicPr>
          <p:nvPr/>
        </p:nvPicPr>
        <p:blipFill>
          <a:blip r:embed="rId2"/>
          <a:stretch>
            <a:fillRect/>
          </a:stretch>
        </p:blipFill>
        <p:spPr>
          <a:xfrm>
            <a:off x="213359" y="1544510"/>
            <a:ext cx="4800600" cy="5176965"/>
          </a:xfrm>
          <a:prstGeom prst="rect">
            <a:avLst/>
          </a:prstGeom>
        </p:spPr>
      </p:pic>
      <p:pic>
        <p:nvPicPr>
          <p:cNvPr id="7" name="Picture 6"/>
          <p:cNvPicPr>
            <a:picLocks noChangeAspect="1"/>
          </p:cNvPicPr>
          <p:nvPr/>
        </p:nvPicPr>
        <p:blipFill>
          <a:blip r:embed="rId3"/>
          <a:stretch>
            <a:fillRect/>
          </a:stretch>
        </p:blipFill>
        <p:spPr>
          <a:xfrm>
            <a:off x="5029200" y="2009179"/>
            <a:ext cx="3886200" cy="4062560"/>
          </a:xfrm>
          <a:prstGeom prst="rect">
            <a:avLst/>
          </a:prstGeom>
        </p:spPr>
      </p:pic>
      <p:pic>
        <p:nvPicPr>
          <p:cNvPr id="9" name="Picture 8"/>
          <p:cNvPicPr>
            <a:picLocks noChangeAspect="1"/>
          </p:cNvPicPr>
          <p:nvPr/>
        </p:nvPicPr>
        <p:blipFill>
          <a:blip r:embed="rId4"/>
          <a:stretch>
            <a:fillRect/>
          </a:stretch>
        </p:blipFill>
        <p:spPr>
          <a:xfrm>
            <a:off x="5029201" y="1600200"/>
            <a:ext cx="3886200" cy="5121275"/>
          </a:xfrm>
          <a:prstGeom prst="rect">
            <a:avLst/>
          </a:prstGeom>
        </p:spPr>
      </p:pic>
    </p:spTree>
    <p:extLst>
      <p:ext uri="{BB962C8B-B14F-4D97-AF65-F5344CB8AC3E}">
        <p14:creationId xmlns:p14="http://schemas.microsoft.com/office/powerpoint/2010/main" val="2284223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pPr marL="0" indent="0">
              <a:buNone/>
            </a:pPr>
            <a:r>
              <a:rPr lang="en-US"/>
              <a:t>A.2. Kỹ sư thiết kế phần mềm</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12</a:t>
            </a:fld>
            <a:endParaRPr lang="en-US" altLang="en-US"/>
          </a:p>
        </p:txBody>
      </p:sp>
      <p:pic>
        <p:nvPicPr>
          <p:cNvPr id="5" name="Picture 4"/>
          <p:cNvPicPr>
            <a:picLocks noChangeAspect="1"/>
          </p:cNvPicPr>
          <p:nvPr/>
        </p:nvPicPr>
        <p:blipFill>
          <a:blip r:embed="rId2"/>
          <a:stretch>
            <a:fillRect/>
          </a:stretch>
        </p:blipFill>
        <p:spPr>
          <a:xfrm>
            <a:off x="152400" y="1863808"/>
            <a:ext cx="4642188" cy="4507782"/>
          </a:xfrm>
          <a:prstGeom prst="rect">
            <a:avLst/>
          </a:prstGeom>
        </p:spPr>
      </p:pic>
      <p:pic>
        <p:nvPicPr>
          <p:cNvPr id="6" name="Picture 5"/>
          <p:cNvPicPr>
            <a:picLocks noChangeAspect="1"/>
          </p:cNvPicPr>
          <p:nvPr/>
        </p:nvPicPr>
        <p:blipFill>
          <a:blip r:embed="rId3"/>
          <a:stretch>
            <a:fillRect/>
          </a:stretch>
        </p:blipFill>
        <p:spPr>
          <a:xfrm>
            <a:off x="4686300" y="1863808"/>
            <a:ext cx="4305300" cy="1647436"/>
          </a:xfrm>
          <a:prstGeom prst="rect">
            <a:avLst/>
          </a:prstGeom>
        </p:spPr>
      </p:pic>
      <p:pic>
        <p:nvPicPr>
          <p:cNvPr id="7" name="Picture 6"/>
          <p:cNvPicPr>
            <a:picLocks noChangeAspect="1"/>
          </p:cNvPicPr>
          <p:nvPr/>
        </p:nvPicPr>
        <p:blipFill>
          <a:blip r:embed="rId4"/>
          <a:stretch>
            <a:fillRect/>
          </a:stretch>
        </p:blipFill>
        <p:spPr>
          <a:xfrm>
            <a:off x="4794588" y="1863808"/>
            <a:ext cx="4197012" cy="4610643"/>
          </a:xfrm>
          <a:prstGeom prst="rect">
            <a:avLst/>
          </a:prstGeom>
        </p:spPr>
      </p:pic>
    </p:spTree>
    <p:extLst>
      <p:ext uri="{BB962C8B-B14F-4D97-AF65-F5344CB8AC3E}">
        <p14:creationId xmlns:p14="http://schemas.microsoft.com/office/powerpoint/2010/main" val="1438344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pPr marL="0" indent="0">
              <a:buNone/>
            </a:pPr>
            <a:r>
              <a:rPr lang="en-US"/>
              <a:t>A.3. Kiến trúc sư phần mềm</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13</a:t>
            </a:fld>
            <a:endParaRPr lang="en-US" altLang="en-US"/>
          </a:p>
        </p:txBody>
      </p:sp>
      <p:pic>
        <p:nvPicPr>
          <p:cNvPr id="9" name="Picture 8"/>
          <p:cNvPicPr>
            <a:picLocks noChangeAspect="1"/>
          </p:cNvPicPr>
          <p:nvPr/>
        </p:nvPicPr>
        <p:blipFill>
          <a:blip r:embed="rId2"/>
          <a:stretch>
            <a:fillRect/>
          </a:stretch>
        </p:blipFill>
        <p:spPr>
          <a:xfrm>
            <a:off x="228600" y="1752600"/>
            <a:ext cx="4461708" cy="4603750"/>
          </a:xfrm>
          <a:prstGeom prst="rect">
            <a:avLst/>
          </a:prstGeom>
        </p:spPr>
      </p:pic>
      <p:pic>
        <p:nvPicPr>
          <p:cNvPr id="10" name="Picture 9"/>
          <p:cNvPicPr>
            <a:picLocks noChangeAspect="1"/>
          </p:cNvPicPr>
          <p:nvPr/>
        </p:nvPicPr>
        <p:blipFill>
          <a:blip r:embed="rId3"/>
          <a:stretch>
            <a:fillRect/>
          </a:stretch>
        </p:blipFill>
        <p:spPr>
          <a:xfrm>
            <a:off x="4690308" y="1871586"/>
            <a:ext cx="4293175" cy="4386187"/>
          </a:xfrm>
          <a:prstGeom prst="rect">
            <a:avLst/>
          </a:prstGeom>
        </p:spPr>
      </p:pic>
      <p:pic>
        <p:nvPicPr>
          <p:cNvPr id="11" name="Picture 10"/>
          <p:cNvPicPr>
            <a:picLocks noChangeAspect="1"/>
          </p:cNvPicPr>
          <p:nvPr/>
        </p:nvPicPr>
        <p:blipFill>
          <a:blip r:embed="rId4"/>
          <a:stretch>
            <a:fillRect/>
          </a:stretch>
        </p:blipFill>
        <p:spPr>
          <a:xfrm>
            <a:off x="4690308" y="1752600"/>
            <a:ext cx="4286052" cy="4695825"/>
          </a:xfrm>
          <a:prstGeom prst="rect">
            <a:avLst/>
          </a:prstGeom>
        </p:spPr>
      </p:pic>
    </p:spTree>
    <p:extLst>
      <p:ext uri="{BB962C8B-B14F-4D97-AF65-F5344CB8AC3E}">
        <p14:creationId xmlns:p14="http://schemas.microsoft.com/office/powerpoint/2010/main" val="172444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57200" y="1333499"/>
            <a:ext cx="8229600" cy="4678363"/>
          </a:xfrm>
        </p:spPr>
        <p:txBody>
          <a:bodyPr/>
          <a:lstStyle/>
          <a:p>
            <a:pPr marL="0" indent="0">
              <a:buNone/>
            </a:pPr>
            <a:r>
              <a:rPr lang="en-US"/>
              <a:t>A.4. Kỹ sư kiểm thử phần mềm</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14</a:t>
            </a:fld>
            <a:endParaRPr lang="en-US" altLang="en-US"/>
          </a:p>
        </p:txBody>
      </p:sp>
      <p:pic>
        <p:nvPicPr>
          <p:cNvPr id="5" name="Picture 4"/>
          <p:cNvPicPr>
            <a:picLocks noChangeAspect="1"/>
          </p:cNvPicPr>
          <p:nvPr/>
        </p:nvPicPr>
        <p:blipFill>
          <a:blip r:embed="rId2"/>
          <a:stretch>
            <a:fillRect/>
          </a:stretch>
        </p:blipFill>
        <p:spPr>
          <a:xfrm>
            <a:off x="304800" y="1755775"/>
            <a:ext cx="4572000" cy="4797425"/>
          </a:xfrm>
          <a:prstGeom prst="rect">
            <a:avLst/>
          </a:prstGeom>
        </p:spPr>
      </p:pic>
      <p:pic>
        <p:nvPicPr>
          <p:cNvPr id="6" name="Picture 5"/>
          <p:cNvPicPr>
            <a:picLocks noChangeAspect="1"/>
          </p:cNvPicPr>
          <p:nvPr/>
        </p:nvPicPr>
        <p:blipFill>
          <a:blip r:embed="rId3"/>
          <a:stretch>
            <a:fillRect/>
          </a:stretch>
        </p:blipFill>
        <p:spPr>
          <a:xfrm>
            <a:off x="4953000" y="1863724"/>
            <a:ext cx="3886200" cy="4581525"/>
          </a:xfrm>
          <a:prstGeom prst="rect">
            <a:avLst/>
          </a:prstGeom>
        </p:spPr>
      </p:pic>
    </p:spTree>
    <p:extLst>
      <p:ext uri="{BB962C8B-B14F-4D97-AF65-F5344CB8AC3E}">
        <p14:creationId xmlns:p14="http://schemas.microsoft.com/office/powerpoint/2010/main" val="1997851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pPr marL="0" indent="0">
              <a:buNone/>
            </a:pPr>
            <a:r>
              <a:rPr lang="en-US"/>
              <a:t>A.5. Chuyên viên phân tích nghiệp vụ</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15</a:t>
            </a:fld>
            <a:endParaRPr lang="en-US" altLang="en-US"/>
          </a:p>
        </p:txBody>
      </p:sp>
      <p:pic>
        <p:nvPicPr>
          <p:cNvPr id="6" name="Picture 5"/>
          <p:cNvPicPr>
            <a:picLocks noChangeAspect="1"/>
          </p:cNvPicPr>
          <p:nvPr/>
        </p:nvPicPr>
        <p:blipFill>
          <a:blip r:embed="rId2"/>
          <a:stretch>
            <a:fillRect/>
          </a:stretch>
        </p:blipFill>
        <p:spPr>
          <a:xfrm>
            <a:off x="304800" y="1853840"/>
            <a:ext cx="4114800" cy="4502509"/>
          </a:xfrm>
          <a:prstGeom prst="rect">
            <a:avLst/>
          </a:prstGeom>
        </p:spPr>
      </p:pic>
      <p:pic>
        <p:nvPicPr>
          <p:cNvPr id="7" name="Picture 6"/>
          <p:cNvPicPr>
            <a:picLocks noChangeAspect="1"/>
          </p:cNvPicPr>
          <p:nvPr/>
        </p:nvPicPr>
        <p:blipFill>
          <a:blip r:embed="rId3"/>
          <a:stretch>
            <a:fillRect/>
          </a:stretch>
        </p:blipFill>
        <p:spPr>
          <a:xfrm>
            <a:off x="4419600" y="1853839"/>
            <a:ext cx="4267200" cy="2779151"/>
          </a:xfrm>
          <a:prstGeom prst="rect">
            <a:avLst/>
          </a:prstGeom>
        </p:spPr>
      </p:pic>
      <p:pic>
        <p:nvPicPr>
          <p:cNvPr id="9" name="Picture 8"/>
          <p:cNvPicPr>
            <a:picLocks noChangeAspect="1"/>
          </p:cNvPicPr>
          <p:nvPr/>
        </p:nvPicPr>
        <p:blipFill>
          <a:blip r:embed="rId4"/>
          <a:stretch>
            <a:fillRect/>
          </a:stretch>
        </p:blipFill>
        <p:spPr>
          <a:xfrm>
            <a:off x="4556760" y="4517129"/>
            <a:ext cx="4130040" cy="1783668"/>
          </a:xfrm>
          <a:prstGeom prst="rect">
            <a:avLst/>
          </a:prstGeom>
        </p:spPr>
      </p:pic>
    </p:spTree>
    <p:extLst>
      <p:ext uri="{BB962C8B-B14F-4D97-AF65-F5344CB8AC3E}">
        <p14:creationId xmlns:p14="http://schemas.microsoft.com/office/powerpoint/2010/main" val="3308636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pPr marL="0" indent="0">
              <a:buNone/>
            </a:pPr>
            <a:r>
              <a:rPr lang="en-US"/>
              <a:t>A.6. Kỹ sư cầu nối</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16</a:t>
            </a:fld>
            <a:endParaRPr lang="en-US" altLang="en-US"/>
          </a:p>
        </p:txBody>
      </p:sp>
      <p:pic>
        <p:nvPicPr>
          <p:cNvPr id="5" name="Picture 4"/>
          <p:cNvPicPr>
            <a:picLocks noChangeAspect="1"/>
          </p:cNvPicPr>
          <p:nvPr/>
        </p:nvPicPr>
        <p:blipFill>
          <a:blip r:embed="rId2"/>
          <a:stretch>
            <a:fillRect/>
          </a:stretch>
        </p:blipFill>
        <p:spPr>
          <a:xfrm>
            <a:off x="76199" y="2557386"/>
            <a:ext cx="4305266" cy="2548014"/>
          </a:xfrm>
          <a:prstGeom prst="rect">
            <a:avLst/>
          </a:prstGeom>
        </p:spPr>
      </p:pic>
      <p:pic>
        <p:nvPicPr>
          <p:cNvPr id="7" name="Picture 6"/>
          <p:cNvPicPr>
            <a:picLocks noChangeAspect="1"/>
          </p:cNvPicPr>
          <p:nvPr/>
        </p:nvPicPr>
        <p:blipFill>
          <a:blip r:embed="rId3"/>
          <a:stretch>
            <a:fillRect/>
          </a:stretch>
        </p:blipFill>
        <p:spPr>
          <a:xfrm>
            <a:off x="4381465" y="1851820"/>
            <a:ext cx="4305335" cy="4489029"/>
          </a:xfrm>
          <a:prstGeom prst="rect">
            <a:avLst/>
          </a:prstGeom>
        </p:spPr>
      </p:pic>
      <p:pic>
        <p:nvPicPr>
          <p:cNvPr id="9" name="Picture 8"/>
          <p:cNvPicPr>
            <a:picLocks noChangeAspect="1"/>
          </p:cNvPicPr>
          <p:nvPr/>
        </p:nvPicPr>
        <p:blipFill>
          <a:blip r:embed="rId4"/>
          <a:stretch>
            <a:fillRect/>
          </a:stretch>
        </p:blipFill>
        <p:spPr>
          <a:xfrm>
            <a:off x="4411945" y="1922993"/>
            <a:ext cx="4284008" cy="4334779"/>
          </a:xfrm>
          <a:prstGeom prst="rect">
            <a:avLst/>
          </a:prstGeom>
        </p:spPr>
      </p:pic>
    </p:spTree>
    <p:extLst>
      <p:ext uri="{BB962C8B-B14F-4D97-AF65-F5344CB8AC3E}">
        <p14:creationId xmlns:p14="http://schemas.microsoft.com/office/powerpoint/2010/main" val="256517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57200" y="1323105"/>
            <a:ext cx="3200400" cy="4678363"/>
          </a:xfrm>
        </p:spPr>
        <p:txBody>
          <a:bodyPr/>
          <a:lstStyle/>
          <a:p>
            <a:pPr marL="0" indent="0">
              <a:buNone/>
            </a:pPr>
            <a:r>
              <a:rPr lang="en-US"/>
              <a:t>A.7. Quản lý dự án</a:t>
            </a:r>
          </a:p>
          <a:p>
            <a:pPr marL="0" indent="0">
              <a:buNone/>
            </a:pPr>
            <a:endParaRPr lang="en-US"/>
          </a:p>
          <a:p>
            <a:pPr marL="0" indent="0">
              <a:buNone/>
            </a:pPr>
            <a:endParaRPr lang="en-US"/>
          </a:p>
          <a:p>
            <a:pPr marL="0" indent="0">
              <a:buNone/>
            </a:pPr>
            <a:r>
              <a:rPr lang="en-US"/>
              <a:t>Quản lý dự án là người chịu trách nhiệm lên kế hoạch cho dự án, xây dựng và quản lý nhóm để thực hiện dự án</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17</a:t>
            </a:fld>
            <a:endParaRPr lang="en-US" altLang="en-US"/>
          </a:p>
        </p:txBody>
      </p:sp>
      <p:pic>
        <p:nvPicPr>
          <p:cNvPr id="10" name="Picture 9"/>
          <p:cNvPicPr>
            <a:picLocks noChangeAspect="1"/>
          </p:cNvPicPr>
          <p:nvPr/>
        </p:nvPicPr>
        <p:blipFill>
          <a:blip r:embed="rId2"/>
          <a:stretch>
            <a:fillRect/>
          </a:stretch>
        </p:blipFill>
        <p:spPr>
          <a:xfrm>
            <a:off x="3657600" y="1246587"/>
            <a:ext cx="4267200" cy="5087815"/>
          </a:xfrm>
          <a:prstGeom prst="rect">
            <a:avLst/>
          </a:prstGeom>
        </p:spPr>
      </p:pic>
      <p:pic>
        <p:nvPicPr>
          <p:cNvPr id="11" name="Picture 10"/>
          <p:cNvPicPr>
            <a:picLocks noChangeAspect="1"/>
          </p:cNvPicPr>
          <p:nvPr/>
        </p:nvPicPr>
        <p:blipFill>
          <a:blip r:embed="rId3"/>
          <a:stretch>
            <a:fillRect/>
          </a:stretch>
        </p:blipFill>
        <p:spPr>
          <a:xfrm>
            <a:off x="3688080" y="1246587"/>
            <a:ext cx="4267200" cy="5109763"/>
          </a:xfrm>
          <a:prstGeom prst="rect">
            <a:avLst/>
          </a:prstGeom>
        </p:spPr>
      </p:pic>
      <p:pic>
        <p:nvPicPr>
          <p:cNvPr id="12" name="Picture 11"/>
          <p:cNvPicPr>
            <a:picLocks noChangeAspect="1"/>
          </p:cNvPicPr>
          <p:nvPr/>
        </p:nvPicPr>
        <p:blipFill>
          <a:blip r:embed="rId4"/>
          <a:stretch>
            <a:fillRect/>
          </a:stretch>
        </p:blipFill>
        <p:spPr>
          <a:xfrm>
            <a:off x="3657600" y="1173798"/>
            <a:ext cx="4301728" cy="5160604"/>
          </a:xfrm>
          <a:prstGeom prst="rect">
            <a:avLst/>
          </a:prstGeom>
        </p:spPr>
      </p:pic>
    </p:spTree>
    <p:extLst>
      <p:ext uri="{BB962C8B-B14F-4D97-AF65-F5344CB8AC3E}">
        <p14:creationId xmlns:p14="http://schemas.microsoft.com/office/powerpoint/2010/main" val="3159500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18</a:t>
            </a:fld>
            <a:endParaRPr lang="en-US" altLang="en-US"/>
          </a:p>
        </p:txBody>
      </p:sp>
      <p:pic>
        <p:nvPicPr>
          <p:cNvPr id="5" name="Picture 4"/>
          <p:cNvPicPr>
            <a:picLocks noChangeAspect="1"/>
          </p:cNvPicPr>
          <p:nvPr/>
        </p:nvPicPr>
        <p:blipFill>
          <a:blip r:embed="rId2"/>
          <a:stretch>
            <a:fillRect/>
          </a:stretch>
        </p:blipFill>
        <p:spPr>
          <a:xfrm>
            <a:off x="2060567" y="1097280"/>
            <a:ext cx="5178433" cy="5392081"/>
          </a:xfrm>
          <a:prstGeom prst="rect">
            <a:avLst/>
          </a:prstGeom>
        </p:spPr>
      </p:pic>
    </p:spTree>
    <p:extLst>
      <p:ext uri="{BB962C8B-B14F-4D97-AF65-F5344CB8AC3E}">
        <p14:creationId xmlns:p14="http://schemas.microsoft.com/office/powerpoint/2010/main" val="2075852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24815" y="1219200"/>
            <a:ext cx="8229600" cy="4678363"/>
          </a:xfrm>
        </p:spPr>
        <p:txBody>
          <a:bodyPr/>
          <a:lstStyle/>
          <a:p>
            <a:pPr marL="0" indent="0">
              <a:buNone/>
            </a:pPr>
            <a:r>
              <a:rPr lang="en-US"/>
              <a:t>B1. Kỹ sư quản trị mạng</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19</a:t>
            </a:fld>
            <a:endParaRPr lang="en-US" altLang="en-US"/>
          </a:p>
        </p:txBody>
      </p:sp>
      <p:pic>
        <p:nvPicPr>
          <p:cNvPr id="6" name="Picture 5"/>
          <p:cNvPicPr>
            <a:picLocks noChangeAspect="1"/>
          </p:cNvPicPr>
          <p:nvPr/>
        </p:nvPicPr>
        <p:blipFill>
          <a:blip r:embed="rId2"/>
          <a:stretch>
            <a:fillRect/>
          </a:stretch>
        </p:blipFill>
        <p:spPr>
          <a:xfrm>
            <a:off x="121920" y="1706880"/>
            <a:ext cx="4572000" cy="4991838"/>
          </a:xfrm>
          <a:prstGeom prst="rect">
            <a:avLst/>
          </a:prstGeom>
        </p:spPr>
      </p:pic>
      <p:pic>
        <p:nvPicPr>
          <p:cNvPr id="7" name="Picture 6"/>
          <p:cNvPicPr>
            <a:picLocks noChangeAspect="1"/>
          </p:cNvPicPr>
          <p:nvPr/>
        </p:nvPicPr>
        <p:blipFill>
          <a:blip r:embed="rId3"/>
          <a:stretch>
            <a:fillRect/>
          </a:stretch>
        </p:blipFill>
        <p:spPr>
          <a:xfrm>
            <a:off x="4800600" y="1676400"/>
            <a:ext cx="4156710" cy="2371725"/>
          </a:xfrm>
          <a:prstGeom prst="rect">
            <a:avLst/>
          </a:prstGeom>
        </p:spPr>
      </p:pic>
      <p:pic>
        <p:nvPicPr>
          <p:cNvPr id="8" name="Picture 7"/>
          <p:cNvPicPr>
            <a:picLocks noChangeAspect="1"/>
          </p:cNvPicPr>
          <p:nvPr/>
        </p:nvPicPr>
        <p:blipFill>
          <a:blip r:embed="rId4"/>
          <a:stretch>
            <a:fillRect/>
          </a:stretch>
        </p:blipFill>
        <p:spPr>
          <a:xfrm>
            <a:off x="4693920" y="2146618"/>
            <a:ext cx="4514850" cy="4238625"/>
          </a:xfrm>
          <a:prstGeom prst="rect">
            <a:avLst/>
          </a:prstGeom>
        </p:spPr>
      </p:pic>
    </p:spTree>
    <p:extLst>
      <p:ext uri="{BB962C8B-B14F-4D97-AF65-F5344CB8AC3E}">
        <p14:creationId xmlns:p14="http://schemas.microsoft.com/office/powerpoint/2010/main" val="30533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24815" y="1219200"/>
            <a:ext cx="8229600" cy="4678363"/>
          </a:xfrm>
        </p:spPr>
        <p:txBody>
          <a:bodyPr/>
          <a:lstStyle/>
          <a:p>
            <a:pPr marL="0" indent="0">
              <a:buNone/>
            </a:pPr>
            <a:r>
              <a:rPr lang="en-US"/>
              <a:t>B2. Kỹ sư an toàn thông tin</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20</a:t>
            </a:fld>
            <a:endParaRPr lang="en-US" altLang="en-US"/>
          </a:p>
        </p:txBody>
      </p:sp>
      <p:pic>
        <p:nvPicPr>
          <p:cNvPr id="5" name="Picture 4"/>
          <p:cNvPicPr>
            <a:picLocks noChangeAspect="1"/>
          </p:cNvPicPr>
          <p:nvPr/>
        </p:nvPicPr>
        <p:blipFill>
          <a:blip r:embed="rId2"/>
          <a:stretch>
            <a:fillRect/>
          </a:stretch>
        </p:blipFill>
        <p:spPr>
          <a:xfrm>
            <a:off x="228600" y="1669415"/>
            <a:ext cx="4572000" cy="5067300"/>
          </a:xfrm>
          <a:prstGeom prst="rect">
            <a:avLst/>
          </a:prstGeom>
        </p:spPr>
      </p:pic>
      <p:pic>
        <p:nvPicPr>
          <p:cNvPr id="9" name="Picture 8"/>
          <p:cNvPicPr>
            <a:picLocks noChangeAspect="1"/>
          </p:cNvPicPr>
          <p:nvPr/>
        </p:nvPicPr>
        <p:blipFill>
          <a:blip r:embed="rId3"/>
          <a:stretch>
            <a:fillRect/>
          </a:stretch>
        </p:blipFill>
        <p:spPr>
          <a:xfrm>
            <a:off x="4770120" y="1669415"/>
            <a:ext cx="4210050" cy="2781300"/>
          </a:xfrm>
          <a:prstGeom prst="rect">
            <a:avLst/>
          </a:prstGeom>
        </p:spPr>
      </p:pic>
      <p:pic>
        <p:nvPicPr>
          <p:cNvPr id="10" name="Picture 9"/>
          <p:cNvPicPr>
            <a:picLocks noChangeAspect="1"/>
          </p:cNvPicPr>
          <p:nvPr/>
        </p:nvPicPr>
        <p:blipFill>
          <a:blip r:embed="rId4"/>
          <a:stretch>
            <a:fillRect/>
          </a:stretch>
        </p:blipFill>
        <p:spPr>
          <a:xfrm>
            <a:off x="4770120" y="2259807"/>
            <a:ext cx="4371975" cy="3867150"/>
          </a:xfrm>
          <a:prstGeom prst="rect">
            <a:avLst/>
          </a:prstGeom>
        </p:spPr>
      </p:pic>
    </p:spTree>
    <p:extLst>
      <p:ext uri="{BB962C8B-B14F-4D97-AF65-F5344CB8AC3E}">
        <p14:creationId xmlns:p14="http://schemas.microsoft.com/office/powerpoint/2010/main" val="3385274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24815" y="1219200"/>
            <a:ext cx="8229600" cy="4678363"/>
          </a:xfrm>
        </p:spPr>
        <p:txBody>
          <a:bodyPr/>
          <a:lstStyle/>
          <a:p>
            <a:pPr marL="0" indent="0">
              <a:buNone/>
            </a:pPr>
            <a:r>
              <a:rPr lang="en-US"/>
              <a:t>B4. Nhân viên hỗ trợ kỹ thuật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21</a:t>
            </a:fld>
            <a:endParaRPr lang="en-US" altLang="en-US"/>
          </a:p>
        </p:txBody>
      </p:sp>
      <p:pic>
        <p:nvPicPr>
          <p:cNvPr id="5" name="Picture 4"/>
          <p:cNvPicPr>
            <a:picLocks noChangeAspect="1"/>
          </p:cNvPicPr>
          <p:nvPr/>
        </p:nvPicPr>
        <p:blipFill>
          <a:blip r:embed="rId2"/>
          <a:stretch>
            <a:fillRect/>
          </a:stretch>
        </p:blipFill>
        <p:spPr>
          <a:xfrm>
            <a:off x="228600" y="1600200"/>
            <a:ext cx="4629150" cy="1466850"/>
          </a:xfrm>
          <a:prstGeom prst="rect">
            <a:avLst/>
          </a:prstGeom>
        </p:spPr>
      </p:pic>
      <p:pic>
        <p:nvPicPr>
          <p:cNvPr id="6" name="Picture 5"/>
          <p:cNvPicPr>
            <a:picLocks noChangeAspect="1"/>
          </p:cNvPicPr>
          <p:nvPr/>
        </p:nvPicPr>
        <p:blipFill>
          <a:blip r:embed="rId3"/>
          <a:stretch>
            <a:fillRect/>
          </a:stretch>
        </p:blipFill>
        <p:spPr>
          <a:xfrm>
            <a:off x="314325" y="2298700"/>
            <a:ext cx="4543425" cy="4178300"/>
          </a:xfrm>
          <a:prstGeom prst="rect">
            <a:avLst/>
          </a:prstGeom>
        </p:spPr>
      </p:pic>
      <p:pic>
        <p:nvPicPr>
          <p:cNvPr id="7" name="Picture 6"/>
          <p:cNvPicPr>
            <a:picLocks noChangeAspect="1"/>
          </p:cNvPicPr>
          <p:nvPr/>
        </p:nvPicPr>
        <p:blipFill>
          <a:blip r:embed="rId4"/>
          <a:stretch>
            <a:fillRect/>
          </a:stretch>
        </p:blipFill>
        <p:spPr>
          <a:xfrm>
            <a:off x="4792980" y="1765299"/>
            <a:ext cx="4274820" cy="3029727"/>
          </a:xfrm>
          <a:prstGeom prst="rect">
            <a:avLst/>
          </a:prstGeom>
        </p:spPr>
      </p:pic>
      <p:pic>
        <p:nvPicPr>
          <p:cNvPr id="8" name="Picture 7"/>
          <p:cNvPicPr>
            <a:picLocks noChangeAspect="1"/>
          </p:cNvPicPr>
          <p:nvPr/>
        </p:nvPicPr>
        <p:blipFill>
          <a:blip r:embed="rId5"/>
          <a:stretch>
            <a:fillRect/>
          </a:stretch>
        </p:blipFill>
        <p:spPr>
          <a:xfrm>
            <a:off x="4792980" y="2171665"/>
            <a:ext cx="4265510" cy="4106898"/>
          </a:xfrm>
          <a:prstGeom prst="rect">
            <a:avLst/>
          </a:prstGeom>
        </p:spPr>
      </p:pic>
    </p:spTree>
    <p:extLst>
      <p:ext uri="{BB962C8B-B14F-4D97-AF65-F5344CB8AC3E}">
        <p14:creationId xmlns:p14="http://schemas.microsoft.com/office/powerpoint/2010/main" val="197940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24815" y="1219200"/>
            <a:ext cx="8229600" cy="4678363"/>
          </a:xfrm>
        </p:spPr>
        <p:txBody>
          <a:bodyPr/>
          <a:lstStyle/>
          <a:p>
            <a:pPr marL="0" indent="0">
              <a:buNone/>
            </a:pPr>
            <a:r>
              <a:rPr lang="en-US"/>
              <a:t>B5. Quản lý CNTT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22</a:t>
            </a:fld>
            <a:endParaRPr lang="en-US" altLang="en-US"/>
          </a:p>
        </p:txBody>
      </p:sp>
      <p:pic>
        <p:nvPicPr>
          <p:cNvPr id="5" name="Picture 4"/>
          <p:cNvPicPr>
            <a:picLocks noChangeAspect="1"/>
          </p:cNvPicPr>
          <p:nvPr/>
        </p:nvPicPr>
        <p:blipFill>
          <a:blip r:embed="rId2"/>
          <a:stretch>
            <a:fillRect/>
          </a:stretch>
        </p:blipFill>
        <p:spPr>
          <a:xfrm>
            <a:off x="152400" y="1752600"/>
            <a:ext cx="4562475" cy="1562100"/>
          </a:xfrm>
          <a:prstGeom prst="rect">
            <a:avLst/>
          </a:prstGeom>
        </p:spPr>
      </p:pic>
      <p:pic>
        <p:nvPicPr>
          <p:cNvPr id="6" name="Picture 5"/>
          <p:cNvPicPr>
            <a:picLocks noChangeAspect="1"/>
          </p:cNvPicPr>
          <p:nvPr/>
        </p:nvPicPr>
        <p:blipFill>
          <a:blip r:embed="rId3"/>
          <a:stretch>
            <a:fillRect/>
          </a:stretch>
        </p:blipFill>
        <p:spPr>
          <a:xfrm>
            <a:off x="227648" y="1752600"/>
            <a:ext cx="4502467" cy="4603750"/>
          </a:xfrm>
          <a:prstGeom prst="rect">
            <a:avLst/>
          </a:prstGeom>
        </p:spPr>
      </p:pic>
      <p:pic>
        <p:nvPicPr>
          <p:cNvPr id="7" name="Picture 6"/>
          <p:cNvPicPr>
            <a:picLocks noChangeAspect="1"/>
          </p:cNvPicPr>
          <p:nvPr/>
        </p:nvPicPr>
        <p:blipFill>
          <a:blip r:embed="rId4"/>
          <a:stretch>
            <a:fillRect/>
          </a:stretch>
        </p:blipFill>
        <p:spPr>
          <a:xfrm>
            <a:off x="4415790" y="1651000"/>
            <a:ext cx="4552950" cy="4705350"/>
          </a:xfrm>
          <a:prstGeom prst="rect">
            <a:avLst/>
          </a:prstGeom>
        </p:spPr>
      </p:pic>
    </p:spTree>
    <p:extLst>
      <p:ext uri="{BB962C8B-B14F-4D97-AF65-F5344CB8AC3E}">
        <p14:creationId xmlns:p14="http://schemas.microsoft.com/office/powerpoint/2010/main" val="219295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24815" y="1219200"/>
            <a:ext cx="8229600" cy="4678363"/>
          </a:xfrm>
        </p:spPr>
        <p:txBody>
          <a:bodyPr/>
          <a:lstStyle/>
          <a:p>
            <a:pPr marL="0" indent="0">
              <a:buNone/>
            </a:pP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23</a:t>
            </a:fld>
            <a:endParaRPr lang="en-US" altLang="en-US"/>
          </a:p>
        </p:txBody>
      </p:sp>
      <p:pic>
        <p:nvPicPr>
          <p:cNvPr id="5" name="Picture 4"/>
          <p:cNvPicPr>
            <a:picLocks noChangeAspect="1"/>
          </p:cNvPicPr>
          <p:nvPr/>
        </p:nvPicPr>
        <p:blipFill>
          <a:blip r:embed="rId2"/>
          <a:stretch>
            <a:fillRect/>
          </a:stretch>
        </p:blipFill>
        <p:spPr>
          <a:xfrm>
            <a:off x="2209800" y="1219200"/>
            <a:ext cx="4648200" cy="5308008"/>
          </a:xfrm>
          <a:prstGeom prst="rect">
            <a:avLst/>
          </a:prstGeom>
        </p:spPr>
      </p:pic>
    </p:spTree>
    <p:extLst>
      <p:ext uri="{BB962C8B-B14F-4D97-AF65-F5344CB8AC3E}">
        <p14:creationId xmlns:p14="http://schemas.microsoft.com/office/powerpoint/2010/main" val="29294249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24815" y="1219200"/>
            <a:ext cx="8229600" cy="4678363"/>
          </a:xfrm>
        </p:spPr>
        <p:txBody>
          <a:bodyPr/>
          <a:lstStyle/>
          <a:p>
            <a:pPr marL="0" indent="0">
              <a:buNone/>
            </a:pPr>
            <a:r>
              <a:rPr lang="en-US"/>
              <a:t>C1. Chuyên viên thiết kế đồ họa</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24</a:t>
            </a:fld>
            <a:endParaRPr lang="en-US" altLang="en-US"/>
          </a:p>
        </p:txBody>
      </p:sp>
      <p:pic>
        <p:nvPicPr>
          <p:cNvPr id="5" name="Picture 4"/>
          <p:cNvPicPr>
            <a:picLocks noChangeAspect="1"/>
          </p:cNvPicPr>
          <p:nvPr/>
        </p:nvPicPr>
        <p:blipFill>
          <a:blip r:embed="rId2"/>
          <a:stretch>
            <a:fillRect/>
          </a:stretch>
        </p:blipFill>
        <p:spPr>
          <a:xfrm>
            <a:off x="243841" y="2590800"/>
            <a:ext cx="4419600" cy="2181225"/>
          </a:xfrm>
          <a:prstGeom prst="rect">
            <a:avLst/>
          </a:prstGeom>
        </p:spPr>
      </p:pic>
      <p:pic>
        <p:nvPicPr>
          <p:cNvPr id="6" name="Picture 5"/>
          <p:cNvPicPr>
            <a:picLocks noChangeAspect="1"/>
          </p:cNvPicPr>
          <p:nvPr/>
        </p:nvPicPr>
        <p:blipFill>
          <a:blip r:embed="rId3"/>
          <a:stretch>
            <a:fillRect/>
          </a:stretch>
        </p:blipFill>
        <p:spPr>
          <a:xfrm>
            <a:off x="4648201" y="1669257"/>
            <a:ext cx="4415789" cy="4457700"/>
          </a:xfrm>
          <a:prstGeom prst="rect">
            <a:avLst/>
          </a:prstGeom>
        </p:spPr>
      </p:pic>
    </p:spTree>
    <p:extLst>
      <p:ext uri="{BB962C8B-B14F-4D97-AF65-F5344CB8AC3E}">
        <p14:creationId xmlns:p14="http://schemas.microsoft.com/office/powerpoint/2010/main" val="2972942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24815" y="1219200"/>
            <a:ext cx="8229600" cy="4678363"/>
          </a:xfrm>
        </p:spPr>
        <p:txBody>
          <a:bodyPr/>
          <a:lstStyle/>
          <a:p>
            <a:pPr marL="0" indent="0">
              <a:buNone/>
            </a:pPr>
            <a:r>
              <a:rPr lang="en-US"/>
              <a:t>C2. Chuyên Viên Truyền thông đa phương tiện</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25</a:t>
            </a:fld>
            <a:endParaRPr lang="en-US" altLang="en-US"/>
          </a:p>
        </p:txBody>
      </p:sp>
      <p:pic>
        <p:nvPicPr>
          <p:cNvPr id="5" name="Picture 4"/>
          <p:cNvPicPr>
            <a:picLocks noChangeAspect="1"/>
          </p:cNvPicPr>
          <p:nvPr/>
        </p:nvPicPr>
        <p:blipFill>
          <a:blip r:embed="rId2"/>
          <a:stretch>
            <a:fillRect/>
          </a:stretch>
        </p:blipFill>
        <p:spPr>
          <a:xfrm>
            <a:off x="228600" y="1676400"/>
            <a:ext cx="4267200" cy="4679950"/>
          </a:xfrm>
          <a:prstGeom prst="rect">
            <a:avLst/>
          </a:prstGeom>
        </p:spPr>
      </p:pic>
      <p:pic>
        <p:nvPicPr>
          <p:cNvPr id="6" name="Picture 5"/>
          <p:cNvPicPr>
            <a:picLocks noChangeAspect="1"/>
          </p:cNvPicPr>
          <p:nvPr/>
        </p:nvPicPr>
        <p:blipFill>
          <a:blip r:embed="rId3"/>
          <a:stretch>
            <a:fillRect/>
          </a:stretch>
        </p:blipFill>
        <p:spPr>
          <a:xfrm>
            <a:off x="4495800" y="1753393"/>
            <a:ext cx="4552950" cy="3609975"/>
          </a:xfrm>
          <a:prstGeom prst="rect">
            <a:avLst/>
          </a:prstGeom>
        </p:spPr>
      </p:pic>
      <p:pic>
        <p:nvPicPr>
          <p:cNvPr id="7" name="Picture 6"/>
          <p:cNvPicPr>
            <a:picLocks noChangeAspect="1"/>
          </p:cNvPicPr>
          <p:nvPr/>
        </p:nvPicPr>
        <p:blipFill>
          <a:blip r:embed="rId4"/>
          <a:stretch>
            <a:fillRect/>
          </a:stretch>
        </p:blipFill>
        <p:spPr>
          <a:xfrm>
            <a:off x="4514850" y="1792288"/>
            <a:ext cx="4533900" cy="4257675"/>
          </a:xfrm>
          <a:prstGeom prst="rect">
            <a:avLst/>
          </a:prstGeom>
        </p:spPr>
      </p:pic>
    </p:spTree>
    <p:extLst>
      <p:ext uri="{BB962C8B-B14F-4D97-AF65-F5344CB8AC3E}">
        <p14:creationId xmlns:p14="http://schemas.microsoft.com/office/powerpoint/2010/main" val="272157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26</a:t>
            </a:fld>
            <a:endParaRPr lang="en-US" altLang="en-US"/>
          </a:p>
        </p:txBody>
      </p:sp>
      <p:pic>
        <p:nvPicPr>
          <p:cNvPr id="5" name="Picture 4"/>
          <p:cNvPicPr>
            <a:picLocks noChangeAspect="1"/>
          </p:cNvPicPr>
          <p:nvPr/>
        </p:nvPicPr>
        <p:blipFill>
          <a:blip r:embed="rId2"/>
          <a:stretch>
            <a:fillRect/>
          </a:stretch>
        </p:blipFill>
        <p:spPr>
          <a:xfrm>
            <a:off x="152400" y="1305716"/>
            <a:ext cx="4171950" cy="4505325"/>
          </a:xfrm>
          <a:prstGeom prst="rect">
            <a:avLst/>
          </a:prstGeom>
        </p:spPr>
      </p:pic>
      <p:pic>
        <p:nvPicPr>
          <p:cNvPr id="6" name="Picture 5"/>
          <p:cNvPicPr>
            <a:picLocks noChangeAspect="1"/>
          </p:cNvPicPr>
          <p:nvPr/>
        </p:nvPicPr>
        <p:blipFill>
          <a:blip r:embed="rId3"/>
          <a:stretch>
            <a:fillRect/>
          </a:stretch>
        </p:blipFill>
        <p:spPr>
          <a:xfrm>
            <a:off x="4495800" y="2601115"/>
            <a:ext cx="4648200" cy="1914525"/>
          </a:xfrm>
          <a:prstGeom prst="rect">
            <a:avLst/>
          </a:prstGeom>
        </p:spPr>
      </p:pic>
    </p:spTree>
    <p:extLst>
      <p:ext uri="{BB962C8B-B14F-4D97-AF65-F5344CB8AC3E}">
        <p14:creationId xmlns:p14="http://schemas.microsoft.com/office/powerpoint/2010/main" val="42245030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24815" y="1219200"/>
            <a:ext cx="8229600" cy="4678363"/>
          </a:xfrm>
        </p:spPr>
        <p:txBody>
          <a:bodyPr/>
          <a:lstStyle/>
          <a:p>
            <a:pPr marL="0" indent="0">
              <a:buNone/>
            </a:pPr>
            <a:r>
              <a:rPr lang="en-US"/>
              <a:t>D1. Kỹ sư thiết kế vi mạch</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27</a:t>
            </a:fld>
            <a:endParaRPr lang="en-US" altLang="en-US"/>
          </a:p>
        </p:txBody>
      </p:sp>
      <p:pic>
        <p:nvPicPr>
          <p:cNvPr id="5" name="Picture 4"/>
          <p:cNvPicPr>
            <a:picLocks noChangeAspect="1"/>
          </p:cNvPicPr>
          <p:nvPr/>
        </p:nvPicPr>
        <p:blipFill>
          <a:blip r:embed="rId2"/>
          <a:stretch>
            <a:fillRect/>
          </a:stretch>
        </p:blipFill>
        <p:spPr>
          <a:xfrm>
            <a:off x="110490" y="1652746"/>
            <a:ext cx="4629150" cy="2124075"/>
          </a:xfrm>
          <a:prstGeom prst="rect">
            <a:avLst/>
          </a:prstGeom>
        </p:spPr>
      </p:pic>
      <p:pic>
        <p:nvPicPr>
          <p:cNvPr id="6" name="Picture 5"/>
          <p:cNvPicPr>
            <a:picLocks noChangeAspect="1"/>
          </p:cNvPicPr>
          <p:nvPr/>
        </p:nvPicPr>
        <p:blipFill>
          <a:blip r:embed="rId3"/>
          <a:stretch>
            <a:fillRect/>
          </a:stretch>
        </p:blipFill>
        <p:spPr>
          <a:xfrm>
            <a:off x="110490" y="3724276"/>
            <a:ext cx="4629150" cy="2924175"/>
          </a:xfrm>
          <a:prstGeom prst="rect">
            <a:avLst/>
          </a:prstGeom>
        </p:spPr>
      </p:pic>
      <p:pic>
        <p:nvPicPr>
          <p:cNvPr id="7" name="Picture 6"/>
          <p:cNvPicPr>
            <a:picLocks noChangeAspect="1"/>
          </p:cNvPicPr>
          <p:nvPr/>
        </p:nvPicPr>
        <p:blipFill>
          <a:blip r:embed="rId4"/>
          <a:stretch>
            <a:fillRect/>
          </a:stretch>
        </p:blipFill>
        <p:spPr>
          <a:xfrm>
            <a:off x="4724401" y="1633538"/>
            <a:ext cx="4419600" cy="1676400"/>
          </a:xfrm>
          <a:prstGeom prst="rect">
            <a:avLst/>
          </a:prstGeom>
        </p:spPr>
      </p:pic>
      <p:pic>
        <p:nvPicPr>
          <p:cNvPr id="8" name="Picture 7"/>
          <p:cNvPicPr>
            <a:picLocks noChangeAspect="1"/>
          </p:cNvPicPr>
          <p:nvPr/>
        </p:nvPicPr>
        <p:blipFill>
          <a:blip r:embed="rId5"/>
          <a:stretch>
            <a:fillRect/>
          </a:stretch>
        </p:blipFill>
        <p:spPr>
          <a:xfrm>
            <a:off x="4724401" y="2333864"/>
            <a:ext cx="4312919" cy="4133850"/>
          </a:xfrm>
          <a:prstGeom prst="rect">
            <a:avLst/>
          </a:prstGeom>
        </p:spPr>
      </p:pic>
    </p:spTree>
    <p:extLst>
      <p:ext uri="{BB962C8B-B14F-4D97-AF65-F5344CB8AC3E}">
        <p14:creationId xmlns:p14="http://schemas.microsoft.com/office/powerpoint/2010/main" val="413251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24815" y="1219200"/>
            <a:ext cx="8229600" cy="4678363"/>
          </a:xfrm>
        </p:spPr>
        <p:txBody>
          <a:bodyPr/>
          <a:lstStyle/>
          <a:p>
            <a:pPr marL="0" indent="0">
              <a:buNone/>
            </a:pPr>
            <a:r>
              <a:rPr lang="en-US"/>
              <a:t>D2. Chuyên viên quản trị Website</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28</a:t>
            </a:fld>
            <a:endParaRPr lang="en-US" altLang="en-US"/>
          </a:p>
        </p:txBody>
      </p:sp>
      <p:pic>
        <p:nvPicPr>
          <p:cNvPr id="5" name="Picture 4"/>
          <p:cNvPicPr>
            <a:picLocks noChangeAspect="1"/>
          </p:cNvPicPr>
          <p:nvPr/>
        </p:nvPicPr>
        <p:blipFill>
          <a:blip r:embed="rId3"/>
          <a:stretch>
            <a:fillRect/>
          </a:stretch>
        </p:blipFill>
        <p:spPr>
          <a:xfrm>
            <a:off x="152400" y="1676400"/>
            <a:ext cx="4543425" cy="2505075"/>
          </a:xfrm>
          <a:prstGeom prst="rect">
            <a:avLst/>
          </a:prstGeom>
        </p:spPr>
      </p:pic>
      <p:graphicFrame>
        <p:nvGraphicFramePr>
          <p:cNvPr id="6" name="Object 5"/>
          <p:cNvGraphicFramePr>
            <a:graphicFrameLocks noChangeAspect="1"/>
          </p:cNvGraphicFramePr>
          <p:nvPr>
            <p:extLst>
              <p:ext uri="{D42A27DB-BD31-4B8C-83A1-F6EECF244321}">
                <p14:modId xmlns:p14="http://schemas.microsoft.com/office/powerpoint/2010/main" val="4135179401"/>
              </p:ext>
            </p:extLst>
          </p:nvPr>
        </p:nvGraphicFramePr>
        <p:xfrm>
          <a:off x="137160" y="2687002"/>
          <a:ext cx="4358640" cy="3867150"/>
        </p:xfrm>
        <a:graphic>
          <a:graphicData uri="http://schemas.openxmlformats.org/presentationml/2006/ole">
            <mc:AlternateContent xmlns:mc="http://schemas.openxmlformats.org/markup-compatibility/2006">
              <mc:Choice xmlns:v="urn:schemas-microsoft-com:vml" Requires="v">
                <p:oleObj name="Bitmap Image" r:id="rId4" imgW="4210200" imgH="3867120" progId="Paint.Picture">
                  <p:embed/>
                </p:oleObj>
              </mc:Choice>
              <mc:Fallback>
                <p:oleObj name="Bitmap Image" r:id="rId4" imgW="4210200" imgH="3867120" progId="Paint.Picture">
                  <p:embed/>
                  <p:pic>
                    <p:nvPicPr>
                      <p:cNvPr id="0" name=""/>
                      <p:cNvPicPr/>
                      <p:nvPr/>
                    </p:nvPicPr>
                    <p:blipFill>
                      <a:blip r:embed="rId5"/>
                      <a:stretch>
                        <a:fillRect/>
                      </a:stretch>
                    </p:blipFill>
                    <p:spPr>
                      <a:xfrm>
                        <a:off x="137160" y="2687002"/>
                        <a:ext cx="4358640" cy="3867150"/>
                      </a:xfrm>
                      <a:prstGeom prst="rect">
                        <a:avLst/>
                      </a:prstGeom>
                    </p:spPr>
                  </p:pic>
                </p:oleObj>
              </mc:Fallback>
            </mc:AlternateContent>
          </a:graphicData>
        </a:graphic>
      </p:graphicFrame>
      <p:pic>
        <p:nvPicPr>
          <p:cNvPr id="7" name="Picture 6"/>
          <p:cNvPicPr>
            <a:picLocks noChangeAspect="1"/>
          </p:cNvPicPr>
          <p:nvPr/>
        </p:nvPicPr>
        <p:blipFill>
          <a:blip r:embed="rId6"/>
          <a:stretch>
            <a:fillRect/>
          </a:stretch>
        </p:blipFill>
        <p:spPr>
          <a:xfrm>
            <a:off x="4602480" y="1710214"/>
            <a:ext cx="4495800" cy="3657600"/>
          </a:xfrm>
          <a:prstGeom prst="rect">
            <a:avLst/>
          </a:prstGeom>
        </p:spPr>
      </p:pic>
      <p:pic>
        <p:nvPicPr>
          <p:cNvPr id="8" name="Picture 7"/>
          <p:cNvPicPr>
            <a:picLocks noChangeAspect="1"/>
          </p:cNvPicPr>
          <p:nvPr/>
        </p:nvPicPr>
        <p:blipFill>
          <a:blip r:embed="rId7"/>
          <a:stretch>
            <a:fillRect/>
          </a:stretch>
        </p:blipFill>
        <p:spPr>
          <a:xfrm>
            <a:off x="4511040" y="3539014"/>
            <a:ext cx="4602480" cy="2867025"/>
          </a:xfrm>
          <a:prstGeom prst="rect">
            <a:avLst/>
          </a:prstGeom>
        </p:spPr>
      </p:pic>
    </p:spTree>
    <p:extLst>
      <p:ext uri="{BB962C8B-B14F-4D97-AF65-F5344CB8AC3E}">
        <p14:creationId xmlns:p14="http://schemas.microsoft.com/office/powerpoint/2010/main" val="22220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a:xfrm>
            <a:off x="424815" y="1219200"/>
            <a:ext cx="8229600" cy="4678363"/>
          </a:xfrm>
        </p:spPr>
        <p:txBody>
          <a:bodyPr/>
          <a:lstStyle/>
          <a:p>
            <a:pPr marL="0" indent="0">
              <a:buNone/>
            </a:pPr>
            <a:r>
              <a:rPr lang="en-US"/>
              <a:t>D3. Kỹ Sư hệ thống thông tin</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29</a:t>
            </a:fld>
            <a:endParaRPr lang="en-US" altLang="en-US"/>
          </a:p>
        </p:txBody>
      </p:sp>
      <p:pic>
        <p:nvPicPr>
          <p:cNvPr id="5" name="Picture 4"/>
          <p:cNvPicPr>
            <a:picLocks noChangeAspect="1"/>
          </p:cNvPicPr>
          <p:nvPr/>
        </p:nvPicPr>
        <p:blipFill>
          <a:blip r:embed="rId2"/>
          <a:stretch>
            <a:fillRect/>
          </a:stretch>
        </p:blipFill>
        <p:spPr>
          <a:xfrm>
            <a:off x="667702" y="1721873"/>
            <a:ext cx="7743825" cy="4603997"/>
          </a:xfrm>
          <a:prstGeom prst="rect">
            <a:avLst/>
          </a:prstGeom>
        </p:spPr>
      </p:pic>
      <p:pic>
        <p:nvPicPr>
          <p:cNvPr id="6" name="Picture 5"/>
          <p:cNvPicPr>
            <a:picLocks noChangeAspect="1"/>
          </p:cNvPicPr>
          <p:nvPr/>
        </p:nvPicPr>
        <p:blipFill>
          <a:blip r:embed="rId3"/>
          <a:stretch>
            <a:fillRect/>
          </a:stretch>
        </p:blipFill>
        <p:spPr>
          <a:xfrm>
            <a:off x="667701" y="1721873"/>
            <a:ext cx="7743825" cy="4471330"/>
          </a:xfrm>
          <a:prstGeom prst="rect">
            <a:avLst/>
          </a:prstGeom>
        </p:spPr>
      </p:pic>
      <p:pic>
        <p:nvPicPr>
          <p:cNvPr id="7" name="Picture 6"/>
          <p:cNvPicPr>
            <a:picLocks noChangeAspect="1"/>
          </p:cNvPicPr>
          <p:nvPr/>
        </p:nvPicPr>
        <p:blipFill>
          <a:blip r:embed="rId4"/>
          <a:stretch>
            <a:fillRect/>
          </a:stretch>
        </p:blipFill>
        <p:spPr>
          <a:xfrm>
            <a:off x="698180" y="1619686"/>
            <a:ext cx="7713346" cy="4820841"/>
          </a:xfrm>
          <a:prstGeom prst="rect">
            <a:avLst/>
          </a:prstGeom>
        </p:spPr>
      </p:pic>
      <p:pic>
        <p:nvPicPr>
          <p:cNvPr id="8" name="Picture 7"/>
          <p:cNvPicPr>
            <a:picLocks noChangeAspect="1"/>
          </p:cNvPicPr>
          <p:nvPr/>
        </p:nvPicPr>
        <p:blipFill>
          <a:blip r:embed="rId5"/>
          <a:stretch>
            <a:fillRect/>
          </a:stretch>
        </p:blipFill>
        <p:spPr>
          <a:xfrm>
            <a:off x="728658" y="1619685"/>
            <a:ext cx="7682868" cy="4851322"/>
          </a:xfrm>
          <a:prstGeom prst="rect">
            <a:avLst/>
          </a:prstGeom>
        </p:spPr>
      </p:pic>
    </p:spTree>
    <p:extLst>
      <p:ext uri="{BB962C8B-B14F-4D97-AF65-F5344CB8AC3E}">
        <p14:creationId xmlns:p14="http://schemas.microsoft.com/office/powerpoint/2010/main" val="386220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in)">
                                      <p:cBhvr>
                                        <p:cTn id="17" dur="2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ircle(in)">
                                      <p:cBhvr>
                                        <p:cTn id="2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pPr marL="0" indent="0">
              <a:buNone/>
            </a:pPr>
            <a:r>
              <a:rPr lang="en-US"/>
              <a:t>D4. Chuyên viên Nghiên cứu Phát triển</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30</a:t>
            </a:fld>
            <a:endParaRPr lang="en-US" altLang="en-US"/>
          </a:p>
        </p:txBody>
      </p:sp>
      <p:sp>
        <p:nvSpPr>
          <p:cNvPr id="5" name="Rectangle 4"/>
          <p:cNvSpPr/>
          <p:nvPr/>
        </p:nvSpPr>
        <p:spPr>
          <a:xfrm>
            <a:off x="304800" y="2057400"/>
            <a:ext cx="2209800" cy="2862322"/>
          </a:xfrm>
          <a:prstGeom prst="rect">
            <a:avLst/>
          </a:prstGeom>
        </p:spPr>
        <p:txBody>
          <a:bodyPr wrap="square">
            <a:spAutoFit/>
          </a:bodyPr>
          <a:lstStyle/>
          <a:p>
            <a:r>
              <a:rPr lang="en-US"/>
              <a:t>Chuyên viên nghiên cứu phát triển CNTT là chuyên gia về công nghệ, thành viên không thể thiếu của đội ngũ Nghiên cứu &amp; Phát triển (Research &amp; Development) trong một công ty CNTT. </a:t>
            </a:r>
          </a:p>
        </p:txBody>
      </p:sp>
      <p:pic>
        <p:nvPicPr>
          <p:cNvPr id="6" name="Picture 5"/>
          <p:cNvPicPr>
            <a:picLocks noChangeAspect="1"/>
          </p:cNvPicPr>
          <p:nvPr/>
        </p:nvPicPr>
        <p:blipFill>
          <a:blip r:embed="rId2"/>
          <a:stretch>
            <a:fillRect/>
          </a:stretch>
        </p:blipFill>
        <p:spPr>
          <a:xfrm>
            <a:off x="2666999" y="1698625"/>
            <a:ext cx="5053665" cy="5022850"/>
          </a:xfrm>
          <a:prstGeom prst="rect">
            <a:avLst/>
          </a:prstGeom>
        </p:spPr>
      </p:pic>
      <p:pic>
        <p:nvPicPr>
          <p:cNvPr id="7" name="Picture 6"/>
          <p:cNvPicPr>
            <a:picLocks noChangeAspect="1"/>
          </p:cNvPicPr>
          <p:nvPr/>
        </p:nvPicPr>
        <p:blipFill>
          <a:blip r:embed="rId3"/>
          <a:stretch>
            <a:fillRect/>
          </a:stretch>
        </p:blipFill>
        <p:spPr>
          <a:xfrm>
            <a:off x="2499360" y="1729105"/>
            <a:ext cx="5497256" cy="4992370"/>
          </a:xfrm>
          <a:prstGeom prst="rect">
            <a:avLst/>
          </a:prstGeom>
        </p:spPr>
      </p:pic>
      <p:pic>
        <p:nvPicPr>
          <p:cNvPr id="8" name="Picture 7"/>
          <p:cNvPicPr>
            <a:picLocks noChangeAspect="1"/>
          </p:cNvPicPr>
          <p:nvPr/>
        </p:nvPicPr>
        <p:blipFill>
          <a:blip r:embed="rId4"/>
          <a:stretch>
            <a:fillRect/>
          </a:stretch>
        </p:blipFill>
        <p:spPr>
          <a:xfrm>
            <a:off x="2499359" y="1801095"/>
            <a:ext cx="5669749" cy="4828305"/>
          </a:xfrm>
          <a:prstGeom prst="rect">
            <a:avLst/>
          </a:prstGeom>
        </p:spPr>
      </p:pic>
    </p:spTree>
    <p:extLst>
      <p:ext uri="{BB962C8B-B14F-4D97-AF65-F5344CB8AC3E}">
        <p14:creationId xmlns:p14="http://schemas.microsoft.com/office/powerpoint/2010/main" val="424448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inVertical)">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pPr marL="0" indent="0">
              <a:buNone/>
            </a:pPr>
            <a:r>
              <a:rPr lang="en-US"/>
              <a:t>D5. Giảng viên ngành CNTT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31</a:t>
            </a:fld>
            <a:endParaRPr lang="en-US" altLang="en-US"/>
          </a:p>
        </p:txBody>
      </p:sp>
      <p:sp>
        <p:nvSpPr>
          <p:cNvPr id="5" name="Rectangle 4"/>
          <p:cNvSpPr/>
          <p:nvPr/>
        </p:nvSpPr>
        <p:spPr>
          <a:xfrm>
            <a:off x="228600" y="1954126"/>
            <a:ext cx="3886200" cy="3693319"/>
          </a:xfrm>
          <a:prstGeom prst="rect">
            <a:avLst/>
          </a:prstGeom>
        </p:spPr>
        <p:txBody>
          <a:bodyPr wrap="square">
            <a:spAutoFit/>
          </a:bodyPr>
          <a:lstStyle/>
          <a:p>
            <a:pPr algn="just"/>
            <a:r>
              <a:rPr lang="vi-VN"/>
              <a:t>Chương trình giảng dạy CNTT giúp người học tìm hiểu và nghiên cứu về hệ thống máy</a:t>
            </a:r>
            <a:r>
              <a:rPr lang="en-US"/>
              <a:t> </a:t>
            </a:r>
            <a:r>
              <a:rPr lang="vi-VN"/>
              <a:t>tính cũng như phát triển phần mềm. Công nghệ phần mềm là một trong các chuyên ngành</a:t>
            </a:r>
            <a:r>
              <a:rPr lang="en-US"/>
              <a:t> </a:t>
            </a:r>
            <a:r>
              <a:rPr lang="vi-VN"/>
              <a:t>chính được giảng dạy trong ngành CNTT của các trường đại học kỹ thuật. Nội dung của</a:t>
            </a:r>
            <a:r>
              <a:rPr lang="en-US"/>
              <a:t> </a:t>
            </a:r>
            <a:r>
              <a:rPr lang="vi-VN"/>
              <a:t>chuyên ngành bao gồm những khái niệm cơ bản và các kiến thức nâng cao liên quan đến</a:t>
            </a:r>
            <a:r>
              <a:rPr lang="en-US"/>
              <a:t> </a:t>
            </a:r>
            <a:r>
              <a:rPr lang="vi-VN"/>
              <a:t>các phương pháp và công cụ trợ giúp phát triển phần mềm một cách hiệu quả, tin cậy và</a:t>
            </a:r>
          </a:p>
          <a:p>
            <a:pPr algn="just"/>
            <a:r>
              <a:rPr lang="vi-VN"/>
              <a:t>tiết kiệm.</a:t>
            </a:r>
            <a:endParaRPr lang="en-US"/>
          </a:p>
        </p:txBody>
      </p:sp>
      <p:pic>
        <p:nvPicPr>
          <p:cNvPr id="6" name="Picture 5"/>
          <p:cNvPicPr>
            <a:picLocks noChangeAspect="1"/>
          </p:cNvPicPr>
          <p:nvPr/>
        </p:nvPicPr>
        <p:blipFill>
          <a:blip r:embed="rId2"/>
          <a:stretch>
            <a:fillRect/>
          </a:stretch>
        </p:blipFill>
        <p:spPr>
          <a:xfrm>
            <a:off x="4200525" y="1800942"/>
            <a:ext cx="4760016" cy="4555407"/>
          </a:xfrm>
          <a:prstGeom prst="rect">
            <a:avLst/>
          </a:prstGeom>
        </p:spPr>
      </p:pic>
      <p:pic>
        <p:nvPicPr>
          <p:cNvPr id="7" name="Picture 6"/>
          <p:cNvPicPr>
            <a:picLocks noChangeAspect="1"/>
          </p:cNvPicPr>
          <p:nvPr/>
        </p:nvPicPr>
        <p:blipFill>
          <a:blip r:embed="rId3"/>
          <a:stretch>
            <a:fillRect/>
          </a:stretch>
        </p:blipFill>
        <p:spPr>
          <a:xfrm>
            <a:off x="4200525" y="1800941"/>
            <a:ext cx="4760016" cy="4456832"/>
          </a:xfrm>
          <a:prstGeom prst="rect">
            <a:avLst/>
          </a:prstGeom>
        </p:spPr>
      </p:pic>
      <p:pic>
        <p:nvPicPr>
          <p:cNvPr id="9" name="Picture 8"/>
          <p:cNvPicPr>
            <a:picLocks noChangeAspect="1"/>
          </p:cNvPicPr>
          <p:nvPr/>
        </p:nvPicPr>
        <p:blipFill>
          <a:blip r:embed="rId4"/>
          <a:stretch>
            <a:fillRect/>
          </a:stretch>
        </p:blipFill>
        <p:spPr>
          <a:xfrm>
            <a:off x="4206529" y="4343400"/>
            <a:ext cx="4708871" cy="1914373"/>
          </a:xfrm>
          <a:prstGeom prst="rect">
            <a:avLst/>
          </a:prstGeom>
        </p:spPr>
      </p:pic>
    </p:spTree>
    <p:extLst>
      <p:ext uri="{BB962C8B-B14F-4D97-AF65-F5344CB8AC3E}">
        <p14:creationId xmlns:p14="http://schemas.microsoft.com/office/powerpoint/2010/main" val="3751302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pPr marL="0" indent="0">
              <a:buNone/>
            </a:pPr>
            <a:r>
              <a:rPr lang="en-US"/>
              <a:t>D6. Chuyên viên tư vấn CNTT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32</a:t>
            </a:fld>
            <a:endParaRPr lang="en-US" altLang="en-US"/>
          </a:p>
        </p:txBody>
      </p:sp>
      <p:sp>
        <p:nvSpPr>
          <p:cNvPr id="5" name="Rectangle 4"/>
          <p:cNvSpPr/>
          <p:nvPr/>
        </p:nvSpPr>
        <p:spPr>
          <a:xfrm>
            <a:off x="228600" y="2000670"/>
            <a:ext cx="2133600" cy="3970318"/>
          </a:xfrm>
          <a:prstGeom prst="rect">
            <a:avLst/>
          </a:prstGeom>
        </p:spPr>
        <p:txBody>
          <a:bodyPr wrap="square">
            <a:spAutoFit/>
          </a:bodyPr>
          <a:lstStyle/>
          <a:p>
            <a:r>
              <a:rPr lang="vi-VN"/>
              <a:t>Tư vấn giải pháp CNTT là một nghề đòi hỏi</a:t>
            </a:r>
            <a:r>
              <a:rPr lang="en-US"/>
              <a:t> </a:t>
            </a:r>
            <a:r>
              <a:rPr lang="vi-VN"/>
              <a:t>trình độ chuyên môn cao, tư duy hệ thống và</a:t>
            </a:r>
            <a:r>
              <a:rPr lang="en-US"/>
              <a:t> </a:t>
            </a:r>
            <a:r>
              <a:rPr lang="vi-VN"/>
              <a:t>có cái nhìn đa chiều. Đóng vai trò cầu nối, nhà tư vấn sẽ hỗ trợ thông tin để giúp doanh</a:t>
            </a:r>
            <a:r>
              <a:rPr lang="en-US"/>
              <a:t> </a:t>
            </a:r>
            <a:r>
              <a:rPr lang="vi-VN"/>
              <a:t>nghiệp thuê tư vấn tiếp cận và chọn ra những nhà cung cấp giải pháp thích hợp nhất.</a:t>
            </a:r>
            <a:endParaRPr lang="en-US"/>
          </a:p>
        </p:txBody>
      </p:sp>
      <p:pic>
        <p:nvPicPr>
          <p:cNvPr id="6" name="Picture 5"/>
          <p:cNvPicPr>
            <a:picLocks noChangeAspect="1"/>
          </p:cNvPicPr>
          <p:nvPr/>
        </p:nvPicPr>
        <p:blipFill>
          <a:blip r:embed="rId2"/>
          <a:stretch>
            <a:fillRect/>
          </a:stretch>
        </p:blipFill>
        <p:spPr>
          <a:xfrm>
            <a:off x="2300287" y="1939709"/>
            <a:ext cx="6537939" cy="4318063"/>
          </a:xfrm>
          <a:prstGeom prst="rect">
            <a:avLst/>
          </a:prstGeom>
        </p:spPr>
      </p:pic>
      <p:pic>
        <p:nvPicPr>
          <p:cNvPr id="7" name="Picture 6"/>
          <p:cNvPicPr>
            <a:picLocks noChangeAspect="1"/>
          </p:cNvPicPr>
          <p:nvPr/>
        </p:nvPicPr>
        <p:blipFill>
          <a:blip r:embed="rId3"/>
          <a:stretch>
            <a:fillRect/>
          </a:stretch>
        </p:blipFill>
        <p:spPr>
          <a:xfrm>
            <a:off x="2331720" y="4205570"/>
            <a:ext cx="6506506" cy="2091536"/>
          </a:xfrm>
          <a:prstGeom prst="rect">
            <a:avLst/>
          </a:prstGeom>
        </p:spPr>
      </p:pic>
      <p:pic>
        <p:nvPicPr>
          <p:cNvPr id="8" name="Picture 7"/>
          <p:cNvPicPr>
            <a:picLocks noChangeAspect="1"/>
          </p:cNvPicPr>
          <p:nvPr/>
        </p:nvPicPr>
        <p:blipFill>
          <a:blip r:embed="rId4"/>
          <a:stretch>
            <a:fillRect/>
          </a:stretch>
        </p:blipFill>
        <p:spPr>
          <a:xfrm>
            <a:off x="2269807" y="1880465"/>
            <a:ext cx="6568419" cy="4504812"/>
          </a:xfrm>
          <a:prstGeom prst="rect">
            <a:avLst/>
          </a:prstGeom>
        </p:spPr>
      </p:pic>
    </p:spTree>
    <p:extLst>
      <p:ext uri="{BB962C8B-B14F-4D97-AF65-F5344CB8AC3E}">
        <p14:creationId xmlns:p14="http://schemas.microsoft.com/office/powerpoint/2010/main" val="169673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pPr marL="0" indent="0">
              <a:buNone/>
            </a:pPr>
            <a:r>
              <a:rPr lang="en-US"/>
              <a:t>D7. Chuyên viên kinh doanh kỹ thuật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33</a:t>
            </a:fld>
            <a:endParaRPr lang="en-US" altLang="en-US"/>
          </a:p>
        </p:txBody>
      </p:sp>
      <p:sp>
        <p:nvSpPr>
          <p:cNvPr id="5" name="Rectangle 4"/>
          <p:cNvSpPr/>
          <p:nvPr/>
        </p:nvSpPr>
        <p:spPr>
          <a:xfrm>
            <a:off x="152400" y="2010456"/>
            <a:ext cx="2209800" cy="4247317"/>
          </a:xfrm>
          <a:prstGeom prst="rect">
            <a:avLst/>
          </a:prstGeom>
        </p:spPr>
        <p:txBody>
          <a:bodyPr wrap="square">
            <a:spAutoFit/>
          </a:bodyPr>
          <a:lstStyle/>
          <a:p>
            <a:pPr algn="just"/>
            <a:r>
              <a:rPr lang="vi-VN"/>
              <a:t>Chuyên viên kinh doanh kỹ thuật là một thành viên trong đội ngũ sales &amp; marketing của</a:t>
            </a:r>
            <a:r>
              <a:rPr lang="en-US"/>
              <a:t> </a:t>
            </a:r>
            <a:r>
              <a:rPr lang="vi-VN"/>
              <a:t>công ty. Nghề này đòi hỏi kết hợp kiến thức kỹ thuật, CNTT, kỹ năng con người và hiểu</a:t>
            </a:r>
            <a:r>
              <a:rPr lang="en-US"/>
              <a:t> </a:t>
            </a:r>
            <a:r>
              <a:rPr lang="vi-VN"/>
              <a:t>biết về ngành kinh doanh của công ty để có thể thấu hiểu các nhu cầu của khách hàng và</a:t>
            </a:r>
            <a:r>
              <a:rPr lang="en-US"/>
              <a:t> </a:t>
            </a:r>
            <a:r>
              <a:rPr lang="vi-VN"/>
              <a:t>tư vấn giải pháp cho họ.</a:t>
            </a:r>
          </a:p>
        </p:txBody>
      </p:sp>
      <p:pic>
        <p:nvPicPr>
          <p:cNvPr id="6" name="Picture 5"/>
          <p:cNvPicPr>
            <a:picLocks noChangeAspect="1"/>
          </p:cNvPicPr>
          <p:nvPr/>
        </p:nvPicPr>
        <p:blipFill>
          <a:blip r:embed="rId2"/>
          <a:stretch>
            <a:fillRect/>
          </a:stretch>
        </p:blipFill>
        <p:spPr>
          <a:xfrm>
            <a:off x="2636520" y="1755829"/>
            <a:ext cx="5928360" cy="4756570"/>
          </a:xfrm>
          <a:prstGeom prst="rect">
            <a:avLst/>
          </a:prstGeom>
        </p:spPr>
      </p:pic>
      <p:pic>
        <p:nvPicPr>
          <p:cNvPr id="7" name="Picture 6"/>
          <p:cNvPicPr>
            <a:picLocks noChangeAspect="1"/>
          </p:cNvPicPr>
          <p:nvPr/>
        </p:nvPicPr>
        <p:blipFill>
          <a:blip r:embed="rId3"/>
          <a:stretch>
            <a:fillRect/>
          </a:stretch>
        </p:blipFill>
        <p:spPr>
          <a:xfrm>
            <a:off x="2636520" y="1755829"/>
            <a:ext cx="5928360" cy="5041980"/>
          </a:xfrm>
          <a:prstGeom prst="rect">
            <a:avLst/>
          </a:prstGeom>
        </p:spPr>
      </p:pic>
    </p:spTree>
    <p:extLst>
      <p:ext uri="{BB962C8B-B14F-4D97-AF65-F5344CB8AC3E}">
        <p14:creationId xmlns:p14="http://schemas.microsoft.com/office/powerpoint/2010/main" val="202984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3. </a:t>
            </a:r>
            <a:r>
              <a:rPr lang="en-US" sz="2400"/>
              <a:t>Nghề CNTT theo phân loại của bộ TT&amp;TT</a:t>
            </a:r>
          </a:p>
        </p:txBody>
      </p:sp>
      <p:sp>
        <p:nvSpPr>
          <p:cNvPr id="3" name="Content Placeholder 2"/>
          <p:cNvSpPr>
            <a:spLocks noGrp="1"/>
          </p:cNvSpPr>
          <p:nvPr>
            <p:ph idx="1"/>
          </p:nvPr>
        </p:nvSpPr>
        <p:spPr/>
        <p:txBody>
          <a:bodyPr/>
          <a:lstStyle/>
          <a:p>
            <a:pPr marL="0" indent="0">
              <a:buNone/>
            </a:pPr>
            <a:r>
              <a:rPr lang="en-US"/>
              <a:t>D8. Kỹ sư Quản trị cơ sở dữ liệu</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34</a:t>
            </a:fld>
            <a:endParaRPr lang="en-US" altLang="en-US"/>
          </a:p>
        </p:txBody>
      </p:sp>
      <p:sp>
        <p:nvSpPr>
          <p:cNvPr id="5" name="Rectangle 4"/>
          <p:cNvSpPr/>
          <p:nvPr/>
        </p:nvSpPr>
        <p:spPr>
          <a:xfrm>
            <a:off x="457200" y="2209800"/>
            <a:ext cx="1524000" cy="3416320"/>
          </a:xfrm>
          <a:prstGeom prst="rect">
            <a:avLst/>
          </a:prstGeom>
        </p:spPr>
        <p:txBody>
          <a:bodyPr wrap="square">
            <a:spAutoFit/>
          </a:bodyPr>
          <a:lstStyle/>
          <a:p>
            <a:r>
              <a:rPr lang="vi-VN"/>
              <a:t>Kỹ sư quản trị cơ sở dữ liệu là người thiết kế và quản lý dữ liệu trong hệ thống thông tin</a:t>
            </a:r>
            <a:r>
              <a:rPr lang="en-US"/>
              <a:t> </a:t>
            </a:r>
            <a:r>
              <a:rPr lang="vi-VN"/>
              <a:t>sao cho dữ liệu luôn sẵn sàng, an toàn, ổn định và chính xác.</a:t>
            </a:r>
            <a:endParaRPr lang="en-US"/>
          </a:p>
        </p:txBody>
      </p:sp>
      <p:pic>
        <p:nvPicPr>
          <p:cNvPr id="6" name="Picture 5"/>
          <p:cNvPicPr>
            <a:picLocks noChangeAspect="1"/>
          </p:cNvPicPr>
          <p:nvPr/>
        </p:nvPicPr>
        <p:blipFill>
          <a:blip r:embed="rId2"/>
          <a:stretch>
            <a:fillRect/>
          </a:stretch>
        </p:blipFill>
        <p:spPr>
          <a:xfrm>
            <a:off x="2362200" y="1831975"/>
            <a:ext cx="5715000" cy="4524375"/>
          </a:xfrm>
          <a:prstGeom prst="rect">
            <a:avLst/>
          </a:prstGeom>
        </p:spPr>
      </p:pic>
      <p:pic>
        <p:nvPicPr>
          <p:cNvPr id="8" name="Picture 7"/>
          <p:cNvPicPr>
            <a:picLocks noChangeAspect="1"/>
          </p:cNvPicPr>
          <p:nvPr/>
        </p:nvPicPr>
        <p:blipFill>
          <a:blip r:embed="rId3"/>
          <a:stretch>
            <a:fillRect/>
          </a:stretch>
        </p:blipFill>
        <p:spPr>
          <a:xfrm>
            <a:off x="2362200" y="1831975"/>
            <a:ext cx="5815401" cy="4645025"/>
          </a:xfrm>
          <a:prstGeom prst="rect">
            <a:avLst/>
          </a:prstGeom>
        </p:spPr>
      </p:pic>
      <p:pic>
        <p:nvPicPr>
          <p:cNvPr id="9" name="Picture 8"/>
          <p:cNvPicPr>
            <a:picLocks noChangeAspect="1"/>
          </p:cNvPicPr>
          <p:nvPr/>
        </p:nvPicPr>
        <p:blipFill>
          <a:blip r:embed="rId4"/>
          <a:stretch>
            <a:fillRect/>
          </a:stretch>
        </p:blipFill>
        <p:spPr>
          <a:xfrm>
            <a:off x="2362200" y="1831975"/>
            <a:ext cx="5815401" cy="4800600"/>
          </a:xfrm>
          <a:prstGeom prst="rect">
            <a:avLst/>
          </a:prstGeom>
        </p:spPr>
      </p:pic>
    </p:spTree>
    <p:extLst>
      <p:ext uri="{BB962C8B-B14F-4D97-AF65-F5344CB8AC3E}">
        <p14:creationId xmlns:p14="http://schemas.microsoft.com/office/powerpoint/2010/main" val="285241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anim calcmode="lin" valueType="num">
                                      <p:cBhvr>
                                        <p:cTn id="19" dur="1000" fill="hold"/>
                                        <p:tgtEl>
                                          <p:spTgt spid="9"/>
                                        </p:tgtEl>
                                        <p:attrNameLst>
                                          <p:attrName>ppt_x</p:attrName>
                                        </p:attrNameLst>
                                      </p:cBhvr>
                                      <p:tavLst>
                                        <p:tav tm="0">
                                          <p:val>
                                            <p:strVal val="#ppt_x"/>
                                          </p:val>
                                        </p:tav>
                                        <p:tav tm="100000">
                                          <p:val>
                                            <p:strVal val="#ppt_x"/>
                                          </p:val>
                                        </p:tav>
                                      </p:tavLst>
                                    </p:anim>
                                    <p:anim calcmode="lin" valueType="num">
                                      <p:cBhvr>
                                        <p:cTn id="2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4. </a:t>
            </a:r>
            <a:r>
              <a:rPr lang="en-US" sz="2400"/>
              <a:t>Đào tạo CNTT của Đại học GTVT</a:t>
            </a:r>
          </a:p>
        </p:txBody>
      </p:sp>
      <p:sp>
        <p:nvSpPr>
          <p:cNvPr id="3" name="Content Placeholder 2"/>
          <p:cNvSpPr>
            <a:spLocks noGrp="1"/>
          </p:cNvSpPr>
          <p:nvPr>
            <p:ph idx="1"/>
          </p:nvPr>
        </p:nvSpPr>
        <p:spPr/>
        <p:txBody>
          <a:bodyPr/>
          <a:lstStyle/>
          <a:p>
            <a:pPr marL="514350" indent="-514350">
              <a:buAutoNum type="arabicPeriod"/>
            </a:pPr>
            <a:r>
              <a:rPr lang="en-US"/>
              <a:t>Năm thứ nhất</a:t>
            </a:r>
          </a:p>
          <a:p>
            <a:pPr lvl="1">
              <a:buFont typeface="Wingdings" panose="05000000000000000000" pitchFamily="2" charset="2"/>
              <a:buChar char="Ø"/>
            </a:pPr>
            <a:r>
              <a:rPr lang="en-US"/>
              <a:t>Đào tạo khoa học cơ bản</a:t>
            </a:r>
          </a:p>
          <a:p>
            <a:pPr lvl="1">
              <a:buFont typeface="Wingdings" panose="05000000000000000000" pitchFamily="2" charset="2"/>
              <a:buChar char="Ø"/>
            </a:pPr>
            <a:r>
              <a:rPr lang="en-US"/>
              <a:t>Phương pháp luận và kỹ năng học tập</a:t>
            </a:r>
          </a:p>
          <a:p>
            <a:pPr marL="514350" indent="-514350">
              <a:buAutoNum type="arabicPeriod"/>
            </a:pPr>
            <a:r>
              <a:rPr lang="en-US"/>
              <a:t>Năm thứ hai</a:t>
            </a:r>
          </a:p>
          <a:p>
            <a:pPr lvl="1">
              <a:buFont typeface="Wingdings" panose="05000000000000000000" pitchFamily="2" charset="2"/>
              <a:buChar char="Ø"/>
            </a:pPr>
            <a:r>
              <a:rPr lang="en-US"/>
              <a:t>Đào tạo cơ sở ngành</a:t>
            </a:r>
          </a:p>
          <a:p>
            <a:pPr lvl="1">
              <a:buFont typeface="Wingdings" panose="05000000000000000000" pitchFamily="2" charset="2"/>
              <a:buChar char="Ø"/>
            </a:pPr>
            <a:r>
              <a:rPr lang="en-US"/>
              <a:t>Đào tạo kỹ năng nghiên cứu</a:t>
            </a:r>
          </a:p>
          <a:p>
            <a:pPr marL="514350" indent="-514350">
              <a:buAutoNum type="arabicPeriod"/>
            </a:pPr>
            <a:r>
              <a:rPr lang="en-US"/>
              <a:t>Năm thứ 3</a:t>
            </a:r>
          </a:p>
          <a:p>
            <a:pPr lvl="1">
              <a:buFont typeface="Wingdings" panose="05000000000000000000" pitchFamily="2" charset="2"/>
              <a:buChar char="Ø"/>
            </a:pPr>
            <a:r>
              <a:rPr lang="en-US"/>
              <a:t>Các môn chuyên ngành </a:t>
            </a:r>
          </a:p>
          <a:p>
            <a:pPr lvl="1">
              <a:buFont typeface="Wingdings" panose="05000000000000000000" pitchFamily="2" charset="2"/>
              <a:buChar char="Ø"/>
            </a:pPr>
            <a:r>
              <a:rPr lang="en-US"/>
              <a:t>Các môn chuyên ngành (tự chọn theo các hướng)</a:t>
            </a:r>
          </a:p>
          <a:p>
            <a:pPr marL="514350" indent="-514350">
              <a:buAutoNum type="arabicPeriod"/>
            </a:pPr>
            <a:r>
              <a:rPr lang="en-US"/>
              <a:t>Năm thứ 4: </a:t>
            </a:r>
            <a:r>
              <a:rPr lang="en-US" b="0"/>
              <a:t>Chuyên ngành chuyên sâu </a:t>
            </a:r>
          </a:p>
          <a:p>
            <a:pPr marL="514350" indent="-514350">
              <a:buAutoNum type="arabicPeriod"/>
            </a:pPr>
            <a:r>
              <a:rPr lang="en-US"/>
              <a:t>Năm thứ 5 (kỹ sư): </a:t>
            </a:r>
            <a:r>
              <a:rPr lang="en-US" b="0"/>
              <a:t>Đào tạo chuyên sâu</a:t>
            </a:r>
          </a:p>
          <a:p>
            <a:pPr marL="514350" indent="-514350">
              <a:buAutoNum type="arabicPeriod"/>
            </a:pP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35</a:t>
            </a:fld>
            <a:endParaRPr lang="en-US" altLang="en-US"/>
          </a:p>
        </p:txBody>
      </p:sp>
    </p:spTree>
    <p:extLst>
      <p:ext uri="{BB962C8B-B14F-4D97-AF65-F5344CB8AC3E}">
        <p14:creationId xmlns:p14="http://schemas.microsoft.com/office/powerpoint/2010/main" val="1313723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spc="-5"/>
              <a:t>4. </a:t>
            </a:r>
            <a:r>
              <a:rPr lang="en-US" sz="2400"/>
              <a:t>Đào tạo CNTT của Đại học GTVT</a:t>
            </a:r>
          </a:p>
        </p:txBody>
      </p:sp>
      <p:sp>
        <p:nvSpPr>
          <p:cNvPr id="3" name="Content Placeholder 2"/>
          <p:cNvSpPr>
            <a:spLocks noGrp="1"/>
          </p:cNvSpPr>
          <p:nvPr>
            <p:ph idx="1"/>
          </p:nvPr>
        </p:nvSpPr>
        <p:spPr/>
        <p:txBody>
          <a:bodyPr/>
          <a:lstStyle/>
          <a:p>
            <a:pPr marL="0" indent="0">
              <a:buNone/>
            </a:pPr>
            <a:r>
              <a:rPr lang="en-US"/>
              <a:t>Chương trình đạo tạo CNTT áp dụng từ khóa 62 </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36</a:t>
            </a:fld>
            <a:endParaRPr lang="en-US" altLang="en-US"/>
          </a:p>
        </p:txBody>
      </p:sp>
    </p:spTree>
    <p:extLst>
      <p:ext uri="{BB962C8B-B14F-4D97-AF65-F5344CB8AC3E}">
        <p14:creationId xmlns:p14="http://schemas.microsoft.com/office/powerpoint/2010/main" val="1293896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24200" y="2819400"/>
            <a:ext cx="2438400" cy="1219200"/>
          </a:xfrm>
        </p:spPr>
        <p:txBody>
          <a:bodyPr/>
          <a:lstStyle/>
          <a:p>
            <a:pPr marL="0" indent="0">
              <a:buNone/>
            </a:pPr>
            <a:r>
              <a:rPr lang="en-US" sz="4000" spc="-10">
                <a:solidFill>
                  <a:srgbClr val="FF0000"/>
                </a:solidFill>
                <a:effectLst>
                  <a:outerShdw blurRad="38100" dist="38100" dir="2700000" algn="tl">
                    <a:srgbClr val="000000">
                      <a:alpha val="43137"/>
                    </a:srgbClr>
                  </a:outerShdw>
                </a:effectLst>
              </a:rPr>
              <a:t>THANKS</a:t>
            </a:r>
            <a:endParaRPr lang="en-US" sz="3600" dirty="0">
              <a:solidFill>
                <a:srgbClr val="FF0000"/>
              </a:solidFill>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37</a:t>
            </a:fld>
            <a:endParaRPr lang="en-US" altLang="en-US"/>
          </a:p>
        </p:txBody>
      </p:sp>
      <p:sp>
        <p:nvSpPr>
          <p:cNvPr id="5" name="TextBox 4">
            <a:extLst>
              <a:ext uri="{FF2B5EF4-FFF2-40B4-BE49-F238E27FC236}">
                <a16:creationId xmlns:a16="http://schemas.microsoft.com/office/drawing/2014/main" id="{3EB0206D-0F99-4B9E-B3A7-0BB2F5B71D28}"/>
              </a:ext>
            </a:extLst>
          </p:cNvPr>
          <p:cNvSpPr txBox="1"/>
          <p:nvPr/>
        </p:nvSpPr>
        <p:spPr>
          <a:xfrm>
            <a:off x="304800" y="4953000"/>
            <a:ext cx="6248400" cy="1200329"/>
          </a:xfrm>
          <a:prstGeom prst="rect">
            <a:avLst/>
          </a:prstGeom>
          <a:noFill/>
        </p:spPr>
        <p:txBody>
          <a:bodyPr wrap="square" rtlCol="0">
            <a:spAutoFit/>
          </a:bodyPr>
          <a:lstStyle/>
          <a:p>
            <a:r>
              <a:rPr lang="en-US" b="1" dirty="0">
                <a:solidFill>
                  <a:schemeClr val="accent1">
                    <a:lumMod val="75000"/>
                  </a:schemeClr>
                </a:solidFill>
              </a:rPr>
              <a:t>Khoa </a:t>
            </a:r>
            <a:r>
              <a:rPr lang="en-US" b="1" dirty="0" err="1">
                <a:solidFill>
                  <a:schemeClr val="accent1">
                    <a:lumMod val="75000"/>
                  </a:schemeClr>
                </a:solidFill>
              </a:rPr>
              <a:t>Công</a:t>
            </a:r>
            <a:r>
              <a:rPr lang="en-US" b="1" dirty="0">
                <a:solidFill>
                  <a:schemeClr val="accent1">
                    <a:lumMod val="75000"/>
                  </a:schemeClr>
                </a:solidFill>
              </a:rPr>
              <a:t> </a:t>
            </a:r>
            <a:r>
              <a:rPr lang="en-US" b="1" dirty="0" err="1">
                <a:solidFill>
                  <a:schemeClr val="accent1">
                    <a:lumMod val="75000"/>
                  </a:schemeClr>
                </a:solidFill>
              </a:rPr>
              <a:t>nghệ</a:t>
            </a:r>
            <a:r>
              <a:rPr lang="en-US" b="1" dirty="0">
                <a:solidFill>
                  <a:schemeClr val="accent1">
                    <a:lumMod val="75000"/>
                  </a:schemeClr>
                </a:solidFill>
              </a:rPr>
              <a:t> </a:t>
            </a:r>
            <a:r>
              <a:rPr lang="en-US" b="1" dirty="0" err="1">
                <a:solidFill>
                  <a:schemeClr val="accent1">
                    <a:lumMod val="75000"/>
                  </a:schemeClr>
                </a:solidFill>
              </a:rPr>
              <a:t>thông</a:t>
            </a:r>
            <a:r>
              <a:rPr lang="en-US" b="1" dirty="0">
                <a:solidFill>
                  <a:schemeClr val="accent1">
                    <a:lumMod val="75000"/>
                  </a:schemeClr>
                </a:solidFill>
              </a:rPr>
              <a:t> tin, </a:t>
            </a:r>
            <a:r>
              <a:rPr lang="en-US" b="1" dirty="0" err="1">
                <a:solidFill>
                  <a:schemeClr val="accent1">
                    <a:lumMod val="75000"/>
                  </a:schemeClr>
                </a:solidFill>
              </a:rPr>
              <a:t>Trường</a:t>
            </a:r>
            <a:r>
              <a:rPr lang="en-US" b="1" dirty="0">
                <a:solidFill>
                  <a:schemeClr val="accent1">
                    <a:lumMod val="75000"/>
                  </a:schemeClr>
                </a:solidFill>
              </a:rPr>
              <a:t> </a:t>
            </a:r>
            <a:r>
              <a:rPr lang="en-US" b="1" dirty="0" err="1">
                <a:solidFill>
                  <a:schemeClr val="accent1">
                    <a:lumMod val="75000"/>
                  </a:schemeClr>
                </a:solidFill>
              </a:rPr>
              <a:t>Đại</a:t>
            </a:r>
            <a:r>
              <a:rPr lang="en-US" b="1" dirty="0">
                <a:solidFill>
                  <a:schemeClr val="accent1">
                    <a:lumMod val="75000"/>
                  </a:schemeClr>
                </a:solidFill>
              </a:rPr>
              <a:t> </a:t>
            </a:r>
            <a:r>
              <a:rPr lang="en-US" b="1" dirty="0" err="1">
                <a:solidFill>
                  <a:schemeClr val="accent1">
                    <a:lumMod val="75000"/>
                  </a:schemeClr>
                </a:solidFill>
              </a:rPr>
              <a:t>học</a:t>
            </a:r>
            <a:r>
              <a:rPr lang="en-US" b="1" dirty="0">
                <a:solidFill>
                  <a:schemeClr val="accent1">
                    <a:lumMod val="75000"/>
                  </a:schemeClr>
                </a:solidFill>
              </a:rPr>
              <a:t> Giao </a:t>
            </a:r>
            <a:r>
              <a:rPr lang="en-US" b="1" dirty="0" err="1">
                <a:solidFill>
                  <a:schemeClr val="accent1">
                    <a:lumMod val="75000"/>
                  </a:schemeClr>
                </a:solidFill>
              </a:rPr>
              <a:t>thông</a:t>
            </a:r>
            <a:r>
              <a:rPr lang="en-US" b="1" dirty="0">
                <a:solidFill>
                  <a:schemeClr val="accent1">
                    <a:lumMod val="75000"/>
                  </a:schemeClr>
                </a:solidFill>
              </a:rPr>
              <a:t> </a:t>
            </a:r>
            <a:r>
              <a:rPr lang="en-US" b="1" dirty="0" err="1">
                <a:solidFill>
                  <a:schemeClr val="accent1">
                    <a:lumMod val="75000"/>
                  </a:schemeClr>
                </a:solidFill>
              </a:rPr>
              <a:t>vận</a:t>
            </a:r>
            <a:r>
              <a:rPr lang="en-US" b="1" dirty="0">
                <a:solidFill>
                  <a:schemeClr val="accent1">
                    <a:lumMod val="75000"/>
                  </a:schemeClr>
                </a:solidFill>
              </a:rPr>
              <a:t> </a:t>
            </a:r>
            <a:r>
              <a:rPr lang="en-US" b="1" dirty="0" err="1">
                <a:solidFill>
                  <a:schemeClr val="accent1">
                    <a:lumMod val="75000"/>
                  </a:schemeClr>
                </a:solidFill>
              </a:rPr>
              <a:t>tải</a:t>
            </a:r>
            <a:endParaRPr lang="en-US" b="1" dirty="0">
              <a:solidFill>
                <a:schemeClr val="accent1">
                  <a:lumMod val="75000"/>
                </a:schemeClr>
              </a:solidFill>
            </a:endParaRPr>
          </a:p>
          <a:p>
            <a:r>
              <a:rPr lang="en-US" b="1" dirty="0">
                <a:solidFill>
                  <a:schemeClr val="accent1">
                    <a:lumMod val="75000"/>
                  </a:schemeClr>
                </a:solidFill>
              </a:rPr>
              <a:t>Email: khoacntt@utc.edu.vn</a:t>
            </a:r>
          </a:p>
          <a:p>
            <a:r>
              <a:rPr lang="en-US" b="1" dirty="0" err="1">
                <a:solidFill>
                  <a:schemeClr val="accent1">
                    <a:lumMod val="75000"/>
                  </a:schemeClr>
                </a:solidFill>
              </a:rPr>
              <a:t>Webiste</a:t>
            </a:r>
            <a:r>
              <a:rPr lang="en-US" b="1" dirty="0">
                <a:solidFill>
                  <a:schemeClr val="accent1">
                    <a:lumMod val="75000"/>
                  </a:schemeClr>
                </a:solidFill>
              </a:rPr>
              <a:t>: http://fit.utc.edu.vn </a:t>
            </a:r>
          </a:p>
          <a:p>
            <a:r>
              <a:rPr lang="en-US" b="1" dirty="0">
                <a:solidFill>
                  <a:schemeClr val="accent1">
                    <a:lumMod val="75000"/>
                  </a:schemeClr>
                </a:solidFill>
              </a:rPr>
              <a:t>Facebook: </a:t>
            </a:r>
          </a:p>
        </p:txBody>
      </p:sp>
    </p:spTree>
    <p:extLst>
      <p:ext uri="{BB962C8B-B14F-4D97-AF65-F5344CB8AC3E}">
        <p14:creationId xmlns:p14="http://schemas.microsoft.com/office/powerpoint/2010/main" val="335195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386bdc73-7593-4974-a02e-eccd61b7f97d" xsi:nil="true"/>
    <lcf76f155ced4ddcb4097134ff3c332f xmlns="274f4dba-92f6-42b2-b85a-f022aa77e23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Tài liệu" ma:contentTypeID="0x01010030C599715398E846B9F5C96D719BC946" ma:contentTypeVersion="10" ma:contentTypeDescription="Tạo tài liệu mới." ma:contentTypeScope="" ma:versionID="9817822c1f3044bafdc21460540c1bc6">
  <xsd:schema xmlns:xsd="http://www.w3.org/2001/XMLSchema" xmlns:xs="http://www.w3.org/2001/XMLSchema" xmlns:p="http://schemas.microsoft.com/office/2006/metadata/properties" xmlns:ns2="274f4dba-92f6-42b2-b85a-f022aa77e23e" xmlns:ns3="386bdc73-7593-4974-a02e-eccd61b7f97d" targetNamespace="http://schemas.microsoft.com/office/2006/metadata/properties" ma:root="true" ma:fieldsID="4038c53c068d9005a9090cf83158430c" ns2:_="" ns3:_="">
    <xsd:import namespace="274f4dba-92f6-42b2-b85a-f022aa77e23e"/>
    <xsd:import namespace="386bdc73-7593-4974-a02e-eccd61b7f97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4f4dba-92f6-42b2-b85a-f022aa77e2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Thẻ Hình ảnh" ma:readOnly="false" ma:fieldId="{5cf76f15-5ced-4ddc-b409-7134ff3c332f}" ma:taxonomyMulti="true" ma:sspId="158d9f12-b085-4db2-abbf-1ae4638ef84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86bdc73-7593-4974-a02e-eccd61b7f97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1a1d31b-43c7-4bf7-8a02-12f35af2a6fe}" ma:internalName="TaxCatchAll" ma:showField="CatchAllData" ma:web="386bdc73-7593-4974-a02e-eccd61b7f9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8DAF79D-31FA-48E9-8F95-BD1B6B8336C1}">
  <ds:schemaRefs>
    <ds:schemaRef ds:uri="http://schemas.microsoft.com/sharepoint/v3/contenttype/forms"/>
  </ds:schemaRefs>
</ds:datastoreItem>
</file>

<file path=customXml/itemProps2.xml><?xml version="1.0" encoding="utf-8"?>
<ds:datastoreItem xmlns:ds="http://schemas.openxmlformats.org/officeDocument/2006/customXml" ds:itemID="{0A590FBB-D41C-4AD7-A92C-88096D362865}">
  <ds:schemaRefs>
    <ds:schemaRef ds:uri="http://schemas.microsoft.com/office/2006/metadata/properties"/>
    <ds:schemaRef ds:uri="http://schemas.microsoft.com/office/infopath/2007/PartnerControls"/>
    <ds:schemaRef ds:uri="6f0c604f-eece-4396-a19f-6e31a7dc142f"/>
    <ds:schemaRef ds:uri="9283de6b-093f-42e7-8cfd-35d3d7c3c94f"/>
  </ds:schemaRefs>
</ds:datastoreItem>
</file>

<file path=customXml/itemProps3.xml><?xml version="1.0" encoding="utf-8"?>
<ds:datastoreItem xmlns:ds="http://schemas.openxmlformats.org/officeDocument/2006/customXml" ds:itemID="{A810B7BE-250E-4B85-ADB0-0AA8546D318A}"/>
</file>

<file path=docProps/app.xml><?xml version="1.0" encoding="utf-8"?>
<Properties xmlns="http://schemas.openxmlformats.org/officeDocument/2006/extended-properties" xmlns:vt="http://schemas.openxmlformats.org/officeDocument/2006/docPropsVTypes">
  <TotalTime>5167</TotalTime>
  <Words>1530</Words>
  <Application>Microsoft Office PowerPoint</Application>
  <PresentationFormat>Trình chiếu Trên màn hình (4:3)</PresentationFormat>
  <Paragraphs>168</Paragraphs>
  <Slides>37</Slides>
  <Notes>1</Notes>
  <HiddenSlides>0</HiddenSlides>
  <MMClips>0</MMClips>
  <ScaleCrop>false</ScaleCrop>
  <HeadingPairs>
    <vt:vector size="4" baseType="variant">
      <vt:variant>
        <vt:lpstr>Chủ đề</vt:lpstr>
      </vt:variant>
      <vt:variant>
        <vt:i4>1</vt:i4>
      </vt:variant>
      <vt:variant>
        <vt:lpstr>Tiêu đề Bản chiếu</vt:lpstr>
      </vt:variant>
      <vt:variant>
        <vt:i4>37</vt:i4>
      </vt:variant>
    </vt:vector>
  </HeadingPairs>
  <TitlesOfParts>
    <vt:vector size="38" baseType="lpstr">
      <vt:lpstr>Office Theme</vt:lpstr>
      <vt:lpstr>Bản trình bày PowerPoint</vt:lpstr>
      <vt:lpstr>1. Ngành nghề Công nghệ Thông tin </vt:lpstr>
      <vt:lpstr>1. Ngành nghề Công nghệ Thông tin </vt:lpstr>
      <vt:lpstr>2. Một số cách phân loại ngành CNTT</vt:lpstr>
      <vt:lpstr>2. Một số cách phân loại ngành CNTT</vt:lpstr>
      <vt:lpstr>2. Một số cách phân loại ngành CNTT</vt:lpstr>
      <vt:lpstr>2. Một số cách phân loại ngành CNTT</vt:lpstr>
      <vt:lpstr>2. Một số cách phân loại ngành CNTT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3. Nghề CNTT theo phân loại của bộ TT&amp;TT</vt:lpstr>
      <vt:lpstr>4. Đào tạo CNTT của Đại học GTVT</vt:lpstr>
      <vt:lpstr>4. Đào tạo CNTT của Đại học GTVT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Duy Anh</dc:creator>
  <cp:lastModifiedBy>PHAM XUAN TICH</cp:lastModifiedBy>
  <cp:revision>459</cp:revision>
  <cp:lastPrinted>2018-04-03T01:30:05Z</cp:lastPrinted>
  <dcterms:created xsi:type="dcterms:W3CDTF">2017-10-17T01:43:35Z</dcterms:created>
  <dcterms:modified xsi:type="dcterms:W3CDTF">2022-10-31T01:11:37Z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0x01010030C599715398E846B9F5C96D719BC946</vt:lpwstr>
  </property>
  <property fmtid="{D5CDD505-2E9C-101B-9397-08002B2CF9AE}" pid="3" name="MediaServiceImageTags">
    <vt:lpwstr/>
  </property>
</Properties>
</file>