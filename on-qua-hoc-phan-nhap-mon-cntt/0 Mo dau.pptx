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64" r:id="rId5"/>
    <p:sldId id="286" r:id="rId6"/>
    <p:sldId id="290" r:id="rId7"/>
    <p:sldId id="287" r:id="rId8"/>
    <p:sldId id="288" r:id="rId9"/>
    <p:sldId id="289" r:id="rId10"/>
  </p:sldIdLst>
  <p:sldSz cx="9144000" cy="6858000" type="screen4x3"/>
  <p:notesSz cx="6735763" cy="98663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BE7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ÀNG TRỌNG AN" userId="S::an221230723@lms.utc.edu.vn::45f4ca89-9380-4e61-bef5-729f836e4309" providerId="AD" clId="Web-{FAB3D31B-E9C9-4C0D-8461-5F8EA3FCCC42}"/>
    <pc:docChg chg="modSld">
      <pc:chgData name="HOÀNG TRỌNG AN" userId="S::an221230723@lms.utc.edu.vn::45f4ca89-9380-4e61-bef5-729f836e4309" providerId="AD" clId="Web-{FAB3D31B-E9C9-4C0D-8461-5F8EA3FCCC42}" dt="2022-10-17T00:40:13.554" v="198" actId="20577"/>
      <pc:docMkLst>
        <pc:docMk/>
      </pc:docMkLst>
      <pc:sldChg chg="modSp">
        <pc:chgData name="HOÀNG TRỌNG AN" userId="S::an221230723@lms.utc.edu.vn::45f4ca89-9380-4e61-bef5-729f836e4309" providerId="AD" clId="Web-{FAB3D31B-E9C9-4C0D-8461-5F8EA3FCCC42}" dt="2022-10-17T00:40:13.554" v="198" actId="20577"/>
        <pc:sldMkLst>
          <pc:docMk/>
          <pc:sldMk cId="265082635" sldId="289"/>
        </pc:sldMkLst>
        <pc:spChg chg="mod">
          <ac:chgData name="HOÀNG TRỌNG AN" userId="S::an221230723@lms.utc.edu.vn::45f4ca89-9380-4e61-bef5-729f836e4309" providerId="AD" clId="Web-{FAB3D31B-E9C9-4C0D-8461-5F8EA3FCCC42}" dt="2022-10-17T00:40:13.554" v="198" actId="20577"/>
          <ac:spMkLst>
            <pc:docMk/>
            <pc:sldMk cId="265082635" sldId="289"/>
            <ac:spMk id="3" creationId="{00000000-0000-0000-0000-000000000000}"/>
          </ac:spMkLst>
        </pc:spChg>
      </pc:sldChg>
    </pc:docChg>
  </pc:docChgLst>
  <pc:docChgLst>
    <pc:chgData name="LÊ MINH TRUNG" userId="d3b00cda-53b4-4438-9341-cf422af58006" providerId="ADAL" clId="{C554709A-7F22-FE43-87FF-4160A08D4F4B}"/>
    <pc:docChg chg="custSel modSld">
      <pc:chgData name="LÊ MINH TRUNG" userId="d3b00cda-53b4-4438-9341-cf422af58006" providerId="ADAL" clId="{C554709A-7F22-FE43-87FF-4160A08D4F4B}" dt="2022-12-03T12:12:33.771" v="0" actId="21"/>
      <pc:docMkLst>
        <pc:docMk/>
      </pc:docMkLst>
      <pc:sldChg chg="delSp">
        <pc:chgData name="LÊ MINH TRUNG" userId="d3b00cda-53b4-4438-9341-cf422af58006" providerId="ADAL" clId="{C554709A-7F22-FE43-87FF-4160A08D4F4B}" dt="2022-12-03T12:12:33.771" v="0" actId="21"/>
        <pc:sldMkLst>
          <pc:docMk/>
          <pc:sldMk cId="0" sldId="264"/>
        </pc:sldMkLst>
        <pc:spChg chg="del">
          <ac:chgData name="LÊ MINH TRUNG" userId="d3b00cda-53b4-4438-9341-cf422af58006" providerId="ADAL" clId="{C554709A-7F22-FE43-87FF-4160A08D4F4B}" dt="2022-12-03T12:12:33.771" v="0" actId="21"/>
          <ac:spMkLst>
            <pc:docMk/>
            <pc:sldMk cId="0" sldId="264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wrap="square" lIns="90750" tIns="45376" rIns="90750" bIns="45376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wrap="square" lIns="90750" tIns="45376" rIns="90750" bIns="4537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6452CE8D-4DE5-4615-8509-918B5CDBD4CD}" type="datetimeFigureOut">
              <a:rPr lang="en-US" altLang="en-US"/>
              <a:pPr>
                <a:defRPr/>
              </a:pPr>
              <a:t>9/30/2023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2600"/>
            <a:ext cx="2919413" cy="493713"/>
          </a:xfrm>
          <a:prstGeom prst="rect">
            <a:avLst/>
          </a:prstGeom>
        </p:spPr>
        <p:txBody>
          <a:bodyPr vert="horz" wrap="square" lIns="90750" tIns="45376" rIns="90750" bIns="45376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4763" y="9372600"/>
            <a:ext cx="2919412" cy="493713"/>
          </a:xfrm>
          <a:prstGeom prst="rect">
            <a:avLst/>
          </a:prstGeom>
        </p:spPr>
        <p:txBody>
          <a:bodyPr vert="horz" wrap="square" lIns="90750" tIns="45376" rIns="90750" bIns="4537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835BDCC-C97E-4BBF-8061-82A2E5C05F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wrap="square" lIns="90750" tIns="45376" rIns="90750" bIns="45376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wrap="square" lIns="90750" tIns="45376" rIns="90750" bIns="4537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fld id="{B25D454E-CD6B-4C0B-9114-3B78A27C778F}" type="datetimeFigureOut">
              <a:rPr lang="en-US" altLang="en-US"/>
              <a:pPr>
                <a:defRPr/>
              </a:pPr>
              <a:t>9/30/2023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50" tIns="45376" rIns="90750" bIns="45376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100" y="4686300"/>
            <a:ext cx="5389563" cy="4440238"/>
          </a:xfrm>
          <a:prstGeom prst="rect">
            <a:avLst/>
          </a:prstGeom>
        </p:spPr>
        <p:txBody>
          <a:bodyPr vert="horz" lIns="90750" tIns="45376" rIns="90750" bIns="45376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wrap="square" lIns="90750" tIns="45376" rIns="90750" bIns="45376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wrap="square" lIns="90750" tIns="45376" rIns="90750" bIns="4537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FB02F604-5D6E-4A55-AC85-D284686D9A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4613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Thanks for attention</a:t>
            </a:r>
            <a:endParaRPr lang="en-GB" altLang="en-US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D742D1DC-CF29-4A3A-86E4-2913EB85AA70}" type="slidenum">
              <a:rPr lang="en-US" altLang="en-US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1948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716B1C-6892-451A-AB88-2578E376C17D}" type="datetime1">
              <a:rPr lang="en-US" altLang="en-US"/>
              <a:pPr>
                <a:defRPr/>
              </a:pPr>
              <a:t>9/30/2023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08990A-1F63-4BB5-A92D-CA36487E63F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7589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7467600" cy="990600"/>
          </a:xfrm>
        </p:spPr>
        <p:txBody>
          <a:bodyPr/>
          <a:lstStyle>
            <a:lvl1pPr algn="l">
              <a:defRPr sz="300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3105"/>
            <a:ext cx="8229600" cy="46783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q"/>
              <a:defRPr sz="2600" b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9CD8EF-EE60-411A-97C8-3328044BE88F}" type="datetime1">
              <a:rPr lang="en-US" altLang="en-US"/>
              <a:pPr>
                <a:defRPr/>
              </a:pPr>
              <a:t>9/30/2023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E9613B-F541-4B9F-824A-15521B7777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8391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81" b="8862"/>
          <a:stretch>
            <a:fillRect/>
          </a:stretch>
        </p:blipFill>
        <p:spPr bwMode="auto">
          <a:xfrm>
            <a:off x="0" y="1131888"/>
            <a:ext cx="9144000" cy="537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57400"/>
            <a:ext cx="9144000" cy="2057400"/>
          </a:xfrm>
        </p:spPr>
        <p:txBody>
          <a:bodyPr anchor="t"/>
          <a:lstStyle>
            <a:lvl1pPr algn="ctr">
              <a:defRPr sz="4000" b="1" cap="all">
                <a:solidFill>
                  <a:srgbClr val="FF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76200"/>
            <a:ext cx="7239000" cy="990600"/>
          </a:xfrm>
        </p:spPr>
        <p:txBody>
          <a:bodyPr anchor="ctr"/>
          <a:lstStyle>
            <a:lvl1pPr marL="0" indent="0">
              <a:buNone/>
              <a:defRPr sz="300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6DA35-B9C5-45E1-8FD1-7BC255789255}" type="datetime1">
              <a:rPr lang="en-US" altLang="en-US"/>
              <a:pPr>
                <a:defRPr/>
              </a:pPr>
              <a:t>9/30/2023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7BE039-08CD-42D3-98D2-E475D9DD1A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0960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C1E49-D23F-48A6-8122-096414EC9A3B}" type="datetime1">
              <a:rPr lang="en-US" altLang="en-US"/>
              <a:pPr>
                <a:defRPr/>
              </a:pPr>
              <a:t>9/30/2023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D4CFA4-ADCF-4D52-ABF6-C3F6FD7F98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3632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91AB3-AA8B-46C1-9F3E-9D7400C6FA71}" type="datetime1">
              <a:rPr lang="en-US" altLang="en-US"/>
              <a:pPr>
                <a:defRPr/>
              </a:pPr>
              <a:t>9/30/2023</a:t>
            </a:fld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A32558-B019-4C2C-BD4C-AECD94E1311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0034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4E3045-D33A-48A3-99AC-5493AFB5D801}" type="datetime1">
              <a:rPr lang="en-US" altLang="en-US"/>
              <a:pPr>
                <a:defRPr/>
              </a:pPr>
              <a:t>9/30/2023</a:t>
            </a:fld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6621F5-6C39-4B99-8DFC-C24DF0D85F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7590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60757C-3973-4F02-AC2F-8C65A7241004}" type="datetime1">
              <a:rPr lang="en-US" altLang="en-US"/>
              <a:pPr>
                <a:defRPr/>
              </a:pPr>
              <a:t>9/30/2023</a:t>
            </a:fld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88DECD-8E43-41A0-9A0C-E6B0055199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8650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555604-5698-4698-A632-54D820FCAEA1}" type="datetime1">
              <a:rPr lang="en-US" altLang="en-US"/>
              <a:pPr>
                <a:defRPr/>
              </a:pPr>
              <a:t>9/30/2023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BAA532-7882-4ECB-9DA1-1F126C1939D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0667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81EFD0-0641-4C61-91E8-A9044B7072A6}" type="datetime1">
              <a:rPr lang="en-US" altLang="en-US"/>
              <a:pPr>
                <a:defRPr/>
              </a:pPr>
              <a:t>9/30/2023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68E4C9-1371-4695-A826-32EBAEA454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8651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EE7DD4-2E22-4490-A858-327059DF3DDD}" type="datetime1">
              <a:rPr lang="en-US" altLang="en-US"/>
              <a:pPr>
                <a:defRPr/>
              </a:pPr>
              <a:t>9/30/2023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6109D0-3962-4CA9-89AB-C4D649D1EB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6621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F6F829-C155-441F-A161-B7F0A6DAACE7}" type="datetime1">
              <a:rPr lang="en-US" altLang="en-US"/>
              <a:pPr>
                <a:defRPr/>
              </a:pPr>
              <a:t>9/30/2023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6DC621-3EFC-4B51-AEC1-17541151FC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55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7467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229600" cy="475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cs typeface="Arial" charset="0"/>
              </a:defRPr>
            </a:lvl1pPr>
          </a:lstStyle>
          <a:p>
            <a:pPr>
              <a:defRPr/>
            </a:pPr>
            <a:fld id="{D204D8A6-B956-4297-93A4-CA45B4BC0906}" type="datetime1">
              <a:rPr lang="en-US" altLang="en-US"/>
              <a:pPr>
                <a:defRPr/>
              </a:pPr>
              <a:t>9/30/2023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>
                <a:solidFill>
                  <a:srgbClr val="0000FF"/>
                </a:solidFill>
                <a:latin typeface="Arial" panose="020B0604020202020204" pitchFamily="34" charset="0"/>
              </a:defRPr>
            </a:lvl1pPr>
          </a:lstStyle>
          <a:p>
            <a:fld id="{52666095-8ADE-4767-824D-6CD9D97975E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51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FFFF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00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ts val="100"/>
        </a:spcBef>
        <a:spcAft>
          <a:spcPts val="200"/>
        </a:spcAft>
        <a:buFont typeface="Arial" panose="020B0604020202020204" pitchFamily="34" charset="0"/>
        <a:buChar char="•"/>
        <a:defRPr sz="2800" b="1" kern="1200">
          <a:solidFill>
            <a:srgbClr val="002060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ts val="300"/>
        </a:spcBef>
        <a:spcAft>
          <a:spcPts val="300"/>
        </a:spcAft>
        <a:buFont typeface="Arial" panose="020B0604020202020204" pitchFamily="34" charset="0"/>
        <a:buChar char="–"/>
        <a:defRPr sz="2400" kern="1200">
          <a:solidFill>
            <a:srgbClr val="002060"/>
          </a:solidFill>
          <a:latin typeface="Arial" pitchFamily="34" charset="0"/>
          <a:ea typeface="Arial" charset="0"/>
          <a:cs typeface="Arial" pitchFamily="34" charset="0"/>
        </a:defRPr>
      </a:lvl2pPr>
      <a:lvl3pPr marL="1143000" indent="-228600" algn="l" rtl="0" eaLnBrk="0" fontAlgn="base" hangingPunct="0">
        <a:spcBef>
          <a:spcPts val="300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rgbClr val="002060"/>
          </a:solidFill>
          <a:latin typeface="Arial" pitchFamily="34" charset="0"/>
          <a:ea typeface="Arial" charset="0"/>
          <a:cs typeface="Arial" pitchFamily="34" charset="0"/>
        </a:defRPr>
      </a:lvl3pPr>
      <a:lvl4pPr marL="1600200" indent="-228600" algn="l" rtl="0" eaLnBrk="0" fontAlgn="base" hangingPunct="0">
        <a:spcBef>
          <a:spcPts val="300"/>
        </a:spcBef>
        <a:spcAft>
          <a:spcPts val="300"/>
        </a:spcAft>
        <a:buFont typeface="Arial" panose="020B0604020202020204" pitchFamily="34" charset="0"/>
        <a:buChar char="–"/>
        <a:defRPr sz="2000" kern="1200">
          <a:solidFill>
            <a:srgbClr val="002060"/>
          </a:solidFill>
          <a:latin typeface="Arial" pitchFamily="34" charset="0"/>
          <a:ea typeface="Arial" charset="0"/>
          <a:cs typeface="Arial" pitchFamily="34" charset="0"/>
        </a:defRPr>
      </a:lvl4pPr>
      <a:lvl5pPr marL="2057400" indent="-228600" algn="l" rtl="0" eaLnBrk="0" fontAlgn="base" hangingPunct="0">
        <a:spcBef>
          <a:spcPts val="300"/>
        </a:spcBef>
        <a:spcAft>
          <a:spcPts val="300"/>
        </a:spcAft>
        <a:buFont typeface="Arial" panose="020B0604020202020204" pitchFamily="34" charset="0"/>
        <a:buChar char="»"/>
        <a:defRPr sz="2000" kern="1200">
          <a:solidFill>
            <a:srgbClr val="002060"/>
          </a:solidFill>
          <a:latin typeface="Arial" pitchFamily="34" charset="0"/>
          <a:ea typeface="Arial" charset="0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Khoacntt@utc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facebook.com/groups/fitutc" TargetMode="External"/><Relationship Id="rId4" Type="http://schemas.openxmlformats.org/officeDocument/2006/relationships/hyperlink" Target="http://fit.utc.edu.vn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>
            <a:spLocks noChangeArrowheads="1"/>
          </p:cNvSpPr>
          <p:nvPr/>
        </p:nvSpPr>
        <p:spPr bwMode="auto">
          <a:xfrm>
            <a:off x="381000" y="1828800"/>
            <a:ext cx="822960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3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MỞ ĐẦU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33400" y="2667000"/>
            <a:ext cx="822960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3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MÔN HỌC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76885" y="5237440"/>
            <a:ext cx="82296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–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20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Khoa Công nghệ thông tin – ĐH Giao thông vận tải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Khoacntt@utc.edu.vn</a:t>
            </a:r>
            <a:endParaRPr lang="en-US" sz="200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Website: </a:t>
            </a: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http://fit.utc.edu.vn</a:t>
            </a:r>
            <a:endParaRPr lang="en-US" sz="200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Facebook: </a:t>
            </a: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https://www.facebook.com/groups/fitutc</a:t>
            </a:r>
            <a:endParaRPr lang="en-US" sz="200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Mục tiêu môn học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3105"/>
            <a:ext cx="8229600" cy="5306295"/>
          </a:xfrm>
        </p:spPr>
        <p:txBody>
          <a:bodyPr/>
          <a:lstStyle/>
          <a:p>
            <a:pPr algn="just"/>
            <a:r>
              <a:rPr lang="vi-VN" sz="2400" b="0">
                <a:solidFill>
                  <a:srgbClr val="002060"/>
                </a:solidFill>
              </a:rPr>
              <a:t>Học phần này nằm trong khối kiến thức cơ sở ngành</a:t>
            </a:r>
            <a:r>
              <a:rPr lang="en-US" sz="2400" b="0">
                <a:solidFill>
                  <a:srgbClr val="002060"/>
                </a:solidFill>
              </a:rPr>
              <a:t>.</a:t>
            </a:r>
          </a:p>
          <a:p>
            <a:pPr algn="just"/>
            <a:r>
              <a:rPr lang="en-US" sz="2400" b="0">
                <a:solidFill>
                  <a:srgbClr val="002060"/>
                </a:solidFill>
              </a:rPr>
              <a:t>G</a:t>
            </a:r>
            <a:r>
              <a:rPr lang="vi-VN" sz="2400" b="0">
                <a:solidFill>
                  <a:srgbClr val="002060"/>
                </a:solidFill>
              </a:rPr>
              <a:t>iới thiệu, thảo luận và trải nghiệm để</a:t>
            </a:r>
            <a:r>
              <a:rPr lang="en-US" sz="2400" b="0">
                <a:solidFill>
                  <a:srgbClr val="002060"/>
                </a:solidFill>
              </a:rPr>
              <a:t> sinh viên nhận thức được:</a:t>
            </a:r>
          </a:p>
          <a:p>
            <a:pPr lvl="1" algn="just"/>
            <a:r>
              <a:rPr lang="en-US" sz="2200" b="0">
                <a:solidFill>
                  <a:srgbClr val="002060"/>
                </a:solidFill>
              </a:rPr>
              <a:t>S</a:t>
            </a:r>
            <a:r>
              <a:rPr lang="vi-VN" sz="2200" b="0">
                <a:solidFill>
                  <a:srgbClr val="002060"/>
                </a:solidFill>
              </a:rPr>
              <a:t>âu hơn về ngành CNTT</a:t>
            </a:r>
            <a:r>
              <a:rPr lang="en-US" sz="2200" b="0">
                <a:solidFill>
                  <a:srgbClr val="002060"/>
                </a:solidFill>
              </a:rPr>
              <a:t>.</a:t>
            </a:r>
          </a:p>
          <a:p>
            <a:pPr lvl="1" algn="just"/>
            <a:r>
              <a:rPr lang="en-US" sz="2200" b="0">
                <a:solidFill>
                  <a:srgbClr val="002060"/>
                </a:solidFill>
              </a:rPr>
              <a:t>V</a:t>
            </a:r>
            <a:r>
              <a:rPr lang="vi-VN" sz="2200" b="0">
                <a:solidFill>
                  <a:srgbClr val="002060"/>
                </a:solidFill>
              </a:rPr>
              <a:t>ị trí, xu hướng nghề nghiệp</a:t>
            </a:r>
            <a:r>
              <a:rPr lang="en-US" sz="2200" b="0">
                <a:solidFill>
                  <a:srgbClr val="002060"/>
                </a:solidFill>
              </a:rPr>
              <a:t>.</a:t>
            </a:r>
          </a:p>
          <a:p>
            <a:pPr lvl="1" algn="just"/>
            <a:r>
              <a:rPr lang="en-US" sz="2200" b="0">
                <a:solidFill>
                  <a:srgbClr val="002060"/>
                </a:solidFill>
              </a:rPr>
              <a:t>Các </a:t>
            </a:r>
            <a:r>
              <a:rPr lang="vi-VN" sz="2200" b="0">
                <a:solidFill>
                  <a:srgbClr val="002060"/>
                </a:solidFill>
              </a:rPr>
              <a:t>yêu cầu kỹ năng, kiến thức cần có để hoạt động nghề nghiệp trong lĩnh vực CNTT. </a:t>
            </a:r>
            <a:endParaRPr lang="en-US" sz="2200" b="0">
              <a:solidFill>
                <a:srgbClr val="002060"/>
              </a:solidFill>
            </a:endParaRPr>
          </a:p>
          <a:p>
            <a:pPr marL="457200" lvl="1" indent="0" algn="just">
              <a:buNone/>
            </a:pPr>
            <a:r>
              <a:rPr lang="en-US" sz="2200">
                <a:solidFill>
                  <a:srgbClr val="002060"/>
                </a:solidFill>
                <a:sym typeface="Wingdings" panose="05000000000000000000" pitchFamily="2" charset="2"/>
              </a:rPr>
              <a:t> </a:t>
            </a:r>
            <a:r>
              <a:rPr lang="en-US" sz="2200" b="0">
                <a:solidFill>
                  <a:srgbClr val="002060"/>
                </a:solidFill>
              </a:rPr>
              <a:t>S</a:t>
            </a:r>
            <a:r>
              <a:rPr lang="vi-VN" sz="2200" b="0">
                <a:solidFill>
                  <a:srgbClr val="002060"/>
                </a:solidFill>
              </a:rPr>
              <a:t>inh viên xây dựng kế hoạch trau dồi những kiến thức cần thiết trong quá trình học tập.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9798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Mục tiêu môn học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3105"/>
            <a:ext cx="8229600" cy="5306295"/>
          </a:xfrm>
        </p:spPr>
        <p:txBody>
          <a:bodyPr/>
          <a:lstStyle/>
          <a:p>
            <a:pPr algn="just"/>
            <a:r>
              <a:rPr lang="en-US" sz="2400" b="0">
                <a:solidFill>
                  <a:srgbClr val="002060"/>
                </a:solidFill>
              </a:rPr>
              <a:t>G</a:t>
            </a:r>
            <a:r>
              <a:rPr lang="vi-VN" sz="2400" b="0">
                <a:solidFill>
                  <a:srgbClr val="002060"/>
                </a:solidFill>
              </a:rPr>
              <a:t>iúp sinh viên nhận thức rõ sự cần thiết, mục đích, nội dung của từng môn học trong chương trình đào tạo ngành CNTT và mối liên hệ giữa chúng. </a:t>
            </a:r>
            <a:endParaRPr lang="en-US" sz="2400" b="0">
              <a:solidFill>
                <a:srgbClr val="002060"/>
              </a:solidFill>
            </a:endParaRPr>
          </a:p>
          <a:p>
            <a:pPr algn="just"/>
            <a:r>
              <a:rPr lang="vi-VN" sz="2400" b="0">
                <a:solidFill>
                  <a:srgbClr val="002060"/>
                </a:solidFill>
              </a:rPr>
              <a:t>Sinh viên được rèn luyện phát triển</a:t>
            </a:r>
            <a:r>
              <a:rPr lang="en-US" sz="2400" b="0">
                <a:solidFill>
                  <a:srgbClr val="002060"/>
                </a:solidFill>
              </a:rPr>
              <a:t>:</a:t>
            </a:r>
          </a:p>
          <a:p>
            <a:pPr lvl="1" algn="just"/>
            <a:r>
              <a:rPr lang="en-US" sz="2200" b="0">
                <a:solidFill>
                  <a:srgbClr val="002060"/>
                </a:solidFill>
              </a:rPr>
              <a:t>K</a:t>
            </a:r>
            <a:r>
              <a:rPr lang="vi-VN" sz="2200" b="0">
                <a:solidFill>
                  <a:srgbClr val="002060"/>
                </a:solidFill>
              </a:rPr>
              <a:t>ỹ năng mềm</a:t>
            </a:r>
            <a:r>
              <a:rPr lang="en-US" sz="2200" b="0">
                <a:solidFill>
                  <a:srgbClr val="002060"/>
                </a:solidFill>
              </a:rPr>
              <a:t>.</a:t>
            </a:r>
          </a:p>
          <a:p>
            <a:pPr lvl="1" algn="just"/>
            <a:r>
              <a:rPr lang="en-US" sz="2200" b="0">
                <a:solidFill>
                  <a:srgbClr val="002060"/>
                </a:solidFill>
              </a:rPr>
              <a:t>K</a:t>
            </a:r>
            <a:r>
              <a:rPr lang="vi-VN" sz="2200" b="0">
                <a:solidFill>
                  <a:srgbClr val="002060"/>
                </a:solidFill>
              </a:rPr>
              <a:t>ỹ năng soạn thảo văn bản</a:t>
            </a:r>
            <a:endParaRPr lang="en-US" sz="2200" b="0">
              <a:solidFill>
                <a:srgbClr val="002060"/>
              </a:solidFill>
            </a:endParaRPr>
          </a:p>
          <a:p>
            <a:pPr lvl="1" algn="just"/>
            <a:r>
              <a:rPr lang="en-US" sz="2200">
                <a:solidFill>
                  <a:srgbClr val="002060"/>
                </a:solidFill>
              </a:rPr>
              <a:t>Kỹ năng</a:t>
            </a:r>
            <a:r>
              <a:rPr lang="vi-VN" sz="2200" b="0">
                <a:solidFill>
                  <a:srgbClr val="002060"/>
                </a:solidFill>
              </a:rPr>
              <a:t> thuyết trình</a:t>
            </a:r>
            <a:r>
              <a:rPr lang="en-US" sz="2200" b="0">
                <a:solidFill>
                  <a:srgbClr val="002060"/>
                </a:solidFill>
              </a:rPr>
              <a:t>.</a:t>
            </a:r>
          </a:p>
          <a:p>
            <a:pPr lvl="1" algn="just"/>
            <a:r>
              <a:rPr lang="en-US" sz="2200" b="0">
                <a:solidFill>
                  <a:srgbClr val="002060"/>
                </a:solidFill>
              </a:rPr>
              <a:t>K</a:t>
            </a:r>
            <a:r>
              <a:rPr lang="vi-VN" sz="2200" b="0">
                <a:solidFill>
                  <a:srgbClr val="002060"/>
                </a:solidFill>
              </a:rPr>
              <a:t>ỹ năng làm việc nhóm</a:t>
            </a:r>
          </a:p>
          <a:p>
            <a:pPr marL="0" indent="0">
              <a:buNone/>
            </a:pPr>
            <a:r>
              <a:rPr lang="vi-VN" sz="2000"/>
              <a:t/>
            </a:r>
            <a:br>
              <a:rPr lang="vi-VN" sz="2000"/>
            </a:b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949949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Đánh giá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4</a:t>
            </a:fld>
            <a:endParaRPr lang="en-US" alt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359049"/>
              </p:ext>
            </p:extLst>
          </p:nvPr>
        </p:nvGraphicFramePr>
        <p:xfrm>
          <a:off x="304800" y="1143000"/>
          <a:ext cx="8534401" cy="4795386"/>
        </p:xfrm>
        <a:graphic>
          <a:graphicData uri="http://schemas.openxmlformats.org/drawingml/2006/table">
            <a:tbl>
              <a:tblPr/>
              <a:tblGrid>
                <a:gridCol w="1186396">
                  <a:extLst>
                    <a:ext uri="{9D8B030D-6E8A-4147-A177-3AD203B41FA5}">
                      <a16:colId xmlns:a16="http://schemas.microsoft.com/office/drawing/2014/main" xmlns="" val="4188704866"/>
                    </a:ext>
                  </a:extLst>
                </a:gridCol>
                <a:gridCol w="2014004">
                  <a:extLst>
                    <a:ext uri="{9D8B030D-6E8A-4147-A177-3AD203B41FA5}">
                      <a16:colId xmlns:a16="http://schemas.microsoft.com/office/drawing/2014/main" xmlns="" val="1400621227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xmlns="" val="164439041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xmlns="" val="1717204365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xmlns="" val="662801416"/>
                    </a:ext>
                  </a:extLst>
                </a:gridCol>
              </a:tblGrid>
              <a:tr h="77202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Thành phần đánh giá [1]</a:t>
                      </a:r>
                      <a:endParaRPr lang="en-US" sz="180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36195" marR="3619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Hình thức đánh giá (A.x.y) [2]</a:t>
                      </a:r>
                      <a:endParaRPr lang="en-US" sz="180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36195" marR="3619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CĐR học phần (G.x.y) [3]</a:t>
                      </a:r>
                      <a:endParaRPr lang="en-US" sz="180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36195" marR="3619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Tiêu chí</a:t>
                      </a:r>
                      <a:endParaRPr lang="en-US" sz="180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đánh giá [4]</a:t>
                      </a:r>
                      <a:endParaRPr lang="en-US" sz="180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36195" marR="3619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0" u="none" strike="noStrike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</a:rPr>
                        <a:t>Tỷ lệ (%)[5]</a:t>
                      </a:r>
                      <a:endParaRPr lang="en-US" sz="180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36195" marR="3619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679778411"/>
                  </a:ext>
                </a:extLst>
              </a:tr>
              <a:tr h="772026">
                <a:tc rowSpan="4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A1. Đánh giá quá trình</a:t>
                      </a:r>
                      <a:endParaRPr lang="pt-BR" sz="18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6195" marR="3619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A.1.1. Điểm đánh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6195" marR="3619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solidFill>
                            <a:srgbClr val="002060"/>
                          </a:solidFill>
                          <a:effectLst/>
                        </a:rPr>
                        <a:t/>
                      </a:r>
                      <a:br>
                        <a:rPr lang="en-US" sz="1800">
                          <a:solidFill>
                            <a:srgbClr val="002060"/>
                          </a:solidFill>
                          <a:effectLst/>
                        </a:rPr>
                      </a:b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6195" marR="3619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Chuyên cần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6195" marR="3619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6195" marR="3619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636462380"/>
                  </a:ext>
                </a:extLst>
              </a:tr>
              <a:tr h="5514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A.1.2. Bài kiểm viết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6195" marR="3619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G.1.3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6195" marR="3619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Biểu diễn thuật toán giải quyết một bài toán bằng sơ đồ khối </a:t>
                      </a:r>
                      <a:endParaRPr lang="vi-VN" sz="18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6195" marR="3619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15%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6195" marR="3619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971426195"/>
                  </a:ext>
                </a:extLst>
              </a:tr>
              <a:tr h="5514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A. 1.3. Bài báo cáo</a:t>
                      </a:r>
                      <a:endParaRPr lang="pt-BR" sz="18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6195" marR="3619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G.1.4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G.2.2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6195" marR="3619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 Nội dung báo cáo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 Hình thức báo cáo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6195" marR="3619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15%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6195" marR="3619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71357056"/>
                  </a:ext>
                </a:extLst>
              </a:tr>
              <a:tr h="7720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A. 1.4. Báo cáo thuyết trình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6195" marR="3619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G.1.4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G.2.2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G.2.3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6195" marR="3619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 Nội dung trình bày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 Hình thức trình bày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 Trả lời câu hỏi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6195" marR="3619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15%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6195" marR="3619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75140944"/>
                  </a:ext>
                </a:extLst>
              </a:tr>
              <a:tr h="772026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A2. Đánh giá kết thúc học phần 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6195" marR="3619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it-IT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A2.1. Bài kiểm tra trắc nghiệm</a:t>
                      </a:r>
                      <a:endParaRPr lang="it-IT" sz="18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6195" marR="3619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G.1.1-4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G.2.1-3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6195" marR="3619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 Hiểu biết chung về CNTT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 Thuật toán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  <a:p>
                      <a:pPr algn="just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- Trình bày báo cáo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6195" marR="36195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</a:rPr>
                        <a:t>50%</a:t>
                      </a:r>
                      <a:endParaRPr lang="en-US" sz="180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36195" marR="3619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395194065"/>
                  </a:ext>
                </a:extLst>
              </a:tr>
            </a:tbl>
          </a:graphicData>
        </a:graphic>
      </p:graphicFrame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219200" y="1600041"/>
            <a:ext cx="10387803" cy="551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44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 môn học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>
                <a:solidFill>
                  <a:srgbClr val="002060"/>
                </a:solidFill>
              </a:rPr>
              <a:t>Mở đầu</a:t>
            </a:r>
          </a:p>
          <a:p>
            <a:pPr marL="514350" indent="-514350">
              <a:buFont typeface="+mj-lt"/>
              <a:buAutoNum type="arabicPeriod"/>
            </a:pPr>
            <a:r>
              <a:rPr lang="vi-VN">
                <a:solidFill>
                  <a:srgbClr val="002060"/>
                </a:solidFill>
              </a:rPr>
              <a:t>Chương 1. Tổng quan</a:t>
            </a:r>
            <a:endParaRPr lang="en-US">
              <a:solidFill>
                <a:srgbClr val="00206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vi-VN">
                <a:solidFill>
                  <a:srgbClr val="002060"/>
                </a:solidFill>
              </a:rPr>
              <a:t>Chương 2. Tư duy giải quyết vấn đề </a:t>
            </a:r>
            <a:endParaRPr lang="en-US">
              <a:solidFill>
                <a:srgbClr val="00206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vi-VN">
                <a:solidFill>
                  <a:srgbClr val="002060"/>
                </a:solidFill>
              </a:rPr>
              <a:t>Chương 3. Các lĩnh vực ngành nghề CNTT</a:t>
            </a:r>
            <a:endParaRPr lang="en-US">
              <a:solidFill>
                <a:srgbClr val="00206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vi-VN">
                <a:solidFill>
                  <a:srgbClr val="002060"/>
                </a:solidFill>
              </a:rPr>
              <a:t>Chương 4. Mạng máy tính và Internet </a:t>
            </a:r>
            <a:endParaRPr lang="en-US">
              <a:solidFill>
                <a:srgbClr val="00206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vi-VN">
                <a:solidFill>
                  <a:srgbClr val="002060"/>
                </a:solidFill>
              </a:rPr>
              <a:t>Chương 5. Xu hướng của CNTT trong tương lai </a:t>
            </a:r>
            <a:endParaRPr lang="en-US">
              <a:solidFill>
                <a:srgbClr val="00206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vi-VN">
                <a:solidFill>
                  <a:srgbClr val="002060"/>
                </a:solidFill>
              </a:rPr>
              <a:t>Chương 6. Kỹ năng xây dựng báo cáo</a:t>
            </a:r>
            <a:endParaRPr lang="en-US">
              <a:solidFill>
                <a:srgbClr val="00206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vi-VN">
                <a:solidFill>
                  <a:srgbClr val="002060"/>
                </a:solidFill>
              </a:rPr>
              <a:t>Chương 7. Kỹ năng thuyết trình</a:t>
            </a:r>
            <a:endParaRPr lang="vi-VN" b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vi-VN"/>
              <a:t/>
            </a:r>
            <a:br>
              <a:rPr lang="vi-VN"/>
            </a:br>
            <a:endParaRPr lang="en-US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5336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Tài liệu tham khảo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2060"/>
                </a:solidFill>
              </a:rPr>
              <a:t>Slide </a:t>
            </a:r>
            <a:r>
              <a:rPr lang="en-US" dirty="0" err="1">
                <a:solidFill>
                  <a:srgbClr val="002060"/>
                </a:solidFill>
              </a:rPr>
              <a:t>bài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giảng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Khoa</a:t>
            </a:r>
            <a:r>
              <a:rPr lang="en-US" dirty="0">
                <a:solidFill>
                  <a:srgbClr val="002060"/>
                </a:solidFill>
              </a:rPr>
              <a:t> CNTT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rgbClr val="002060"/>
                </a:solidFill>
              </a:rPr>
              <a:t>Giáo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trình</a:t>
            </a:r>
            <a:r>
              <a:rPr lang="en-US" dirty="0">
                <a:solidFill>
                  <a:srgbClr val="002060"/>
                </a:solidFill>
              </a:rPr>
              <a:t> Tin </a:t>
            </a:r>
            <a:r>
              <a:rPr lang="en-US" dirty="0" err="1">
                <a:solidFill>
                  <a:srgbClr val="002060"/>
                </a:solidFill>
              </a:rPr>
              <a:t>học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đại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cương</a:t>
            </a:r>
            <a:endParaRPr lang="en-US" dirty="0">
              <a:solidFill>
                <a:srgbClr val="00206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rgbClr val="002060"/>
                </a:solidFill>
              </a:rPr>
              <a:t>Giáo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trình</a:t>
            </a:r>
            <a:r>
              <a:rPr lang="en-US" dirty="0">
                <a:solidFill>
                  <a:srgbClr val="002060"/>
                </a:solidFill>
              </a:rPr>
              <a:t> Tin </a:t>
            </a:r>
            <a:r>
              <a:rPr lang="en-US" dirty="0" err="1" smtClean="0">
                <a:solidFill>
                  <a:srgbClr val="002060"/>
                </a:solidFill>
              </a:rPr>
              <a:t>học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đại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cương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dành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cho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khối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Kinh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tế</a:t>
            </a:r>
            <a:r>
              <a:rPr lang="en-US" dirty="0" smtClean="0">
                <a:solidFill>
                  <a:srgbClr val="002060"/>
                </a:solidFill>
              </a:rPr>
              <a:t> (Tin </a:t>
            </a:r>
            <a:r>
              <a:rPr lang="en-US" dirty="0" err="1" smtClean="0">
                <a:solidFill>
                  <a:srgbClr val="002060"/>
                </a:solidFill>
              </a:rPr>
              <a:t>học</a:t>
            </a:r>
            <a:r>
              <a:rPr lang="en-US" dirty="0" smtClean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văn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 smtClean="0">
                <a:solidFill>
                  <a:srgbClr val="002060"/>
                </a:solidFill>
              </a:rPr>
              <a:t>phòng</a:t>
            </a:r>
            <a:r>
              <a:rPr lang="en-US" dirty="0" smtClean="0">
                <a:solidFill>
                  <a:srgbClr val="002060"/>
                </a:solidFill>
              </a:rPr>
              <a:t>)</a:t>
            </a:r>
            <a:endParaRPr lang="en-US" dirty="0">
              <a:solidFill>
                <a:srgbClr val="00206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2060"/>
                </a:solidFill>
              </a:rPr>
              <a:t>Internet</a:t>
            </a:r>
          </a:p>
          <a:p>
            <a:pPr marL="514350" indent="-514350">
              <a:buAutoNum type="arabicPeriod"/>
            </a:pPr>
            <a:r>
              <a:rPr lang="en-US" dirty="0" err="1">
                <a:solidFill>
                  <a:srgbClr val="002060"/>
                </a:solidFill>
                <a:latin typeface="Arial"/>
                <a:cs typeface="Arial"/>
              </a:rPr>
              <a:t>Hướng</a:t>
            </a:r>
            <a:r>
              <a:rPr lang="en-US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/>
                <a:cs typeface="Arial"/>
              </a:rPr>
              <a:t>dẫn</a:t>
            </a:r>
            <a:r>
              <a:rPr lang="en-US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/>
                <a:cs typeface="Arial"/>
              </a:rPr>
              <a:t>xây</a:t>
            </a:r>
            <a:r>
              <a:rPr lang="en-US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/>
                <a:cs typeface="Arial"/>
              </a:rPr>
              <a:t>dựng</a:t>
            </a:r>
            <a:r>
              <a:rPr lang="en-US" dirty="0">
                <a:solidFill>
                  <a:srgbClr val="002060"/>
                </a:solidFill>
                <a:latin typeface="Arial"/>
                <a:cs typeface="Arial"/>
              </a:rPr>
              <a:t> file </a:t>
            </a:r>
            <a:r>
              <a:rPr lang="en-US" dirty="0" err="1">
                <a:solidFill>
                  <a:srgbClr val="002060"/>
                </a:solidFill>
                <a:latin typeface="Arial"/>
                <a:cs typeface="Arial"/>
              </a:rPr>
              <a:t>thuyết</a:t>
            </a:r>
            <a:r>
              <a:rPr lang="en-US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/>
                <a:cs typeface="Arial"/>
              </a:rPr>
              <a:t>trình</a:t>
            </a:r>
            <a:r>
              <a:rPr lang="en-US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/>
                <a:cs typeface="Arial"/>
              </a:rPr>
              <a:t>trên</a:t>
            </a:r>
            <a:r>
              <a:rPr lang="en-US" dirty="0">
                <a:solidFill>
                  <a:srgbClr val="002060"/>
                </a:solidFill>
                <a:latin typeface="Arial"/>
                <a:cs typeface="Arial"/>
              </a:rPr>
              <a:t> PP</a:t>
            </a:r>
          </a:p>
          <a:p>
            <a:pPr marL="0" indent="0">
              <a:buNone/>
            </a:pP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9613B-F541-4B9F-824A-15521B777744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082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30C599715398E846B9F5C96D719BC946" ma:contentTypeVersion="10" ma:contentTypeDescription="Tạo tài liệu mới." ma:contentTypeScope="" ma:versionID="9817822c1f3044bafdc21460540c1bc6">
  <xsd:schema xmlns:xsd="http://www.w3.org/2001/XMLSchema" xmlns:xs="http://www.w3.org/2001/XMLSchema" xmlns:p="http://schemas.microsoft.com/office/2006/metadata/properties" xmlns:ns2="274f4dba-92f6-42b2-b85a-f022aa77e23e" xmlns:ns3="386bdc73-7593-4974-a02e-eccd61b7f97d" targetNamespace="http://schemas.microsoft.com/office/2006/metadata/properties" ma:root="true" ma:fieldsID="4038c53c068d9005a9090cf83158430c" ns2:_="" ns3:_="">
    <xsd:import namespace="274f4dba-92f6-42b2-b85a-f022aa77e23e"/>
    <xsd:import namespace="386bdc73-7593-4974-a02e-eccd61b7f9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4f4dba-92f6-42b2-b85a-f022aa77e2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hẻ Hình ảnh" ma:readOnly="false" ma:fieldId="{5cf76f15-5ced-4ddc-b409-7134ff3c332f}" ma:taxonomyMulti="true" ma:sspId="158d9f12-b085-4db2-abbf-1ae4638ef8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6bdc73-7593-4974-a02e-eccd61b7f97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1a1d31b-43c7-4bf7-8a02-12f35af2a6fe}" ma:internalName="TaxCatchAll" ma:showField="CatchAllData" ma:web="386bdc73-7593-4974-a02e-eccd61b7f9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86bdc73-7593-4974-a02e-eccd61b7f97d" xsi:nil="true"/>
    <lcf76f155ced4ddcb4097134ff3c332f xmlns="274f4dba-92f6-42b2-b85a-f022aa77e23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F830370-F749-4A9B-B57B-DFE4A5571D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7DE20FC-0956-4FC6-9F66-A1FA880F927C}"/>
</file>

<file path=customXml/itemProps3.xml><?xml version="1.0" encoding="utf-8"?>
<ds:datastoreItem xmlns:ds="http://schemas.openxmlformats.org/officeDocument/2006/customXml" ds:itemID="{CE3E4298-1FC1-437F-B891-8CB5BEFEBF39}">
  <ds:schemaRefs>
    <ds:schemaRef ds:uri="http://schemas.microsoft.com/office/2006/metadata/properties"/>
    <ds:schemaRef ds:uri="http://www.w3.org/2000/xmlns/"/>
    <ds:schemaRef ds:uri="6f0c604f-eece-4396-a19f-6e31a7dc142f"/>
    <ds:schemaRef ds:uri="http://schemas.microsoft.com/office/infopath/2007/PartnerControls"/>
    <ds:schemaRef ds:uri="9283de6b-093f-42e7-8cfd-35d3d7c3c94f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</Words>
  <Application>Microsoft Office PowerPoint</Application>
  <PresentationFormat>On-screen Show (4:3)</PresentationFormat>
  <Paragraphs>82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Times New Roman</vt:lpstr>
      <vt:lpstr>Wingdings</vt:lpstr>
      <vt:lpstr>Office Theme</vt:lpstr>
      <vt:lpstr>PowerPoint Presentation</vt:lpstr>
      <vt:lpstr>Mục tiêu môn học</vt:lpstr>
      <vt:lpstr>Mục tiêu môn học</vt:lpstr>
      <vt:lpstr>Đánh giá</vt:lpstr>
      <vt:lpstr>Nội dung môn học</vt:lpstr>
      <vt:lpstr>Tài liệu tham khảo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Pham Duy Anh</dc:creator>
  <cp:lastModifiedBy>DELL</cp:lastModifiedBy>
  <cp:revision>3</cp:revision>
  <cp:lastPrinted>2018-04-03T01:30:05Z</cp:lastPrinted>
  <dcterms:created xsi:type="dcterms:W3CDTF">2017-10-17T01:43:35Z</dcterms:created>
  <dcterms:modified xsi:type="dcterms:W3CDTF">2023-09-30T06:25:09Z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0x01010030C599715398E846B9F5C96D719BC946</vt:lpwstr>
  </property>
  <property fmtid="{D5CDD505-2E9C-101B-9397-08002B2CF9AE}" pid="3" name="MediaServiceImageTags">
    <vt:lpwstr/>
  </property>
</Properties>
</file>