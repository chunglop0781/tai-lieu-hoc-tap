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3"/>
  </p:notesMasterIdLst>
  <p:handoutMasterIdLst>
    <p:handoutMasterId r:id="rId54"/>
  </p:handoutMasterIdLst>
  <p:sldIdLst>
    <p:sldId id="256" r:id="rId2"/>
    <p:sldId id="741" r:id="rId3"/>
    <p:sldId id="297" r:id="rId4"/>
    <p:sldId id="757" r:id="rId5"/>
    <p:sldId id="758" r:id="rId6"/>
    <p:sldId id="759" r:id="rId7"/>
    <p:sldId id="760" r:id="rId8"/>
    <p:sldId id="762" r:id="rId9"/>
    <p:sldId id="761" r:id="rId10"/>
    <p:sldId id="763" r:id="rId11"/>
    <p:sldId id="764" r:id="rId12"/>
    <p:sldId id="772" r:id="rId13"/>
    <p:sldId id="373" r:id="rId14"/>
    <p:sldId id="374" r:id="rId15"/>
    <p:sldId id="375" r:id="rId16"/>
    <p:sldId id="371" r:id="rId17"/>
    <p:sldId id="372" r:id="rId18"/>
    <p:sldId id="767" r:id="rId19"/>
    <p:sldId id="768" r:id="rId20"/>
    <p:sldId id="771" r:id="rId21"/>
    <p:sldId id="769" r:id="rId22"/>
    <p:sldId id="770" r:id="rId23"/>
    <p:sldId id="773" r:id="rId24"/>
    <p:sldId id="774" r:id="rId25"/>
    <p:sldId id="775" r:id="rId26"/>
    <p:sldId id="776" r:id="rId27"/>
    <p:sldId id="777" r:id="rId28"/>
    <p:sldId id="778" r:id="rId29"/>
    <p:sldId id="779" r:id="rId30"/>
    <p:sldId id="780" r:id="rId31"/>
    <p:sldId id="781" r:id="rId32"/>
    <p:sldId id="783" r:id="rId33"/>
    <p:sldId id="782" r:id="rId34"/>
    <p:sldId id="784" r:id="rId35"/>
    <p:sldId id="785" r:id="rId36"/>
    <p:sldId id="470" r:id="rId37"/>
    <p:sldId id="471" r:id="rId38"/>
    <p:sldId id="472" r:id="rId39"/>
    <p:sldId id="786" r:id="rId40"/>
    <p:sldId id="788" r:id="rId41"/>
    <p:sldId id="787" r:id="rId42"/>
    <p:sldId id="789" r:id="rId43"/>
    <p:sldId id="790" r:id="rId44"/>
    <p:sldId id="798" r:id="rId45"/>
    <p:sldId id="791" r:id="rId46"/>
    <p:sldId id="793" r:id="rId47"/>
    <p:sldId id="796" r:id="rId48"/>
    <p:sldId id="794" r:id="rId49"/>
    <p:sldId id="795" r:id="rId50"/>
    <p:sldId id="797" r:id="rId51"/>
    <p:sldId id="700" r:id="rId52"/>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8C"/>
    <a:srgbClr val="0033CC"/>
    <a:srgbClr val="0000FF"/>
    <a:srgbClr val="0000CC"/>
    <a:srgbClr val="009900"/>
    <a:srgbClr val="333399"/>
    <a:srgbClr val="960000"/>
    <a:srgbClr val="CC00CC"/>
    <a:srgbClr val="CC0000"/>
    <a:srgbClr val="EFA5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6" autoAdjust="0"/>
    <p:restoredTop sz="94193" autoAdjust="0"/>
  </p:normalViewPr>
  <p:slideViewPr>
    <p:cSldViewPr>
      <p:cViewPr varScale="1">
        <p:scale>
          <a:sx n="66" d="100"/>
          <a:sy n="66" d="100"/>
        </p:scale>
        <p:origin x="560" y="56"/>
      </p:cViewPr>
      <p:guideLst>
        <p:guide orient="horz" pos="2160"/>
        <p:guide pos="3840"/>
      </p:guideLst>
    </p:cSldViewPr>
  </p:slideViewPr>
  <p:outlineViewPr>
    <p:cViewPr>
      <p:scale>
        <a:sx n="33" d="100"/>
        <a:sy n="33" d="100"/>
      </p:scale>
      <p:origin x="0" y="-27132"/>
    </p:cViewPr>
  </p:outlineViewPr>
  <p:notesTextViewPr>
    <p:cViewPr>
      <p:scale>
        <a:sx n="100" d="100"/>
        <a:sy n="100" d="100"/>
      </p:scale>
      <p:origin x="0" y="0"/>
    </p:cViewPr>
  </p:notesTextViewPr>
  <p:sorterViewPr>
    <p:cViewPr>
      <p:scale>
        <a:sx n="100" d="100"/>
        <a:sy n="100" d="100"/>
      </p:scale>
      <p:origin x="0" y="-1699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4018B264-9FA4-984F-84B6-9156EB5A2D23}" type="datetimeFigureOut">
              <a:rPr lang="en-US" smtClean="0"/>
              <a:pPr/>
              <a:t>23/09/2025</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C752D2C8-BDAA-C846-93DE-8024D750DFE1}" type="slidenum">
              <a:rPr lang="en-US" smtClean="0"/>
              <a:pPr/>
              <a:t>‹#›</a:t>
            </a:fld>
            <a:endParaRPr lang="en-US"/>
          </a:p>
        </p:txBody>
      </p:sp>
    </p:spTree>
    <p:extLst>
      <p:ext uri="{BB962C8B-B14F-4D97-AF65-F5344CB8AC3E}">
        <p14:creationId xmlns:p14="http://schemas.microsoft.com/office/powerpoint/2010/main" val="82852914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F2F6FC23-AB5D-4210-BEDE-333FE716D36E}" type="datetimeFigureOut">
              <a:rPr lang="en-US" smtClean="0"/>
              <a:pPr/>
              <a:t>23/09/2025</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8FEAD6D3-E3A6-4306-A906-2CB27FEAA95E}" type="slidenum">
              <a:rPr lang="en-US" smtClean="0"/>
              <a:pPr/>
              <a:t>‹#›</a:t>
            </a:fld>
            <a:endParaRPr lang="en-US"/>
          </a:p>
        </p:txBody>
      </p:sp>
    </p:spTree>
    <p:extLst>
      <p:ext uri="{BB962C8B-B14F-4D97-AF65-F5344CB8AC3E}">
        <p14:creationId xmlns:p14="http://schemas.microsoft.com/office/powerpoint/2010/main" val="31567007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B490163-FAFD-47D6-BE4F-B2E71F8CC245}" type="slidenum">
              <a:rPr lang="en-US" smtClean="0"/>
              <a:t>1</a:t>
            </a:fld>
            <a:endParaRPr lang="en-US"/>
          </a:p>
        </p:txBody>
      </p:sp>
    </p:spTree>
    <p:extLst>
      <p:ext uri="{BB962C8B-B14F-4D97-AF65-F5344CB8AC3E}">
        <p14:creationId xmlns:p14="http://schemas.microsoft.com/office/powerpoint/2010/main" val="1412073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F226FD3A-2726-4811-9B8C-C69831BF20BF}" type="slidenum">
              <a:rPr lang="en-US" smtClean="0"/>
              <a:pPr>
                <a:defRPr/>
              </a:pPr>
              <a:t>3</a:t>
            </a:fld>
            <a:endParaRPr lang="en-US"/>
          </a:p>
        </p:txBody>
      </p:sp>
    </p:spTree>
    <p:extLst>
      <p:ext uri="{BB962C8B-B14F-4D97-AF65-F5344CB8AC3E}">
        <p14:creationId xmlns:p14="http://schemas.microsoft.com/office/powerpoint/2010/main" val="4119888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F226FD3A-2726-4811-9B8C-C69831BF20BF}" type="slidenum">
              <a:rPr lang="en-US" smtClean="0"/>
              <a:pPr>
                <a:defRPr/>
              </a:pPr>
              <a:t>4</a:t>
            </a:fld>
            <a:endParaRPr lang="en-US"/>
          </a:p>
        </p:txBody>
      </p:sp>
    </p:spTree>
    <p:extLst>
      <p:ext uri="{BB962C8B-B14F-4D97-AF65-F5344CB8AC3E}">
        <p14:creationId xmlns:p14="http://schemas.microsoft.com/office/powerpoint/2010/main" val="1676116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F226FD3A-2726-4811-9B8C-C69831BF20BF}" type="slidenum">
              <a:rPr lang="en-US" smtClean="0"/>
              <a:pPr>
                <a:defRPr/>
              </a:pPr>
              <a:t>5</a:t>
            </a:fld>
            <a:endParaRPr lang="en-US"/>
          </a:p>
        </p:txBody>
      </p:sp>
    </p:spTree>
    <p:extLst>
      <p:ext uri="{BB962C8B-B14F-4D97-AF65-F5344CB8AC3E}">
        <p14:creationId xmlns:p14="http://schemas.microsoft.com/office/powerpoint/2010/main" val="537505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F226FD3A-2726-4811-9B8C-C69831BF20BF}" type="slidenum">
              <a:rPr lang="en-US" smtClean="0"/>
              <a:pPr>
                <a:defRPr/>
              </a:pPr>
              <a:t>6</a:t>
            </a:fld>
            <a:endParaRPr lang="en-US"/>
          </a:p>
        </p:txBody>
      </p:sp>
    </p:spTree>
    <p:extLst>
      <p:ext uri="{BB962C8B-B14F-4D97-AF65-F5344CB8AC3E}">
        <p14:creationId xmlns:p14="http://schemas.microsoft.com/office/powerpoint/2010/main" val="683383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F226FD3A-2726-4811-9B8C-C69831BF20BF}" type="slidenum">
              <a:rPr lang="en-US" smtClean="0"/>
              <a:pPr>
                <a:defRPr/>
              </a:pPr>
              <a:t>7</a:t>
            </a:fld>
            <a:endParaRPr lang="en-US"/>
          </a:p>
        </p:txBody>
      </p:sp>
    </p:spTree>
    <p:extLst>
      <p:ext uri="{BB962C8B-B14F-4D97-AF65-F5344CB8AC3E}">
        <p14:creationId xmlns:p14="http://schemas.microsoft.com/office/powerpoint/2010/main" val="4010493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F226FD3A-2726-4811-9B8C-C69831BF20BF}" type="slidenum">
              <a:rPr lang="en-US" smtClean="0"/>
              <a:pPr>
                <a:defRPr/>
              </a:pPr>
              <a:t>8</a:t>
            </a:fld>
            <a:endParaRPr lang="en-US"/>
          </a:p>
        </p:txBody>
      </p:sp>
    </p:spTree>
    <p:extLst>
      <p:ext uri="{BB962C8B-B14F-4D97-AF65-F5344CB8AC3E}">
        <p14:creationId xmlns:p14="http://schemas.microsoft.com/office/powerpoint/2010/main" val="725735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F226FD3A-2726-4811-9B8C-C69831BF20BF}" type="slidenum">
              <a:rPr lang="en-US" smtClean="0"/>
              <a:pPr>
                <a:defRPr/>
              </a:pPr>
              <a:t>9</a:t>
            </a:fld>
            <a:endParaRPr lang="en-US"/>
          </a:p>
        </p:txBody>
      </p:sp>
    </p:spTree>
    <p:extLst>
      <p:ext uri="{BB962C8B-B14F-4D97-AF65-F5344CB8AC3E}">
        <p14:creationId xmlns:p14="http://schemas.microsoft.com/office/powerpoint/2010/main" val="2512535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F226FD3A-2726-4811-9B8C-C69831BF20BF}" type="slidenum">
              <a:rPr lang="en-US" smtClean="0"/>
              <a:pPr>
                <a:defRPr/>
              </a:pPr>
              <a:t>10</a:t>
            </a:fld>
            <a:endParaRPr lang="en-US"/>
          </a:p>
        </p:txBody>
      </p:sp>
    </p:spTree>
    <p:extLst>
      <p:ext uri="{BB962C8B-B14F-4D97-AF65-F5344CB8AC3E}">
        <p14:creationId xmlns:p14="http://schemas.microsoft.com/office/powerpoint/2010/main" val="2944766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F226FD3A-2726-4811-9B8C-C69831BF20BF}" type="slidenum">
              <a:rPr lang="en-US" smtClean="0"/>
              <a:pPr>
                <a:defRPr/>
              </a:pPr>
              <a:t>11</a:t>
            </a:fld>
            <a:endParaRPr lang="en-US"/>
          </a:p>
        </p:txBody>
      </p:sp>
    </p:spTree>
    <p:extLst>
      <p:ext uri="{BB962C8B-B14F-4D97-AF65-F5344CB8AC3E}">
        <p14:creationId xmlns:p14="http://schemas.microsoft.com/office/powerpoint/2010/main" val="691970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8BA01C4-8D9E-48FB-AE76-05533F94765D}" type="slidenum">
              <a:rPr lang="en-US" smtClean="0"/>
              <a:pPr>
                <a:defRPr/>
              </a:pPr>
              <a:t>13</a:t>
            </a:fld>
            <a:endParaRPr lang="en-US"/>
          </a:p>
        </p:txBody>
      </p:sp>
    </p:spTree>
    <p:extLst>
      <p:ext uri="{BB962C8B-B14F-4D97-AF65-F5344CB8AC3E}">
        <p14:creationId xmlns:p14="http://schemas.microsoft.com/office/powerpoint/2010/main" val="2846188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8BA01C4-8D9E-48FB-AE76-05533F94765D}" type="slidenum">
              <a:rPr lang="en-US" smtClean="0"/>
              <a:pPr>
                <a:defRPr/>
              </a:pPr>
              <a:t>14</a:t>
            </a:fld>
            <a:endParaRPr lang="en-US"/>
          </a:p>
        </p:txBody>
      </p:sp>
    </p:spTree>
    <p:extLst>
      <p:ext uri="{BB962C8B-B14F-4D97-AF65-F5344CB8AC3E}">
        <p14:creationId xmlns:p14="http://schemas.microsoft.com/office/powerpoint/2010/main" val="2252115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8BA01C4-8D9E-48FB-AE76-05533F94765D}" type="slidenum">
              <a:rPr lang="en-US" smtClean="0"/>
              <a:pPr>
                <a:defRPr/>
              </a:pPr>
              <a:t>15</a:t>
            </a:fld>
            <a:endParaRPr lang="en-US"/>
          </a:p>
        </p:txBody>
      </p:sp>
    </p:spTree>
    <p:extLst>
      <p:ext uri="{BB962C8B-B14F-4D97-AF65-F5344CB8AC3E}">
        <p14:creationId xmlns:p14="http://schemas.microsoft.com/office/powerpoint/2010/main" val="3928073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8BA01C4-8D9E-48FB-AE76-05533F94765D}" type="slidenum">
              <a:rPr lang="en-US" smtClean="0"/>
              <a:pPr>
                <a:defRPr/>
              </a:pPr>
              <a:t>17</a:t>
            </a:fld>
            <a:endParaRPr lang="en-US"/>
          </a:p>
        </p:txBody>
      </p:sp>
    </p:spTree>
    <p:extLst>
      <p:ext uri="{BB962C8B-B14F-4D97-AF65-F5344CB8AC3E}">
        <p14:creationId xmlns:p14="http://schemas.microsoft.com/office/powerpoint/2010/main" val="2437437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EAD6D3-E3A6-4306-A906-2CB27FEAA95E}" type="slidenum">
              <a:rPr lang="en-US" smtClean="0"/>
              <a:pPr/>
              <a:t>40</a:t>
            </a:fld>
            <a:endParaRPr lang="en-US"/>
          </a:p>
        </p:txBody>
      </p:sp>
    </p:spTree>
    <p:extLst>
      <p:ext uri="{BB962C8B-B14F-4D97-AF65-F5344CB8AC3E}">
        <p14:creationId xmlns:p14="http://schemas.microsoft.com/office/powerpoint/2010/main" val="1508321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EAD6D3-E3A6-4306-A906-2CB27FEAA95E}" type="slidenum">
              <a:rPr lang="en-US" smtClean="0"/>
              <a:pPr/>
              <a:t>41</a:t>
            </a:fld>
            <a:endParaRPr lang="en-US"/>
          </a:p>
        </p:txBody>
      </p:sp>
    </p:spTree>
    <p:extLst>
      <p:ext uri="{BB962C8B-B14F-4D97-AF65-F5344CB8AC3E}">
        <p14:creationId xmlns:p14="http://schemas.microsoft.com/office/powerpoint/2010/main" val="4111255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EAD6D3-E3A6-4306-A906-2CB27FEAA95E}" type="slidenum">
              <a:rPr lang="en-US" smtClean="0"/>
              <a:pPr/>
              <a:t>42</a:t>
            </a:fld>
            <a:endParaRPr lang="en-US"/>
          </a:p>
        </p:txBody>
      </p:sp>
    </p:spTree>
    <p:extLst>
      <p:ext uri="{BB962C8B-B14F-4D97-AF65-F5344CB8AC3E}">
        <p14:creationId xmlns:p14="http://schemas.microsoft.com/office/powerpoint/2010/main" val="3634351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EAD6D3-E3A6-4306-A906-2CB27FEAA95E}" type="slidenum">
              <a:rPr lang="en-US" smtClean="0"/>
              <a:pPr/>
              <a:t>43</a:t>
            </a:fld>
            <a:endParaRPr lang="en-US"/>
          </a:p>
        </p:txBody>
      </p:sp>
    </p:spTree>
    <p:extLst>
      <p:ext uri="{BB962C8B-B14F-4D97-AF65-F5344CB8AC3E}">
        <p14:creationId xmlns:p14="http://schemas.microsoft.com/office/powerpoint/2010/main" val="27350287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480AD-A8C5-94D4-1FDB-7F1A4EF8C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EA584-606B-63C7-1536-75B3A0288A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558CFB-7E7F-F2BA-1A09-38F895B765C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0BE4F62-E822-BE53-2FC8-8C902A5BF0F9}"/>
              </a:ext>
            </a:extLst>
          </p:cNvPr>
          <p:cNvSpPr>
            <a:spLocks noGrp="1"/>
          </p:cNvSpPr>
          <p:nvPr>
            <p:ph type="sldNum" sz="quarter" idx="5"/>
          </p:nvPr>
        </p:nvSpPr>
        <p:spPr/>
        <p:txBody>
          <a:bodyPr/>
          <a:lstStyle/>
          <a:p>
            <a:fld id="{8FEAD6D3-E3A6-4306-A906-2CB27FEAA95E}" type="slidenum">
              <a:rPr lang="en-US" smtClean="0"/>
              <a:pPr/>
              <a:t>44</a:t>
            </a:fld>
            <a:endParaRPr lang="en-US"/>
          </a:p>
        </p:txBody>
      </p:sp>
    </p:spTree>
    <p:extLst>
      <p:ext uri="{BB962C8B-B14F-4D97-AF65-F5344CB8AC3E}">
        <p14:creationId xmlns:p14="http://schemas.microsoft.com/office/powerpoint/2010/main" val="50687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EAD6D3-E3A6-4306-A906-2CB27FEAA95E}" type="slidenum">
              <a:rPr lang="en-US" smtClean="0"/>
              <a:pPr/>
              <a:t>45</a:t>
            </a:fld>
            <a:endParaRPr lang="en-US"/>
          </a:p>
        </p:txBody>
      </p:sp>
    </p:spTree>
    <p:extLst>
      <p:ext uri="{BB962C8B-B14F-4D97-AF65-F5344CB8AC3E}">
        <p14:creationId xmlns:p14="http://schemas.microsoft.com/office/powerpoint/2010/main" val="3938785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EAD6D3-E3A6-4306-A906-2CB27FEAA95E}" type="slidenum">
              <a:rPr lang="en-US" smtClean="0"/>
              <a:pPr/>
              <a:t>46</a:t>
            </a:fld>
            <a:endParaRPr lang="en-US"/>
          </a:p>
        </p:txBody>
      </p:sp>
    </p:spTree>
    <p:extLst>
      <p:ext uri="{BB962C8B-B14F-4D97-AF65-F5344CB8AC3E}">
        <p14:creationId xmlns:p14="http://schemas.microsoft.com/office/powerpoint/2010/main" val="8208703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EAD6D3-E3A6-4306-A906-2CB27FEAA95E}" type="slidenum">
              <a:rPr lang="en-US" smtClean="0"/>
              <a:pPr/>
              <a:t>47</a:t>
            </a:fld>
            <a:endParaRPr lang="en-US"/>
          </a:p>
        </p:txBody>
      </p:sp>
    </p:spTree>
    <p:extLst>
      <p:ext uri="{BB962C8B-B14F-4D97-AF65-F5344CB8AC3E}">
        <p14:creationId xmlns:p14="http://schemas.microsoft.com/office/powerpoint/2010/main" val="40101498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EAD6D3-E3A6-4306-A906-2CB27FEAA95E}" type="slidenum">
              <a:rPr lang="en-US" smtClean="0"/>
              <a:pPr/>
              <a:t>48</a:t>
            </a:fld>
            <a:endParaRPr lang="en-US"/>
          </a:p>
        </p:txBody>
      </p:sp>
    </p:spTree>
    <p:extLst>
      <p:ext uri="{BB962C8B-B14F-4D97-AF65-F5344CB8AC3E}">
        <p14:creationId xmlns:p14="http://schemas.microsoft.com/office/powerpoint/2010/main" val="39005956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EAD6D3-E3A6-4306-A906-2CB27FEAA95E}" type="slidenum">
              <a:rPr lang="en-US" smtClean="0"/>
              <a:pPr/>
              <a:t>49</a:t>
            </a:fld>
            <a:endParaRPr lang="en-US"/>
          </a:p>
        </p:txBody>
      </p:sp>
    </p:spTree>
    <p:extLst>
      <p:ext uri="{BB962C8B-B14F-4D97-AF65-F5344CB8AC3E}">
        <p14:creationId xmlns:p14="http://schemas.microsoft.com/office/powerpoint/2010/main" val="24039610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EAD6D3-E3A6-4306-A906-2CB27FEAA95E}" type="slidenum">
              <a:rPr lang="en-US" smtClean="0"/>
              <a:pPr/>
              <a:t>50</a:t>
            </a:fld>
            <a:endParaRPr lang="en-US"/>
          </a:p>
        </p:txBody>
      </p:sp>
    </p:spTree>
    <p:extLst>
      <p:ext uri="{BB962C8B-B14F-4D97-AF65-F5344CB8AC3E}">
        <p14:creationId xmlns:p14="http://schemas.microsoft.com/office/powerpoint/2010/main" val="32470335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notes"/>
          <p:cNvSpPr txBox="1">
            <a:spLocks noGrp="1"/>
          </p:cNvSpPr>
          <p:nvPr>
            <p:ph type="body" idx="1"/>
          </p:nvPr>
        </p:nvSpPr>
        <p:spPr>
          <a:xfrm>
            <a:off x="708661" y="4445953"/>
            <a:ext cx="5669280" cy="4211955"/>
          </a:xfrm>
          <a:prstGeom prst="rect">
            <a:avLst/>
          </a:prstGeom>
        </p:spPr>
        <p:txBody>
          <a:bodyPr spcFirstLastPara="1" wrap="square" lIns="95050" tIns="47525" rIns="95050" bIns="47525" anchor="t" anchorCtr="0">
            <a:noAutofit/>
          </a:bodyPr>
          <a:lstStyle/>
          <a:p>
            <a:pPr marL="0" lvl="0" indent="0" algn="l" rtl="0">
              <a:spcBef>
                <a:spcPts val="0"/>
              </a:spcBef>
              <a:spcAft>
                <a:spcPts val="0"/>
              </a:spcAft>
              <a:buNone/>
            </a:pPr>
            <a:endParaRPr dirty="0"/>
          </a:p>
        </p:txBody>
      </p:sp>
      <p:sp>
        <p:nvSpPr>
          <p:cNvPr id="119" name="Google Shape;119;p2:notes"/>
          <p:cNvSpPr>
            <a:spLocks noGrp="1" noRot="1" noChangeAspect="1"/>
          </p:cNvSpPr>
          <p:nvPr>
            <p:ph type="sldImg" idx="2"/>
          </p:nvPr>
        </p:nvSpPr>
        <p:spPr>
          <a:xfrm>
            <a:off x="422275" y="701675"/>
            <a:ext cx="6242050" cy="3511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48073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a:solidFill>
                  <a:schemeClr val="tx2"/>
                </a:solidFill>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38770A1-C9A9-9B4F-823C-AD76C6100878}" type="datetime1">
              <a:rPr lang="en-US" smtClean="0"/>
              <a:pPr/>
              <a:t>23/09/2025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pic>
        <p:nvPicPr>
          <p:cNvPr id="7" name="Picture 6">
            <a:extLst>
              <a:ext uri="{FF2B5EF4-FFF2-40B4-BE49-F238E27FC236}">
                <a16:creationId xmlns:a16="http://schemas.microsoft.com/office/drawing/2014/main" id="{72457841-1793-8926-AE58-11C5CDC2A9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749" y="5937"/>
            <a:ext cx="12100957" cy="685801"/>
          </a:xfrm>
        </p:spPr>
        <p:txBody>
          <a:bodyPr>
            <a:normAutofit/>
          </a:bodyPr>
          <a:lstStyle>
            <a:lvl1pPr>
              <a:defRPr sz="3200" b="1">
                <a:solidFill>
                  <a:schemeClr val="bg1"/>
                </a:solidFill>
              </a:defRPr>
            </a:lvl1pPr>
          </a:lstStyle>
          <a:p>
            <a:r>
              <a:rPr lang="en-US"/>
              <a:t>Click to edit Master title style</a:t>
            </a:r>
          </a:p>
        </p:txBody>
      </p:sp>
      <p:sp>
        <p:nvSpPr>
          <p:cNvPr id="3" name="Content Placeholder 2"/>
          <p:cNvSpPr>
            <a:spLocks noGrp="1"/>
          </p:cNvSpPr>
          <p:nvPr>
            <p:ph idx="1"/>
          </p:nvPr>
        </p:nvSpPr>
        <p:spPr>
          <a:xfrm>
            <a:off x="304800" y="850077"/>
            <a:ext cx="11582400" cy="5276088"/>
          </a:xfrm>
        </p:spPr>
        <p:txBody>
          <a:bodyPr/>
          <a:lstStyle>
            <a:lvl1pPr>
              <a:defRPr>
                <a:solidFill>
                  <a:schemeClr val="tx2"/>
                </a:solidFill>
                <a:latin typeface="Arial" panose="020B0604020202020204" pitchFamily="34" charset="0"/>
                <a:cs typeface="Arial" panose="020B0604020202020204" pitchFamily="34" charset="0"/>
              </a:defRPr>
            </a:lvl1pPr>
            <a:lvl2pPr>
              <a:defRPr b="1" i="0">
                <a:solidFill>
                  <a:schemeClr val="tx2"/>
                </a:solidFill>
                <a:latin typeface="Arial" panose="020B0604020202020204" pitchFamily="34" charset="0"/>
                <a:cs typeface="Arial" panose="020B0604020202020204" pitchFamily="34" charset="0"/>
              </a:defRPr>
            </a:lvl2pPr>
            <a:lvl3pPr>
              <a:defRPr i="0">
                <a:solidFill>
                  <a:schemeClr val="tx2"/>
                </a:solidFill>
                <a:latin typeface="Arial" panose="020B0604020202020204" pitchFamily="34" charset="0"/>
                <a:cs typeface="Arial" panose="020B0604020202020204" pitchFamily="34" charset="0"/>
              </a:defRPr>
            </a:lvl3pPr>
            <a:lvl4pPr>
              <a:defRPr>
                <a:solidFill>
                  <a:schemeClr val="tx2"/>
                </a:solidFill>
                <a:latin typeface="Arial" panose="020B0604020202020204" pitchFamily="34" charset="0"/>
                <a:cs typeface="Arial" panose="020B0604020202020204" pitchFamily="34" charset="0"/>
              </a:defRPr>
            </a:lvl4pPr>
            <a:lvl5pPr>
              <a:defRPr>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4070C66-0A23-5A4D-B4A8-E46FF5C73983}" type="datetime1">
              <a:rPr lang="en-US" smtClean="0"/>
              <a:pPr/>
              <a:t>23/09/2025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144000" y="6492074"/>
            <a:ext cx="2844800" cy="365125"/>
          </a:xfrm>
        </p:spPr>
        <p:txBody>
          <a:bodyPr/>
          <a:lstStyle>
            <a:lvl1pPr>
              <a:defRPr sz="1800" b="1">
                <a:solidFill>
                  <a:schemeClr val="tx1"/>
                </a:solidFill>
              </a:defRPr>
            </a:lvl1pPr>
          </a:lstStyle>
          <a:p>
            <a:fld id="{8C13379D-D487-4446-85FC-E9ED5B8B80F6}" type="slidenum">
              <a:rPr lang="en-US" smtClean="0"/>
              <a:pPr/>
              <a:t>‹#›</a:t>
            </a:fld>
            <a:r>
              <a:rPr lang="en-US"/>
              <a:t>/</a:t>
            </a:r>
          </a:p>
        </p:txBody>
      </p:sp>
      <p:pic>
        <p:nvPicPr>
          <p:cNvPr id="7" name="Picture 6">
            <a:extLst>
              <a:ext uri="{FF2B5EF4-FFF2-40B4-BE49-F238E27FC236}">
                <a16:creationId xmlns:a16="http://schemas.microsoft.com/office/drawing/2014/main" id="{B615DFF6-97AA-985B-6B41-16E83E28411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pic>
        <p:nvPicPr>
          <p:cNvPr id="8" name="Picture 7">
            <a:extLst>
              <a:ext uri="{FF2B5EF4-FFF2-40B4-BE49-F238E27FC236}">
                <a16:creationId xmlns:a16="http://schemas.microsoft.com/office/drawing/2014/main" id="{0897A6F5-BE09-624F-C35B-F66ABE8B6F3D}"/>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75706" y="2901147"/>
            <a:ext cx="10363200" cy="1362075"/>
          </a:xfrm>
        </p:spPr>
        <p:txBody>
          <a:bodyPr anchor="t"/>
          <a:lstStyle>
            <a:lvl1pPr algn="l">
              <a:defRPr sz="4000" b="1" cap="all">
                <a:solidFill>
                  <a:schemeClr val="tx2"/>
                </a:solidFill>
              </a:defRPr>
            </a:lvl1pPr>
          </a:lstStyle>
          <a:p>
            <a:r>
              <a:rPr lang="en-US"/>
              <a:t>Click to edit Master title style</a:t>
            </a:r>
          </a:p>
        </p:txBody>
      </p:sp>
      <p:sp>
        <p:nvSpPr>
          <p:cNvPr id="3" name="Text Placeholder 2"/>
          <p:cNvSpPr>
            <a:spLocks noGrp="1"/>
          </p:cNvSpPr>
          <p:nvPr>
            <p:ph type="body" idx="1"/>
          </p:nvPr>
        </p:nvSpPr>
        <p:spPr>
          <a:xfrm>
            <a:off x="1075706" y="1288247"/>
            <a:ext cx="10363200" cy="1500187"/>
          </a:xfrm>
        </p:spPr>
        <p:txBody>
          <a:bodyPr anchor="b"/>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966216-CB93-3A4A-8490-3C593237FAC7}" type="datetime1">
              <a:rPr lang="en-US" smtClean="0"/>
              <a:pPr/>
              <a:t>23/09/2025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pic>
        <p:nvPicPr>
          <p:cNvPr id="7" name="Picture 6">
            <a:extLst>
              <a:ext uri="{FF2B5EF4-FFF2-40B4-BE49-F238E27FC236}">
                <a16:creationId xmlns:a16="http://schemas.microsoft.com/office/drawing/2014/main" id="{37304306-937C-CDBE-4A3E-E97DEDED3B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pic>
        <p:nvPicPr>
          <p:cNvPr id="8" name="Picture 7">
            <a:extLst>
              <a:ext uri="{FF2B5EF4-FFF2-40B4-BE49-F238E27FC236}">
                <a16:creationId xmlns:a16="http://schemas.microsoft.com/office/drawing/2014/main" id="{99275999-5996-491A-6AF8-9CC3D04320FA}"/>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sp>
        <p:nvSpPr>
          <p:cNvPr id="9" name="Title 1">
            <a:extLst>
              <a:ext uri="{FF2B5EF4-FFF2-40B4-BE49-F238E27FC236}">
                <a16:creationId xmlns:a16="http://schemas.microsoft.com/office/drawing/2014/main" id="{18E13D47-CF53-443A-E499-F3ED12C2CDE8}"/>
              </a:ext>
            </a:extLst>
          </p:cNvPr>
          <p:cNvSpPr txBox="1">
            <a:spLocks/>
          </p:cNvSpPr>
          <p:nvPr userDrawn="1"/>
        </p:nvSpPr>
        <p:spPr>
          <a:xfrm>
            <a:off x="23749" y="5937"/>
            <a:ext cx="12100957" cy="6858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bg1"/>
                </a:solidFill>
                <a:latin typeface="Myriad Pro"/>
                <a:ea typeface="+mj-ea"/>
                <a:cs typeface="Myriad Pro"/>
              </a:defRPr>
            </a:lvl1p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94" y="0"/>
            <a:ext cx="11515106" cy="691737"/>
          </a:xfrm>
        </p:spPr>
        <p:txBody>
          <a:bodyPr>
            <a:noAutofit/>
          </a:bodyPr>
          <a:lstStyle>
            <a:lvl1pPr>
              <a:defRPr sz="3600" b="1">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609600" y="990601"/>
            <a:ext cx="5384800" cy="5135564"/>
          </a:xfrm>
        </p:spPr>
        <p:txBody>
          <a:bodyPr/>
          <a:lstStyle>
            <a:lvl1pPr>
              <a:defRPr sz="2800">
                <a:solidFill>
                  <a:schemeClr val="tx2"/>
                </a:solidFill>
              </a:defRPr>
            </a:lvl1pPr>
            <a:lvl2pPr>
              <a:defRPr sz="24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90601"/>
            <a:ext cx="5384800" cy="5135564"/>
          </a:xfrm>
        </p:spPr>
        <p:txBody>
          <a:bodyPr/>
          <a:lstStyle>
            <a:lvl1pPr>
              <a:defRPr sz="2800">
                <a:solidFill>
                  <a:schemeClr val="tx2"/>
                </a:solidFill>
              </a:defRPr>
            </a:lvl1pPr>
            <a:lvl2pPr>
              <a:defRPr sz="24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4E0CD7D-5104-8342-8709-D45F5E8213B2}" type="datetime1">
              <a:rPr lang="en-US" smtClean="0"/>
              <a:pPr/>
              <a:t>23/09/2025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3379D-D487-4446-85FC-E9ED5B8B80F6}" type="slidenum">
              <a:rPr lang="en-US" smtClean="0"/>
              <a:pPr/>
              <a:t>‹#›</a:t>
            </a:fld>
            <a:endParaRPr lang="en-US"/>
          </a:p>
        </p:txBody>
      </p:sp>
      <p:pic>
        <p:nvPicPr>
          <p:cNvPr id="8" name="Picture 7">
            <a:extLst>
              <a:ext uri="{FF2B5EF4-FFF2-40B4-BE49-F238E27FC236}">
                <a16:creationId xmlns:a16="http://schemas.microsoft.com/office/drawing/2014/main" id="{AE8C2819-0ADB-8EAA-2C28-B0887A662CD7}"/>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pic>
        <p:nvPicPr>
          <p:cNvPr id="9" name="Picture 8">
            <a:extLst>
              <a:ext uri="{FF2B5EF4-FFF2-40B4-BE49-F238E27FC236}">
                <a16:creationId xmlns:a16="http://schemas.microsoft.com/office/drawing/2014/main" id="{36C86A1F-F7BD-8EE4-588D-4072062EC3D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12039600" cy="609600"/>
          </a:xfrm>
        </p:spPr>
        <p:txBody>
          <a:bodyPr>
            <a:noAutofit/>
          </a:bodyPr>
          <a:lstStyle>
            <a:lvl1pPr>
              <a:defRPr sz="3600" b="1">
                <a:solidFill>
                  <a:schemeClr val="bg1"/>
                </a:solidFill>
              </a:defRPr>
            </a:lvl1pPr>
          </a:lstStyle>
          <a:p>
            <a:r>
              <a:rPr lang="en-US"/>
              <a:t>Click to edit Master title style</a:t>
            </a:r>
          </a:p>
        </p:txBody>
      </p:sp>
      <p:sp>
        <p:nvSpPr>
          <p:cNvPr id="3" name="Text Placeholder 2"/>
          <p:cNvSpPr>
            <a:spLocks noGrp="1"/>
          </p:cNvSpPr>
          <p:nvPr>
            <p:ph type="body" idx="1"/>
          </p:nvPr>
        </p:nvSpPr>
        <p:spPr>
          <a:xfrm>
            <a:off x="609600" y="942708"/>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1" y="1676400"/>
            <a:ext cx="5389032" cy="4449763"/>
          </a:xfrm>
        </p:spPr>
        <p:txBody>
          <a:bodyPr/>
          <a:lstStyle>
            <a:lvl1pPr>
              <a:defRPr sz="2400">
                <a:solidFill>
                  <a:schemeClr val="tx2"/>
                </a:solidFill>
              </a:defRPr>
            </a:lvl1pPr>
            <a:lvl2pPr>
              <a:defRPr sz="2000">
                <a:solidFill>
                  <a:schemeClr val="tx2"/>
                </a:solidFill>
              </a:defRPr>
            </a:lvl2pPr>
            <a:lvl3pPr>
              <a:defRPr sz="1800">
                <a:solidFill>
                  <a:schemeClr val="tx2"/>
                </a:solidFill>
              </a:defRPr>
            </a:lvl3pPr>
            <a:lvl4pPr>
              <a:defRPr sz="1600">
                <a:solidFill>
                  <a:schemeClr val="tx2"/>
                </a:solidFill>
              </a:defRPr>
            </a:lvl4pPr>
            <a:lvl5pPr>
              <a:defRPr sz="1600">
                <a:solidFill>
                  <a:schemeClr val="tx2"/>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942708"/>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1676400"/>
            <a:ext cx="5389033" cy="4449763"/>
          </a:xfrm>
        </p:spPr>
        <p:txBody>
          <a:bodyPr/>
          <a:lstStyle>
            <a:lvl1pPr>
              <a:defRPr sz="2400">
                <a:solidFill>
                  <a:schemeClr val="tx2"/>
                </a:solidFill>
              </a:defRPr>
            </a:lvl1pPr>
            <a:lvl2pPr>
              <a:defRPr sz="2000">
                <a:solidFill>
                  <a:schemeClr val="tx2"/>
                </a:solidFill>
              </a:defRPr>
            </a:lvl2pPr>
            <a:lvl3pPr>
              <a:defRPr sz="1800">
                <a:solidFill>
                  <a:schemeClr val="tx2"/>
                </a:solidFill>
              </a:defRPr>
            </a:lvl3pPr>
            <a:lvl4pPr>
              <a:defRPr sz="1600">
                <a:solidFill>
                  <a:schemeClr val="tx2"/>
                </a:solidFill>
              </a:defRPr>
            </a:lvl4pPr>
            <a:lvl5pPr>
              <a:defRPr sz="1600">
                <a:solidFill>
                  <a:schemeClr val="tx2"/>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EA64B0-EADB-ED4D-937B-09694FC290C8}" type="datetime1">
              <a:rPr lang="en-US" smtClean="0"/>
              <a:pPr/>
              <a:t>23/09/2025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13379D-D487-4446-85FC-E9ED5B8B80F6}" type="slidenum">
              <a:rPr lang="en-US" smtClean="0"/>
              <a:pPr/>
              <a:t>‹#›</a:t>
            </a:fld>
            <a:endParaRPr lang="en-US"/>
          </a:p>
        </p:txBody>
      </p:sp>
      <p:pic>
        <p:nvPicPr>
          <p:cNvPr id="10" name="Picture 9">
            <a:extLst>
              <a:ext uri="{FF2B5EF4-FFF2-40B4-BE49-F238E27FC236}">
                <a16:creationId xmlns:a16="http://schemas.microsoft.com/office/drawing/2014/main" id="{45B9545A-B942-C442-2082-4EB4FC4A9C2B}"/>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pic>
        <p:nvPicPr>
          <p:cNvPr id="11" name="Picture 10">
            <a:extLst>
              <a:ext uri="{FF2B5EF4-FFF2-40B4-BE49-F238E27FC236}">
                <a16:creationId xmlns:a16="http://schemas.microsoft.com/office/drawing/2014/main" id="{C47222FE-74D1-2E73-6677-FC0E8BB8730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1"/>
            <a:ext cx="10972800" cy="685800"/>
          </a:xfrm>
        </p:spPr>
        <p:txBody>
          <a:bodyPr>
            <a:normAutofit/>
          </a:bodyPr>
          <a:lstStyle>
            <a:lvl1pPr>
              <a:defRPr sz="3600" b="1">
                <a:solidFill>
                  <a:schemeClr val="bg1"/>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5843DD4B-3EBB-4F42-BA02-0A9B473B300D}" type="datetime1">
              <a:rPr lang="en-US" smtClean="0"/>
              <a:pPr/>
              <a:t>23/09/2025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13379D-D487-4446-85FC-E9ED5B8B80F6}" type="slidenum">
              <a:rPr lang="en-US" smtClean="0"/>
              <a:pPr/>
              <a:t>‹#›</a:t>
            </a:fld>
            <a:endParaRPr lang="en-US"/>
          </a:p>
        </p:txBody>
      </p:sp>
      <p:pic>
        <p:nvPicPr>
          <p:cNvPr id="6" name="Picture 5">
            <a:extLst>
              <a:ext uri="{FF2B5EF4-FFF2-40B4-BE49-F238E27FC236}">
                <a16:creationId xmlns:a16="http://schemas.microsoft.com/office/drawing/2014/main" id="{98DD5D40-6CE1-33A0-38AE-D2640E9C2623}"/>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pic>
        <p:nvPicPr>
          <p:cNvPr id="7" name="Picture 6">
            <a:extLst>
              <a:ext uri="{FF2B5EF4-FFF2-40B4-BE49-F238E27FC236}">
                <a16:creationId xmlns:a16="http://schemas.microsoft.com/office/drawing/2014/main" id="{2D192FCD-7384-07E9-F417-782B46CD3A3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96234A-DA53-0240-940C-12D888539DF1}" type="datetime1">
              <a:rPr lang="en-US" smtClean="0"/>
              <a:pPr/>
              <a:t>23/09/2025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13379D-D487-4446-85FC-E9ED5B8B80F6}" type="slidenum">
              <a:rPr lang="en-US" smtClean="0"/>
              <a:pPr/>
              <a:t>‹#›</a:t>
            </a:fld>
            <a:endParaRPr lang="en-US"/>
          </a:p>
        </p:txBody>
      </p:sp>
      <p:sp>
        <p:nvSpPr>
          <p:cNvPr id="5" name="Title 1">
            <a:extLst>
              <a:ext uri="{FF2B5EF4-FFF2-40B4-BE49-F238E27FC236}">
                <a16:creationId xmlns:a16="http://schemas.microsoft.com/office/drawing/2014/main" id="{AF847286-57A1-4637-9C68-88F40CF1D658}"/>
              </a:ext>
            </a:extLst>
          </p:cNvPr>
          <p:cNvSpPr>
            <a:spLocks noGrp="1"/>
          </p:cNvSpPr>
          <p:nvPr>
            <p:ph type="title"/>
          </p:nvPr>
        </p:nvSpPr>
        <p:spPr>
          <a:xfrm>
            <a:off x="304800" y="168275"/>
            <a:ext cx="10972800" cy="365125"/>
          </a:xfrm>
        </p:spPr>
        <p:txBody>
          <a:bodyPr>
            <a:normAutofit/>
          </a:bodyPr>
          <a:lstStyle>
            <a:lvl1pPr>
              <a:defRPr sz="3600" b="1">
                <a:solidFill>
                  <a:schemeClr val="bg1"/>
                </a:solidFill>
              </a:defRPr>
            </a:lvl1pPr>
          </a:lstStyle>
          <a:p>
            <a:r>
              <a:rPr lang="en-US"/>
              <a:t>Click to edit Master title style</a:t>
            </a:r>
          </a:p>
        </p:txBody>
      </p:sp>
      <p:pic>
        <p:nvPicPr>
          <p:cNvPr id="6" name="Picture 5">
            <a:extLst>
              <a:ext uri="{FF2B5EF4-FFF2-40B4-BE49-F238E27FC236}">
                <a16:creationId xmlns:a16="http://schemas.microsoft.com/office/drawing/2014/main" id="{56E1A6AE-216A-F9D8-7BD5-45A50D7CD76F}"/>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7717" y="-19050"/>
            <a:ext cx="3807884" cy="781050"/>
          </a:xfrm>
        </p:spPr>
        <p:txBody>
          <a:bodyPr anchor="b"/>
          <a:lstStyle>
            <a:lvl1pPr algn="l">
              <a:defRPr sz="2000" b="1">
                <a:solidFill>
                  <a:srgbClr val="FFFFFF"/>
                </a:solidFill>
              </a:defRPr>
            </a:lvl1pPr>
          </a:lstStyle>
          <a:p>
            <a:r>
              <a:rPr lang="en-US"/>
              <a:t>Click to edit Master title style</a:t>
            </a:r>
          </a:p>
        </p:txBody>
      </p:sp>
      <p:sp>
        <p:nvSpPr>
          <p:cNvPr id="3" name="Content Placeholder 2"/>
          <p:cNvSpPr>
            <a:spLocks noGrp="1"/>
          </p:cNvSpPr>
          <p:nvPr>
            <p:ph idx="1"/>
          </p:nvPr>
        </p:nvSpPr>
        <p:spPr>
          <a:xfrm>
            <a:off x="5376333" y="1143001"/>
            <a:ext cx="6510867" cy="50149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8002D3-A8E9-AD45-B480-859393D80B9E}" type="datetime1">
              <a:rPr lang="en-US" smtClean="0"/>
              <a:pPr/>
              <a:t>23/09/2025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3379D-D487-4446-85FC-E9ED5B8B80F6}" type="slidenum">
              <a:rPr lang="en-US" smtClean="0"/>
              <a:pPr/>
              <a:t>‹#›</a:t>
            </a:fld>
            <a:endParaRPr lang="en-US"/>
          </a:p>
        </p:txBody>
      </p:sp>
      <p:pic>
        <p:nvPicPr>
          <p:cNvPr id="8" name="Picture 7">
            <a:extLst>
              <a:ext uri="{FF2B5EF4-FFF2-40B4-BE49-F238E27FC236}">
                <a16:creationId xmlns:a16="http://schemas.microsoft.com/office/drawing/2014/main" id="{F92E0CD8-719D-62DF-3BEA-FCD7889DD4A9}"/>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1295399"/>
            <a:ext cx="7059083" cy="3432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814692-4249-2841-83F7-5909CC5ABB91}" type="datetime1">
              <a:rPr lang="en-US" smtClean="0"/>
              <a:pPr/>
              <a:t>23/09/2025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3379D-D487-4446-85FC-E9ED5B8B80F6}" type="slidenum">
              <a:rPr lang="en-US" smtClean="0"/>
              <a:pPr/>
              <a:t>‹#›</a:t>
            </a:fld>
            <a:endParaRPr lang="en-US"/>
          </a:p>
        </p:txBody>
      </p:sp>
      <p:pic>
        <p:nvPicPr>
          <p:cNvPr id="8" name="Picture 7">
            <a:extLst>
              <a:ext uri="{FF2B5EF4-FFF2-40B4-BE49-F238E27FC236}">
                <a16:creationId xmlns:a16="http://schemas.microsoft.com/office/drawing/2014/main" id="{22A99756-0068-5AC9-BAC5-AB380CEC2071}"/>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sp>
        <p:nvSpPr>
          <p:cNvPr id="9" name="Title 1">
            <a:extLst>
              <a:ext uri="{FF2B5EF4-FFF2-40B4-BE49-F238E27FC236}">
                <a16:creationId xmlns:a16="http://schemas.microsoft.com/office/drawing/2014/main" id="{FEA48330-2A23-F191-1DEC-EDAB3D15743C}"/>
              </a:ext>
            </a:extLst>
          </p:cNvPr>
          <p:cNvSpPr txBox="1">
            <a:spLocks/>
          </p:cNvSpPr>
          <p:nvPr userDrawn="1"/>
        </p:nvSpPr>
        <p:spPr>
          <a:xfrm>
            <a:off x="23749" y="5937"/>
            <a:ext cx="12100957" cy="6858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bg1"/>
                </a:solidFill>
                <a:latin typeface="Myriad Pro"/>
                <a:ea typeface="+mj-ea"/>
                <a:cs typeface="Myriad Pro"/>
              </a:defRPr>
            </a:lvl1pPr>
          </a:lstStyle>
          <a:p>
            <a:r>
              <a:rPr lang="en-US"/>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E2FEB9-758D-5141-9EF9-9346F27AA244}" type="datetime1">
              <a:rPr lang="en-US" smtClean="0"/>
              <a:pPr/>
              <a:t>23/09/2025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02D4ED-77D9-3A4F-9990-24065D9BCD74}" type="datetime1">
              <a:rPr lang="en-US" smtClean="0"/>
              <a:pPr/>
              <a:t>23/09/2025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ntent">
  <p:cSld name="Content">
    <p:spTree>
      <p:nvGrpSpPr>
        <p:cNvPr id="1" name="Shape 37"/>
        <p:cNvGrpSpPr/>
        <p:nvPr/>
      </p:nvGrpSpPr>
      <p:grpSpPr>
        <a:xfrm>
          <a:off x="0" y="0"/>
          <a:ext cx="0" cy="0"/>
          <a:chOff x="0" y="0"/>
          <a:chExt cx="0" cy="0"/>
        </a:xfrm>
      </p:grpSpPr>
      <p:sp>
        <p:nvSpPr>
          <p:cNvPr id="38" name="Google Shape;38;p3"/>
          <p:cNvSpPr txBox="1">
            <a:spLocks noGrp="1"/>
          </p:cNvSpPr>
          <p:nvPr>
            <p:ph type="body" idx="1"/>
          </p:nvPr>
        </p:nvSpPr>
        <p:spPr>
          <a:xfrm>
            <a:off x="413004" y="1371602"/>
            <a:ext cx="11365992" cy="1479379"/>
          </a:xfrm>
          <a:prstGeom prst="rect">
            <a:avLst/>
          </a:prstGeom>
          <a:noFill/>
          <a:ln>
            <a:noFill/>
          </a:ln>
        </p:spPr>
        <p:txBody>
          <a:bodyPr spcFirstLastPara="1" wrap="square" lIns="0" tIns="0" rIns="0" bIns="0" anchor="t" anchorCtr="0">
            <a:noAutofit/>
          </a:bodyPr>
          <a:lstStyle>
            <a:lvl1pPr marL="342900" lvl="0" indent="-285750" algn="l">
              <a:lnSpc>
                <a:spcPct val="90000"/>
              </a:lnSpc>
              <a:spcBef>
                <a:spcPts val="900"/>
              </a:spcBef>
              <a:spcAft>
                <a:spcPts val="0"/>
              </a:spcAft>
              <a:buSzPts val="2400"/>
              <a:buChar char="•"/>
              <a:defRPr sz="1800"/>
            </a:lvl1pPr>
            <a:lvl2pPr marL="685800" lvl="1" indent="-266700" algn="l">
              <a:lnSpc>
                <a:spcPct val="90000"/>
              </a:lnSpc>
              <a:spcBef>
                <a:spcPts val="300"/>
              </a:spcBef>
              <a:spcAft>
                <a:spcPts val="0"/>
              </a:spcAft>
              <a:buSzPts val="2000"/>
              <a:buFont typeface="Arial"/>
              <a:buChar char="–"/>
              <a:defRPr/>
            </a:lvl2pPr>
            <a:lvl3pPr marL="1028700" lvl="2" indent="-257175" algn="l">
              <a:lnSpc>
                <a:spcPct val="90000"/>
              </a:lnSpc>
              <a:spcBef>
                <a:spcPts val="300"/>
              </a:spcBef>
              <a:spcAft>
                <a:spcPts val="0"/>
              </a:spcAft>
              <a:buSzPts val="1800"/>
              <a:buFont typeface="Arial"/>
              <a:buChar char="–"/>
              <a:defRPr sz="1350"/>
            </a:lvl3pPr>
            <a:lvl4pPr marL="1371600" lvl="3" indent="-247650" algn="l">
              <a:lnSpc>
                <a:spcPct val="90000"/>
              </a:lnSpc>
              <a:spcBef>
                <a:spcPts val="300"/>
              </a:spcBef>
              <a:spcAft>
                <a:spcPts val="0"/>
              </a:spcAft>
              <a:buSzPts val="1600"/>
              <a:buFont typeface="Arial"/>
              <a:buChar char="–"/>
              <a:defRPr/>
            </a:lvl4pPr>
            <a:lvl5pPr marL="1714500" lvl="4" indent="-238125" algn="l">
              <a:lnSpc>
                <a:spcPct val="90000"/>
              </a:lnSpc>
              <a:spcBef>
                <a:spcPts val="300"/>
              </a:spcBef>
              <a:spcAft>
                <a:spcPts val="0"/>
              </a:spcAft>
              <a:buSzPts val="1400"/>
              <a:buFont typeface="Arial"/>
              <a:buChar char="–"/>
              <a:defRPr sz="1050"/>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39" name="Google Shape;39;p3"/>
          <p:cNvSpPr txBox="1">
            <a:spLocks noGrp="1"/>
          </p:cNvSpPr>
          <p:nvPr>
            <p:ph type="title"/>
          </p:nvPr>
        </p:nvSpPr>
        <p:spPr>
          <a:xfrm>
            <a:off x="413004" y="551311"/>
            <a:ext cx="11365992" cy="366254"/>
          </a:xfrm>
          <a:prstGeom prst="rect">
            <a:avLst/>
          </a:prstGeom>
          <a:noFill/>
          <a:ln>
            <a:noFill/>
          </a:ln>
        </p:spPr>
        <p:txBody>
          <a:bodyPr spcFirstLastPara="1" wrap="square" lIns="0" tIns="0" rIns="0" bIns="0" anchor="ctr" anchorCtr="0">
            <a:no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437486295"/>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1_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8"/>
            <a:ext cx="10972800" cy="585946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p:cNvSpPr>
            <a:spLocks noGrp="1"/>
          </p:cNvSpPr>
          <p:nvPr>
            <p:ph type="sldNum" sz="quarter" idx="10"/>
          </p:nvPr>
        </p:nvSpPr>
        <p:spPr>
          <a:xfrm>
            <a:off x="11565467" y="6557964"/>
            <a:ext cx="609600" cy="300037"/>
          </a:xfrm>
          <a:prstGeom prst="rect">
            <a:avLst/>
          </a:prstGeom>
        </p:spPr>
        <p:txBody>
          <a:bodyPr/>
          <a:lstStyle>
            <a:lvl1pPr>
              <a:defRPr>
                <a:latin typeface="Cambria" pitchFamily="18" charset="0"/>
              </a:defRPr>
            </a:lvl1pPr>
          </a:lstStyle>
          <a:p>
            <a:pPr>
              <a:defRPr/>
            </a:pPr>
            <a:fld id="{BEB36E7B-BE3D-46B3-83F7-CC4C5A2490FF}" type="slidenum">
              <a:rPr lang="en-US"/>
              <a:pPr>
                <a:defRPr/>
              </a:pPr>
              <a:t>‹#›</a:t>
            </a:fld>
            <a:endParaRPr lang="en-US"/>
          </a:p>
        </p:txBody>
      </p:sp>
      <p:sp>
        <p:nvSpPr>
          <p:cNvPr id="4" name="Footer Placeholder 3"/>
          <p:cNvSpPr>
            <a:spLocks noGrp="1"/>
          </p:cNvSpPr>
          <p:nvPr>
            <p:ph type="ftr" sz="quarter" idx="11"/>
          </p:nvPr>
        </p:nvSpPr>
        <p:spPr>
          <a:xfrm>
            <a:off x="3556000" y="6553200"/>
            <a:ext cx="5892800" cy="304800"/>
          </a:xfrm>
          <a:prstGeom prst="rect">
            <a:avLst/>
          </a:prstGeom>
        </p:spPr>
        <p:txBody>
          <a:bodyPr/>
          <a:lstStyle>
            <a:lvl1pPr>
              <a:defRPr>
                <a:latin typeface="Cambria" pitchFamily="18" charset="0"/>
              </a:defRPr>
            </a:lvl1pPr>
          </a:lstStyle>
          <a:p>
            <a:pPr>
              <a:defRPr/>
            </a:pPr>
            <a:endParaRPr lang="en-US"/>
          </a:p>
        </p:txBody>
      </p:sp>
    </p:spTree>
    <p:extLst>
      <p:ext uri="{BB962C8B-B14F-4D97-AF65-F5344CB8AC3E}">
        <p14:creationId xmlns:p14="http://schemas.microsoft.com/office/powerpoint/2010/main" val="77438396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C890E4-3AFD-2D45-9C35-1BAFAEA880FF}" type="datetime1">
              <a:rPr lang="en-US" smtClean="0"/>
              <a:pPr/>
              <a:t>23/09/2025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13379D-D487-4446-85FC-E9ED5B8B80F6}" type="slidenum">
              <a:rPr lang="en-US" smtClean="0"/>
              <a:pPr/>
              <a:t>‹#›</a:t>
            </a:fld>
            <a:endParaRPr lang="en-US"/>
          </a:p>
        </p:txBody>
      </p:sp>
      <p:sp>
        <p:nvSpPr>
          <p:cNvPr id="7" name="Rectangle 6">
            <a:extLst>
              <a:ext uri="{FF2B5EF4-FFF2-40B4-BE49-F238E27FC236}">
                <a16:creationId xmlns:a16="http://schemas.microsoft.com/office/drawing/2014/main" id="{915718B3-4096-46AB-8E69-5C7933D2B704}"/>
              </a:ext>
            </a:extLst>
          </p:cNvPr>
          <p:cNvSpPr/>
          <p:nvPr userDrawn="1"/>
        </p:nvSpPr>
        <p:spPr>
          <a:xfrm>
            <a:off x="0" y="0"/>
            <a:ext cx="12192000" cy="6858000"/>
          </a:xfrm>
          <a:prstGeom prst="rect">
            <a:avLst/>
          </a:prstGeom>
          <a:ln>
            <a:solidFill>
              <a:srgbClr val="33339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800" dirty="0"/>
          </a:p>
        </p:txBody>
      </p:sp>
      <p:sp>
        <p:nvSpPr>
          <p:cNvPr id="9" name="Rectangle 8">
            <a:extLst>
              <a:ext uri="{FF2B5EF4-FFF2-40B4-BE49-F238E27FC236}">
                <a16:creationId xmlns:a16="http://schemas.microsoft.com/office/drawing/2014/main" id="{B6EA90B6-F572-4F61-B9AC-390CD1761434}"/>
              </a:ext>
            </a:extLst>
          </p:cNvPr>
          <p:cNvSpPr/>
          <p:nvPr userDrawn="1"/>
        </p:nvSpPr>
        <p:spPr>
          <a:xfrm>
            <a:off x="0" y="0"/>
            <a:ext cx="12192000" cy="6858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4" r:id="rId12"/>
    <p:sldLayoutId id="2147483675" r:id="rId13"/>
  </p:sldLayoutIdLst>
  <p:hf hdr="0" ftr="0" dt="0"/>
  <p:txStyles>
    <p:titleStyle>
      <a:lvl1pPr algn="ctr" defTabSz="914400" rtl="0" eaLnBrk="1" latinLnBrk="0" hangingPunct="1">
        <a:spcBef>
          <a:spcPct val="0"/>
        </a:spcBef>
        <a:buNone/>
        <a:defRPr sz="4400" kern="1200">
          <a:solidFill>
            <a:schemeClr val="tx1"/>
          </a:solidFill>
          <a:latin typeface="Myriad Pro"/>
          <a:ea typeface="+mj-ea"/>
          <a:cs typeface="Myriad Pro"/>
        </a:defRPr>
      </a:lvl1pPr>
    </p:titleStyle>
    <p:bodyStyle>
      <a:lvl1pPr marL="342900" indent="-342900" algn="l" defTabSz="914400" rtl="0" eaLnBrk="1" latinLnBrk="0" hangingPunct="1">
        <a:spcBef>
          <a:spcPct val="20000"/>
        </a:spcBef>
        <a:buFont typeface="Arial" pitchFamily="34" charset="0"/>
        <a:buChar char="•"/>
        <a:defRPr sz="3200" b="1" kern="1200">
          <a:solidFill>
            <a:schemeClr val="tx1"/>
          </a:solidFill>
          <a:latin typeface="Myriad Pro"/>
          <a:ea typeface="+mn-ea"/>
          <a:cs typeface="Myriad Pr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yriad Pro"/>
          <a:ea typeface="+mn-ea"/>
          <a:cs typeface="Myriad Pr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yriad Pro"/>
          <a:ea typeface="+mn-ea"/>
          <a:cs typeface="Myriad Pr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t="4023" r="685" b="43134"/>
          <a:stretch/>
        </p:blipFill>
        <p:spPr>
          <a:xfrm>
            <a:off x="0" y="0"/>
            <a:ext cx="12192000" cy="3657600"/>
          </a:xfrm>
          <a:prstGeom prst="rect">
            <a:avLst/>
          </a:prstGeom>
        </p:spPr>
      </p:pic>
      <p:sp>
        <p:nvSpPr>
          <p:cNvPr id="5" name="TextBox 4"/>
          <p:cNvSpPr txBox="1"/>
          <p:nvPr/>
        </p:nvSpPr>
        <p:spPr>
          <a:xfrm>
            <a:off x="457200" y="3687278"/>
            <a:ext cx="9144000" cy="2062103"/>
          </a:xfrm>
          <a:prstGeom prst="rect">
            <a:avLst/>
          </a:prstGeom>
          <a:noFill/>
        </p:spPr>
        <p:txBody>
          <a:bodyPr wrap="square" rtlCol="0">
            <a:spAutoFit/>
          </a:bodyPr>
          <a:lstStyle/>
          <a:p>
            <a:r>
              <a:rPr lang="en-US" sz="3200" b="1" dirty="0">
                <a:solidFill>
                  <a:srgbClr val="161B46"/>
                </a:solidFill>
                <a:latin typeface="Arial" panose="020B0604020202020204" pitchFamily="34" charset="0"/>
                <a:cs typeface="Arial" panose="020B0604020202020204" pitchFamily="34" charset="0"/>
              </a:rPr>
              <a:t>TIN HỌC ĐẠI CƯƠNG</a:t>
            </a:r>
          </a:p>
          <a:p>
            <a:r>
              <a:rPr lang="en-US" sz="3200" b="1" dirty="0" err="1">
                <a:solidFill>
                  <a:schemeClr val="accent2"/>
                </a:solidFill>
                <a:latin typeface="Arial" panose="020B0604020202020204" pitchFamily="34" charset="0"/>
                <a:cs typeface="Arial" panose="020B0604020202020204" pitchFamily="34" charset="0"/>
              </a:rPr>
              <a:t>Chương</a:t>
            </a:r>
            <a:r>
              <a:rPr lang="en-US" sz="3200" b="1" dirty="0">
                <a:solidFill>
                  <a:schemeClr val="accent2"/>
                </a:solidFill>
                <a:latin typeface="Arial" panose="020B0604020202020204" pitchFamily="34" charset="0"/>
                <a:cs typeface="Arial" panose="020B0604020202020204" pitchFamily="34" charset="0"/>
              </a:rPr>
              <a:t> 2. </a:t>
            </a:r>
            <a:r>
              <a:rPr lang="vi-VN" sz="3200" b="1" dirty="0">
                <a:solidFill>
                  <a:schemeClr val="accent2"/>
                </a:solidFill>
                <a:latin typeface="Arial" panose="020B0604020202020204" pitchFamily="34" charset="0"/>
                <a:cs typeface="Arial" panose="020B0604020202020204" pitchFamily="34" charset="0"/>
              </a:rPr>
              <a:t>C</a:t>
            </a:r>
            <a:r>
              <a:rPr lang="en-AU" sz="3200" b="1" dirty="0" err="1">
                <a:solidFill>
                  <a:schemeClr val="accent2"/>
                </a:solidFill>
                <a:latin typeface="Arial" panose="020B0604020202020204" pitchFamily="34" charset="0"/>
                <a:cs typeface="Arial" panose="020B0604020202020204" pitchFamily="34" charset="0"/>
              </a:rPr>
              <a:t>ác</a:t>
            </a:r>
            <a:r>
              <a:rPr lang="en-AU" sz="3200" b="1" dirty="0">
                <a:solidFill>
                  <a:schemeClr val="accent2"/>
                </a:solidFill>
                <a:latin typeface="Arial" panose="020B0604020202020204" pitchFamily="34" charset="0"/>
                <a:cs typeface="Arial" panose="020B0604020202020204" pitchFamily="34" charset="0"/>
              </a:rPr>
              <a:t> </a:t>
            </a:r>
            <a:r>
              <a:rPr lang="en-AU" sz="3200" b="1" dirty="0" err="1">
                <a:solidFill>
                  <a:schemeClr val="accent2"/>
                </a:solidFill>
                <a:latin typeface="Arial" panose="020B0604020202020204" pitchFamily="34" charset="0"/>
                <a:cs typeface="Arial" panose="020B0604020202020204" pitchFamily="34" charset="0"/>
              </a:rPr>
              <a:t>kiểu</a:t>
            </a:r>
            <a:r>
              <a:rPr lang="en-AU" sz="3200" b="1" dirty="0">
                <a:solidFill>
                  <a:schemeClr val="accent2"/>
                </a:solidFill>
                <a:latin typeface="Arial" panose="020B0604020202020204" pitchFamily="34" charset="0"/>
                <a:cs typeface="Arial" panose="020B0604020202020204" pitchFamily="34" charset="0"/>
              </a:rPr>
              <a:t> </a:t>
            </a:r>
            <a:r>
              <a:rPr lang="en-AU" sz="3200" b="1" dirty="0" err="1">
                <a:solidFill>
                  <a:schemeClr val="accent2"/>
                </a:solidFill>
                <a:latin typeface="Arial" panose="020B0604020202020204" pitchFamily="34" charset="0"/>
                <a:cs typeface="Arial" panose="020B0604020202020204" pitchFamily="34" charset="0"/>
              </a:rPr>
              <a:t>dữ</a:t>
            </a:r>
            <a:r>
              <a:rPr lang="en-AU" sz="3200" b="1" dirty="0">
                <a:solidFill>
                  <a:schemeClr val="accent2"/>
                </a:solidFill>
                <a:latin typeface="Arial" panose="020B0604020202020204" pitchFamily="34" charset="0"/>
                <a:cs typeface="Arial" panose="020B0604020202020204" pitchFamily="34" charset="0"/>
              </a:rPr>
              <a:t> </a:t>
            </a:r>
            <a:r>
              <a:rPr lang="en-AU" sz="3200" b="1" dirty="0" err="1">
                <a:solidFill>
                  <a:schemeClr val="accent2"/>
                </a:solidFill>
                <a:latin typeface="Arial" panose="020B0604020202020204" pitchFamily="34" charset="0"/>
                <a:cs typeface="Arial" panose="020B0604020202020204" pitchFamily="34" charset="0"/>
              </a:rPr>
              <a:t>liệu</a:t>
            </a:r>
            <a:br>
              <a:rPr lang="vi-VN" sz="3200" b="1" dirty="0">
                <a:solidFill>
                  <a:schemeClr val="accent2"/>
                </a:solidFill>
                <a:latin typeface="Arial" panose="020B0604020202020204" pitchFamily="34" charset="0"/>
                <a:cs typeface="Arial" panose="020B0604020202020204" pitchFamily="34" charset="0"/>
              </a:rPr>
            </a:br>
            <a:endParaRPr lang="en-US" sz="3200" b="1" dirty="0">
              <a:solidFill>
                <a:schemeClr val="accent2"/>
              </a:solidFill>
              <a:latin typeface="Arial" panose="020B0604020202020204" pitchFamily="34" charset="0"/>
              <a:cs typeface="Arial" panose="020B0604020202020204" pitchFamily="34" charset="0"/>
            </a:endParaRPr>
          </a:p>
          <a:p>
            <a:endParaRPr lang="en-US" sz="3200" b="1" dirty="0">
              <a:solidFill>
                <a:srgbClr val="161B46"/>
              </a:solidFill>
              <a:latin typeface="Arial" panose="020B0604020202020204" pitchFamily="34" charset="0"/>
              <a:cs typeface="Arial" panose="020B0604020202020204" pitchFamily="34" charset="0"/>
            </a:endParaRPr>
          </a:p>
        </p:txBody>
      </p:sp>
      <p:sp>
        <p:nvSpPr>
          <p:cNvPr id="6" name="TextBox 5"/>
          <p:cNvSpPr txBox="1"/>
          <p:nvPr/>
        </p:nvSpPr>
        <p:spPr>
          <a:xfrm>
            <a:off x="5181600" y="5518548"/>
            <a:ext cx="6934200" cy="461665"/>
          </a:xfrm>
          <a:prstGeom prst="rect">
            <a:avLst/>
          </a:prstGeom>
          <a:noFill/>
        </p:spPr>
        <p:txBody>
          <a:bodyPr wrap="square" rtlCol="0">
            <a:spAutoFit/>
          </a:bodyPr>
          <a:lstStyle/>
          <a:p>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bày</a:t>
            </a:r>
            <a:r>
              <a:rPr lang="en-US" sz="240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Bộ môn Công nghệ Phần mềm</a:t>
            </a:r>
            <a:endParaRPr lang="en-US" sz="2400" b="1" dirty="0">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fld id="{A3A973BD-8CE5-47C4-B8E5-573200B24DAB}" type="slidenum">
              <a:rPr lang="en-US" smtClean="0"/>
              <a:t>1</a:t>
            </a:fld>
            <a:endParaRPr lang="en-US"/>
          </a:p>
        </p:txBody>
      </p:sp>
    </p:spTree>
    <p:extLst>
      <p:ext uri="{BB962C8B-B14F-4D97-AF65-F5344CB8AC3E}">
        <p14:creationId xmlns:p14="http://schemas.microsoft.com/office/powerpoint/2010/main" val="850661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80A9B-642F-A807-2BE5-44ED2C0DCC31}"/>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7781A6EE-18C1-B155-1B69-E28C8226E42B}"/>
              </a:ext>
            </a:extLst>
          </p:cNvPr>
          <p:cNvSpPr>
            <a:spLocks noGrp="1" noChangeArrowheads="1"/>
          </p:cNvSpPr>
          <p:nvPr>
            <p:ph type="title"/>
          </p:nvPr>
        </p:nvSpPr>
        <p:spPr>
          <a:xfrm>
            <a:off x="914400" y="1752600"/>
            <a:ext cx="10363199" cy="3962400"/>
          </a:xfrm>
        </p:spPr>
        <p:txBody>
          <a:bodyPr>
            <a:noAutofit/>
          </a:bodyPr>
          <a:lstStyle/>
          <a:p>
            <a:pPr algn="l">
              <a:lnSpc>
                <a:spcPct val="130000"/>
              </a:lnSpc>
              <a:spcBef>
                <a:spcPts val="600"/>
              </a:spcBef>
            </a:pPr>
            <a:r>
              <a:rPr lang="en-US" sz="2400" kern="100" dirty="0">
                <a:solidFill>
                  <a:srgbClr val="FF0000"/>
                </a:solidFill>
                <a:latin typeface="Arial" panose="020B0604020202020204" pitchFamily="34" charset="0"/>
                <a:cs typeface="Arial" panose="020B0604020202020204" pitchFamily="34" charset="0"/>
              </a:rPr>
              <a:t>CÁC KIỂU DỮ LIỆU</a:t>
            </a:r>
            <a:br>
              <a:rPr lang="en-US" sz="2400" kern="100" dirty="0">
                <a:solidFill>
                  <a:srgbClr val="FF0000"/>
                </a:solidFill>
                <a:latin typeface="Arial" panose="020B0604020202020204" pitchFamily="34" charset="0"/>
                <a:cs typeface="Arial" panose="020B0604020202020204" pitchFamily="34" charset="0"/>
              </a:rPr>
            </a:br>
            <a:r>
              <a:rPr lang="en-AU" sz="2400" kern="100" dirty="0">
                <a:solidFill>
                  <a:srgbClr val="10338C"/>
                </a:solidFill>
                <a:latin typeface="Arial" panose="020B0604020202020204" pitchFamily="34" charset="0"/>
                <a:cs typeface="Arial" panose="020B0604020202020204" pitchFamily="34" charset="0"/>
              </a:rPr>
              <a:t>2</a:t>
            </a:r>
            <a:r>
              <a:rPr lang="vi-VN" sz="2400" kern="100" dirty="0">
                <a:solidFill>
                  <a:srgbClr val="10338C"/>
                </a:solidFill>
                <a:latin typeface="Arial" panose="020B0604020202020204" pitchFamily="34" charset="0"/>
                <a:cs typeface="Arial" panose="020B0604020202020204" pitchFamily="34" charset="0"/>
              </a:rPr>
              <a:t>.1. </a:t>
            </a:r>
            <a:r>
              <a:rPr lang="en-AU" sz="2400" kern="100" dirty="0">
                <a:solidFill>
                  <a:srgbClr val="10338C"/>
                </a:solidFill>
                <a:latin typeface="Arial" panose="020B0604020202020204" pitchFamily="34" charset="0"/>
                <a:cs typeface="Arial" panose="020B0604020202020204" pitchFamily="34" charset="0"/>
              </a:rPr>
              <a:t>Các </a:t>
            </a:r>
            <a:r>
              <a:rPr lang="en-AU" sz="2400" kern="100" dirty="0" err="1">
                <a:solidFill>
                  <a:srgbClr val="10338C"/>
                </a:solidFill>
                <a:latin typeface="Arial" panose="020B0604020202020204" pitchFamily="34" charset="0"/>
                <a:cs typeface="Arial" panose="020B0604020202020204" pitchFamily="34" charset="0"/>
              </a:rPr>
              <a:t>kiểu</a:t>
            </a:r>
            <a:r>
              <a:rPr lang="en-AU" sz="2400" kern="100" dirty="0">
                <a:solidFill>
                  <a:srgbClr val="10338C"/>
                </a:solidFill>
                <a:latin typeface="Arial" panose="020B0604020202020204" pitchFamily="34" charset="0"/>
                <a:cs typeface="Arial" panose="020B0604020202020204" pitchFamily="34" charset="0"/>
              </a:rPr>
              <a:t> </a:t>
            </a:r>
            <a:r>
              <a:rPr lang="en-AU" sz="2400" kern="100" err="1">
                <a:solidFill>
                  <a:srgbClr val="10338C"/>
                </a:solidFill>
                <a:latin typeface="Arial" panose="020B0604020202020204" pitchFamily="34" charset="0"/>
                <a:cs typeface="Arial" panose="020B0604020202020204" pitchFamily="34" charset="0"/>
              </a:rPr>
              <a:t>dữ</a:t>
            </a:r>
            <a:r>
              <a:rPr lang="en-AU" sz="2400" kern="100">
                <a:solidFill>
                  <a:srgbClr val="10338C"/>
                </a:solidFill>
                <a:latin typeface="Arial" panose="020B0604020202020204" pitchFamily="34" charset="0"/>
                <a:cs typeface="Arial" panose="020B0604020202020204" pitchFamily="34" charset="0"/>
              </a:rPr>
              <a:t> liệu cơ </a:t>
            </a:r>
            <a:r>
              <a:rPr lang="en-AU" sz="2400" kern="100" dirty="0" err="1">
                <a:solidFill>
                  <a:srgbClr val="10338C"/>
                </a:solidFill>
                <a:latin typeface="Arial" panose="020B0604020202020204" pitchFamily="34" charset="0"/>
                <a:cs typeface="Arial" panose="020B0604020202020204" pitchFamily="34" charset="0"/>
              </a:rPr>
              <a:t>bản</a:t>
            </a:r>
            <a:br>
              <a:rPr lang="vi-VN" sz="2400" kern="100" dirty="0">
                <a:solidFill>
                  <a:srgbClr val="10338C"/>
                </a:solidFill>
                <a:latin typeface="Arial" panose="020B0604020202020204" pitchFamily="34" charset="0"/>
                <a:cs typeface="Arial" panose="020B0604020202020204" pitchFamily="34" charset="0"/>
              </a:rPr>
            </a:br>
            <a:r>
              <a:rPr lang="en-AU" sz="2400" kern="100" dirty="0">
                <a:solidFill>
                  <a:srgbClr val="10338C"/>
                </a:solidFill>
                <a:latin typeface="Arial" panose="020B0604020202020204" pitchFamily="34" charset="0"/>
                <a:cs typeface="Arial" panose="020B0604020202020204" pitchFamily="34" charset="0"/>
              </a:rPr>
              <a:t>2</a:t>
            </a:r>
            <a:r>
              <a:rPr lang="vi-VN" sz="2400" kern="100" dirty="0">
                <a:solidFill>
                  <a:srgbClr val="10338C"/>
                </a:solidFill>
                <a:latin typeface="Arial" panose="020B0604020202020204" pitchFamily="34" charset="0"/>
                <a:cs typeface="Arial" panose="020B0604020202020204" pitchFamily="34" charset="0"/>
              </a:rPr>
              <a:t>.2</a:t>
            </a:r>
            <a:r>
              <a:rPr lang="vi-VN" sz="2400" kern="100">
                <a:solidFill>
                  <a:srgbClr val="10338C"/>
                </a:solidFill>
                <a:latin typeface="Arial" panose="020B0604020202020204" pitchFamily="34" charset="0"/>
                <a:cs typeface="Arial" panose="020B0604020202020204" pitchFamily="34" charset="0"/>
              </a:rPr>
              <a:t>. </a:t>
            </a:r>
            <a:r>
              <a:rPr lang="en-AU" sz="2400" kern="100">
                <a:solidFill>
                  <a:srgbClr val="10338C"/>
                </a:solidFill>
                <a:latin typeface="Arial" panose="020B0604020202020204" pitchFamily="34" charset="0"/>
                <a:cs typeface="Arial" panose="020B0604020202020204" pitchFamily="34" charset="0"/>
              </a:rPr>
              <a:t>Hằng</a:t>
            </a:r>
            <a:br>
              <a:rPr lang="vi-VN" sz="2400" kern="100" dirty="0">
                <a:solidFill>
                  <a:srgbClr val="10338C"/>
                </a:solidFill>
                <a:latin typeface="Arial" panose="020B0604020202020204" pitchFamily="34" charset="0"/>
                <a:cs typeface="Arial" panose="020B0604020202020204" pitchFamily="34" charset="0"/>
              </a:rPr>
            </a:br>
            <a:r>
              <a:rPr lang="en-AU" sz="2400" kern="100" dirty="0">
                <a:solidFill>
                  <a:srgbClr val="10338C"/>
                </a:solidFill>
                <a:latin typeface="Arial" panose="020B0604020202020204" pitchFamily="34" charset="0"/>
                <a:cs typeface="Arial" panose="020B0604020202020204" pitchFamily="34" charset="0"/>
              </a:rPr>
              <a:t>2</a:t>
            </a:r>
            <a:r>
              <a:rPr lang="vi-VN" sz="2400" kern="100" dirty="0">
                <a:solidFill>
                  <a:srgbClr val="10338C"/>
                </a:solidFill>
                <a:latin typeface="Arial" panose="020B0604020202020204" pitchFamily="34" charset="0"/>
                <a:cs typeface="Arial" panose="020B0604020202020204" pitchFamily="34" charset="0"/>
              </a:rPr>
              <a:t>.3</a:t>
            </a:r>
            <a:r>
              <a:rPr lang="vi-VN" sz="2400" kern="100">
                <a:solidFill>
                  <a:srgbClr val="10338C"/>
                </a:solidFill>
                <a:latin typeface="Arial" panose="020B0604020202020204" pitchFamily="34" charset="0"/>
                <a:cs typeface="Arial" panose="020B0604020202020204" pitchFamily="34" charset="0"/>
              </a:rPr>
              <a:t>. </a:t>
            </a:r>
            <a:r>
              <a:rPr lang="en-AU" sz="2400" kern="100">
                <a:solidFill>
                  <a:srgbClr val="10338C"/>
                </a:solidFill>
                <a:latin typeface="Arial" panose="020B0604020202020204" pitchFamily="34" charset="0"/>
                <a:cs typeface="Arial" panose="020B0604020202020204" pitchFamily="34" charset="0"/>
              </a:rPr>
              <a:t>Biến</a:t>
            </a:r>
            <a:br>
              <a:rPr lang="vi-VN" sz="2400" kern="100" dirty="0">
                <a:solidFill>
                  <a:srgbClr val="10338C"/>
                </a:solidFill>
                <a:latin typeface="Arial" panose="020B0604020202020204" pitchFamily="34" charset="0"/>
                <a:cs typeface="Arial" panose="020B0604020202020204" pitchFamily="34" charset="0"/>
              </a:rPr>
            </a:br>
            <a:r>
              <a:rPr lang="en-AU" sz="2400" kern="100" dirty="0">
                <a:solidFill>
                  <a:srgbClr val="10338C"/>
                </a:solidFill>
                <a:latin typeface="Arial" panose="020B0604020202020204" pitchFamily="34" charset="0"/>
                <a:cs typeface="Arial" panose="020B0604020202020204" pitchFamily="34" charset="0"/>
              </a:rPr>
              <a:t>2</a:t>
            </a:r>
            <a:r>
              <a:rPr lang="vi-VN" sz="2400" kern="100" dirty="0">
                <a:solidFill>
                  <a:srgbClr val="10338C"/>
                </a:solidFill>
                <a:latin typeface="Arial" panose="020B0604020202020204" pitchFamily="34" charset="0"/>
                <a:cs typeface="Arial" panose="020B0604020202020204" pitchFamily="34" charset="0"/>
              </a:rPr>
              <a:t>.4</a:t>
            </a:r>
            <a:r>
              <a:rPr lang="vi-VN" sz="2400" kern="100">
                <a:solidFill>
                  <a:srgbClr val="10338C"/>
                </a:solidFill>
                <a:latin typeface="Arial" panose="020B0604020202020204" pitchFamily="34" charset="0"/>
                <a:cs typeface="Arial" panose="020B0604020202020204" pitchFamily="34" charset="0"/>
              </a:rPr>
              <a:t>. </a:t>
            </a:r>
            <a:r>
              <a:rPr lang="en-AU" sz="2400" kern="100">
                <a:solidFill>
                  <a:srgbClr val="10338C"/>
                </a:solidFill>
                <a:latin typeface="Arial" panose="020B0604020202020204" pitchFamily="34" charset="0"/>
                <a:cs typeface="Arial" panose="020B0604020202020204" pitchFamily="34" charset="0"/>
              </a:rPr>
              <a:t>Mảng</a:t>
            </a:r>
            <a:br>
              <a:rPr lang="vi-VN" sz="2400" kern="100" dirty="0">
                <a:solidFill>
                  <a:srgbClr val="10338C"/>
                </a:solidFill>
                <a:latin typeface="Arial" panose="020B0604020202020204" pitchFamily="34" charset="0"/>
                <a:cs typeface="Arial" panose="020B0604020202020204" pitchFamily="34" charset="0"/>
              </a:rPr>
            </a:br>
            <a:r>
              <a:rPr lang="en-AU" sz="2400" kern="100" dirty="0">
                <a:solidFill>
                  <a:srgbClr val="10338C"/>
                </a:solidFill>
                <a:latin typeface="Arial" panose="020B0604020202020204" pitchFamily="34" charset="0"/>
                <a:cs typeface="Arial" panose="020B0604020202020204" pitchFamily="34" charset="0"/>
              </a:rPr>
              <a:t>2</a:t>
            </a:r>
            <a:r>
              <a:rPr lang="vi-VN" sz="2400" kern="100" dirty="0">
                <a:solidFill>
                  <a:srgbClr val="10338C"/>
                </a:solidFill>
                <a:latin typeface="Arial" panose="020B0604020202020204" pitchFamily="34" charset="0"/>
                <a:cs typeface="Arial" panose="020B0604020202020204" pitchFamily="34" charset="0"/>
              </a:rPr>
              <a:t>.5. </a:t>
            </a:r>
            <a:r>
              <a:rPr lang="en-AU" sz="2400" kern="100" dirty="0">
                <a:solidFill>
                  <a:srgbClr val="10338C"/>
                </a:solidFill>
                <a:latin typeface="Arial" panose="020B0604020202020204" pitchFamily="34" charset="0"/>
                <a:cs typeface="Arial" panose="020B0604020202020204" pitchFamily="34" charset="0"/>
              </a:rPr>
              <a:t>Các </a:t>
            </a:r>
            <a:r>
              <a:rPr lang="en-AU" sz="2400" kern="100" dirty="0" err="1">
                <a:solidFill>
                  <a:srgbClr val="10338C"/>
                </a:solidFill>
                <a:latin typeface="Arial" panose="020B0604020202020204" pitchFamily="34" charset="0"/>
                <a:cs typeface="Arial" panose="020B0604020202020204" pitchFamily="34" charset="0"/>
              </a:rPr>
              <a:t>phép</a:t>
            </a:r>
            <a:r>
              <a:rPr lang="en-AU" sz="2400" kern="100" dirty="0">
                <a:solidFill>
                  <a:srgbClr val="10338C"/>
                </a:solidFill>
                <a:latin typeface="Arial" panose="020B0604020202020204" pitchFamily="34" charset="0"/>
                <a:cs typeface="Arial" panose="020B0604020202020204" pitchFamily="34" charset="0"/>
              </a:rPr>
              <a:t> </a:t>
            </a:r>
            <a:r>
              <a:rPr lang="en-AU" sz="2400" kern="100" dirty="0" err="1">
                <a:solidFill>
                  <a:srgbClr val="10338C"/>
                </a:solidFill>
                <a:latin typeface="Arial" panose="020B0604020202020204" pitchFamily="34" charset="0"/>
                <a:cs typeface="Arial" panose="020B0604020202020204" pitchFamily="34" charset="0"/>
              </a:rPr>
              <a:t>toán</a:t>
            </a:r>
            <a:r>
              <a:rPr lang="en-AU" sz="2400" kern="100" dirty="0">
                <a:solidFill>
                  <a:srgbClr val="10338C"/>
                </a:solidFill>
                <a:latin typeface="Arial" panose="020B0604020202020204" pitchFamily="34" charset="0"/>
                <a:cs typeface="Arial" panose="020B0604020202020204" pitchFamily="34" charset="0"/>
              </a:rPr>
              <a:t> </a:t>
            </a:r>
            <a:r>
              <a:rPr lang="en-AU" sz="2400" kern="100" dirty="0" err="1">
                <a:solidFill>
                  <a:srgbClr val="10338C"/>
                </a:solidFill>
                <a:latin typeface="Arial" panose="020B0604020202020204" pitchFamily="34" charset="0"/>
                <a:cs typeface="Arial" panose="020B0604020202020204" pitchFamily="34" charset="0"/>
              </a:rPr>
              <a:t>trên</a:t>
            </a:r>
            <a:r>
              <a:rPr lang="en-AU" sz="2400" kern="100" dirty="0">
                <a:solidFill>
                  <a:srgbClr val="10338C"/>
                </a:solidFill>
                <a:latin typeface="Arial" panose="020B0604020202020204" pitchFamily="34" charset="0"/>
                <a:cs typeface="Arial" panose="020B0604020202020204" pitchFamily="34" charset="0"/>
              </a:rPr>
              <a:t> </a:t>
            </a:r>
            <a:r>
              <a:rPr lang="en-AU" sz="2400" kern="100" dirty="0" err="1">
                <a:solidFill>
                  <a:srgbClr val="10338C"/>
                </a:solidFill>
                <a:latin typeface="Arial" panose="020B0604020202020204" pitchFamily="34" charset="0"/>
                <a:cs typeface="Arial" panose="020B0604020202020204" pitchFamily="34" charset="0"/>
              </a:rPr>
              <a:t>các</a:t>
            </a:r>
            <a:r>
              <a:rPr lang="en-AU" sz="2400" kern="100" dirty="0">
                <a:solidFill>
                  <a:srgbClr val="10338C"/>
                </a:solidFill>
                <a:latin typeface="Arial" panose="020B0604020202020204" pitchFamily="34" charset="0"/>
                <a:cs typeface="Arial" panose="020B0604020202020204" pitchFamily="34" charset="0"/>
              </a:rPr>
              <a:t> </a:t>
            </a:r>
            <a:r>
              <a:rPr lang="en-AU" sz="2400" kern="100" dirty="0" err="1">
                <a:solidFill>
                  <a:srgbClr val="10338C"/>
                </a:solidFill>
                <a:latin typeface="Arial" panose="020B0604020202020204" pitchFamily="34" charset="0"/>
                <a:cs typeface="Arial" panose="020B0604020202020204" pitchFamily="34" charset="0"/>
              </a:rPr>
              <a:t>kiểu</a:t>
            </a:r>
            <a:br>
              <a:rPr lang="vi-VN" sz="2400" kern="100" dirty="0">
                <a:solidFill>
                  <a:srgbClr val="10338C"/>
                </a:solidFill>
                <a:latin typeface="Arial" panose="020B0604020202020204" pitchFamily="34" charset="0"/>
                <a:cs typeface="Arial" panose="020B0604020202020204" pitchFamily="34" charset="0"/>
              </a:rPr>
            </a:br>
            <a:r>
              <a:rPr lang="en-AU" sz="2400" kern="100" dirty="0">
                <a:solidFill>
                  <a:srgbClr val="10338C"/>
                </a:solidFill>
                <a:latin typeface="Arial" panose="020B0604020202020204" pitchFamily="34" charset="0"/>
                <a:cs typeface="Arial" panose="020B0604020202020204" pitchFamily="34" charset="0"/>
              </a:rPr>
              <a:t>2</a:t>
            </a:r>
            <a:r>
              <a:rPr lang="vi-VN" sz="2400" kern="100" dirty="0">
                <a:solidFill>
                  <a:srgbClr val="10338C"/>
                </a:solidFill>
                <a:latin typeface="Arial" panose="020B0604020202020204" pitchFamily="34" charset="0"/>
                <a:cs typeface="Arial" panose="020B0604020202020204" pitchFamily="34" charset="0"/>
              </a:rPr>
              <a:t>.6. </a:t>
            </a:r>
            <a:r>
              <a:rPr lang="en-AU" sz="2400" kern="100" dirty="0" err="1">
                <a:solidFill>
                  <a:srgbClr val="10338C"/>
                </a:solidFill>
                <a:latin typeface="Arial" panose="020B0604020202020204" pitchFamily="34" charset="0"/>
                <a:cs typeface="Arial" panose="020B0604020202020204" pitchFamily="34" charset="0"/>
              </a:rPr>
              <a:t>Nhập</a:t>
            </a:r>
            <a:r>
              <a:rPr lang="en-AU" sz="2400" kern="100" dirty="0">
                <a:solidFill>
                  <a:srgbClr val="10338C"/>
                </a:solidFill>
                <a:latin typeface="Arial" panose="020B0604020202020204" pitchFamily="34" charset="0"/>
                <a:cs typeface="Arial" panose="020B0604020202020204" pitchFamily="34" charset="0"/>
              </a:rPr>
              <a:t> </a:t>
            </a:r>
            <a:r>
              <a:rPr lang="en-AU" sz="2400" kern="100" dirty="0" err="1">
                <a:solidFill>
                  <a:srgbClr val="10338C"/>
                </a:solidFill>
                <a:latin typeface="Arial" panose="020B0604020202020204" pitchFamily="34" charset="0"/>
                <a:cs typeface="Arial" panose="020B0604020202020204" pitchFamily="34" charset="0"/>
              </a:rPr>
              <a:t>xuất</a:t>
            </a:r>
            <a:r>
              <a:rPr lang="en-AU" sz="2400" kern="100" dirty="0">
                <a:solidFill>
                  <a:srgbClr val="10338C"/>
                </a:solidFill>
                <a:latin typeface="Arial" panose="020B0604020202020204" pitchFamily="34" charset="0"/>
                <a:cs typeface="Arial" panose="020B0604020202020204" pitchFamily="34" charset="0"/>
              </a:rPr>
              <a:t> </a:t>
            </a:r>
            <a:r>
              <a:rPr lang="en-AU" sz="2400" kern="100" dirty="0" err="1">
                <a:solidFill>
                  <a:srgbClr val="10338C"/>
                </a:solidFill>
                <a:latin typeface="Arial" panose="020B0604020202020204" pitchFamily="34" charset="0"/>
                <a:cs typeface="Arial" panose="020B0604020202020204" pitchFamily="34" charset="0"/>
              </a:rPr>
              <a:t>dữ</a:t>
            </a:r>
            <a:r>
              <a:rPr lang="en-AU" sz="2400" kern="100" dirty="0">
                <a:solidFill>
                  <a:srgbClr val="10338C"/>
                </a:solidFill>
                <a:latin typeface="Arial" panose="020B0604020202020204" pitchFamily="34" charset="0"/>
                <a:cs typeface="Arial" panose="020B0604020202020204" pitchFamily="34" charset="0"/>
              </a:rPr>
              <a:t> </a:t>
            </a:r>
            <a:r>
              <a:rPr lang="en-AU" sz="2400" kern="100" dirty="0" err="1">
                <a:solidFill>
                  <a:srgbClr val="10338C"/>
                </a:solidFill>
                <a:latin typeface="Arial" panose="020B0604020202020204" pitchFamily="34" charset="0"/>
                <a:cs typeface="Arial" panose="020B0604020202020204" pitchFamily="34" charset="0"/>
              </a:rPr>
              <a:t>liệu</a:t>
            </a:r>
            <a:br>
              <a:rPr lang="vi-VN" sz="2400" kern="100" dirty="0">
                <a:solidFill>
                  <a:srgbClr val="10338C"/>
                </a:solidFill>
                <a:latin typeface="Arial" panose="020B0604020202020204" pitchFamily="34" charset="0"/>
                <a:cs typeface="Arial" panose="020B0604020202020204" pitchFamily="34" charset="0"/>
              </a:rPr>
            </a:br>
            <a:br>
              <a:rPr lang="vi-VN" sz="2400" kern="100" dirty="0">
                <a:solidFill>
                  <a:srgbClr val="10338C"/>
                </a:solidFill>
                <a:latin typeface="Arial" panose="020B0604020202020204" pitchFamily="34" charset="0"/>
                <a:cs typeface="Arial" panose="020B0604020202020204" pitchFamily="34" charset="0"/>
              </a:rPr>
            </a:br>
            <a:br>
              <a:rPr lang="en-US" sz="2400" kern="100" dirty="0">
                <a:solidFill>
                  <a:srgbClr val="10338C"/>
                </a:solidFill>
                <a:latin typeface="Arial" panose="020B0604020202020204" pitchFamily="34" charset="0"/>
                <a:cs typeface="Arial" panose="020B0604020202020204" pitchFamily="34" charset="0"/>
              </a:rPr>
            </a:br>
            <a:endParaRPr lang="en-US" sz="2400" kern="100" dirty="0">
              <a:solidFill>
                <a:srgbClr val="10338C"/>
              </a:solidFill>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1C11CD90-0293-D873-2EC2-BF27BFB05AA5}"/>
              </a:ext>
            </a:extLst>
          </p:cNvPr>
          <p:cNvSpPr txBox="1">
            <a:spLocks/>
          </p:cNvSpPr>
          <p:nvPr/>
        </p:nvSpPr>
        <p:spPr>
          <a:xfrm>
            <a:off x="0" y="-26145"/>
            <a:ext cx="12100957" cy="6858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bg1"/>
                </a:solidFill>
                <a:latin typeface="Myriad Pro"/>
                <a:ea typeface="+mj-ea"/>
                <a:cs typeface="Myriad Pro"/>
              </a:defRPr>
            </a:lvl1pPr>
          </a:lstStyle>
          <a:p>
            <a:r>
              <a:rPr lang="en-US" dirty="0"/>
              <a:t>NỘI DUNG CHƯƠNG 2</a:t>
            </a:r>
          </a:p>
        </p:txBody>
      </p:sp>
    </p:spTree>
    <p:extLst>
      <p:ext uri="{BB962C8B-B14F-4D97-AF65-F5344CB8AC3E}">
        <p14:creationId xmlns:p14="http://schemas.microsoft.com/office/powerpoint/2010/main" val="72223880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type="body" idx="4294967295"/>
          </p:nvPr>
        </p:nvSpPr>
        <p:spPr>
          <a:xfrm>
            <a:off x="609600" y="924346"/>
            <a:ext cx="10972800" cy="4525963"/>
          </a:xfrm>
        </p:spPr>
        <p:txBody>
          <a:bodyPr>
            <a:normAutofit/>
          </a:bodyPr>
          <a:lstStyle/>
          <a:p>
            <a:r>
              <a:rPr lang="en-US" sz="2800" dirty="0" err="1">
                <a:solidFill>
                  <a:srgbClr val="002060"/>
                </a:solidFill>
                <a:cs typeface="Arial" charset="0"/>
              </a:rPr>
              <a:t>Các</a:t>
            </a:r>
            <a:r>
              <a:rPr lang="en-US" sz="2800" dirty="0">
                <a:solidFill>
                  <a:srgbClr val="002060"/>
                </a:solidFill>
                <a:cs typeface="Arial" charset="0"/>
              </a:rPr>
              <a:t> </a:t>
            </a:r>
            <a:r>
              <a:rPr lang="en-US" sz="2800" dirty="0" err="1">
                <a:solidFill>
                  <a:srgbClr val="002060"/>
                </a:solidFill>
                <a:cs typeface="Arial" charset="0"/>
              </a:rPr>
              <a:t>kiểu</a:t>
            </a:r>
            <a:r>
              <a:rPr lang="en-US" sz="2800" dirty="0">
                <a:solidFill>
                  <a:srgbClr val="002060"/>
                </a:solidFill>
                <a:cs typeface="Arial" charset="0"/>
              </a:rPr>
              <a:t> </a:t>
            </a:r>
            <a:r>
              <a:rPr lang="en-US" sz="2800" dirty="0" err="1">
                <a:solidFill>
                  <a:srgbClr val="002060"/>
                </a:solidFill>
                <a:cs typeface="Arial" charset="0"/>
              </a:rPr>
              <a:t>số</a:t>
            </a:r>
            <a:r>
              <a:rPr lang="en-US" sz="2800" dirty="0">
                <a:solidFill>
                  <a:srgbClr val="002060"/>
                </a:solidFill>
                <a:cs typeface="Arial" charset="0"/>
              </a:rPr>
              <a:t> </a:t>
            </a:r>
            <a:r>
              <a:rPr lang="en-US" sz="2800" dirty="0" err="1">
                <a:solidFill>
                  <a:srgbClr val="002060"/>
                </a:solidFill>
                <a:cs typeface="Arial" charset="0"/>
              </a:rPr>
              <a:t>nguyên</a:t>
            </a:r>
            <a:endParaRPr lang="en-US" sz="2800" dirty="0">
              <a:solidFill>
                <a:srgbClr val="002060"/>
              </a:solidFill>
              <a:cs typeface="Arial" charset="0"/>
            </a:endParaRPr>
          </a:p>
          <a:p>
            <a:pPr marL="457200" lvl="1" indent="0">
              <a:buNone/>
            </a:pPr>
            <a:r>
              <a:rPr lang="en-AU" sz="2400" dirty="0">
                <a:solidFill>
                  <a:srgbClr val="002060"/>
                </a:solidFill>
                <a:cs typeface="Arial" charset="0"/>
              </a:rPr>
              <a:t>- </a:t>
            </a:r>
            <a:r>
              <a:rPr lang="vi-VN" sz="2400" dirty="0">
                <a:solidFill>
                  <a:srgbClr val="002060"/>
                </a:solidFill>
                <a:cs typeface="Arial" charset="0"/>
              </a:rPr>
              <a:t>Trong ngôn ngữ lập trình C, kiểu số nguyên là các kiểu dữ liệu được dùng để lưu trữ các giá trị nguyên </a:t>
            </a:r>
            <a:r>
              <a:rPr lang="en-AU" sz="2400" dirty="0" err="1">
                <a:solidFill>
                  <a:srgbClr val="002060"/>
                </a:solidFill>
                <a:cs typeface="Arial" charset="0"/>
              </a:rPr>
              <a:t>trong</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a:t>
            </a:r>
            <a:r>
              <a:rPr lang="en-AU" sz="2400" dirty="0" err="1">
                <a:solidFill>
                  <a:srgbClr val="002060"/>
                </a:solidFill>
                <a:cs typeface="Arial" charset="0"/>
              </a:rPr>
              <a:t>học</a:t>
            </a:r>
            <a:r>
              <a:rPr lang="en-AU" sz="2400" dirty="0">
                <a:solidFill>
                  <a:srgbClr val="002060"/>
                </a:solidFill>
                <a:cs typeface="Arial" charset="0"/>
              </a:rPr>
              <a:t> </a:t>
            </a:r>
            <a:r>
              <a:rPr lang="vi-VN" sz="2400" dirty="0">
                <a:solidFill>
                  <a:srgbClr val="002060"/>
                </a:solidFill>
                <a:cs typeface="Arial" charset="0"/>
              </a:rPr>
              <a:t>(ví dụ: -3, 0, 25). Đây là một trong những kiểu dữ liệu cơ bản và quan trọng nhất.</a:t>
            </a:r>
            <a:endParaRPr lang="en-US" sz="24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95BC8E2B-AE71-4D79-9F99-0B8FB7FBC878}" type="slidenum">
              <a:rPr lang="en-US" smtClean="0"/>
              <a:pPr>
                <a:defRPr/>
              </a:pPr>
              <a:t>3</a:t>
            </a:fld>
            <a:endParaRPr lang="en-US"/>
          </a:p>
        </p:txBody>
      </p:sp>
      <p:sp>
        <p:nvSpPr>
          <p:cNvPr id="2" name="Title 3">
            <a:extLst>
              <a:ext uri="{FF2B5EF4-FFF2-40B4-BE49-F238E27FC236}">
                <a16:creationId xmlns:a16="http://schemas.microsoft.com/office/drawing/2014/main" id="{327F8286-ADD2-E06C-38D2-D2444D5525F0}"/>
              </a:ext>
            </a:extLst>
          </p:cNvPr>
          <p:cNvSpPr>
            <a:spLocks noGrp="1"/>
          </p:cNvSpPr>
          <p:nvPr>
            <p:ph type="title"/>
          </p:nvPr>
        </p:nvSpPr>
        <p:spPr>
          <a:xfrm>
            <a:off x="0" y="-26145"/>
            <a:ext cx="12100957" cy="685801"/>
          </a:xfrm>
        </p:spPr>
        <p:txBody>
          <a:bodyPr>
            <a:normAutofit/>
          </a:bodyPr>
          <a:lstStyle/>
          <a:p>
            <a:r>
              <a:rPr lang="en-US" sz="3600"/>
              <a:t>2.1 Các kiểu dữ liệu cơ bản</a:t>
            </a:r>
            <a:endParaRPr lang="en-US" sz="3600" dirty="0"/>
          </a:p>
        </p:txBody>
      </p:sp>
      <p:pic>
        <p:nvPicPr>
          <p:cNvPr id="8" name="Picture 6">
            <a:extLst>
              <a:ext uri="{FF2B5EF4-FFF2-40B4-BE49-F238E27FC236}">
                <a16:creationId xmlns:a16="http://schemas.microsoft.com/office/drawing/2014/main" id="{7CB709AA-0B6A-48FE-D9A2-77CDC2CC6B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794887"/>
            <a:ext cx="9753600" cy="3005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type="body" idx="4294967295"/>
          </p:nvPr>
        </p:nvSpPr>
        <p:spPr>
          <a:xfrm>
            <a:off x="609600" y="924346"/>
            <a:ext cx="10972800" cy="4525963"/>
          </a:xfrm>
        </p:spPr>
        <p:txBody>
          <a:bodyPr>
            <a:normAutofit/>
          </a:bodyPr>
          <a:lstStyle/>
          <a:p>
            <a:r>
              <a:rPr lang="en-US" sz="2800" dirty="0" err="1">
                <a:solidFill>
                  <a:srgbClr val="002060"/>
                </a:solidFill>
                <a:cs typeface="Arial" charset="0"/>
              </a:rPr>
              <a:t>Các</a:t>
            </a:r>
            <a:r>
              <a:rPr lang="en-US" sz="2800" dirty="0">
                <a:solidFill>
                  <a:srgbClr val="002060"/>
                </a:solidFill>
                <a:cs typeface="Arial" charset="0"/>
              </a:rPr>
              <a:t> </a:t>
            </a:r>
            <a:r>
              <a:rPr lang="en-US" sz="2800" dirty="0" err="1">
                <a:solidFill>
                  <a:srgbClr val="002060"/>
                </a:solidFill>
                <a:cs typeface="Arial" charset="0"/>
              </a:rPr>
              <a:t>kiểu</a:t>
            </a:r>
            <a:r>
              <a:rPr lang="en-US" sz="2800" dirty="0">
                <a:solidFill>
                  <a:srgbClr val="002060"/>
                </a:solidFill>
                <a:cs typeface="Arial" charset="0"/>
              </a:rPr>
              <a:t> </a:t>
            </a:r>
            <a:r>
              <a:rPr lang="en-US" sz="2800" dirty="0" err="1">
                <a:solidFill>
                  <a:srgbClr val="002060"/>
                </a:solidFill>
                <a:cs typeface="Arial" charset="0"/>
              </a:rPr>
              <a:t>số</a:t>
            </a:r>
            <a:r>
              <a:rPr lang="en-US" sz="2800" dirty="0">
                <a:solidFill>
                  <a:srgbClr val="002060"/>
                </a:solidFill>
                <a:cs typeface="Arial" charset="0"/>
              </a:rPr>
              <a:t> </a:t>
            </a:r>
            <a:r>
              <a:rPr lang="en-US" sz="2800" dirty="0" err="1">
                <a:solidFill>
                  <a:srgbClr val="002060"/>
                </a:solidFill>
                <a:cs typeface="Arial" charset="0"/>
              </a:rPr>
              <a:t>nguyên</a:t>
            </a:r>
            <a:endParaRPr lang="en-US" sz="2800" dirty="0">
              <a:solidFill>
                <a:srgbClr val="002060"/>
              </a:solidFill>
              <a:cs typeface="Arial" charset="0"/>
            </a:endParaRPr>
          </a:p>
          <a:p>
            <a:pPr lvl="1">
              <a:buFontTx/>
              <a:buChar char="-"/>
            </a:pPr>
            <a:r>
              <a:rPr lang="en-AU" sz="2400" dirty="0" err="1">
                <a:solidFill>
                  <a:srgbClr val="002060"/>
                </a:solidFill>
                <a:cs typeface="Arial" charset="0"/>
              </a:rPr>
              <a:t>Trong</a:t>
            </a:r>
            <a:r>
              <a:rPr lang="en-AU" sz="2400" dirty="0">
                <a:solidFill>
                  <a:srgbClr val="002060"/>
                </a:solidFill>
                <a:cs typeface="Arial" charset="0"/>
              </a:rPr>
              <a:t> </a:t>
            </a:r>
            <a:r>
              <a:rPr lang="en-AU" sz="2400" dirty="0" err="1">
                <a:solidFill>
                  <a:srgbClr val="002060"/>
                </a:solidFill>
                <a:cs typeface="Arial" charset="0"/>
              </a:rPr>
              <a:t>ngôn</a:t>
            </a:r>
            <a:r>
              <a:rPr lang="en-AU" sz="2400" dirty="0">
                <a:solidFill>
                  <a:srgbClr val="002060"/>
                </a:solidFill>
                <a:cs typeface="Arial" charset="0"/>
              </a:rPr>
              <a:t> </a:t>
            </a:r>
            <a:r>
              <a:rPr lang="en-AU" sz="2400" dirty="0" err="1">
                <a:solidFill>
                  <a:srgbClr val="002060"/>
                </a:solidFill>
                <a:cs typeface="Arial" charset="0"/>
              </a:rPr>
              <a:t>ngữ</a:t>
            </a:r>
            <a:r>
              <a:rPr lang="en-AU" sz="2400" dirty="0">
                <a:solidFill>
                  <a:srgbClr val="002060"/>
                </a:solidFill>
                <a:cs typeface="Arial" charset="0"/>
              </a:rPr>
              <a:t> C, </a:t>
            </a:r>
            <a:r>
              <a:rPr lang="en-AU" sz="2400" dirty="0" err="1">
                <a:solidFill>
                  <a:srgbClr val="002060"/>
                </a:solidFill>
                <a:cs typeface="Arial" charset="0"/>
              </a:rPr>
              <a:t>số</a:t>
            </a:r>
            <a:r>
              <a:rPr lang="en-AU" sz="2400" dirty="0">
                <a:solidFill>
                  <a:srgbClr val="002060"/>
                </a:solidFill>
                <a:cs typeface="Arial" charset="0"/>
              </a:rPr>
              <a:t> </a:t>
            </a:r>
            <a:r>
              <a:rPr lang="en-AU" sz="2400" dirty="0" err="1">
                <a:solidFill>
                  <a:srgbClr val="002060"/>
                </a:solidFill>
                <a:cs typeface="Arial" charset="0"/>
              </a:rPr>
              <a:t>nguyên</a:t>
            </a:r>
            <a:r>
              <a:rPr lang="en-AU" sz="2400" dirty="0">
                <a:solidFill>
                  <a:srgbClr val="002060"/>
                </a:solidFill>
                <a:cs typeface="Arial" charset="0"/>
              </a:rPr>
              <a:t> (hay </a:t>
            </a:r>
            <a:r>
              <a:rPr lang="en-AU" sz="2400" dirty="0" err="1">
                <a:solidFill>
                  <a:srgbClr val="002060"/>
                </a:solidFill>
                <a:cs typeface="Arial" charset="0"/>
              </a:rPr>
              <a:t>giá</a:t>
            </a:r>
            <a:r>
              <a:rPr lang="en-AU" sz="2400" dirty="0">
                <a:solidFill>
                  <a:srgbClr val="002060"/>
                </a:solidFill>
                <a:cs typeface="Arial" charset="0"/>
              </a:rPr>
              <a:t> </a:t>
            </a:r>
            <a:r>
              <a:rPr lang="en-AU" sz="2400" dirty="0" err="1">
                <a:solidFill>
                  <a:srgbClr val="002060"/>
                </a:solidFill>
                <a:cs typeface="Arial" charset="0"/>
              </a:rPr>
              <a:t>trị</a:t>
            </a:r>
            <a:r>
              <a:rPr lang="en-AU" sz="2400" dirty="0">
                <a:solidFill>
                  <a:srgbClr val="002060"/>
                </a:solidFill>
                <a:cs typeface="Arial" charset="0"/>
              </a:rPr>
              <a:t> </a:t>
            </a:r>
            <a:r>
              <a:rPr lang="en-AU" sz="2400" dirty="0" err="1">
                <a:solidFill>
                  <a:srgbClr val="002060"/>
                </a:solidFill>
                <a:cs typeface="Arial" charset="0"/>
              </a:rPr>
              <a:t>nguyên</a:t>
            </a:r>
            <a:r>
              <a:rPr lang="en-AU" sz="2400" dirty="0">
                <a:solidFill>
                  <a:srgbClr val="002060"/>
                </a:solidFill>
                <a:cs typeface="Arial" charset="0"/>
              </a:rPr>
              <a:t>) </a:t>
            </a:r>
            <a:r>
              <a:rPr lang="en-AU" sz="2400" dirty="0" err="1">
                <a:solidFill>
                  <a:srgbClr val="002060"/>
                </a:solidFill>
                <a:cs typeface="Arial" charset="0"/>
              </a:rPr>
              <a:t>được</a:t>
            </a:r>
            <a:r>
              <a:rPr lang="en-AU" sz="2400" dirty="0">
                <a:solidFill>
                  <a:srgbClr val="002060"/>
                </a:solidFill>
                <a:cs typeface="Arial" charset="0"/>
              </a:rPr>
              <a:t> </a:t>
            </a:r>
            <a:r>
              <a:rPr lang="en-AU" sz="2400" dirty="0" err="1">
                <a:solidFill>
                  <a:srgbClr val="002060"/>
                </a:solidFill>
                <a:cs typeface="Arial" charset="0"/>
              </a:rPr>
              <a:t>viết</a:t>
            </a:r>
            <a:r>
              <a:rPr lang="en-AU" sz="2400" dirty="0">
                <a:solidFill>
                  <a:srgbClr val="002060"/>
                </a:solidFill>
                <a:cs typeface="Arial" charset="0"/>
              </a:rPr>
              <a:t> </a:t>
            </a:r>
            <a:r>
              <a:rPr lang="en-AU" sz="2400" dirty="0" err="1">
                <a:solidFill>
                  <a:srgbClr val="002060"/>
                </a:solidFill>
                <a:cs typeface="Arial" charset="0"/>
              </a:rPr>
              <a:t>theo</a:t>
            </a:r>
            <a:r>
              <a:rPr lang="en-AU" sz="2400" dirty="0">
                <a:solidFill>
                  <a:srgbClr val="002060"/>
                </a:solidFill>
                <a:cs typeface="Arial" charset="0"/>
              </a:rPr>
              <a:t> </a:t>
            </a:r>
            <a:r>
              <a:rPr lang="en-AU" sz="2400" dirty="0" err="1">
                <a:solidFill>
                  <a:srgbClr val="002060"/>
                </a:solidFill>
                <a:cs typeface="Arial" charset="0"/>
              </a:rPr>
              <a:t>quy</a:t>
            </a:r>
            <a:r>
              <a:rPr lang="en-AU" sz="2400" dirty="0">
                <a:solidFill>
                  <a:srgbClr val="002060"/>
                </a:solidFill>
                <a:cs typeface="Arial" charset="0"/>
              </a:rPr>
              <a:t> </a:t>
            </a:r>
            <a:r>
              <a:rPr lang="en-AU" sz="2400" dirty="0" err="1">
                <a:solidFill>
                  <a:srgbClr val="002060"/>
                </a:solidFill>
                <a:cs typeface="Arial" charset="0"/>
              </a:rPr>
              <a:t>tắc</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a:t>
            </a:r>
            <a:r>
              <a:rPr lang="en-AU" sz="2400" dirty="0" err="1">
                <a:solidFill>
                  <a:srgbClr val="002060"/>
                </a:solidFill>
                <a:cs typeface="Arial" charset="0"/>
              </a:rPr>
              <a:t>học</a:t>
            </a:r>
            <a:r>
              <a:rPr lang="en-AU" sz="2400" dirty="0">
                <a:solidFill>
                  <a:srgbClr val="002060"/>
                </a:solidFill>
                <a:cs typeface="Arial" charset="0"/>
              </a:rPr>
              <a:t> </a:t>
            </a:r>
            <a:r>
              <a:rPr lang="en-AU" sz="2400" dirty="0" err="1">
                <a:solidFill>
                  <a:srgbClr val="002060"/>
                </a:solidFill>
                <a:cs typeface="Arial" charset="0"/>
              </a:rPr>
              <a:t>thông</a:t>
            </a:r>
            <a:r>
              <a:rPr lang="en-AU" sz="2400" dirty="0">
                <a:solidFill>
                  <a:srgbClr val="002060"/>
                </a:solidFill>
                <a:cs typeface="Arial" charset="0"/>
              </a:rPr>
              <a:t> </a:t>
            </a:r>
            <a:r>
              <a:rPr lang="en-AU" sz="2400" dirty="0" err="1">
                <a:solidFill>
                  <a:srgbClr val="002060"/>
                </a:solidFill>
                <a:cs typeface="Arial" charset="0"/>
              </a:rPr>
              <a:t>thường</a:t>
            </a:r>
            <a:r>
              <a:rPr lang="en-AU" sz="2400" dirty="0">
                <a:solidFill>
                  <a:srgbClr val="002060"/>
                </a:solidFill>
                <a:cs typeface="Arial" charset="0"/>
              </a:rPr>
              <a:t>.</a:t>
            </a:r>
          </a:p>
          <a:p>
            <a:pPr lvl="1">
              <a:buFontTx/>
              <a:buChar char="-"/>
            </a:pPr>
            <a:r>
              <a:rPr lang="en-US" sz="2400" dirty="0" err="1">
                <a:solidFill>
                  <a:srgbClr val="002060"/>
                </a:solidFill>
                <a:cs typeface="Arial" charset="0"/>
              </a:rPr>
              <a:t>Ví</a:t>
            </a:r>
            <a:r>
              <a:rPr lang="en-US" sz="2400" dirty="0">
                <a:solidFill>
                  <a:srgbClr val="002060"/>
                </a:solidFill>
                <a:cs typeface="Arial" charset="0"/>
              </a:rPr>
              <a:t> </a:t>
            </a:r>
            <a:r>
              <a:rPr lang="en-US" sz="2400" dirty="0" err="1">
                <a:solidFill>
                  <a:srgbClr val="002060"/>
                </a:solidFill>
                <a:cs typeface="Arial" charset="0"/>
              </a:rPr>
              <a:t>dụ</a:t>
            </a:r>
            <a:r>
              <a:rPr lang="en-US" sz="2400" dirty="0">
                <a:solidFill>
                  <a:srgbClr val="002060"/>
                </a:solidFill>
                <a:cs typeface="Arial" charset="0"/>
              </a:rPr>
              <a:t>: 	</a:t>
            </a:r>
            <a:r>
              <a:rPr lang="en-US" sz="2700" dirty="0">
                <a:solidFill>
                  <a:srgbClr val="FF0000"/>
                </a:solidFill>
                <a:cs typeface="Arial" charset="0"/>
              </a:rPr>
              <a:t>4232</a:t>
            </a:r>
            <a:r>
              <a:rPr lang="en-US" sz="2400" dirty="0">
                <a:solidFill>
                  <a:srgbClr val="002060"/>
                </a:solidFill>
                <a:cs typeface="Arial" charset="0"/>
              </a:rPr>
              <a:t> </a:t>
            </a:r>
            <a:r>
              <a:rPr lang="en-US" sz="2400" i="1" dirty="0">
                <a:solidFill>
                  <a:srgbClr val="002060"/>
                </a:solidFill>
                <a:cs typeface="Arial" charset="0"/>
              </a:rPr>
              <a:t>(</a:t>
            </a:r>
            <a:r>
              <a:rPr lang="en-US" sz="2400" i="1" dirty="0" err="1">
                <a:solidFill>
                  <a:srgbClr val="002060"/>
                </a:solidFill>
                <a:cs typeface="Arial" charset="0"/>
              </a:rPr>
              <a:t>số</a:t>
            </a:r>
            <a:r>
              <a:rPr lang="en-US" sz="2400" i="1" dirty="0">
                <a:solidFill>
                  <a:srgbClr val="002060"/>
                </a:solidFill>
                <a:cs typeface="Arial" charset="0"/>
              </a:rPr>
              <a:t> </a:t>
            </a:r>
            <a:r>
              <a:rPr lang="en-US" sz="2400" i="1" dirty="0" err="1">
                <a:solidFill>
                  <a:srgbClr val="002060"/>
                </a:solidFill>
                <a:cs typeface="Arial" charset="0"/>
              </a:rPr>
              <a:t>nguyên</a:t>
            </a:r>
            <a:r>
              <a:rPr lang="en-US" sz="2400" i="1" dirty="0">
                <a:solidFill>
                  <a:srgbClr val="002060"/>
                </a:solidFill>
                <a:cs typeface="Arial" charset="0"/>
              </a:rPr>
              <a:t> </a:t>
            </a:r>
            <a:r>
              <a:rPr lang="en-US" sz="2400" i="1" dirty="0" err="1">
                <a:solidFill>
                  <a:srgbClr val="002060"/>
                </a:solidFill>
                <a:cs typeface="Arial" charset="0"/>
              </a:rPr>
              <a:t>dương</a:t>
            </a:r>
            <a:r>
              <a:rPr lang="en-US" sz="2400" i="1" dirty="0">
                <a:solidFill>
                  <a:srgbClr val="002060"/>
                </a:solidFill>
                <a:cs typeface="Arial" charset="0"/>
              </a:rPr>
              <a:t>)</a:t>
            </a:r>
            <a:r>
              <a:rPr lang="en-US" sz="2400" dirty="0">
                <a:solidFill>
                  <a:srgbClr val="002060"/>
                </a:solidFill>
                <a:cs typeface="Arial" charset="0"/>
              </a:rPr>
              <a:t>,  </a:t>
            </a:r>
            <a:r>
              <a:rPr lang="en-US" sz="2700" dirty="0">
                <a:solidFill>
                  <a:srgbClr val="FF0000"/>
                </a:solidFill>
                <a:cs typeface="Arial" charset="0"/>
              </a:rPr>
              <a:t>-4232</a:t>
            </a:r>
            <a:r>
              <a:rPr lang="en-US" sz="2400" dirty="0">
                <a:solidFill>
                  <a:srgbClr val="FF0000"/>
                </a:solidFill>
                <a:cs typeface="Arial" charset="0"/>
              </a:rPr>
              <a:t> </a:t>
            </a:r>
            <a:r>
              <a:rPr lang="en-US" sz="2400" i="1" dirty="0">
                <a:solidFill>
                  <a:srgbClr val="002060"/>
                </a:solidFill>
                <a:cs typeface="Arial" charset="0"/>
              </a:rPr>
              <a:t>(</a:t>
            </a:r>
            <a:r>
              <a:rPr lang="en-US" sz="2400" i="1" dirty="0" err="1">
                <a:solidFill>
                  <a:srgbClr val="002060"/>
                </a:solidFill>
                <a:cs typeface="Arial" charset="0"/>
              </a:rPr>
              <a:t>số</a:t>
            </a:r>
            <a:r>
              <a:rPr lang="en-US" sz="2400" i="1" dirty="0">
                <a:solidFill>
                  <a:srgbClr val="002060"/>
                </a:solidFill>
                <a:cs typeface="Arial" charset="0"/>
              </a:rPr>
              <a:t> </a:t>
            </a:r>
            <a:r>
              <a:rPr lang="en-US" sz="2400" i="1" dirty="0" err="1">
                <a:solidFill>
                  <a:srgbClr val="002060"/>
                </a:solidFill>
                <a:cs typeface="Arial" charset="0"/>
              </a:rPr>
              <a:t>nguyên</a:t>
            </a:r>
            <a:r>
              <a:rPr lang="en-US" sz="2400" i="1" dirty="0">
                <a:solidFill>
                  <a:srgbClr val="002060"/>
                </a:solidFill>
                <a:cs typeface="Arial" charset="0"/>
              </a:rPr>
              <a:t> </a:t>
            </a:r>
            <a:r>
              <a:rPr lang="en-US" sz="2400" i="1" dirty="0" err="1">
                <a:solidFill>
                  <a:srgbClr val="002060"/>
                </a:solidFill>
                <a:cs typeface="Arial" charset="0"/>
              </a:rPr>
              <a:t>âm</a:t>
            </a:r>
            <a:r>
              <a:rPr lang="en-US" sz="2400" i="1" dirty="0">
                <a:solidFill>
                  <a:srgbClr val="002060"/>
                </a:solidFill>
                <a:cs typeface="Arial" charset="0"/>
              </a:rPr>
              <a:t>)</a:t>
            </a:r>
          </a:p>
          <a:p>
            <a:pPr lvl="1">
              <a:buFontTx/>
              <a:buChar char="-"/>
            </a:pPr>
            <a:r>
              <a:rPr lang="en-US" sz="2400" dirty="0" err="1">
                <a:solidFill>
                  <a:srgbClr val="002060"/>
                </a:solidFill>
                <a:cs typeface="Arial" charset="0"/>
              </a:rPr>
              <a:t>Khai</a:t>
            </a:r>
            <a:r>
              <a:rPr lang="en-US" sz="2400" dirty="0">
                <a:solidFill>
                  <a:srgbClr val="002060"/>
                </a:solidFill>
                <a:cs typeface="Arial" charset="0"/>
              </a:rPr>
              <a:t> </a:t>
            </a:r>
            <a:r>
              <a:rPr lang="en-US" sz="2400" dirty="0" err="1">
                <a:solidFill>
                  <a:srgbClr val="002060"/>
                </a:solidFill>
                <a:cs typeface="Arial" charset="0"/>
              </a:rPr>
              <a:t>báo</a:t>
            </a:r>
            <a:r>
              <a:rPr lang="en-US" sz="2400" dirty="0">
                <a:solidFill>
                  <a:srgbClr val="002060"/>
                </a:solidFill>
                <a:cs typeface="Arial" charset="0"/>
              </a:rPr>
              <a:t> 1 </a:t>
            </a:r>
            <a:r>
              <a:rPr lang="en-US" sz="2400" dirty="0" err="1">
                <a:solidFill>
                  <a:srgbClr val="002060"/>
                </a:solidFill>
                <a:cs typeface="Arial" charset="0"/>
              </a:rPr>
              <a:t>số</a:t>
            </a:r>
            <a:r>
              <a:rPr lang="en-US" sz="2400" dirty="0">
                <a:solidFill>
                  <a:srgbClr val="002060"/>
                </a:solidFill>
                <a:cs typeface="Arial" charset="0"/>
              </a:rPr>
              <a:t> </a:t>
            </a:r>
            <a:r>
              <a:rPr lang="en-US" sz="2400" dirty="0" err="1">
                <a:solidFill>
                  <a:srgbClr val="002060"/>
                </a:solidFill>
                <a:cs typeface="Arial" charset="0"/>
              </a:rPr>
              <a:t>kiểu</a:t>
            </a:r>
            <a:r>
              <a:rPr lang="en-US" sz="2400" dirty="0">
                <a:solidFill>
                  <a:srgbClr val="002060"/>
                </a:solidFill>
                <a:cs typeface="Arial" charset="0"/>
              </a:rPr>
              <a:t> </a:t>
            </a:r>
            <a:r>
              <a:rPr lang="en-US" sz="2400" dirty="0" err="1">
                <a:solidFill>
                  <a:srgbClr val="002060"/>
                </a:solidFill>
                <a:cs typeface="Arial" charset="0"/>
              </a:rPr>
              <a:t>số</a:t>
            </a:r>
            <a:r>
              <a:rPr lang="en-US" sz="2400" dirty="0">
                <a:solidFill>
                  <a:srgbClr val="002060"/>
                </a:solidFill>
                <a:cs typeface="Arial" charset="0"/>
              </a:rPr>
              <a:t> </a:t>
            </a:r>
            <a:r>
              <a:rPr lang="en-US" sz="2400" dirty="0" err="1">
                <a:solidFill>
                  <a:srgbClr val="002060"/>
                </a:solidFill>
                <a:cs typeface="Arial" charset="0"/>
              </a:rPr>
              <a:t>nguyên</a:t>
            </a:r>
            <a:r>
              <a:rPr lang="en-US" sz="2400" dirty="0">
                <a:solidFill>
                  <a:srgbClr val="002060"/>
                </a:solidFill>
                <a:cs typeface="Arial" charset="0"/>
              </a:rPr>
              <a:t> </a:t>
            </a:r>
            <a:r>
              <a:rPr lang="en-US" sz="2400" dirty="0" err="1">
                <a:solidFill>
                  <a:srgbClr val="002060"/>
                </a:solidFill>
                <a:cs typeface="Arial" charset="0"/>
              </a:rPr>
              <a:t>trong</a:t>
            </a:r>
            <a:r>
              <a:rPr lang="en-US" sz="2400" dirty="0">
                <a:solidFill>
                  <a:srgbClr val="002060"/>
                </a:solidFill>
                <a:cs typeface="Arial" charset="0"/>
              </a:rPr>
              <a:t> C:</a:t>
            </a:r>
          </a:p>
        </p:txBody>
      </p:sp>
      <p:sp>
        <p:nvSpPr>
          <p:cNvPr id="4" name="Slide Number Placeholder 3"/>
          <p:cNvSpPr>
            <a:spLocks noGrp="1"/>
          </p:cNvSpPr>
          <p:nvPr>
            <p:ph type="sldNum" sz="quarter" idx="10"/>
          </p:nvPr>
        </p:nvSpPr>
        <p:spPr/>
        <p:txBody>
          <a:bodyPr/>
          <a:lstStyle/>
          <a:p>
            <a:pPr>
              <a:defRPr/>
            </a:pPr>
            <a:fld id="{95BC8E2B-AE71-4D79-9F99-0B8FB7FBC878}" type="slidenum">
              <a:rPr lang="en-US" smtClean="0"/>
              <a:pPr>
                <a:defRPr/>
              </a:pPr>
              <a:t>4</a:t>
            </a:fld>
            <a:endParaRPr lang="en-US"/>
          </a:p>
        </p:txBody>
      </p:sp>
      <p:sp>
        <p:nvSpPr>
          <p:cNvPr id="2" name="Title 3">
            <a:extLst>
              <a:ext uri="{FF2B5EF4-FFF2-40B4-BE49-F238E27FC236}">
                <a16:creationId xmlns:a16="http://schemas.microsoft.com/office/drawing/2014/main" id="{327F8286-ADD2-E06C-38D2-D2444D5525F0}"/>
              </a:ext>
            </a:extLst>
          </p:cNvPr>
          <p:cNvSpPr>
            <a:spLocks noGrp="1"/>
          </p:cNvSpPr>
          <p:nvPr>
            <p:ph type="title"/>
          </p:nvPr>
        </p:nvSpPr>
        <p:spPr>
          <a:xfrm>
            <a:off x="0" y="-26145"/>
            <a:ext cx="12100957" cy="685801"/>
          </a:xfrm>
        </p:spPr>
        <p:txBody>
          <a:bodyPr>
            <a:normAutofit/>
          </a:bodyPr>
          <a:lstStyle/>
          <a:p>
            <a:r>
              <a:rPr lang="en-US" sz="3600"/>
              <a:t>2.1 Các kiểu dữ liệu cơ bản</a:t>
            </a:r>
            <a:endParaRPr lang="en-US" sz="3600" dirty="0"/>
          </a:p>
        </p:txBody>
      </p:sp>
      <p:pic>
        <p:nvPicPr>
          <p:cNvPr id="5" name="Picture 4">
            <a:extLst>
              <a:ext uri="{FF2B5EF4-FFF2-40B4-BE49-F238E27FC236}">
                <a16:creationId xmlns:a16="http://schemas.microsoft.com/office/drawing/2014/main" id="{5A27532C-96EA-0F6A-448B-311DD45D2CED}"/>
              </a:ext>
            </a:extLst>
          </p:cNvPr>
          <p:cNvPicPr>
            <a:picLocks noChangeAspect="1"/>
          </p:cNvPicPr>
          <p:nvPr/>
        </p:nvPicPr>
        <p:blipFill>
          <a:blip r:embed="rId3"/>
          <a:stretch>
            <a:fillRect/>
          </a:stretch>
        </p:blipFill>
        <p:spPr>
          <a:xfrm>
            <a:off x="1371600" y="3417757"/>
            <a:ext cx="8315960" cy="2249909"/>
          </a:xfrm>
          <a:prstGeom prst="rect">
            <a:avLst/>
          </a:prstGeom>
        </p:spPr>
      </p:pic>
    </p:spTree>
    <p:extLst>
      <p:ext uri="{BB962C8B-B14F-4D97-AF65-F5344CB8AC3E}">
        <p14:creationId xmlns:p14="http://schemas.microsoft.com/office/powerpoint/2010/main" val="1413321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type="body" idx="4294967295"/>
          </p:nvPr>
        </p:nvSpPr>
        <p:spPr>
          <a:xfrm>
            <a:off x="609600" y="924346"/>
            <a:ext cx="10972800" cy="4525963"/>
          </a:xfrm>
        </p:spPr>
        <p:txBody>
          <a:bodyPr>
            <a:normAutofit/>
          </a:bodyPr>
          <a:lstStyle/>
          <a:p>
            <a:r>
              <a:rPr lang="en-US" sz="2800" dirty="0" err="1">
                <a:solidFill>
                  <a:srgbClr val="002060"/>
                </a:solidFill>
                <a:cs typeface="Arial" charset="0"/>
              </a:rPr>
              <a:t>Các</a:t>
            </a:r>
            <a:r>
              <a:rPr lang="en-US" sz="2800" dirty="0">
                <a:solidFill>
                  <a:srgbClr val="002060"/>
                </a:solidFill>
                <a:cs typeface="Arial" charset="0"/>
              </a:rPr>
              <a:t> </a:t>
            </a:r>
            <a:r>
              <a:rPr lang="en-US" sz="2800" dirty="0" err="1">
                <a:solidFill>
                  <a:srgbClr val="002060"/>
                </a:solidFill>
                <a:cs typeface="Arial" charset="0"/>
              </a:rPr>
              <a:t>kiểu</a:t>
            </a:r>
            <a:r>
              <a:rPr lang="en-US" sz="2800" dirty="0">
                <a:solidFill>
                  <a:srgbClr val="002060"/>
                </a:solidFill>
                <a:cs typeface="Arial" charset="0"/>
              </a:rPr>
              <a:t> </a:t>
            </a:r>
            <a:r>
              <a:rPr lang="en-US" sz="2800" dirty="0" err="1">
                <a:solidFill>
                  <a:srgbClr val="002060"/>
                </a:solidFill>
                <a:cs typeface="Arial" charset="0"/>
              </a:rPr>
              <a:t>số</a:t>
            </a:r>
            <a:r>
              <a:rPr lang="en-US" sz="2800" dirty="0">
                <a:solidFill>
                  <a:srgbClr val="002060"/>
                </a:solidFill>
                <a:cs typeface="Arial" charset="0"/>
              </a:rPr>
              <a:t> </a:t>
            </a:r>
            <a:r>
              <a:rPr lang="en-US" sz="2800" dirty="0" err="1">
                <a:solidFill>
                  <a:srgbClr val="002060"/>
                </a:solidFill>
                <a:cs typeface="Arial" charset="0"/>
              </a:rPr>
              <a:t>thực</a:t>
            </a:r>
            <a:endParaRPr lang="en-US" sz="2800" dirty="0">
              <a:solidFill>
                <a:srgbClr val="002060"/>
              </a:solidFill>
              <a:cs typeface="Arial" charset="0"/>
            </a:endParaRPr>
          </a:p>
          <a:p>
            <a:pPr lvl="1">
              <a:buFontTx/>
              <a:buChar char="-"/>
            </a:pPr>
            <a:r>
              <a:rPr lang="en-US" sz="2400" dirty="0" err="1">
                <a:solidFill>
                  <a:srgbClr val="002060"/>
                </a:solidFill>
                <a:cs typeface="Arial" charset="0"/>
              </a:rPr>
              <a:t>Trong</a:t>
            </a:r>
            <a:r>
              <a:rPr lang="en-US" sz="2400" dirty="0">
                <a:solidFill>
                  <a:srgbClr val="002060"/>
                </a:solidFill>
                <a:cs typeface="Arial" charset="0"/>
              </a:rPr>
              <a:t> </a:t>
            </a:r>
            <a:r>
              <a:rPr lang="en-US" sz="2400" dirty="0" err="1">
                <a:solidFill>
                  <a:srgbClr val="002060"/>
                </a:solidFill>
                <a:cs typeface="Arial" charset="0"/>
              </a:rPr>
              <a:t>ngôn</a:t>
            </a:r>
            <a:r>
              <a:rPr lang="en-US" sz="2400" dirty="0">
                <a:solidFill>
                  <a:srgbClr val="002060"/>
                </a:solidFill>
                <a:cs typeface="Arial" charset="0"/>
              </a:rPr>
              <a:t> </a:t>
            </a:r>
            <a:r>
              <a:rPr lang="en-US" sz="2400" dirty="0" err="1">
                <a:solidFill>
                  <a:srgbClr val="002060"/>
                </a:solidFill>
                <a:cs typeface="Arial" charset="0"/>
              </a:rPr>
              <a:t>ngữ</a:t>
            </a:r>
            <a:r>
              <a:rPr lang="en-US" sz="2400" dirty="0">
                <a:solidFill>
                  <a:srgbClr val="002060"/>
                </a:solidFill>
                <a:cs typeface="Arial" charset="0"/>
              </a:rPr>
              <a:t> </a:t>
            </a:r>
            <a:r>
              <a:rPr lang="en-US" sz="2400" dirty="0" err="1">
                <a:solidFill>
                  <a:srgbClr val="002060"/>
                </a:solidFill>
                <a:cs typeface="Arial" charset="0"/>
              </a:rPr>
              <a:t>lập</a:t>
            </a:r>
            <a:r>
              <a:rPr lang="en-US" sz="2400" dirty="0">
                <a:solidFill>
                  <a:srgbClr val="002060"/>
                </a:solidFill>
                <a:cs typeface="Arial" charset="0"/>
              </a:rPr>
              <a:t> </a:t>
            </a:r>
            <a:r>
              <a:rPr lang="en-US" sz="2400" dirty="0" err="1">
                <a:solidFill>
                  <a:srgbClr val="002060"/>
                </a:solidFill>
                <a:cs typeface="Arial" charset="0"/>
              </a:rPr>
              <a:t>trình</a:t>
            </a:r>
            <a:r>
              <a:rPr lang="en-US" sz="2400" dirty="0">
                <a:solidFill>
                  <a:srgbClr val="002060"/>
                </a:solidFill>
                <a:cs typeface="Arial" charset="0"/>
              </a:rPr>
              <a:t> C, </a:t>
            </a:r>
            <a:r>
              <a:rPr lang="en-US" sz="2400" dirty="0" err="1">
                <a:solidFill>
                  <a:srgbClr val="002060"/>
                </a:solidFill>
                <a:cs typeface="Arial" charset="0"/>
              </a:rPr>
              <a:t>kiểu</a:t>
            </a:r>
            <a:r>
              <a:rPr lang="en-US" sz="2400" dirty="0">
                <a:solidFill>
                  <a:srgbClr val="002060"/>
                </a:solidFill>
                <a:cs typeface="Arial" charset="0"/>
              </a:rPr>
              <a:t> </a:t>
            </a:r>
            <a:r>
              <a:rPr lang="en-US" sz="2400" dirty="0" err="1">
                <a:solidFill>
                  <a:srgbClr val="002060"/>
                </a:solidFill>
                <a:cs typeface="Arial" charset="0"/>
              </a:rPr>
              <a:t>số</a:t>
            </a:r>
            <a:r>
              <a:rPr lang="en-US" sz="2400" dirty="0">
                <a:solidFill>
                  <a:srgbClr val="002060"/>
                </a:solidFill>
                <a:cs typeface="Arial" charset="0"/>
              </a:rPr>
              <a:t> </a:t>
            </a:r>
            <a:r>
              <a:rPr lang="en-US" sz="2400" dirty="0" err="1">
                <a:solidFill>
                  <a:srgbClr val="002060"/>
                </a:solidFill>
                <a:cs typeface="Arial" charset="0"/>
              </a:rPr>
              <a:t>thực</a:t>
            </a:r>
            <a:r>
              <a:rPr lang="en-US" sz="2400" dirty="0">
                <a:solidFill>
                  <a:srgbClr val="002060"/>
                </a:solidFill>
                <a:cs typeface="Arial" charset="0"/>
              </a:rPr>
              <a:t> </a:t>
            </a:r>
            <a:r>
              <a:rPr lang="en-US" sz="2400" dirty="0" err="1">
                <a:solidFill>
                  <a:srgbClr val="002060"/>
                </a:solidFill>
                <a:cs typeface="Arial" charset="0"/>
              </a:rPr>
              <a:t>dùng</a:t>
            </a:r>
            <a:r>
              <a:rPr lang="en-US" sz="2400" dirty="0">
                <a:solidFill>
                  <a:srgbClr val="002060"/>
                </a:solidFill>
                <a:cs typeface="Arial" charset="0"/>
              </a:rPr>
              <a:t> </a:t>
            </a:r>
            <a:r>
              <a:rPr lang="en-US" sz="2400" dirty="0" err="1">
                <a:solidFill>
                  <a:srgbClr val="002060"/>
                </a:solidFill>
                <a:cs typeface="Arial" charset="0"/>
              </a:rPr>
              <a:t>để</a:t>
            </a:r>
            <a:r>
              <a:rPr lang="en-US" sz="2400" dirty="0">
                <a:solidFill>
                  <a:srgbClr val="002060"/>
                </a:solidFill>
                <a:cs typeface="Arial" charset="0"/>
              </a:rPr>
              <a:t> </a:t>
            </a:r>
            <a:r>
              <a:rPr lang="en-US" sz="2400" dirty="0" err="1">
                <a:solidFill>
                  <a:srgbClr val="002060"/>
                </a:solidFill>
                <a:cs typeface="Arial" charset="0"/>
              </a:rPr>
              <a:t>biểu</a:t>
            </a:r>
            <a:r>
              <a:rPr lang="en-US" sz="2400" dirty="0">
                <a:solidFill>
                  <a:srgbClr val="002060"/>
                </a:solidFill>
                <a:cs typeface="Arial" charset="0"/>
              </a:rPr>
              <a:t> </a:t>
            </a:r>
            <a:r>
              <a:rPr lang="en-US" sz="2400" dirty="0" err="1">
                <a:solidFill>
                  <a:srgbClr val="002060"/>
                </a:solidFill>
                <a:cs typeface="Arial" charset="0"/>
              </a:rPr>
              <a:t>diễn</a:t>
            </a:r>
            <a:r>
              <a:rPr lang="en-US" sz="2400" dirty="0">
                <a:solidFill>
                  <a:srgbClr val="002060"/>
                </a:solidFill>
                <a:cs typeface="Arial" charset="0"/>
              </a:rPr>
              <a:t> </a:t>
            </a:r>
            <a:r>
              <a:rPr lang="en-US" sz="2400" dirty="0" err="1">
                <a:solidFill>
                  <a:srgbClr val="002060"/>
                </a:solidFill>
                <a:cs typeface="Arial" charset="0"/>
              </a:rPr>
              <a:t>các</a:t>
            </a:r>
            <a:r>
              <a:rPr lang="en-US" sz="2400" dirty="0">
                <a:solidFill>
                  <a:srgbClr val="002060"/>
                </a:solidFill>
                <a:cs typeface="Arial" charset="0"/>
              </a:rPr>
              <a:t> </a:t>
            </a:r>
            <a:r>
              <a:rPr lang="en-US" sz="2400" dirty="0" err="1">
                <a:solidFill>
                  <a:srgbClr val="002060"/>
                </a:solidFill>
                <a:cs typeface="Arial" charset="0"/>
              </a:rPr>
              <a:t>số</a:t>
            </a:r>
            <a:r>
              <a:rPr lang="en-US" sz="2400" dirty="0">
                <a:solidFill>
                  <a:srgbClr val="002060"/>
                </a:solidFill>
                <a:cs typeface="Arial" charset="0"/>
              </a:rPr>
              <a:t> </a:t>
            </a:r>
            <a:r>
              <a:rPr lang="en-US" sz="2400" dirty="0" err="1">
                <a:solidFill>
                  <a:srgbClr val="002060"/>
                </a:solidFill>
                <a:cs typeface="Arial" charset="0"/>
              </a:rPr>
              <a:t>thực</a:t>
            </a:r>
            <a:r>
              <a:rPr lang="en-US" sz="2400" dirty="0">
                <a:solidFill>
                  <a:srgbClr val="002060"/>
                </a:solidFill>
                <a:cs typeface="Arial" charset="0"/>
              </a:rPr>
              <a:t> </a:t>
            </a:r>
            <a:r>
              <a:rPr lang="en-US" sz="2400" dirty="0" err="1">
                <a:solidFill>
                  <a:srgbClr val="002060"/>
                </a:solidFill>
                <a:cs typeface="Arial" charset="0"/>
              </a:rPr>
              <a:t>trong</a:t>
            </a:r>
            <a:r>
              <a:rPr lang="en-US" sz="2400" dirty="0">
                <a:solidFill>
                  <a:srgbClr val="002060"/>
                </a:solidFill>
                <a:cs typeface="Arial" charset="0"/>
              </a:rPr>
              <a:t> </a:t>
            </a:r>
            <a:r>
              <a:rPr lang="en-US" sz="2400" dirty="0" err="1">
                <a:solidFill>
                  <a:srgbClr val="002060"/>
                </a:solidFill>
                <a:cs typeface="Arial" charset="0"/>
              </a:rPr>
              <a:t>toán</a:t>
            </a:r>
            <a:r>
              <a:rPr lang="en-US" sz="2400" dirty="0">
                <a:solidFill>
                  <a:srgbClr val="002060"/>
                </a:solidFill>
                <a:cs typeface="Arial" charset="0"/>
              </a:rPr>
              <a:t> </a:t>
            </a:r>
            <a:r>
              <a:rPr lang="en-US" sz="2400" dirty="0" err="1">
                <a:solidFill>
                  <a:srgbClr val="002060"/>
                </a:solidFill>
                <a:cs typeface="Arial" charset="0"/>
              </a:rPr>
              <a:t>học</a:t>
            </a:r>
            <a:r>
              <a:rPr lang="en-US" sz="2400" dirty="0">
                <a:solidFill>
                  <a:srgbClr val="002060"/>
                </a:solidFill>
                <a:cs typeface="Arial" charset="0"/>
              </a:rPr>
              <a:t> (</a:t>
            </a:r>
            <a:r>
              <a:rPr lang="en-US" sz="2400" dirty="0" err="1">
                <a:solidFill>
                  <a:srgbClr val="002060"/>
                </a:solidFill>
                <a:cs typeface="Arial" charset="0"/>
              </a:rPr>
              <a:t>ví</a:t>
            </a:r>
            <a:r>
              <a:rPr lang="en-US" sz="2400" dirty="0">
                <a:solidFill>
                  <a:srgbClr val="002060"/>
                </a:solidFill>
                <a:cs typeface="Arial" charset="0"/>
              </a:rPr>
              <a:t> </a:t>
            </a:r>
            <a:r>
              <a:rPr lang="en-US" sz="2400" dirty="0" err="1">
                <a:solidFill>
                  <a:srgbClr val="002060"/>
                </a:solidFill>
                <a:cs typeface="Arial" charset="0"/>
              </a:rPr>
              <a:t>dụ</a:t>
            </a:r>
            <a:r>
              <a:rPr lang="en-US" sz="2400" dirty="0">
                <a:solidFill>
                  <a:srgbClr val="002060"/>
                </a:solidFill>
                <a:cs typeface="Arial" charset="0"/>
              </a:rPr>
              <a:t>: 3.14, -0.001, 2.71828).</a:t>
            </a:r>
          </a:p>
          <a:p>
            <a:pPr lvl="1">
              <a:buFontTx/>
              <a:buChar char="-"/>
            </a:pPr>
            <a:endParaRPr lang="en-US" sz="24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95BC8E2B-AE71-4D79-9F99-0B8FB7FBC878}" type="slidenum">
              <a:rPr lang="en-US" smtClean="0"/>
              <a:pPr>
                <a:defRPr/>
              </a:pPr>
              <a:t>5</a:t>
            </a:fld>
            <a:endParaRPr lang="en-US"/>
          </a:p>
        </p:txBody>
      </p:sp>
      <p:sp>
        <p:nvSpPr>
          <p:cNvPr id="2" name="Title 3">
            <a:extLst>
              <a:ext uri="{FF2B5EF4-FFF2-40B4-BE49-F238E27FC236}">
                <a16:creationId xmlns:a16="http://schemas.microsoft.com/office/drawing/2014/main" id="{327F8286-ADD2-E06C-38D2-D2444D5525F0}"/>
              </a:ext>
            </a:extLst>
          </p:cNvPr>
          <p:cNvSpPr>
            <a:spLocks noGrp="1"/>
          </p:cNvSpPr>
          <p:nvPr>
            <p:ph type="title"/>
          </p:nvPr>
        </p:nvSpPr>
        <p:spPr>
          <a:xfrm>
            <a:off x="0" y="-26145"/>
            <a:ext cx="12100957" cy="685801"/>
          </a:xfrm>
        </p:spPr>
        <p:txBody>
          <a:bodyPr>
            <a:normAutofit/>
          </a:bodyPr>
          <a:lstStyle/>
          <a:p>
            <a:r>
              <a:rPr lang="en-US" sz="3600"/>
              <a:t>2.1 Các kiểu dữ liệu cơ bản</a:t>
            </a:r>
            <a:endParaRPr lang="en-US" sz="3600" dirty="0"/>
          </a:p>
        </p:txBody>
      </p:sp>
      <p:pic>
        <p:nvPicPr>
          <p:cNvPr id="6" name="Picture 5">
            <a:extLst>
              <a:ext uri="{FF2B5EF4-FFF2-40B4-BE49-F238E27FC236}">
                <a16:creationId xmlns:a16="http://schemas.microsoft.com/office/drawing/2014/main" id="{5B726C23-EB4A-B9FD-53A3-832E9417A8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379689"/>
            <a:ext cx="9499597" cy="335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3486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type="body" idx="4294967295"/>
          </p:nvPr>
        </p:nvSpPr>
        <p:spPr>
          <a:xfrm>
            <a:off x="609600" y="924346"/>
            <a:ext cx="10972800" cy="4525963"/>
          </a:xfrm>
        </p:spPr>
        <p:txBody>
          <a:bodyPr>
            <a:normAutofit/>
          </a:bodyPr>
          <a:lstStyle/>
          <a:p>
            <a:r>
              <a:rPr lang="en-US" sz="2800" dirty="0" err="1">
                <a:solidFill>
                  <a:srgbClr val="002060"/>
                </a:solidFill>
                <a:cs typeface="Arial" charset="0"/>
              </a:rPr>
              <a:t>Các</a:t>
            </a:r>
            <a:r>
              <a:rPr lang="en-US" sz="2800" dirty="0">
                <a:solidFill>
                  <a:srgbClr val="002060"/>
                </a:solidFill>
                <a:cs typeface="Arial" charset="0"/>
              </a:rPr>
              <a:t> </a:t>
            </a:r>
            <a:r>
              <a:rPr lang="en-US" sz="2800" dirty="0" err="1">
                <a:solidFill>
                  <a:srgbClr val="002060"/>
                </a:solidFill>
                <a:cs typeface="Arial" charset="0"/>
              </a:rPr>
              <a:t>kiểu</a:t>
            </a:r>
            <a:r>
              <a:rPr lang="en-US" sz="2800" dirty="0">
                <a:solidFill>
                  <a:srgbClr val="002060"/>
                </a:solidFill>
                <a:cs typeface="Arial" charset="0"/>
              </a:rPr>
              <a:t> </a:t>
            </a:r>
            <a:r>
              <a:rPr lang="en-US" sz="2800" dirty="0" err="1">
                <a:solidFill>
                  <a:srgbClr val="002060"/>
                </a:solidFill>
                <a:cs typeface="Arial" charset="0"/>
              </a:rPr>
              <a:t>số</a:t>
            </a:r>
            <a:r>
              <a:rPr lang="en-US" sz="2800" dirty="0">
                <a:solidFill>
                  <a:srgbClr val="002060"/>
                </a:solidFill>
                <a:cs typeface="Arial" charset="0"/>
              </a:rPr>
              <a:t> </a:t>
            </a:r>
            <a:r>
              <a:rPr lang="en-US" sz="2800" dirty="0" err="1">
                <a:solidFill>
                  <a:srgbClr val="002060"/>
                </a:solidFill>
                <a:cs typeface="Arial" charset="0"/>
              </a:rPr>
              <a:t>thực</a:t>
            </a:r>
            <a:endParaRPr lang="en-US" sz="2800" dirty="0">
              <a:solidFill>
                <a:srgbClr val="002060"/>
              </a:solidFill>
              <a:cs typeface="Arial" charset="0"/>
            </a:endParaRPr>
          </a:p>
          <a:p>
            <a:pPr lvl="1">
              <a:buFontTx/>
              <a:buChar char="-"/>
            </a:pPr>
            <a:r>
              <a:rPr lang="en-AU" sz="2400" dirty="0" err="1">
                <a:solidFill>
                  <a:srgbClr val="002060"/>
                </a:solidFill>
                <a:cs typeface="Arial" charset="0"/>
              </a:rPr>
              <a:t>Cách</a:t>
            </a:r>
            <a:r>
              <a:rPr lang="en-AU" sz="2400" dirty="0">
                <a:solidFill>
                  <a:srgbClr val="002060"/>
                </a:solidFill>
                <a:cs typeface="Arial" charset="0"/>
              </a:rPr>
              <a:t> </a:t>
            </a:r>
            <a:r>
              <a:rPr lang="en-AU" sz="2400" dirty="0" err="1">
                <a:solidFill>
                  <a:srgbClr val="002060"/>
                </a:solidFill>
                <a:cs typeface="Arial" charset="0"/>
              </a:rPr>
              <a:t>viết</a:t>
            </a:r>
            <a:r>
              <a:rPr lang="en-AU" sz="2400" dirty="0">
                <a:solidFill>
                  <a:srgbClr val="002060"/>
                </a:solidFill>
                <a:cs typeface="Arial" charset="0"/>
              </a:rPr>
              <a:t> </a:t>
            </a:r>
            <a:r>
              <a:rPr lang="en-AU" sz="2400" dirty="0" err="1">
                <a:solidFill>
                  <a:srgbClr val="002060"/>
                </a:solidFill>
                <a:cs typeface="Arial" charset="0"/>
              </a:rPr>
              <a:t>giá</a:t>
            </a:r>
            <a:r>
              <a:rPr lang="en-AU" sz="2400" dirty="0">
                <a:solidFill>
                  <a:srgbClr val="002060"/>
                </a:solidFill>
                <a:cs typeface="Arial" charset="0"/>
              </a:rPr>
              <a:t> </a:t>
            </a:r>
            <a:r>
              <a:rPr lang="en-AU" sz="2400" dirty="0" err="1">
                <a:solidFill>
                  <a:srgbClr val="002060"/>
                </a:solidFill>
                <a:cs typeface="Arial" charset="0"/>
              </a:rPr>
              <a:t>trị</a:t>
            </a:r>
            <a:r>
              <a:rPr lang="en-AU" sz="2400" dirty="0">
                <a:solidFill>
                  <a:srgbClr val="002060"/>
                </a:solidFill>
                <a:cs typeface="Arial" charset="0"/>
              </a:rPr>
              <a:t> </a:t>
            </a:r>
            <a:r>
              <a:rPr lang="en-AU" sz="2400" dirty="0" err="1">
                <a:solidFill>
                  <a:srgbClr val="002060"/>
                </a:solidFill>
                <a:cs typeface="Arial" charset="0"/>
              </a:rPr>
              <a:t>thực</a:t>
            </a:r>
            <a:r>
              <a:rPr lang="en-AU" sz="2400" dirty="0">
                <a:solidFill>
                  <a:srgbClr val="002060"/>
                </a:solidFill>
                <a:cs typeface="Arial" charset="0"/>
              </a:rPr>
              <a:t> </a:t>
            </a:r>
            <a:r>
              <a:rPr lang="en-AU" sz="2400" dirty="0" err="1">
                <a:solidFill>
                  <a:srgbClr val="002060"/>
                </a:solidFill>
                <a:cs typeface="Arial" charset="0"/>
              </a:rPr>
              <a:t>trong</a:t>
            </a:r>
            <a:r>
              <a:rPr lang="en-AU" sz="2400" dirty="0">
                <a:solidFill>
                  <a:srgbClr val="002060"/>
                </a:solidFill>
                <a:cs typeface="Arial" charset="0"/>
              </a:rPr>
              <a:t> C:</a:t>
            </a:r>
          </a:p>
          <a:p>
            <a:pPr lvl="2">
              <a:buFontTx/>
              <a:buChar char="-"/>
            </a:pPr>
            <a:r>
              <a:rPr lang="en-US" sz="2200" dirty="0" err="1">
                <a:solidFill>
                  <a:srgbClr val="002060"/>
                </a:solidFill>
                <a:cs typeface="Arial" charset="0"/>
              </a:rPr>
              <a:t>Cách</a:t>
            </a:r>
            <a:r>
              <a:rPr lang="en-US" sz="2200" dirty="0">
                <a:solidFill>
                  <a:srgbClr val="002060"/>
                </a:solidFill>
                <a:cs typeface="Arial" charset="0"/>
              </a:rPr>
              <a:t> 1:  </a:t>
            </a:r>
            <a:r>
              <a:rPr lang="en-US" sz="2200" dirty="0" err="1">
                <a:solidFill>
                  <a:srgbClr val="002060"/>
                </a:solidFill>
                <a:cs typeface="Arial" charset="0"/>
              </a:rPr>
              <a:t>Thay</a:t>
            </a:r>
            <a:r>
              <a:rPr lang="en-US" sz="2200" dirty="0">
                <a:solidFill>
                  <a:srgbClr val="002060"/>
                </a:solidFill>
                <a:cs typeface="Arial" charset="0"/>
              </a:rPr>
              <a:t> </a:t>
            </a:r>
            <a:r>
              <a:rPr lang="en-US" sz="2200" dirty="0" err="1">
                <a:solidFill>
                  <a:srgbClr val="002060"/>
                </a:solidFill>
                <a:cs typeface="Arial" charset="0"/>
              </a:rPr>
              <a:t>dấu</a:t>
            </a:r>
            <a:r>
              <a:rPr lang="en-US" sz="2200" dirty="0">
                <a:solidFill>
                  <a:srgbClr val="002060"/>
                </a:solidFill>
                <a:cs typeface="Arial" charset="0"/>
              </a:rPr>
              <a:t> ‘,’ </a:t>
            </a:r>
            <a:r>
              <a:rPr lang="en-US" sz="2200" dirty="0" err="1">
                <a:solidFill>
                  <a:srgbClr val="002060"/>
                </a:solidFill>
                <a:cs typeface="Arial" charset="0"/>
              </a:rPr>
              <a:t>bằng</a:t>
            </a:r>
            <a:r>
              <a:rPr lang="en-US" sz="2200" dirty="0">
                <a:solidFill>
                  <a:srgbClr val="002060"/>
                </a:solidFill>
                <a:cs typeface="Arial" charset="0"/>
              </a:rPr>
              <a:t> </a:t>
            </a:r>
            <a:r>
              <a:rPr lang="en-US" sz="2200" dirty="0" err="1">
                <a:solidFill>
                  <a:srgbClr val="002060"/>
                </a:solidFill>
                <a:cs typeface="Arial" charset="0"/>
              </a:rPr>
              <a:t>dấu</a:t>
            </a:r>
            <a:r>
              <a:rPr lang="en-US" sz="2200" dirty="0">
                <a:solidFill>
                  <a:srgbClr val="002060"/>
                </a:solidFill>
                <a:cs typeface="Arial" charset="0"/>
              </a:rPr>
              <a:t> ‘.’</a:t>
            </a:r>
          </a:p>
          <a:p>
            <a:pPr marL="914400" lvl="2" indent="0">
              <a:buNone/>
            </a:pPr>
            <a:r>
              <a:rPr lang="en-US" sz="2200" dirty="0">
                <a:solidFill>
                  <a:srgbClr val="002060"/>
                </a:solidFill>
                <a:cs typeface="Arial" charset="0"/>
              </a:rPr>
              <a:t>	     </a:t>
            </a:r>
            <a:r>
              <a:rPr lang="en-US" sz="2200" i="1" dirty="0" err="1">
                <a:solidFill>
                  <a:srgbClr val="002060"/>
                </a:solidFill>
                <a:cs typeface="Arial" charset="0"/>
              </a:rPr>
              <a:t>Ví</a:t>
            </a:r>
            <a:r>
              <a:rPr lang="en-US" sz="2200" i="1" dirty="0">
                <a:solidFill>
                  <a:srgbClr val="002060"/>
                </a:solidFill>
                <a:cs typeface="Arial" charset="0"/>
              </a:rPr>
              <a:t> </a:t>
            </a:r>
            <a:r>
              <a:rPr lang="en-US" sz="2200" i="1" dirty="0" err="1">
                <a:solidFill>
                  <a:srgbClr val="002060"/>
                </a:solidFill>
                <a:cs typeface="Arial" charset="0"/>
              </a:rPr>
              <a:t>dụ</a:t>
            </a:r>
            <a:r>
              <a:rPr lang="en-US" sz="2200" i="1" dirty="0">
                <a:solidFill>
                  <a:srgbClr val="002060"/>
                </a:solidFill>
                <a:cs typeface="Arial" charset="0"/>
              </a:rPr>
              <a:t>:	</a:t>
            </a:r>
            <a:r>
              <a:rPr lang="en-US" sz="2200" i="1" dirty="0">
                <a:solidFill>
                  <a:srgbClr val="FF0000"/>
                </a:solidFill>
                <a:cs typeface="Arial" charset="0"/>
              </a:rPr>
              <a:t>3,14 =&gt; 3.14</a:t>
            </a:r>
            <a:endParaRPr lang="en-US" sz="2200" dirty="0">
              <a:solidFill>
                <a:srgbClr val="FF0000"/>
              </a:solidFill>
              <a:cs typeface="Arial" charset="0"/>
            </a:endParaRPr>
          </a:p>
          <a:p>
            <a:pPr lvl="2">
              <a:buFontTx/>
              <a:buChar char="-"/>
            </a:pPr>
            <a:r>
              <a:rPr lang="en-US" sz="2200" dirty="0" err="1">
                <a:solidFill>
                  <a:srgbClr val="002060"/>
                </a:solidFill>
                <a:cs typeface="Arial" charset="0"/>
              </a:rPr>
              <a:t>Cách</a:t>
            </a:r>
            <a:r>
              <a:rPr lang="en-US" sz="2200" dirty="0">
                <a:solidFill>
                  <a:srgbClr val="002060"/>
                </a:solidFill>
                <a:cs typeface="Arial" charset="0"/>
              </a:rPr>
              <a:t> 2:  </a:t>
            </a:r>
            <a:r>
              <a:rPr lang="en-US" sz="2200" dirty="0" err="1">
                <a:solidFill>
                  <a:srgbClr val="002060"/>
                </a:solidFill>
                <a:cs typeface="Arial" charset="0"/>
              </a:rPr>
              <a:t>Sử</a:t>
            </a:r>
            <a:r>
              <a:rPr lang="en-US" sz="2200" dirty="0">
                <a:solidFill>
                  <a:srgbClr val="002060"/>
                </a:solidFill>
                <a:cs typeface="Arial" charset="0"/>
              </a:rPr>
              <a:t> </a:t>
            </a:r>
            <a:r>
              <a:rPr lang="en-US" sz="2200" dirty="0" err="1">
                <a:solidFill>
                  <a:srgbClr val="002060"/>
                </a:solidFill>
                <a:cs typeface="Arial" charset="0"/>
              </a:rPr>
              <a:t>dụng</a:t>
            </a:r>
            <a:r>
              <a:rPr lang="en-US" sz="2200" dirty="0">
                <a:solidFill>
                  <a:srgbClr val="002060"/>
                </a:solidFill>
                <a:cs typeface="Arial" charset="0"/>
              </a:rPr>
              <a:t> </a:t>
            </a:r>
            <a:r>
              <a:rPr lang="en-US" sz="2200" dirty="0" err="1">
                <a:solidFill>
                  <a:srgbClr val="002060"/>
                </a:solidFill>
                <a:cs typeface="Arial" charset="0"/>
              </a:rPr>
              <a:t>ký</a:t>
            </a:r>
            <a:r>
              <a:rPr lang="en-US" sz="2200" dirty="0">
                <a:solidFill>
                  <a:srgbClr val="002060"/>
                </a:solidFill>
                <a:cs typeface="Arial" charset="0"/>
              </a:rPr>
              <a:t> </a:t>
            </a:r>
            <a:r>
              <a:rPr lang="en-US" sz="2200" dirty="0" err="1">
                <a:solidFill>
                  <a:srgbClr val="002060"/>
                </a:solidFill>
                <a:cs typeface="Arial" charset="0"/>
              </a:rPr>
              <a:t>pháp</a:t>
            </a:r>
            <a:r>
              <a:rPr lang="en-US" sz="2200" dirty="0">
                <a:solidFill>
                  <a:srgbClr val="002060"/>
                </a:solidFill>
                <a:cs typeface="Arial" charset="0"/>
              </a:rPr>
              <a:t> </a:t>
            </a:r>
            <a:r>
              <a:rPr lang="en-US" sz="2200" dirty="0" err="1">
                <a:solidFill>
                  <a:srgbClr val="002060"/>
                </a:solidFill>
                <a:cs typeface="Arial" charset="0"/>
              </a:rPr>
              <a:t>mũ</a:t>
            </a:r>
            <a:r>
              <a:rPr lang="en-US" sz="2200" dirty="0">
                <a:solidFill>
                  <a:srgbClr val="002060"/>
                </a:solidFill>
                <a:cs typeface="Arial" charset="0"/>
              </a:rPr>
              <a:t> khoa </a:t>
            </a:r>
            <a:r>
              <a:rPr lang="en-US" sz="2200" dirty="0" err="1">
                <a:solidFill>
                  <a:srgbClr val="002060"/>
                </a:solidFill>
                <a:cs typeface="Arial" charset="0"/>
              </a:rPr>
              <a:t>học</a:t>
            </a:r>
            <a:endParaRPr lang="en-US" sz="2200" dirty="0">
              <a:solidFill>
                <a:srgbClr val="002060"/>
              </a:solidFill>
              <a:cs typeface="Arial" charset="0"/>
            </a:endParaRPr>
          </a:p>
          <a:p>
            <a:pPr marL="1828800" lvl="4" indent="0">
              <a:buNone/>
            </a:pPr>
            <a:r>
              <a:rPr lang="en-US" sz="1800" dirty="0">
                <a:solidFill>
                  <a:srgbClr val="002060"/>
                </a:solidFill>
                <a:cs typeface="Arial" charset="0"/>
              </a:rPr>
              <a:t>      </a:t>
            </a:r>
            <a:r>
              <a:rPr lang="en-US" sz="2200" i="1" dirty="0" err="1">
                <a:solidFill>
                  <a:srgbClr val="002060"/>
                </a:solidFill>
                <a:cs typeface="Arial" charset="0"/>
              </a:rPr>
              <a:t>Ví</a:t>
            </a:r>
            <a:r>
              <a:rPr lang="en-US" sz="2200" i="1" dirty="0">
                <a:solidFill>
                  <a:srgbClr val="002060"/>
                </a:solidFill>
                <a:cs typeface="Arial" charset="0"/>
              </a:rPr>
              <a:t> </a:t>
            </a:r>
            <a:r>
              <a:rPr lang="en-US" sz="2200" i="1" dirty="0" err="1">
                <a:solidFill>
                  <a:srgbClr val="002060"/>
                </a:solidFill>
                <a:cs typeface="Arial" charset="0"/>
              </a:rPr>
              <a:t>dụ</a:t>
            </a:r>
            <a:r>
              <a:rPr lang="en-US" sz="2200" i="1" dirty="0">
                <a:solidFill>
                  <a:srgbClr val="002060"/>
                </a:solidFill>
                <a:cs typeface="Arial" charset="0"/>
              </a:rPr>
              <a:t>: 	</a:t>
            </a:r>
            <a:r>
              <a:rPr lang="en-US" sz="2200" i="1" dirty="0">
                <a:solidFill>
                  <a:srgbClr val="FF0000"/>
                </a:solidFill>
                <a:cs typeface="Arial" charset="0"/>
              </a:rPr>
              <a:t>0,00005 =&gt; 0.5E-4</a:t>
            </a:r>
            <a:endParaRPr lang="en-US" sz="1800" i="1" dirty="0">
              <a:solidFill>
                <a:srgbClr val="FF0000"/>
              </a:solidFill>
              <a:cs typeface="Arial" charset="0"/>
            </a:endParaRPr>
          </a:p>
          <a:p>
            <a:pPr marL="914400" lvl="2" indent="0">
              <a:buNone/>
            </a:pPr>
            <a:endParaRPr lang="en-US" sz="22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95BC8E2B-AE71-4D79-9F99-0B8FB7FBC878}" type="slidenum">
              <a:rPr lang="en-US" smtClean="0"/>
              <a:pPr>
                <a:defRPr/>
              </a:pPr>
              <a:t>6</a:t>
            </a:fld>
            <a:endParaRPr lang="en-US"/>
          </a:p>
        </p:txBody>
      </p:sp>
      <p:sp>
        <p:nvSpPr>
          <p:cNvPr id="2" name="Title 3">
            <a:extLst>
              <a:ext uri="{FF2B5EF4-FFF2-40B4-BE49-F238E27FC236}">
                <a16:creationId xmlns:a16="http://schemas.microsoft.com/office/drawing/2014/main" id="{327F8286-ADD2-E06C-38D2-D2444D5525F0}"/>
              </a:ext>
            </a:extLst>
          </p:cNvPr>
          <p:cNvSpPr>
            <a:spLocks noGrp="1"/>
          </p:cNvSpPr>
          <p:nvPr>
            <p:ph type="title"/>
          </p:nvPr>
        </p:nvSpPr>
        <p:spPr>
          <a:xfrm>
            <a:off x="0" y="-26145"/>
            <a:ext cx="12100957" cy="685801"/>
          </a:xfrm>
        </p:spPr>
        <p:txBody>
          <a:bodyPr>
            <a:normAutofit/>
          </a:bodyPr>
          <a:lstStyle/>
          <a:p>
            <a:r>
              <a:rPr lang="en-US" sz="3600"/>
              <a:t>2.1 Các kiểu dữ liệu cơ bản</a:t>
            </a:r>
            <a:endParaRPr lang="en-US" sz="3600" dirty="0"/>
          </a:p>
        </p:txBody>
      </p:sp>
      <p:pic>
        <p:nvPicPr>
          <p:cNvPr id="6" name="Picture 5">
            <a:extLst>
              <a:ext uri="{FF2B5EF4-FFF2-40B4-BE49-F238E27FC236}">
                <a16:creationId xmlns:a16="http://schemas.microsoft.com/office/drawing/2014/main" id="{816F040B-74D2-FF8D-D345-9B0973767690}"/>
              </a:ext>
            </a:extLst>
          </p:cNvPr>
          <p:cNvPicPr>
            <a:picLocks noChangeAspect="1"/>
          </p:cNvPicPr>
          <p:nvPr/>
        </p:nvPicPr>
        <p:blipFill>
          <a:blip r:embed="rId3"/>
          <a:stretch>
            <a:fillRect/>
          </a:stretch>
        </p:blipFill>
        <p:spPr>
          <a:xfrm>
            <a:off x="762000" y="3485213"/>
            <a:ext cx="9477390" cy="2448441"/>
          </a:xfrm>
          <a:prstGeom prst="rect">
            <a:avLst/>
          </a:prstGeom>
        </p:spPr>
      </p:pic>
    </p:spTree>
    <p:extLst>
      <p:ext uri="{BB962C8B-B14F-4D97-AF65-F5344CB8AC3E}">
        <p14:creationId xmlns:p14="http://schemas.microsoft.com/office/powerpoint/2010/main" val="1240768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type="body" idx="4294967295"/>
          </p:nvPr>
        </p:nvSpPr>
        <p:spPr>
          <a:xfrm>
            <a:off x="609600" y="924346"/>
            <a:ext cx="10972800" cy="4525963"/>
          </a:xfrm>
        </p:spPr>
        <p:txBody>
          <a:bodyPr>
            <a:normAutofit/>
          </a:bodyPr>
          <a:lstStyle/>
          <a:p>
            <a:r>
              <a:rPr lang="en-US" sz="2800" dirty="0" err="1">
                <a:solidFill>
                  <a:srgbClr val="002060"/>
                </a:solidFill>
                <a:cs typeface="Arial" charset="0"/>
              </a:rPr>
              <a:t>Kiểu</a:t>
            </a:r>
            <a:r>
              <a:rPr lang="en-US" sz="2800" dirty="0">
                <a:solidFill>
                  <a:srgbClr val="002060"/>
                </a:solidFill>
                <a:cs typeface="Arial" charset="0"/>
              </a:rPr>
              <a:t> </a:t>
            </a:r>
            <a:r>
              <a:rPr lang="en-US" sz="2800" dirty="0" err="1">
                <a:solidFill>
                  <a:srgbClr val="002060"/>
                </a:solidFill>
                <a:cs typeface="Arial" charset="0"/>
              </a:rPr>
              <a:t>không</a:t>
            </a:r>
            <a:r>
              <a:rPr lang="en-US" sz="2800" dirty="0">
                <a:solidFill>
                  <a:srgbClr val="002060"/>
                </a:solidFill>
                <a:cs typeface="Arial" charset="0"/>
              </a:rPr>
              <a:t> </a:t>
            </a:r>
            <a:r>
              <a:rPr lang="en-US" sz="2800" dirty="0" err="1">
                <a:solidFill>
                  <a:srgbClr val="002060"/>
                </a:solidFill>
                <a:cs typeface="Arial" charset="0"/>
              </a:rPr>
              <a:t>giá</a:t>
            </a:r>
            <a:r>
              <a:rPr lang="en-US" sz="2800" dirty="0">
                <a:solidFill>
                  <a:srgbClr val="002060"/>
                </a:solidFill>
                <a:cs typeface="Arial" charset="0"/>
              </a:rPr>
              <a:t> </a:t>
            </a:r>
            <a:r>
              <a:rPr lang="en-US" sz="2800" dirty="0" err="1">
                <a:solidFill>
                  <a:srgbClr val="002060"/>
                </a:solidFill>
                <a:cs typeface="Arial" charset="0"/>
              </a:rPr>
              <a:t>trị</a:t>
            </a:r>
            <a:r>
              <a:rPr lang="en-US" sz="2800" dirty="0">
                <a:solidFill>
                  <a:srgbClr val="002060"/>
                </a:solidFill>
                <a:cs typeface="Arial" charset="0"/>
              </a:rPr>
              <a:t>: </a:t>
            </a:r>
            <a:r>
              <a:rPr lang="en-US" sz="2800" i="1" dirty="0">
                <a:solidFill>
                  <a:srgbClr val="002060"/>
                </a:solidFill>
                <a:cs typeface="Arial" charset="0"/>
              </a:rPr>
              <a:t>void</a:t>
            </a:r>
            <a:endParaRPr lang="en-US" sz="2400" i="1" dirty="0">
              <a:solidFill>
                <a:srgbClr val="002060"/>
              </a:solidFill>
              <a:cs typeface="Arial" charset="0"/>
            </a:endParaRPr>
          </a:p>
          <a:p>
            <a:pPr lvl="1"/>
            <a:r>
              <a:rPr lang="en-US" sz="2400" dirty="0">
                <a:solidFill>
                  <a:srgbClr val="002060"/>
                </a:solidFill>
                <a:cs typeface="Arial" charset="0"/>
              </a:rPr>
              <a:t>Void: </a:t>
            </a:r>
            <a:r>
              <a:rPr lang="en-US" sz="2400" dirty="0" err="1">
                <a:solidFill>
                  <a:srgbClr val="002060"/>
                </a:solidFill>
                <a:cs typeface="Arial" charset="0"/>
              </a:rPr>
              <a:t>có</a:t>
            </a:r>
            <a:r>
              <a:rPr lang="en-US" sz="2400" dirty="0">
                <a:solidFill>
                  <a:srgbClr val="002060"/>
                </a:solidFill>
                <a:cs typeface="Arial" charset="0"/>
              </a:rPr>
              <a:t> </a:t>
            </a:r>
            <a:r>
              <a:rPr lang="en-US" sz="2400" dirty="0" err="1">
                <a:solidFill>
                  <a:srgbClr val="002060"/>
                </a:solidFill>
                <a:cs typeface="Arial" charset="0"/>
              </a:rPr>
              <a:t>nghĩa</a:t>
            </a:r>
            <a:r>
              <a:rPr lang="en-US" sz="2400" dirty="0">
                <a:solidFill>
                  <a:srgbClr val="002060"/>
                </a:solidFill>
                <a:cs typeface="Arial" charset="0"/>
              </a:rPr>
              <a:t> </a:t>
            </a:r>
            <a:r>
              <a:rPr lang="en-US" sz="2400" dirty="0" err="1">
                <a:solidFill>
                  <a:srgbClr val="002060"/>
                </a:solidFill>
                <a:cs typeface="Arial" charset="0"/>
              </a:rPr>
              <a:t>là</a:t>
            </a:r>
            <a:r>
              <a:rPr lang="en-US" sz="2400" dirty="0">
                <a:solidFill>
                  <a:srgbClr val="002060"/>
                </a:solidFill>
                <a:cs typeface="Arial" charset="0"/>
              </a:rPr>
              <a:t> “</a:t>
            </a:r>
            <a:r>
              <a:rPr lang="en-US" sz="2400" dirty="0" err="1">
                <a:solidFill>
                  <a:srgbClr val="002060"/>
                </a:solidFill>
                <a:cs typeface="Arial" charset="0"/>
              </a:rPr>
              <a:t>không</a:t>
            </a:r>
            <a:r>
              <a:rPr lang="en-US" sz="2400" dirty="0">
                <a:solidFill>
                  <a:srgbClr val="002060"/>
                </a:solidFill>
                <a:cs typeface="Arial" charset="0"/>
              </a:rPr>
              <a:t> </a:t>
            </a:r>
            <a:r>
              <a:rPr lang="en-US" sz="2400" dirty="0" err="1">
                <a:solidFill>
                  <a:srgbClr val="002060"/>
                </a:solidFill>
                <a:cs typeface="Arial" charset="0"/>
              </a:rPr>
              <a:t>có</a:t>
            </a:r>
            <a:r>
              <a:rPr lang="en-US" sz="2400" dirty="0">
                <a:solidFill>
                  <a:srgbClr val="002060"/>
                </a:solidFill>
                <a:cs typeface="Arial" charset="0"/>
              </a:rPr>
              <a:t> </a:t>
            </a:r>
            <a:r>
              <a:rPr lang="en-US" sz="2400" dirty="0" err="1">
                <a:solidFill>
                  <a:srgbClr val="002060"/>
                </a:solidFill>
                <a:cs typeface="Arial" charset="0"/>
              </a:rPr>
              <a:t>giá</a:t>
            </a:r>
            <a:r>
              <a:rPr lang="en-US" sz="2400" dirty="0">
                <a:solidFill>
                  <a:srgbClr val="002060"/>
                </a:solidFill>
                <a:cs typeface="Arial" charset="0"/>
              </a:rPr>
              <a:t> </a:t>
            </a:r>
            <a:r>
              <a:rPr lang="en-US" sz="2400" dirty="0" err="1">
                <a:solidFill>
                  <a:srgbClr val="002060"/>
                </a:solidFill>
                <a:cs typeface="Arial" charset="0"/>
              </a:rPr>
              <a:t>trị</a:t>
            </a:r>
            <a:r>
              <a:rPr lang="en-US" sz="2400" dirty="0">
                <a:solidFill>
                  <a:srgbClr val="002060"/>
                </a:solidFill>
                <a:cs typeface="Arial" charset="0"/>
              </a:rPr>
              <a:t>” </a:t>
            </a:r>
            <a:r>
              <a:rPr lang="en-US" sz="2400" dirty="0" err="1">
                <a:solidFill>
                  <a:srgbClr val="002060"/>
                </a:solidFill>
                <a:cs typeface="Arial" charset="0"/>
              </a:rPr>
              <a:t>hoặc</a:t>
            </a:r>
            <a:r>
              <a:rPr lang="en-US" sz="2400" dirty="0">
                <a:solidFill>
                  <a:srgbClr val="002060"/>
                </a:solidFill>
                <a:cs typeface="Arial" charset="0"/>
              </a:rPr>
              <a:t> “</a:t>
            </a:r>
            <a:r>
              <a:rPr lang="en-US" sz="2400" dirty="0" err="1">
                <a:solidFill>
                  <a:srgbClr val="002060"/>
                </a:solidFill>
                <a:cs typeface="Arial" charset="0"/>
              </a:rPr>
              <a:t>không</a:t>
            </a:r>
            <a:r>
              <a:rPr lang="en-US" sz="2400" dirty="0">
                <a:solidFill>
                  <a:srgbClr val="002060"/>
                </a:solidFill>
                <a:cs typeface="Arial" charset="0"/>
              </a:rPr>
              <a:t> </a:t>
            </a:r>
            <a:r>
              <a:rPr lang="en-US" sz="2400" dirty="0" err="1">
                <a:solidFill>
                  <a:srgbClr val="002060"/>
                </a:solidFill>
                <a:cs typeface="Arial" charset="0"/>
              </a:rPr>
              <a:t>xác</a:t>
            </a:r>
            <a:r>
              <a:rPr lang="en-US" sz="2400" dirty="0">
                <a:solidFill>
                  <a:srgbClr val="002060"/>
                </a:solidFill>
                <a:cs typeface="Arial" charset="0"/>
              </a:rPr>
              <a:t> </a:t>
            </a:r>
            <a:r>
              <a:rPr lang="en-US" sz="2400" dirty="0" err="1">
                <a:solidFill>
                  <a:srgbClr val="002060"/>
                </a:solidFill>
                <a:cs typeface="Arial" charset="0"/>
              </a:rPr>
              <a:t>định</a:t>
            </a:r>
            <a:r>
              <a:rPr lang="en-US" sz="2400" dirty="0">
                <a:solidFill>
                  <a:srgbClr val="002060"/>
                </a:solidFill>
                <a:cs typeface="Arial" charset="0"/>
              </a:rPr>
              <a:t> </a:t>
            </a:r>
            <a:r>
              <a:rPr lang="en-US" sz="2400" dirty="0" err="1">
                <a:solidFill>
                  <a:srgbClr val="002060"/>
                </a:solidFill>
                <a:cs typeface="Arial" charset="0"/>
              </a:rPr>
              <a:t>kiểu</a:t>
            </a:r>
            <a:r>
              <a:rPr lang="en-US" sz="2400" dirty="0">
                <a:solidFill>
                  <a:srgbClr val="002060"/>
                </a:solidFill>
                <a:cs typeface="Arial" charset="0"/>
              </a:rPr>
              <a:t>”.</a:t>
            </a:r>
          </a:p>
          <a:p>
            <a:pPr lvl="1"/>
            <a:r>
              <a:rPr lang="en-US" sz="2400" dirty="0">
                <a:solidFill>
                  <a:srgbClr val="002060"/>
                </a:solidFill>
                <a:cs typeface="Arial" charset="0"/>
              </a:rPr>
              <a:t>Void </a:t>
            </a:r>
            <a:r>
              <a:rPr lang="en-US" sz="2400" dirty="0" err="1">
                <a:solidFill>
                  <a:srgbClr val="002060"/>
                </a:solidFill>
                <a:cs typeface="Arial" charset="0"/>
              </a:rPr>
              <a:t>là</a:t>
            </a:r>
            <a:r>
              <a:rPr lang="en-US" sz="2400" dirty="0">
                <a:solidFill>
                  <a:srgbClr val="002060"/>
                </a:solidFill>
                <a:cs typeface="Arial" charset="0"/>
              </a:rPr>
              <a:t> </a:t>
            </a:r>
            <a:r>
              <a:rPr lang="en-US" sz="2400" dirty="0" err="1">
                <a:solidFill>
                  <a:srgbClr val="002060"/>
                </a:solidFill>
                <a:cs typeface="Arial" charset="0"/>
              </a:rPr>
              <a:t>một</a:t>
            </a:r>
            <a:r>
              <a:rPr lang="en-US" sz="2400" dirty="0">
                <a:solidFill>
                  <a:srgbClr val="002060"/>
                </a:solidFill>
                <a:cs typeface="Arial" charset="0"/>
              </a:rPr>
              <a:t> </a:t>
            </a:r>
            <a:r>
              <a:rPr lang="en-US" sz="2400" dirty="0" err="1">
                <a:solidFill>
                  <a:srgbClr val="002060"/>
                </a:solidFill>
                <a:cs typeface="Arial" charset="0"/>
              </a:rPr>
              <a:t>kiểu</a:t>
            </a:r>
            <a:r>
              <a:rPr lang="en-US" sz="2400" dirty="0">
                <a:solidFill>
                  <a:srgbClr val="002060"/>
                </a:solidFill>
                <a:cs typeface="Arial" charset="0"/>
              </a:rPr>
              <a:t> </a:t>
            </a:r>
            <a:r>
              <a:rPr lang="en-US" sz="2400" dirty="0" err="1">
                <a:solidFill>
                  <a:srgbClr val="002060"/>
                </a:solidFill>
                <a:cs typeface="Arial" charset="0"/>
              </a:rPr>
              <a:t>dữ</a:t>
            </a:r>
            <a:r>
              <a:rPr lang="en-US" sz="2400" dirty="0">
                <a:solidFill>
                  <a:srgbClr val="002060"/>
                </a:solidFill>
                <a:cs typeface="Arial" charset="0"/>
              </a:rPr>
              <a:t> </a:t>
            </a:r>
            <a:r>
              <a:rPr lang="en-US" sz="2400" dirty="0" err="1">
                <a:solidFill>
                  <a:srgbClr val="002060"/>
                </a:solidFill>
                <a:cs typeface="Arial" charset="0"/>
              </a:rPr>
              <a:t>liệu</a:t>
            </a:r>
            <a:r>
              <a:rPr lang="en-US" sz="2400" dirty="0">
                <a:solidFill>
                  <a:srgbClr val="002060"/>
                </a:solidFill>
                <a:cs typeface="Arial" charset="0"/>
              </a:rPr>
              <a:t> </a:t>
            </a:r>
            <a:r>
              <a:rPr lang="en-US" sz="2400" dirty="0" err="1">
                <a:solidFill>
                  <a:srgbClr val="002060"/>
                </a:solidFill>
                <a:cs typeface="Arial" charset="0"/>
              </a:rPr>
              <a:t>đặc</a:t>
            </a:r>
            <a:r>
              <a:rPr lang="en-US" sz="2400" dirty="0">
                <a:solidFill>
                  <a:srgbClr val="002060"/>
                </a:solidFill>
                <a:cs typeface="Arial" charset="0"/>
              </a:rPr>
              <a:t> </a:t>
            </a:r>
            <a:r>
              <a:rPr lang="en-US" sz="2400" dirty="0" err="1">
                <a:solidFill>
                  <a:srgbClr val="002060"/>
                </a:solidFill>
                <a:cs typeface="Arial" charset="0"/>
              </a:rPr>
              <a:t>biệt</a:t>
            </a:r>
            <a:r>
              <a:rPr lang="en-US" sz="2400" dirty="0">
                <a:solidFill>
                  <a:srgbClr val="002060"/>
                </a:solidFill>
                <a:cs typeface="Arial" charset="0"/>
              </a:rPr>
              <a:t> </a:t>
            </a:r>
            <a:r>
              <a:rPr lang="en-US" sz="2400" dirty="0" err="1">
                <a:solidFill>
                  <a:srgbClr val="002060"/>
                </a:solidFill>
                <a:cs typeface="Arial" charset="0"/>
              </a:rPr>
              <a:t>trong</a:t>
            </a:r>
            <a:r>
              <a:rPr lang="en-US" sz="2400" dirty="0">
                <a:solidFill>
                  <a:srgbClr val="002060"/>
                </a:solidFill>
                <a:cs typeface="Arial" charset="0"/>
              </a:rPr>
              <a:t> C. </a:t>
            </a:r>
            <a:r>
              <a:rPr lang="en-US" sz="2400" dirty="0" err="1">
                <a:solidFill>
                  <a:srgbClr val="002060"/>
                </a:solidFill>
                <a:cs typeface="Arial" charset="0"/>
              </a:rPr>
              <a:t>Kiểu</a:t>
            </a:r>
            <a:r>
              <a:rPr lang="en-US" sz="2400" dirty="0">
                <a:solidFill>
                  <a:srgbClr val="002060"/>
                </a:solidFill>
                <a:cs typeface="Arial" charset="0"/>
              </a:rPr>
              <a:t> </a:t>
            </a:r>
            <a:r>
              <a:rPr lang="en-US" sz="2400" dirty="0" err="1">
                <a:solidFill>
                  <a:srgbClr val="002060"/>
                </a:solidFill>
                <a:cs typeface="Arial" charset="0"/>
              </a:rPr>
              <a:t>dữ</a:t>
            </a:r>
            <a:r>
              <a:rPr lang="en-US" sz="2400" dirty="0">
                <a:solidFill>
                  <a:srgbClr val="002060"/>
                </a:solidFill>
                <a:cs typeface="Arial" charset="0"/>
              </a:rPr>
              <a:t> </a:t>
            </a:r>
            <a:r>
              <a:rPr lang="en-US" sz="2400" dirty="0" err="1">
                <a:solidFill>
                  <a:srgbClr val="002060"/>
                </a:solidFill>
                <a:cs typeface="Arial" charset="0"/>
              </a:rPr>
              <a:t>liệu</a:t>
            </a:r>
            <a:r>
              <a:rPr lang="en-US" sz="2400" dirty="0">
                <a:solidFill>
                  <a:srgbClr val="002060"/>
                </a:solidFill>
                <a:cs typeface="Arial" charset="0"/>
              </a:rPr>
              <a:t> </a:t>
            </a:r>
            <a:r>
              <a:rPr lang="en-US" sz="2400" dirty="0" err="1">
                <a:solidFill>
                  <a:srgbClr val="002060"/>
                </a:solidFill>
                <a:cs typeface="Arial" charset="0"/>
              </a:rPr>
              <a:t>này</a:t>
            </a:r>
            <a:r>
              <a:rPr lang="en-US" sz="2400" dirty="0">
                <a:solidFill>
                  <a:srgbClr val="002060"/>
                </a:solidFill>
                <a:cs typeface="Arial" charset="0"/>
              </a:rPr>
              <a:t> </a:t>
            </a:r>
            <a:r>
              <a:rPr lang="en-US" sz="2400" dirty="0" err="1">
                <a:solidFill>
                  <a:srgbClr val="002060"/>
                </a:solidFill>
                <a:cs typeface="Arial" charset="0"/>
              </a:rPr>
              <a:t>thường</a:t>
            </a:r>
            <a:r>
              <a:rPr lang="en-US" sz="2400" dirty="0">
                <a:solidFill>
                  <a:srgbClr val="002060"/>
                </a:solidFill>
                <a:cs typeface="Arial" charset="0"/>
              </a:rPr>
              <a:t> </a:t>
            </a:r>
            <a:r>
              <a:rPr lang="en-US" sz="2400" dirty="0" err="1">
                <a:solidFill>
                  <a:srgbClr val="002060"/>
                </a:solidFill>
                <a:cs typeface="Arial" charset="0"/>
              </a:rPr>
              <a:t>được</a:t>
            </a:r>
            <a:r>
              <a:rPr lang="en-US" sz="2400" dirty="0">
                <a:solidFill>
                  <a:srgbClr val="002060"/>
                </a:solidFill>
                <a:cs typeface="Arial" charset="0"/>
              </a:rPr>
              <a:t> </a:t>
            </a:r>
            <a:r>
              <a:rPr lang="en-US" sz="2400" dirty="0" err="1">
                <a:solidFill>
                  <a:srgbClr val="002060"/>
                </a:solidFill>
                <a:cs typeface="Arial" charset="0"/>
              </a:rPr>
              <a:t>dùng</a:t>
            </a:r>
            <a:r>
              <a:rPr lang="en-US" sz="2400" dirty="0">
                <a:solidFill>
                  <a:srgbClr val="002060"/>
                </a:solidFill>
                <a:cs typeface="Arial" charset="0"/>
              </a:rPr>
              <a:t> </a:t>
            </a:r>
            <a:r>
              <a:rPr lang="en-US" sz="2400" dirty="0" err="1">
                <a:solidFill>
                  <a:srgbClr val="002060"/>
                </a:solidFill>
                <a:cs typeface="Arial" charset="0"/>
              </a:rPr>
              <a:t>để</a:t>
            </a:r>
            <a:r>
              <a:rPr lang="en-US" sz="2400" dirty="0">
                <a:solidFill>
                  <a:srgbClr val="002060"/>
                </a:solidFill>
                <a:cs typeface="Arial" charset="0"/>
              </a:rPr>
              <a:t> </a:t>
            </a:r>
            <a:r>
              <a:rPr lang="en-US" sz="2400" dirty="0" err="1">
                <a:solidFill>
                  <a:srgbClr val="002060"/>
                </a:solidFill>
                <a:cs typeface="Arial" charset="0"/>
              </a:rPr>
              <a:t>biểu</a:t>
            </a:r>
            <a:r>
              <a:rPr lang="en-US" sz="2400" dirty="0">
                <a:solidFill>
                  <a:srgbClr val="002060"/>
                </a:solidFill>
                <a:cs typeface="Arial" charset="0"/>
              </a:rPr>
              <a:t> </a:t>
            </a:r>
            <a:r>
              <a:rPr lang="en-US" sz="2400" dirty="0" err="1">
                <a:solidFill>
                  <a:srgbClr val="002060"/>
                </a:solidFill>
                <a:cs typeface="Arial" charset="0"/>
              </a:rPr>
              <a:t>diễn</a:t>
            </a:r>
            <a:r>
              <a:rPr lang="en-US" sz="2400" dirty="0">
                <a:solidFill>
                  <a:srgbClr val="002060"/>
                </a:solidFill>
                <a:cs typeface="Arial" charset="0"/>
              </a:rPr>
              <a:t>/</a:t>
            </a:r>
            <a:r>
              <a:rPr lang="en-US" sz="2400" dirty="0" err="1">
                <a:solidFill>
                  <a:srgbClr val="002060"/>
                </a:solidFill>
                <a:cs typeface="Arial" charset="0"/>
              </a:rPr>
              <a:t>khai</a:t>
            </a:r>
            <a:r>
              <a:rPr lang="en-US" sz="2400" dirty="0">
                <a:solidFill>
                  <a:srgbClr val="002060"/>
                </a:solidFill>
                <a:cs typeface="Arial" charset="0"/>
              </a:rPr>
              <a:t> </a:t>
            </a:r>
            <a:r>
              <a:rPr lang="en-US" sz="2400" dirty="0" err="1">
                <a:solidFill>
                  <a:srgbClr val="002060"/>
                </a:solidFill>
                <a:cs typeface="Arial" charset="0"/>
              </a:rPr>
              <a:t>báo</a:t>
            </a:r>
            <a:r>
              <a:rPr lang="en-US" sz="2400" dirty="0">
                <a:solidFill>
                  <a:srgbClr val="002060"/>
                </a:solidFill>
                <a:cs typeface="Arial" charset="0"/>
              </a:rPr>
              <a:t> </a:t>
            </a:r>
            <a:r>
              <a:rPr lang="en-US" sz="2400" dirty="0" err="1">
                <a:solidFill>
                  <a:srgbClr val="002060"/>
                </a:solidFill>
                <a:cs typeface="Arial" charset="0"/>
              </a:rPr>
              <a:t>hàm</a:t>
            </a:r>
            <a:r>
              <a:rPr lang="en-US" sz="2400" dirty="0">
                <a:solidFill>
                  <a:srgbClr val="002060"/>
                </a:solidFill>
                <a:cs typeface="Arial" charset="0"/>
              </a:rPr>
              <a:t> </a:t>
            </a:r>
            <a:r>
              <a:rPr lang="en-US" sz="2400" dirty="0" err="1">
                <a:solidFill>
                  <a:srgbClr val="002060"/>
                </a:solidFill>
                <a:cs typeface="Arial" charset="0"/>
              </a:rPr>
              <a:t>không</a:t>
            </a:r>
            <a:r>
              <a:rPr lang="en-US" sz="2400" dirty="0">
                <a:solidFill>
                  <a:srgbClr val="002060"/>
                </a:solidFill>
                <a:cs typeface="Arial" charset="0"/>
              </a:rPr>
              <a:t> </a:t>
            </a:r>
            <a:r>
              <a:rPr lang="en-US" sz="2400" dirty="0" err="1">
                <a:solidFill>
                  <a:srgbClr val="002060"/>
                </a:solidFill>
                <a:cs typeface="Arial" charset="0"/>
              </a:rPr>
              <a:t>trả</a:t>
            </a:r>
            <a:r>
              <a:rPr lang="en-US" sz="2400" dirty="0">
                <a:solidFill>
                  <a:srgbClr val="002060"/>
                </a:solidFill>
                <a:cs typeface="Arial" charset="0"/>
              </a:rPr>
              <a:t> </a:t>
            </a:r>
            <a:r>
              <a:rPr lang="en-US" sz="2400" dirty="0" err="1">
                <a:solidFill>
                  <a:srgbClr val="002060"/>
                </a:solidFill>
                <a:cs typeface="Arial" charset="0"/>
              </a:rPr>
              <a:t>về</a:t>
            </a:r>
            <a:r>
              <a:rPr lang="en-US" sz="2400" dirty="0">
                <a:solidFill>
                  <a:srgbClr val="002060"/>
                </a:solidFill>
                <a:cs typeface="Arial" charset="0"/>
              </a:rPr>
              <a:t> </a:t>
            </a:r>
            <a:r>
              <a:rPr lang="en-US" sz="2400" dirty="0" err="1">
                <a:solidFill>
                  <a:srgbClr val="002060"/>
                </a:solidFill>
                <a:cs typeface="Arial" charset="0"/>
              </a:rPr>
              <a:t>giá</a:t>
            </a:r>
            <a:r>
              <a:rPr lang="en-US" sz="2400" dirty="0">
                <a:solidFill>
                  <a:srgbClr val="002060"/>
                </a:solidFill>
                <a:cs typeface="Arial" charset="0"/>
              </a:rPr>
              <a:t> </a:t>
            </a:r>
            <a:r>
              <a:rPr lang="en-US" sz="2400" dirty="0" err="1">
                <a:solidFill>
                  <a:srgbClr val="002060"/>
                </a:solidFill>
                <a:cs typeface="Arial" charset="0"/>
              </a:rPr>
              <a:t>trị</a:t>
            </a:r>
            <a:r>
              <a:rPr lang="en-US" sz="2400" dirty="0">
                <a:solidFill>
                  <a:srgbClr val="002060"/>
                </a:solidFill>
                <a:cs typeface="Arial" charset="0"/>
              </a:rPr>
              <a:t> </a:t>
            </a:r>
            <a:r>
              <a:rPr lang="en-US" sz="2400" dirty="0" err="1">
                <a:solidFill>
                  <a:srgbClr val="002060"/>
                </a:solidFill>
                <a:cs typeface="Arial" charset="0"/>
              </a:rPr>
              <a:t>nào</a:t>
            </a:r>
            <a:r>
              <a:rPr lang="en-US" sz="2400" dirty="0">
                <a:solidFill>
                  <a:srgbClr val="002060"/>
                </a:solidFill>
                <a:cs typeface="Arial" charset="0"/>
              </a:rPr>
              <a:t>. </a:t>
            </a:r>
            <a:endParaRPr lang="en-US" sz="2200" dirty="0">
              <a:solidFill>
                <a:srgbClr val="002060"/>
              </a:solidFill>
              <a:cs typeface="Arial" charset="0"/>
            </a:endParaRPr>
          </a:p>
          <a:p>
            <a:pPr marL="914400" lvl="2" indent="0">
              <a:buNone/>
            </a:pPr>
            <a:endParaRPr lang="en-US" sz="2200" dirty="0">
              <a:solidFill>
                <a:srgbClr val="002060"/>
              </a:solidFill>
              <a:cs typeface="Arial" charset="0"/>
            </a:endParaRPr>
          </a:p>
          <a:p>
            <a:pPr lvl="1"/>
            <a:endParaRPr lang="en-US" sz="24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95BC8E2B-AE71-4D79-9F99-0B8FB7FBC878}" type="slidenum">
              <a:rPr lang="en-US" smtClean="0"/>
              <a:pPr>
                <a:defRPr/>
              </a:pPr>
              <a:t>7</a:t>
            </a:fld>
            <a:endParaRPr lang="en-US"/>
          </a:p>
        </p:txBody>
      </p:sp>
      <p:sp>
        <p:nvSpPr>
          <p:cNvPr id="2" name="Title 3">
            <a:extLst>
              <a:ext uri="{FF2B5EF4-FFF2-40B4-BE49-F238E27FC236}">
                <a16:creationId xmlns:a16="http://schemas.microsoft.com/office/drawing/2014/main" id="{327F8286-ADD2-E06C-38D2-D2444D5525F0}"/>
              </a:ext>
            </a:extLst>
          </p:cNvPr>
          <p:cNvSpPr>
            <a:spLocks noGrp="1"/>
          </p:cNvSpPr>
          <p:nvPr>
            <p:ph type="title"/>
          </p:nvPr>
        </p:nvSpPr>
        <p:spPr>
          <a:xfrm>
            <a:off x="0" y="-26145"/>
            <a:ext cx="12100957" cy="685801"/>
          </a:xfrm>
        </p:spPr>
        <p:txBody>
          <a:bodyPr>
            <a:normAutofit/>
          </a:bodyPr>
          <a:lstStyle/>
          <a:p>
            <a:r>
              <a:rPr lang="en-US" sz="3600"/>
              <a:t>2.1 Các kiểu dữ liệu cơ bản</a:t>
            </a:r>
            <a:endParaRPr lang="en-US" sz="3600" dirty="0"/>
          </a:p>
        </p:txBody>
      </p:sp>
      <p:pic>
        <p:nvPicPr>
          <p:cNvPr id="5" name="Picture 4">
            <a:extLst>
              <a:ext uri="{FF2B5EF4-FFF2-40B4-BE49-F238E27FC236}">
                <a16:creationId xmlns:a16="http://schemas.microsoft.com/office/drawing/2014/main" id="{0AFA3AE8-9F5F-E597-C84E-910C2610D974}"/>
              </a:ext>
            </a:extLst>
          </p:cNvPr>
          <p:cNvPicPr>
            <a:picLocks noChangeAspect="1"/>
          </p:cNvPicPr>
          <p:nvPr/>
        </p:nvPicPr>
        <p:blipFill>
          <a:blip r:embed="rId3"/>
          <a:stretch>
            <a:fillRect/>
          </a:stretch>
        </p:blipFill>
        <p:spPr>
          <a:xfrm>
            <a:off x="1066800" y="3733800"/>
            <a:ext cx="3664833" cy="1640309"/>
          </a:xfrm>
          <a:prstGeom prst="rect">
            <a:avLst/>
          </a:prstGeom>
        </p:spPr>
      </p:pic>
      <p:pic>
        <p:nvPicPr>
          <p:cNvPr id="8" name="Picture 7">
            <a:extLst>
              <a:ext uri="{FF2B5EF4-FFF2-40B4-BE49-F238E27FC236}">
                <a16:creationId xmlns:a16="http://schemas.microsoft.com/office/drawing/2014/main" id="{A5EC6361-6762-4A09-3D94-51F124600AB2}"/>
              </a:ext>
            </a:extLst>
          </p:cNvPr>
          <p:cNvPicPr>
            <a:picLocks noChangeAspect="1"/>
          </p:cNvPicPr>
          <p:nvPr/>
        </p:nvPicPr>
        <p:blipFill>
          <a:blip r:embed="rId4"/>
          <a:stretch>
            <a:fillRect/>
          </a:stretch>
        </p:blipFill>
        <p:spPr>
          <a:xfrm>
            <a:off x="7072174" y="3733800"/>
            <a:ext cx="3214826" cy="2298382"/>
          </a:xfrm>
          <a:prstGeom prst="rect">
            <a:avLst/>
          </a:prstGeom>
        </p:spPr>
      </p:pic>
      <p:sp>
        <p:nvSpPr>
          <p:cNvPr id="9" name="TextBox 8">
            <a:extLst>
              <a:ext uri="{FF2B5EF4-FFF2-40B4-BE49-F238E27FC236}">
                <a16:creationId xmlns:a16="http://schemas.microsoft.com/office/drawing/2014/main" id="{AC73F4E4-7C98-5AFA-519F-0ABB3986902B}"/>
              </a:ext>
            </a:extLst>
          </p:cNvPr>
          <p:cNvSpPr txBox="1"/>
          <p:nvPr/>
        </p:nvSpPr>
        <p:spPr>
          <a:xfrm>
            <a:off x="437048" y="3333690"/>
            <a:ext cx="9365558" cy="369332"/>
          </a:xfrm>
          <a:prstGeom prst="rect">
            <a:avLst/>
          </a:prstGeom>
          <a:noFill/>
        </p:spPr>
        <p:txBody>
          <a:bodyPr wrap="square" rtlCol="0">
            <a:spAutoFit/>
          </a:bodyPr>
          <a:lstStyle/>
          <a:p>
            <a:pPr marL="91440" marR="3573779" indent="182880" algn="just">
              <a:spcBef>
                <a:spcPts val="600"/>
              </a:spcBef>
              <a:buClr>
                <a:srgbClr val="FF0000"/>
              </a:buClr>
              <a:buSzPct val="54166"/>
              <a:buFont typeface="Wingdings"/>
              <a:buChar char="◼"/>
              <a:tabLst>
                <a:tab pos="286385" algn="l"/>
                <a:tab pos="756920" algn="l"/>
              </a:tabLst>
            </a:pPr>
            <a:r>
              <a:rPr lang="en-AU" i="1" dirty="0" err="1">
                <a:solidFill>
                  <a:schemeClr val="accent1"/>
                </a:solidFill>
                <a:latin typeface="Myriad Pro"/>
                <a:cs typeface="Times New Roman"/>
              </a:rPr>
              <a:t>Hàm</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kiểu</a:t>
            </a:r>
            <a:r>
              <a:rPr lang="en-AU" i="1" dirty="0">
                <a:solidFill>
                  <a:schemeClr val="accent1"/>
                </a:solidFill>
                <a:latin typeface="Myriad Pro"/>
                <a:cs typeface="Times New Roman"/>
              </a:rPr>
              <a:t> void </a:t>
            </a:r>
            <a:r>
              <a:rPr lang="en-AU" i="1" dirty="0" err="1">
                <a:solidFill>
                  <a:schemeClr val="accent1"/>
                </a:solidFill>
                <a:latin typeface="Myriad Pro"/>
                <a:cs typeface="Times New Roman"/>
              </a:rPr>
              <a:t>dùng</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để</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hoán</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đổi</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giá</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trị</a:t>
            </a:r>
            <a:r>
              <a:rPr lang="en-AU" i="1" dirty="0">
                <a:solidFill>
                  <a:schemeClr val="accent1"/>
                </a:solidFill>
                <a:latin typeface="Myriad Pro"/>
                <a:cs typeface="Times New Roman"/>
              </a:rPr>
              <a:t> 2 </a:t>
            </a:r>
            <a:r>
              <a:rPr lang="en-AU" i="1" dirty="0" err="1">
                <a:solidFill>
                  <a:schemeClr val="accent1"/>
                </a:solidFill>
                <a:latin typeface="Myriad Pro"/>
                <a:cs typeface="Times New Roman"/>
              </a:rPr>
              <a:t>số</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nguyên</a:t>
            </a:r>
            <a:endParaRPr lang="en-AU" i="1" dirty="0">
              <a:solidFill>
                <a:schemeClr val="accent1"/>
              </a:solidFill>
              <a:latin typeface="Myriad Pro"/>
              <a:cs typeface="Times New Roman"/>
            </a:endParaRPr>
          </a:p>
        </p:txBody>
      </p:sp>
      <p:sp>
        <p:nvSpPr>
          <p:cNvPr id="11" name="TextBox 10">
            <a:extLst>
              <a:ext uri="{FF2B5EF4-FFF2-40B4-BE49-F238E27FC236}">
                <a16:creationId xmlns:a16="http://schemas.microsoft.com/office/drawing/2014/main" id="{938E5794-31F7-7E85-AFDA-52448585E9AB}"/>
              </a:ext>
            </a:extLst>
          </p:cNvPr>
          <p:cNvSpPr txBox="1"/>
          <p:nvPr/>
        </p:nvSpPr>
        <p:spPr>
          <a:xfrm>
            <a:off x="6255442" y="3333690"/>
            <a:ext cx="9365558" cy="369332"/>
          </a:xfrm>
          <a:prstGeom prst="rect">
            <a:avLst/>
          </a:prstGeom>
          <a:noFill/>
        </p:spPr>
        <p:txBody>
          <a:bodyPr wrap="square" rtlCol="0">
            <a:spAutoFit/>
          </a:bodyPr>
          <a:lstStyle/>
          <a:p>
            <a:pPr marL="91440" marR="3573779" indent="182880" algn="just">
              <a:spcBef>
                <a:spcPts val="600"/>
              </a:spcBef>
              <a:buClr>
                <a:srgbClr val="FF0000"/>
              </a:buClr>
              <a:buSzPct val="54166"/>
              <a:buFont typeface="Wingdings"/>
              <a:buChar char="◼"/>
              <a:tabLst>
                <a:tab pos="286385" algn="l"/>
                <a:tab pos="756920" algn="l"/>
              </a:tabLst>
            </a:pPr>
            <a:r>
              <a:rPr lang="en-AU" i="1" dirty="0" err="1">
                <a:solidFill>
                  <a:schemeClr val="accent1"/>
                </a:solidFill>
                <a:latin typeface="Myriad Pro"/>
                <a:cs typeface="Times New Roman"/>
              </a:rPr>
              <a:t>Hàm</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kiểu</a:t>
            </a:r>
            <a:r>
              <a:rPr lang="en-AU" i="1" dirty="0">
                <a:solidFill>
                  <a:schemeClr val="accent1"/>
                </a:solidFill>
                <a:latin typeface="Myriad Pro"/>
                <a:cs typeface="Times New Roman"/>
              </a:rPr>
              <a:t> int </a:t>
            </a:r>
            <a:r>
              <a:rPr lang="en-AU" i="1" dirty="0" err="1">
                <a:solidFill>
                  <a:schemeClr val="accent1"/>
                </a:solidFill>
                <a:latin typeface="Myriad Pro"/>
                <a:cs typeface="Times New Roman"/>
              </a:rPr>
              <a:t>trả</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về</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giá</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trị</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lớn</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nhât</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trong</a:t>
            </a:r>
            <a:r>
              <a:rPr lang="en-AU" i="1" dirty="0">
                <a:solidFill>
                  <a:schemeClr val="accent1"/>
                </a:solidFill>
                <a:latin typeface="Myriad Pro"/>
                <a:cs typeface="Times New Roman"/>
              </a:rPr>
              <a:t> 2 </a:t>
            </a:r>
            <a:r>
              <a:rPr lang="en-AU" i="1" dirty="0" err="1">
                <a:solidFill>
                  <a:schemeClr val="accent1"/>
                </a:solidFill>
                <a:latin typeface="Myriad Pro"/>
                <a:cs typeface="Times New Roman"/>
              </a:rPr>
              <a:t>số</a:t>
            </a:r>
            <a:r>
              <a:rPr lang="en-AU" i="1" dirty="0">
                <a:solidFill>
                  <a:schemeClr val="accent1"/>
                </a:solidFill>
                <a:latin typeface="Myriad Pro"/>
                <a:cs typeface="Times New Roman"/>
              </a:rPr>
              <a:t> </a:t>
            </a:r>
            <a:r>
              <a:rPr lang="en-AU" i="1" dirty="0" err="1">
                <a:solidFill>
                  <a:schemeClr val="accent1"/>
                </a:solidFill>
                <a:latin typeface="Myriad Pro"/>
                <a:cs typeface="Times New Roman"/>
              </a:rPr>
              <a:t>nguyên</a:t>
            </a:r>
            <a:endParaRPr lang="en-AU" i="1" dirty="0">
              <a:solidFill>
                <a:schemeClr val="accent1"/>
              </a:solidFill>
              <a:latin typeface="Myriad Pro"/>
              <a:cs typeface="Times New Roman"/>
            </a:endParaRPr>
          </a:p>
        </p:txBody>
      </p:sp>
    </p:spTree>
    <p:extLst>
      <p:ext uri="{BB962C8B-B14F-4D97-AF65-F5344CB8AC3E}">
        <p14:creationId xmlns:p14="http://schemas.microsoft.com/office/powerpoint/2010/main" val="710773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type="body" idx="4294967295"/>
          </p:nvPr>
        </p:nvSpPr>
        <p:spPr>
          <a:xfrm>
            <a:off x="609600" y="924346"/>
            <a:ext cx="10972800" cy="5171654"/>
          </a:xfrm>
        </p:spPr>
        <p:txBody>
          <a:bodyPr>
            <a:normAutofit/>
          </a:bodyPr>
          <a:lstStyle/>
          <a:p>
            <a:r>
              <a:rPr lang="en-US" sz="2800" dirty="0" err="1">
                <a:solidFill>
                  <a:srgbClr val="002060"/>
                </a:solidFill>
                <a:cs typeface="Arial" charset="0"/>
              </a:rPr>
              <a:t>Kiểu</a:t>
            </a:r>
            <a:r>
              <a:rPr lang="en-US" sz="2800" dirty="0">
                <a:solidFill>
                  <a:srgbClr val="002060"/>
                </a:solidFill>
                <a:cs typeface="Arial" charset="0"/>
              </a:rPr>
              <a:t> </a:t>
            </a:r>
            <a:r>
              <a:rPr lang="en-US" sz="2800" dirty="0" err="1">
                <a:solidFill>
                  <a:srgbClr val="002060"/>
                </a:solidFill>
                <a:cs typeface="Arial" charset="0"/>
              </a:rPr>
              <a:t>ký</a:t>
            </a:r>
            <a:r>
              <a:rPr lang="en-US" sz="2800" dirty="0">
                <a:solidFill>
                  <a:srgbClr val="002060"/>
                </a:solidFill>
                <a:cs typeface="Arial" charset="0"/>
              </a:rPr>
              <a:t> </a:t>
            </a:r>
            <a:r>
              <a:rPr lang="en-US" sz="2800" dirty="0" err="1">
                <a:solidFill>
                  <a:srgbClr val="002060"/>
                </a:solidFill>
                <a:cs typeface="Arial" charset="0"/>
              </a:rPr>
              <a:t>tự</a:t>
            </a:r>
            <a:endParaRPr lang="en-US" sz="2800" dirty="0">
              <a:solidFill>
                <a:srgbClr val="002060"/>
              </a:solidFill>
              <a:cs typeface="Arial" charset="0"/>
            </a:endParaRPr>
          </a:p>
          <a:p>
            <a:pPr lvl="1"/>
            <a:r>
              <a:rPr lang="en-AU" sz="2400" dirty="0" err="1">
                <a:solidFill>
                  <a:srgbClr val="002060"/>
                </a:solidFill>
                <a:cs typeface="Arial" charset="0"/>
              </a:rPr>
              <a:t>Kiểu</a:t>
            </a:r>
            <a:r>
              <a:rPr lang="en-AU" sz="2400" dirty="0">
                <a:solidFill>
                  <a:srgbClr val="002060"/>
                </a:solidFill>
                <a:cs typeface="Arial" charset="0"/>
              </a:rPr>
              <a:t> </a:t>
            </a:r>
            <a:r>
              <a:rPr lang="en-AU" sz="2400" dirty="0" err="1">
                <a:solidFill>
                  <a:srgbClr val="002060"/>
                </a:solidFill>
                <a:cs typeface="Arial" charset="0"/>
              </a:rPr>
              <a:t>ký</a:t>
            </a:r>
            <a:r>
              <a:rPr lang="en-AU" sz="2400" dirty="0">
                <a:solidFill>
                  <a:srgbClr val="002060"/>
                </a:solidFill>
                <a:cs typeface="Arial" charset="0"/>
              </a:rPr>
              <a:t> </a:t>
            </a:r>
            <a:r>
              <a:rPr lang="en-AU" sz="2400" dirty="0" err="1">
                <a:solidFill>
                  <a:srgbClr val="002060"/>
                </a:solidFill>
                <a:cs typeface="Arial" charset="0"/>
              </a:rPr>
              <a:t>tự</a:t>
            </a:r>
            <a:r>
              <a:rPr lang="en-AU" sz="2400" dirty="0">
                <a:solidFill>
                  <a:srgbClr val="002060"/>
                </a:solidFill>
                <a:cs typeface="Arial" charset="0"/>
              </a:rPr>
              <a:t> </a:t>
            </a:r>
            <a:r>
              <a:rPr lang="en-AU" sz="2400" dirty="0" err="1">
                <a:solidFill>
                  <a:srgbClr val="002060"/>
                </a:solidFill>
                <a:cs typeface="Arial" charset="0"/>
              </a:rPr>
              <a:t>là</a:t>
            </a:r>
            <a:r>
              <a:rPr lang="en-AU" sz="2400" dirty="0">
                <a:solidFill>
                  <a:srgbClr val="002060"/>
                </a:solidFill>
                <a:cs typeface="Arial" charset="0"/>
              </a:rPr>
              <a:t> </a:t>
            </a:r>
            <a:r>
              <a:rPr lang="en-AU" sz="2400" dirty="0" err="1">
                <a:solidFill>
                  <a:srgbClr val="002060"/>
                </a:solidFill>
                <a:cs typeface="Arial" charset="0"/>
              </a:rPr>
              <a:t>kiểu</a:t>
            </a:r>
            <a:r>
              <a:rPr lang="en-AU" sz="2400" dirty="0">
                <a:solidFill>
                  <a:srgbClr val="002060"/>
                </a:solidFill>
                <a:cs typeface="Arial" charset="0"/>
              </a:rPr>
              <a:t> </a:t>
            </a:r>
            <a:r>
              <a:rPr lang="en-AU" sz="2400" dirty="0" err="1">
                <a:solidFill>
                  <a:srgbClr val="002060"/>
                </a:solidFill>
                <a:cs typeface="Arial" charset="0"/>
              </a:rPr>
              <a:t>dữ</a:t>
            </a:r>
            <a:r>
              <a:rPr lang="en-AU" sz="2400" dirty="0">
                <a:solidFill>
                  <a:srgbClr val="002060"/>
                </a:solidFill>
                <a:cs typeface="Arial" charset="0"/>
              </a:rPr>
              <a:t> </a:t>
            </a:r>
            <a:r>
              <a:rPr lang="en-AU" sz="2400" dirty="0" err="1">
                <a:solidFill>
                  <a:srgbClr val="002060"/>
                </a:solidFill>
                <a:cs typeface="Arial" charset="0"/>
              </a:rPr>
              <a:t>liệu</a:t>
            </a:r>
            <a:r>
              <a:rPr lang="en-AU" sz="2400" dirty="0">
                <a:solidFill>
                  <a:srgbClr val="002060"/>
                </a:solidFill>
                <a:cs typeface="Arial" charset="0"/>
              </a:rPr>
              <a:t> </a:t>
            </a:r>
            <a:r>
              <a:rPr lang="en-AU" sz="2400" dirty="0" err="1">
                <a:solidFill>
                  <a:srgbClr val="002060"/>
                </a:solidFill>
                <a:cs typeface="Arial" charset="0"/>
              </a:rPr>
              <a:t>cơ</a:t>
            </a:r>
            <a:r>
              <a:rPr lang="en-AU" sz="2400" dirty="0">
                <a:solidFill>
                  <a:srgbClr val="002060"/>
                </a:solidFill>
                <a:cs typeface="Arial" charset="0"/>
              </a:rPr>
              <a:t> </a:t>
            </a:r>
            <a:r>
              <a:rPr lang="en-AU" sz="2400" dirty="0" err="1">
                <a:solidFill>
                  <a:srgbClr val="002060"/>
                </a:solidFill>
                <a:cs typeface="Arial" charset="0"/>
              </a:rPr>
              <a:t>bản</a:t>
            </a:r>
            <a:r>
              <a:rPr lang="en-AU" sz="2400" dirty="0">
                <a:solidFill>
                  <a:srgbClr val="002060"/>
                </a:solidFill>
                <a:cs typeface="Arial" charset="0"/>
              </a:rPr>
              <a:t> </a:t>
            </a:r>
            <a:r>
              <a:rPr lang="en-AU" sz="2400" dirty="0" err="1">
                <a:solidFill>
                  <a:srgbClr val="002060"/>
                </a:solidFill>
                <a:cs typeface="Arial" charset="0"/>
              </a:rPr>
              <a:t>trong</a:t>
            </a:r>
            <a:r>
              <a:rPr lang="en-AU" sz="2400" dirty="0">
                <a:solidFill>
                  <a:srgbClr val="002060"/>
                </a:solidFill>
                <a:cs typeface="Arial" charset="0"/>
              </a:rPr>
              <a:t> C </a:t>
            </a:r>
            <a:r>
              <a:rPr lang="en-AU" sz="2400" dirty="0" err="1">
                <a:solidFill>
                  <a:srgbClr val="002060"/>
                </a:solidFill>
                <a:cs typeface="Arial" charset="0"/>
              </a:rPr>
              <a:t>để</a:t>
            </a:r>
            <a:r>
              <a:rPr lang="en-AU" sz="2400" dirty="0">
                <a:solidFill>
                  <a:srgbClr val="002060"/>
                </a:solidFill>
                <a:cs typeface="Arial" charset="0"/>
              </a:rPr>
              <a:t> </a:t>
            </a:r>
            <a:r>
              <a:rPr lang="en-AU" sz="2400" dirty="0" err="1">
                <a:solidFill>
                  <a:srgbClr val="002060"/>
                </a:solidFill>
                <a:cs typeface="Arial" charset="0"/>
              </a:rPr>
              <a:t>lưu</a:t>
            </a:r>
            <a:r>
              <a:rPr lang="en-AU" sz="2400" dirty="0">
                <a:solidFill>
                  <a:srgbClr val="002060"/>
                </a:solidFill>
                <a:cs typeface="Arial" charset="0"/>
              </a:rPr>
              <a:t> 1 </a:t>
            </a:r>
            <a:r>
              <a:rPr lang="en-AU" sz="2400" dirty="0" err="1">
                <a:solidFill>
                  <a:srgbClr val="002060"/>
                </a:solidFill>
                <a:cs typeface="Arial" charset="0"/>
              </a:rPr>
              <a:t>ký</a:t>
            </a:r>
            <a:r>
              <a:rPr lang="en-AU" sz="2400" dirty="0">
                <a:solidFill>
                  <a:srgbClr val="002060"/>
                </a:solidFill>
                <a:cs typeface="Arial" charset="0"/>
              </a:rPr>
              <a:t> </a:t>
            </a:r>
            <a:r>
              <a:rPr lang="en-AU" sz="2400" dirty="0" err="1">
                <a:solidFill>
                  <a:srgbClr val="002060"/>
                </a:solidFill>
                <a:cs typeface="Arial" charset="0"/>
              </a:rPr>
              <a:t>tự</a:t>
            </a:r>
            <a:r>
              <a:rPr lang="en-AU" sz="2400" dirty="0">
                <a:solidFill>
                  <a:srgbClr val="002060"/>
                </a:solidFill>
                <a:cs typeface="Arial" charset="0"/>
              </a:rPr>
              <a:t> </a:t>
            </a:r>
            <a:r>
              <a:rPr lang="en-AU" sz="2400" dirty="0" err="1">
                <a:solidFill>
                  <a:srgbClr val="002060"/>
                </a:solidFill>
                <a:cs typeface="Arial" charset="0"/>
              </a:rPr>
              <a:t>đơn</a:t>
            </a:r>
            <a:r>
              <a:rPr lang="en-AU" sz="2400" dirty="0">
                <a:solidFill>
                  <a:srgbClr val="002060"/>
                </a:solidFill>
                <a:cs typeface="Arial" charset="0"/>
              </a:rPr>
              <a:t> </a:t>
            </a:r>
            <a:r>
              <a:rPr lang="en-AU" sz="2400" dirty="0" err="1">
                <a:solidFill>
                  <a:srgbClr val="002060"/>
                </a:solidFill>
                <a:cs typeface="Arial" charset="0"/>
              </a:rPr>
              <a:t>lẻ</a:t>
            </a:r>
            <a:r>
              <a:rPr lang="en-AU" sz="2400" dirty="0">
                <a:solidFill>
                  <a:srgbClr val="002060"/>
                </a:solidFill>
                <a:cs typeface="Arial" charset="0"/>
              </a:rPr>
              <a:t> </a:t>
            </a:r>
          </a:p>
          <a:p>
            <a:pPr marL="914400" lvl="2" indent="0">
              <a:buNone/>
            </a:pPr>
            <a:r>
              <a:rPr lang="en-AU" sz="2200" i="1" dirty="0" err="1">
                <a:solidFill>
                  <a:srgbClr val="002060"/>
                </a:solidFill>
                <a:cs typeface="Arial" charset="0"/>
              </a:rPr>
              <a:t>Ví</a:t>
            </a:r>
            <a:r>
              <a:rPr lang="en-AU" sz="2200" i="1" dirty="0">
                <a:solidFill>
                  <a:srgbClr val="002060"/>
                </a:solidFill>
                <a:cs typeface="Arial" charset="0"/>
              </a:rPr>
              <a:t> dụ: ‘a’,   ‘Z’,   ‘*’,   ‘#’,   ‘ ‘, …</a:t>
            </a:r>
            <a:endParaRPr lang="en-US" sz="2200" i="1" dirty="0">
              <a:solidFill>
                <a:srgbClr val="002060"/>
              </a:solidFill>
              <a:cs typeface="Arial" charset="0"/>
            </a:endParaRPr>
          </a:p>
          <a:p>
            <a:pPr lvl="1"/>
            <a:r>
              <a:rPr lang="vi-VN" sz="2400" dirty="0">
                <a:solidFill>
                  <a:srgbClr val="002060"/>
                </a:solidFill>
                <a:cs typeface="Arial" charset="0"/>
              </a:rPr>
              <a:t>Để biểu diễn các ký tự, người ta dùng một số nguyên lưu mã của ký tự đó trong bảng mã. Với bảng mã ASCII (American Standard Code for Interchange Information), mỗi ký tự được biểu diễn bằng một số nguyên 8 bit</a:t>
            </a:r>
            <a:r>
              <a:rPr lang="en-AU" sz="2400" dirty="0">
                <a:solidFill>
                  <a:srgbClr val="002060"/>
                </a:solidFill>
                <a:cs typeface="Arial" charset="0"/>
              </a:rPr>
              <a:t> (1 byte).</a:t>
            </a:r>
          </a:p>
        </p:txBody>
      </p:sp>
      <p:sp>
        <p:nvSpPr>
          <p:cNvPr id="4" name="Slide Number Placeholder 3"/>
          <p:cNvSpPr>
            <a:spLocks noGrp="1"/>
          </p:cNvSpPr>
          <p:nvPr>
            <p:ph type="sldNum" sz="quarter" idx="10"/>
          </p:nvPr>
        </p:nvSpPr>
        <p:spPr/>
        <p:txBody>
          <a:bodyPr/>
          <a:lstStyle/>
          <a:p>
            <a:pPr>
              <a:defRPr/>
            </a:pPr>
            <a:fld id="{95BC8E2B-AE71-4D79-9F99-0B8FB7FBC878}" type="slidenum">
              <a:rPr lang="en-US" smtClean="0"/>
              <a:pPr>
                <a:defRPr/>
              </a:pPr>
              <a:t>8</a:t>
            </a:fld>
            <a:endParaRPr lang="en-US"/>
          </a:p>
        </p:txBody>
      </p:sp>
      <p:sp>
        <p:nvSpPr>
          <p:cNvPr id="2" name="Title 3">
            <a:extLst>
              <a:ext uri="{FF2B5EF4-FFF2-40B4-BE49-F238E27FC236}">
                <a16:creationId xmlns:a16="http://schemas.microsoft.com/office/drawing/2014/main" id="{327F8286-ADD2-E06C-38D2-D2444D5525F0}"/>
              </a:ext>
            </a:extLst>
          </p:cNvPr>
          <p:cNvSpPr>
            <a:spLocks noGrp="1"/>
          </p:cNvSpPr>
          <p:nvPr>
            <p:ph type="title"/>
          </p:nvPr>
        </p:nvSpPr>
        <p:spPr>
          <a:xfrm>
            <a:off x="0" y="-26145"/>
            <a:ext cx="12100957" cy="685801"/>
          </a:xfrm>
        </p:spPr>
        <p:txBody>
          <a:bodyPr>
            <a:normAutofit/>
          </a:bodyPr>
          <a:lstStyle/>
          <a:p>
            <a:r>
              <a:rPr lang="en-US" sz="3600"/>
              <a:t>2.1 Các kiểu dữ liệu cơ bản</a:t>
            </a:r>
            <a:endParaRPr lang="en-US" sz="3600" dirty="0"/>
          </a:p>
        </p:txBody>
      </p:sp>
    </p:spTree>
    <p:extLst>
      <p:ext uri="{BB962C8B-B14F-4D97-AF65-F5344CB8AC3E}">
        <p14:creationId xmlns:p14="http://schemas.microsoft.com/office/powerpoint/2010/main" val="2836971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type="body" idx="4294967295"/>
          </p:nvPr>
        </p:nvSpPr>
        <p:spPr>
          <a:xfrm>
            <a:off x="609600" y="924346"/>
            <a:ext cx="10972800" cy="3266654"/>
          </a:xfrm>
        </p:spPr>
        <p:txBody>
          <a:bodyPr>
            <a:normAutofit lnSpcReduction="10000"/>
          </a:bodyPr>
          <a:lstStyle/>
          <a:p>
            <a:r>
              <a:rPr lang="en-US" sz="2800" dirty="0" err="1">
                <a:solidFill>
                  <a:srgbClr val="002060"/>
                </a:solidFill>
                <a:cs typeface="Arial" charset="0"/>
              </a:rPr>
              <a:t>Kiểu</a:t>
            </a:r>
            <a:r>
              <a:rPr lang="en-US" sz="2800" dirty="0">
                <a:solidFill>
                  <a:srgbClr val="002060"/>
                </a:solidFill>
                <a:cs typeface="Arial" charset="0"/>
              </a:rPr>
              <a:t> </a:t>
            </a:r>
            <a:r>
              <a:rPr lang="en-US" sz="2800" dirty="0" err="1">
                <a:solidFill>
                  <a:srgbClr val="002060"/>
                </a:solidFill>
                <a:cs typeface="Arial" charset="0"/>
              </a:rPr>
              <a:t>ký</a:t>
            </a:r>
            <a:r>
              <a:rPr lang="en-US" sz="2800" dirty="0">
                <a:solidFill>
                  <a:srgbClr val="002060"/>
                </a:solidFill>
                <a:cs typeface="Arial" charset="0"/>
              </a:rPr>
              <a:t> </a:t>
            </a:r>
            <a:r>
              <a:rPr lang="en-US" sz="2800" dirty="0" err="1">
                <a:solidFill>
                  <a:srgbClr val="002060"/>
                </a:solidFill>
                <a:cs typeface="Arial" charset="0"/>
              </a:rPr>
              <a:t>tự</a:t>
            </a:r>
            <a:endParaRPr lang="en-US" sz="2800" dirty="0">
              <a:solidFill>
                <a:srgbClr val="002060"/>
              </a:solidFill>
              <a:cs typeface="Arial" charset="0"/>
            </a:endParaRPr>
          </a:p>
          <a:p>
            <a:pPr marL="457200" lvl="1" indent="0">
              <a:buNone/>
            </a:pPr>
            <a:r>
              <a:rPr lang="en-US" sz="2400" dirty="0">
                <a:solidFill>
                  <a:srgbClr val="002060"/>
                </a:solidFill>
                <a:cs typeface="Arial" charset="0"/>
              </a:rPr>
              <a:t>- </a:t>
            </a:r>
            <a:r>
              <a:rPr lang="en-US" sz="2400" dirty="0" err="1">
                <a:solidFill>
                  <a:srgbClr val="002060"/>
                </a:solidFill>
                <a:cs typeface="Arial" charset="0"/>
              </a:rPr>
              <a:t>Bảng</a:t>
            </a:r>
            <a:r>
              <a:rPr lang="en-US" sz="2400" dirty="0">
                <a:solidFill>
                  <a:srgbClr val="002060"/>
                </a:solidFill>
                <a:cs typeface="Arial" charset="0"/>
              </a:rPr>
              <a:t> </a:t>
            </a:r>
            <a:r>
              <a:rPr lang="en-US" sz="2400" dirty="0" err="1">
                <a:solidFill>
                  <a:srgbClr val="002060"/>
                </a:solidFill>
                <a:cs typeface="Arial" charset="0"/>
              </a:rPr>
              <a:t>mã</a:t>
            </a:r>
            <a:r>
              <a:rPr lang="en-US" sz="2400" dirty="0">
                <a:solidFill>
                  <a:srgbClr val="002060"/>
                </a:solidFill>
                <a:cs typeface="Arial" charset="0"/>
              </a:rPr>
              <a:t> ASCII </a:t>
            </a:r>
            <a:r>
              <a:rPr lang="en-US" sz="2400" dirty="0" err="1">
                <a:solidFill>
                  <a:srgbClr val="002060"/>
                </a:solidFill>
                <a:cs typeface="Arial" charset="0"/>
              </a:rPr>
              <a:t>gồm</a:t>
            </a:r>
            <a:r>
              <a:rPr lang="en-US" sz="2400" dirty="0">
                <a:solidFill>
                  <a:srgbClr val="002060"/>
                </a:solidFill>
                <a:cs typeface="Arial" charset="0"/>
              </a:rPr>
              <a:t> 256 </a:t>
            </a:r>
            <a:r>
              <a:rPr lang="en-US" sz="2400" dirty="0" err="1">
                <a:solidFill>
                  <a:srgbClr val="002060"/>
                </a:solidFill>
                <a:cs typeface="Arial" charset="0"/>
              </a:rPr>
              <a:t>ký</a:t>
            </a:r>
            <a:r>
              <a:rPr lang="en-US" sz="2400" dirty="0">
                <a:solidFill>
                  <a:srgbClr val="002060"/>
                </a:solidFill>
                <a:cs typeface="Arial" charset="0"/>
              </a:rPr>
              <a:t> </a:t>
            </a:r>
            <a:r>
              <a:rPr lang="en-US" sz="2400" dirty="0" err="1">
                <a:solidFill>
                  <a:srgbClr val="002060"/>
                </a:solidFill>
                <a:cs typeface="Arial" charset="0"/>
              </a:rPr>
              <a:t>tự</a:t>
            </a:r>
            <a:r>
              <a:rPr lang="en-US" sz="2400" dirty="0">
                <a:solidFill>
                  <a:srgbClr val="002060"/>
                </a:solidFill>
                <a:cs typeface="Arial" charset="0"/>
              </a:rPr>
              <a:t>, </a:t>
            </a:r>
            <a:r>
              <a:rPr lang="en-US" sz="2400" dirty="0" err="1">
                <a:solidFill>
                  <a:srgbClr val="002060"/>
                </a:solidFill>
                <a:cs typeface="Arial" charset="0"/>
              </a:rPr>
              <a:t>có</a:t>
            </a:r>
            <a:r>
              <a:rPr lang="en-US" sz="2400" dirty="0">
                <a:solidFill>
                  <a:srgbClr val="002060"/>
                </a:solidFill>
                <a:cs typeface="Arial" charset="0"/>
              </a:rPr>
              <a:t> </a:t>
            </a:r>
            <a:r>
              <a:rPr lang="en-US" sz="2400" dirty="0" err="1">
                <a:solidFill>
                  <a:srgbClr val="002060"/>
                </a:solidFill>
                <a:cs typeface="Arial" charset="0"/>
              </a:rPr>
              <a:t>thể</a:t>
            </a:r>
            <a:r>
              <a:rPr lang="en-US" sz="2400" dirty="0">
                <a:solidFill>
                  <a:srgbClr val="002060"/>
                </a:solidFill>
                <a:cs typeface="Arial" charset="0"/>
              </a:rPr>
              <a:t> </a:t>
            </a:r>
            <a:r>
              <a:rPr lang="en-US" sz="2400" dirty="0" err="1">
                <a:solidFill>
                  <a:srgbClr val="002060"/>
                </a:solidFill>
                <a:cs typeface="Arial" charset="0"/>
              </a:rPr>
              <a:t>phân</a:t>
            </a:r>
            <a:r>
              <a:rPr lang="en-US" sz="2400" dirty="0">
                <a:solidFill>
                  <a:srgbClr val="002060"/>
                </a:solidFill>
                <a:cs typeface="Arial" charset="0"/>
              </a:rPr>
              <a:t> </a:t>
            </a:r>
            <a:r>
              <a:rPr lang="en-US" sz="2400" dirty="0" err="1">
                <a:solidFill>
                  <a:srgbClr val="002060"/>
                </a:solidFill>
                <a:cs typeface="Arial" charset="0"/>
              </a:rPr>
              <a:t>thành</a:t>
            </a:r>
            <a:r>
              <a:rPr lang="en-US" sz="2400" dirty="0">
                <a:solidFill>
                  <a:srgbClr val="002060"/>
                </a:solidFill>
                <a:cs typeface="Arial" charset="0"/>
              </a:rPr>
              <a:t> 3 </a:t>
            </a:r>
            <a:r>
              <a:rPr lang="en-US" sz="2400" dirty="0" err="1">
                <a:solidFill>
                  <a:srgbClr val="002060"/>
                </a:solidFill>
                <a:cs typeface="Arial" charset="0"/>
              </a:rPr>
              <a:t>nhóm</a:t>
            </a:r>
            <a:r>
              <a:rPr lang="en-US" sz="2400" dirty="0">
                <a:solidFill>
                  <a:srgbClr val="002060"/>
                </a:solidFill>
                <a:cs typeface="Arial" charset="0"/>
              </a:rPr>
              <a:t>:</a:t>
            </a:r>
          </a:p>
          <a:p>
            <a:pPr lvl="2">
              <a:buFontTx/>
              <a:buChar char="-"/>
            </a:pPr>
            <a:r>
              <a:rPr lang="vi-VN" sz="2200" dirty="0">
                <a:solidFill>
                  <a:srgbClr val="002060"/>
                </a:solidFill>
                <a:cs typeface="Arial" charset="0"/>
              </a:rPr>
              <a:t>Nhóm các ký tự điều khiển có mã từ 0 đến 31. Chẳng hạn ký tự mã 13 dùng để chuyển con trỏ về đầu dòng, ký tự 10 chuyển con trỏ xuống dòng dưới (trên cùng cột). Các ký tự nhóm này nói chung không hiển thị ra màn hình.</a:t>
            </a:r>
          </a:p>
          <a:p>
            <a:pPr lvl="2">
              <a:buFontTx/>
              <a:buChar char="-"/>
            </a:pPr>
            <a:r>
              <a:rPr lang="vi-VN" sz="2200" dirty="0">
                <a:solidFill>
                  <a:srgbClr val="002060"/>
                </a:solidFill>
                <a:cs typeface="Arial" charset="0"/>
              </a:rPr>
              <a:t>Nhóm các ký tự văn bản có mã từ 32 đến 126. Các ký tự này có thể đưa ra màn hình và máy in.</a:t>
            </a:r>
          </a:p>
          <a:p>
            <a:pPr lvl="2">
              <a:buFontTx/>
              <a:buChar char="-"/>
            </a:pPr>
            <a:r>
              <a:rPr lang="vi-VN" sz="2200" dirty="0">
                <a:solidFill>
                  <a:srgbClr val="002060"/>
                </a:solidFill>
                <a:cs typeface="Arial" charset="0"/>
              </a:rPr>
              <a:t>Nhóm các ký tự đồ hoạ có mã số từ 127 đến 255. Các ký tự này có thể đưa ra màn hình nhưng không in được (bằng các lệnh DOS). </a:t>
            </a:r>
            <a:endParaRPr lang="en-US" sz="22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95BC8E2B-AE71-4D79-9F99-0B8FB7FBC878}" type="slidenum">
              <a:rPr lang="en-US" smtClean="0"/>
              <a:pPr>
                <a:defRPr/>
              </a:pPr>
              <a:t>9</a:t>
            </a:fld>
            <a:endParaRPr lang="en-US"/>
          </a:p>
        </p:txBody>
      </p:sp>
      <p:sp>
        <p:nvSpPr>
          <p:cNvPr id="2" name="Title 3">
            <a:extLst>
              <a:ext uri="{FF2B5EF4-FFF2-40B4-BE49-F238E27FC236}">
                <a16:creationId xmlns:a16="http://schemas.microsoft.com/office/drawing/2014/main" id="{327F8286-ADD2-E06C-38D2-D2444D5525F0}"/>
              </a:ext>
            </a:extLst>
          </p:cNvPr>
          <p:cNvSpPr>
            <a:spLocks noGrp="1"/>
          </p:cNvSpPr>
          <p:nvPr>
            <p:ph type="title"/>
          </p:nvPr>
        </p:nvSpPr>
        <p:spPr>
          <a:xfrm>
            <a:off x="0" y="-26145"/>
            <a:ext cx="12100957" cy="685801"/>
          </a:xfrm>
        </p:spPr>
        <p:txBody>
          <a:bodyPr>
            <a:normAutofit/>
          </a:bodyPr>
          <a:lstStyle/>
          <a:p>
            <a:r>
              <a:rPr lang="en-US" sz="3600"/>
              <a:t>2.1 Các kiểu dữ liệu cơ bản</a:t>
            </a:r>
            <a:endParaRPr lang="en-US" sz="3600" dirty="0"/>
          </a:p>
        </p:txBody>
      </p:sp>
      <p:pic>
        <p:nvPicPr>
          <p:cNvPr id="8" name="Picture 4">
            <a:extLst>
              <a:ext uri="{FF2B5EF4-FFF2-40B4-BE49-F238E27FC236}">
                <a16:creationId xmlns:a16="http://schemas.microsoft.com/office/drawing/2014/main" id="{3D030C86-6DA5-8C96-32A0-6B807C347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4130517"/>
            <a:ext cx="3429000" cy="238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39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type="body" idx="4294967295"/>
          </p:nvPr>
        </p:nvSpPr>
        <p:spPr>
          <a:xfrm>
            <a:off x="609600" y="924346"/>
            <a:ext cx="10972800" cy="5171654"/>
          </a:xfrm>
        </p:spPr>
        <p:txBody>
          <a:bodyPr>
            <a:normAutofit/>
          </a:bodyPr>
          <a:lstStyle/>
          <a:p>
            <a:r>
              <a:rPr lang="en-US" sz="2800" dirty="0" err="1">
                <a:solidFill>
                  <a:srgbClr val="002060"/>
                </a:solidFill>
                <a:cs typeface="Arial" charset="0"/>
              </a:rPr>
              <a:t>Kiểu</a:t>
            </a:r>
            <a:r>
              <a:rPr lang="en-US" sz="2800" dirty="0">
                <a:solidFill>
                  <a:srgbClr val="002060"/>
                </a:solidFill>
                <a:cs typeface="Arial" charset="0"/>
              </a:rPr>
              <a:t> </a:t>
            </a:r>
            <a:r>
              <a:rPr lang="en-US" sz="2800" dirty="0" err="1">
                <a:solidFill>
                  <a:srgbClr val="002060"/>
                </a:solidFill>
                <a:cs typeface="Arial" charset="0"/>
              </a:rPr>
              <a:t>đúng</a:t>
            </a:r>
            <a:r>
              <a:rPr lang="en-US" sz="2800" dirty="0">
                <a:solidFill>
                  <a:srgbClr val="002060"/>
                </a:solidFill>
                <a:cs typeface="Arial" charset="0"/>
              </a:rPr>
              <a:t> </a:t>
            </a:r>
            <a:r>
              <a:rPr lang="en-US" sz="2800" dirty="0" err="1">
                <a:solidFill>
                  <a:srgbClr val="002060"/>
                </a:solidFill>
                <a:cs typeface="Arial" charset="0"/>
              </a:rPr>
              <a:t>sai</a:t>
            </a:r>
            <a:r>
              <a:rPr lang="en-US" sz="2800" dirty="0">
                <a:solidFill>
                  <a:srgbClr val="002060"/>
                </a:solidFill>
                <a:cs typeface="Arial" charset="0"/>
              </a:rPr>
              <a:t> (logic):</a:t>
            </a:r>
          </a:p>
          <a:p>
            <a:pPr lvl="1"/>
            <a:r>
              <a:rPr lang="en-US" sz="2400" dirty="0" err="1">
                <a:solidFill>
                  <a:srgbClr val="002060"/>
                </a:solidFill>
                <a:cs typeface="Arial" charset="0"/>
              </a:rPr>
              <a:t>Kiểu</a:t>
            </a:r>
            <a:r>
              <a:rPr lang="en-US" sz="2400" dirty="0">
                <a:solidFill>
                  <a:srgbClr val="002060"/>
                </a:solidFill>
                <a:cs typeface="Arial" charset="0"/>
              </a:rPr>
              <a:t> </a:t>
            </a:r>
            <a:r>
              <a:rPr lang="en-US" sz="2400" dirty="0" err="1">
                <a:solidFill>
                  <a:srgbClr val="002060"/>
                </a:solidFill>
                <a:cs typeface="Arial" charset="0"/>
              </a:rPr>
              <a:t>dữ</a:t>
            </a:r>
            <a:r>
              <a:rPr lang="en-US" sz="2400" dirty="0">
                <a:solidFill>
                  <a:srgbClr val="002060"/>
                </a:solidFill>
                <a:cs typeface="Arial" charset="0"/>
              </a:rPr>
              <a:t> </a:t>
            </a:r>
            <a:r>
              <a:rPr lang="en-US" sz="2400" dirty="0" err="1">
                <a:solidFill>
                  <a:srgbClr val="002060"/>
                </a:solidFill>
                <a:cs typeface="Arial" charset="0"/>
              </a:rPr>
              <a:t>liệu</a:t>
            </a:r>
            <a:r>
              <a:rPr lang="en-US" sz="2400" dirty="0">
                <a:solidFill>
                  <a:srgbClr val="002060"/>
                </a:solidFill>
                <a:cs typeface="Arial" charset="0"/>
              </a:rPr>
              <a:t> logic, </a:t>
            </a:r>
            <a:r>
              <a:rPr lang="en-US" sz="2400" dirty="0" err="1">
                <a:solidFill>
                  <a:srgbClr val="002060"/>
                </a:solidFill>
                <a:cs typeface="Arial" charset="0"/>
              </a:rPr>
              <a:t>có</a:t>
            </a:r>
            <a:r>
              <a:rPr lang="en-US" sz="2400" dirty="0">
                <a:solidFill>
                  <a:srgbClr val="002060"/>
                </a:solidFill>
                <a:cs typeface="Arial" charset="0"/>
              </a:rPr>
              <a:t> 2 </a:t>
            </a:r>
            <a:r>
              <a:rPr lang="en-US" sz="2400" dirty="0" err="1">
                <a:solidFill>
                  <a:srgbClr val="002060"/>
                </a:solidFill>
                <a:cs typeface="Arial" charset="0"/>
              </a:rPr>
              <a:t>giá</a:t>
            </a:r>
            <a:r>
              <a:rPr lang="en-US" sz="2400" dirty="0">
                <a:solidFill>
                  <a:srgbClr val="002060"/>
                </a:solidFill>
                <a:cs typeface="Arial" charset="0"/>
              </a:rPr>
              <a:t> </a:t>
            </a:r>
            <a:r>
              <a:rPr lang="en-US" sz="2400" dirty="0" err="1">
                <a:solidFill>
                  <a:srgbClr val="002060"/>
                </a:solidFill>
                <a:cs typeface="Arial" charset="0"/>
              </a:rPr>
              <a:t>trị</a:t>
            </a:r>
            <a:r>
              <a:rPr lang="en-US" sz="2400" dirty="0">
                <a:solidFill>
                  <a:srgbClr val="002060"/>
                </a:solidFill>
                <a:cs typeface="Arial" charset="0"/>
              </a:rPr>
              <a:t>: </a:t>
            </a:r>
            <a:r>
              <a:rPr lang="en-US" sz="2400" dirty="0" err="1">
                <a:solidFill>
                  <a:srgbClr val="002060"/>
                </a:solidFill>
                <a:cs typeface="Arial" charset="0"/>
              </a:rPr>
              <a:t>Đúng</a:t>
            </a:r>
            <a:r>
              <a:rPr lang="en-US" sz="2400" dirty="0">
                <a:solidFill>
                  <a:srgbClr val="002060"/>
                </a:solidFill>
                <a:cs typeface="Arial" charset="0"/>
              </a:rPr>
              <a:t> </a:t>
            </a:r>
            <a:r>
              <a:rPr lang="en-US" sz="2400" dirty="0" err="1">
                <a:solidFill>
                  <a:srgbClr val="002060"/>
                </a:solidFill>
                <a:cs typeface="Arial" charset="0"/>
              </a:rPr>
              <a:t>và</a:t>
            </a:r>
            <a:r>
              <a:rPr lang="en-US" sz="2400" dirty="0">
                <a:solidFill>
                  <a:srgbClr val="002060"/>
                </a:solidFill>
                <a:cs typeface="Arial" charset="0"/>
              </a:rPr>
              <a:t> Sai.</a:t>
            </a:r>
          </a:p>
          <a:p>
            <a:pPr lvl="1"/>
            <a:r>
              <a:rPr lang="en-US" sz="2400" dirty="0" err="1">
                <a:solidFill>
                  <a:srgbClr val="002060"/>
                </a:solidFill>
                <a:cs typeface="Arial" charset="0"/>
              </a:rPr>
              <a:t>Trong</a:t>
            </a:r>
            <a:r>
              <a:rPr lang="en-US" sz="2400" dirty="0">
                <a:solidFill>
                  <a:srgbClr val="002060"/>
                </a:solidFill>
                <a:cs typeface="Arial" charset="0"/>
              </a:rPr>
              <a:t> C </a:t>
            </a:r>
            <a:r>
              <a:rPr lang="en-US" sz="2400" dirty="0" err="1">
                <a:solidFill>
                  <a:srgbClr val="002060"/>
                </a:solidFill>
                <a:cs typeface="Arial" charset="0"/>
              </a:rPr>
              <a:t>quy</a:t>
            </a:r>
            <a:r>
              <a:rPr lang="en-US" sz="2400" dirty="0">
                <a:solidFill>
                  <a:srgbClr val="002060"/>
                </a:solidFill>
                <a:cs typeface="Arial" charset="0"/>
              </a:rPr>
              <a:t> </a:t>
            </a:r>
            <a:r>
              <a:rPr lang="en-US" sz="2400" dirty="0" err="1">
                <a:solidFill>
                  <a:srgbClr val="002060"/>
                </a:solidFill>
                <a:cs typeface="Arial" charset="0"/>
              </a:rPr>
              <a:t>định</a:t>
            </a:r>
            <a:r>
              <a:rPr lang="en-US" sz="2400" dirty="0">
                <a:solidFill>
                  <a:srgbClr val="002060"/>
                </a:solidFill>
                <a:cs typeface="Arial" charset="0"/>
              </a:rPr>
              <a:t>, </a:t>
            </a:r>
            <a:r>
              <a:rPr lang="en-US" sz="2400" dirty="0" err="1">
                <a:solidFill>
                  <a:srgbClr val="002060"/>
                </a:solidFill>
                <a:cs typeface="Arial" charset="0"/>
              </a:rPr>
              <a:t>giá</a:t>
            </a:r>
            <a:r>
              <a:rPr lang="en-US" sz="2400" dirty="0">
                <a:solidFill>
                  <a:srgbClr val="002060"/>
                </a:solidFill>
                <a:cs typeface="Arial" charset="0"/>
              </a:rPr>
              <a:t> </a:t>
            </a:r>
            <a:r>
              <a:rPr lang="en-US" sz="2400" dirty="0" err="1">
                <a:solidFill>
                  <a:srgbClr val="002060"/>
                </a:solidFill>
                <a:cs typeface="Arial" charset="0"/>
              </a:rPr>
              <a:t>trị</a:t>
            </a:r>
            <a:r>
              <a:rPr lang="en-US" sz="2400" dirty="0">
                <a:solidFill>
                  <a:srgbClr val="002060"/>
                </a:solidFill>
                <a:cs typeface="Arial" charset="0"/>
              </a:rPr>
              <a:t> </a:t>
            </a:r>
            <a:r>
              <a:rPr lang="en-US" sz="2400" dirty="0" err="1">
                <a:solidFill>
                  <a:srgbClr val="002060"/>
                </a:solidFill>
                <a:cs typeface="Arial" charset="0"/>
              </a:rPr>
              <a:t>đúng</a:t>
            </a:r>
            <a:r>
              <a:rPr lang="en-US" sz="2400" dirty="0">
                <a:solidFill>
                  <a:srgbClr val="002060"/>
                </a:solidFill>
                <a:cs typeface="Arial" charset="0"/>
              </a:rPr>
              <a:t> </a:t>
            </a:r>
            <a:r>
              <a:rPr lang="en-US" sz="2400" dirty="0" err="1">
                <a:solidFill>
                  <a:srgbClr val="002060"/>
                </a:solidFill>
                <a:cs typeface="Arial" charset="0"/>
              </a:rPr>
              <a:t>được</a:t>
            </a:r>
            <a:r>
              <a:rPr lang="en-US" sz="2400" dirty="0">
                <a:solidFill>
                  <a:srgbClr val="002060"/>
                </a:solidFill>
                <a:cs typeface="Arial" charset="0"/>
              </a:rPr>
              <a:t> </a:t>
            </a:r>
            <a:r>
              <a:rPr lang="en-US" sz="2400" dirty="0" err="1">
                <a:solidFill>
                  <a:srgbClr val="002060"/>
                </a:solidFill>
                <a:cs typeface="Arial" charset="0"/>
              </a:rPr>
              <a:t>biểu</a:t>
            </a:r>
            <a:r>
              <a:rPr lang="en-US" sz="2400" dirty="0">
                <a:solidFill>
                  <a:srgbClr val="002060"/>
                </a:solidFill>
                <a:cs typeface="Arial" charset="0"/>
              </a:rPr>
              <a:t> </a:t>
            </a:r>
            <a:r>
              <a:rPr lang="en-US" sz="2400" dirty="0" err="1">
                <a:solidFill>
                  <a:srgbClr val="002060"/>
                </a:solidFill>
                <a:cs typeface="Arial" charset="0"/>
              </a:rPr>
              <a:t>diễn</a:t>
            </a:r>
            <a:r>
              <a:rPr lang="en-US" sz="2400" dirty="0">
                <a:solidFill>
                  <a:srgbClr val="002060"/>
                </a:solidFill>
                <a:cs typeface="Arial" charset="0"/>
              </a:rPr>
              <a:t> </a:t>
            </a:r>
            <a:r>
              <a:rPr lang="en-US" sz="2400" dirty="0" err="1">
                <a:solidFill>
                  <a:srgbClr val="002060"/>
                </a:solidFill>
                <a:cs typeface="Arial" charset="0"/>
              </a:rPr>
              <a:t>là</a:t>
            </a:r>
            <a:r>
              <a:rPr lang="en-US" sz="2400" dirty="0">
                <a:solidFill>
                  <a:srgbClr val="002060"/>
                </a:solidFill>
                <a:cs typeface="Arial" charset="0"/>
              </a:rPr>
              <a:t> ‘true’ </a:t>
            </a:r>
            <a:r>
              <a:rPr lang="en-US" sz="2400" dirty="0" err="1">
                <a:solidFill>
                  <a:srgbClr val="002060"/>
                </a:solidFill>
                <a:cs typeface="Arial" charset="0"/>
              </a:rPr>
              <a:t>và</a:t>
            </a:r>
            <a:r>
              <a:rPr lang="en-US" sz="2400" dirty="0">
                <a:solidFill>
                  <a:srgbClr val="002060"/>
                </a:solidFill>
                <a:cs typeface="Arial" charset="0"/>
              </a:rPr>
              <a:t> </a:t>
            </a:r>
            <a:r>
              <a:rPr lang="en-US" sz="2400" dirty="0" err="1">
                <a:solidFill>
                  <a:srgbClr val="002060"/>
                </a:solidFill>
                <a:cs typeface="Arial" charset="0"/>
              </a:rPr>
              <a:t>giá</a:t>
            </a:r>
            <a:r>
              <a:rPr lang="en-US" sz="2400" dirty="0">
                <a:solidFill>
                  <a:srgbClr val="002060"/>
                </a:solidFill>
                <a:cs typeface="Arial" charset="0"/>
              </a:rPr>
              <a:t> </a:t>
            </a:r>
            <a:r>
              <a:rPr lang="en-US" sz="2400" dirty="0" err="1">
                <a:solidFill>
                  <a:srgbClr val="002060"/>
                </a:solidFill>
                <a:cs typeface="Arial" charset="0"/>
              </a:rPr>
              <a:t>trị</a:t>
            </a:r>
            <a:r>
              <a:rPr lang="en-US" sz="2400" dirty="0">
                <a:solidFill>
                  <a:srgbClr val="002060"/>
                </a:solidFill>
                <a:cs typeface="Arial" charset="0"/>
              </a:rPr>
              <a:t> </a:t>
            </a:r>
            <a:r>
              <a:rPr lang="en-US" sz="2400" dirty="0" err="1">
                <a:solidFill>
                  <a:srgbClr val="002060"/>
                </a:solidFill>
                <a:cs typeface="Arial" charset="0"/>
              </a:rPr>
              <a:t>sai</a:t>
            </a:r>
            <a:r>
              <a:rPr lang="en-US" sz="2400" dirty="0">
                <a:solidFill>
                  <a:srgbClr val="002060"/>
                </a:solidFill>
                <a:cs typeface="Arial" charset="0"/>
              </a:rPr>
              <a:t> </a:t>
            </a:r>
            <a:r>
              <a:rPr lang="en-US" sz="2400" dirty="0" err="1">
                <a:solidFill>
                  <a:srgbClr val="002060"/>
                </a:solidFill>
                <a:cs typeface="Arial" charset="0"/>
              </a:rPr>
              <a:t>là</a:t>
            </a:r>
            <a:r>
              <a:rPr lang="en-US" sz="2400" dirty="0">
                <a:solidFill>
                  <a:srgbClr val="002060"/>
                </a:solidFill>
                <a:cs typeface="Arial" charset="0"/>
              </a:rPr>
              <a:t> ‘false’.</a:t>
            </a:r>
          </a:p>
          <a:p>
            <a:pPr lvl="1"/>
            <a:r>
              <a:rPr lang="en-US" sz="2400" dirty="0" err="1">
                <a:solidFill>
                  <a:srgbClr val="002060"/>
                </a:solidFill>
                <a:cs typeface="Arial" charset="0"/>
              </a:rPr>
              <a:t>Ngoài</a:t>
            </a:r>
            <a:r>
              <a:rPr lang="en-US" sz="2400" dirty="0">
                <a:solidFill>
                  <a:srgbClr val="002060"/>
                </a:solidFill>
                <a:cs typeface="Arial" charset="0"/>
              </a:rPr>
              <a:t> </a:t>
            </a:r>
            <a:r>
              <a:rPr lang="en-US" sz="2400" dirty="0" err="1">
                <a:solidFill>
                  <a:srgbClr val="002060"/>
                </a:solidFill>
                <a:cs typeface="Arial" charset="0"/>
              </a:rPr>
              <a:t>ra</a:t>
            </a:r>
            <a:r>
              <a:rPr lang="en-US" sz="2400" dirty="0">
                <a:solidFill>
                  <a:srgbClr val="002060"/>
                </a:solidFill>
                <a:cs typeface="Arial" charset="0"/>
              </a:rPr>
              <a:t>, </a:t>
            </a:r>
            <a:r>
              <a:rPr lang="en-US" sz="2400" dirty="0" err="1">
                <a:solidFill>
                  <a:srgbClr val="002060"/>
                </a:solidFill>
                <a:cs typeface="Arial" charset="0"/>
              </a:rPr>
              <a:t>các</a:t>
            </a:r>
            <a:r>
              <a:rPr lang="en-US" sz="2400" dirty="0">
                <a:solidFill>
                  <a:srgbClr val="002060"/>
                </a:solidFill>
                <a:cs typeface="Arial" charset="0"/>
              </a:rPr>
              <a:t> </a:t>
            </a:r>
            <a:r>
              <a:rPr lang="en-US" sz="2400" dirty="0" err="1">
                <a:solidFill>
                  <a:srgbClr val="002060"/>
                </a:solidFill>
                <a:cs typeface="Arial" charset="0"/>
              </a:rPr>
              <a:t>biểu</a:t>
            </a:r>
            <a:r>
              <a:rPr lang="en-US" sz="2400" dirty="0">
                <a:solidFill>
                  <a:srgbClr val="002060"/>
                </a:solidFill>
                <a:cs typeface="Arial" charset="0"/>
              </a:rPr>
              <a:t> </a:t>
            </a:r>
            <a:r>
              <a:rPr lang="en-US" sz="2400" dirty="0" err="1">
                <a:solidFill>
                  <a:srgbClr val="002060"/>
                </a:solidFill>
                <a:cs typeface="Arial" charset="0"/>
              </a:rPr>
              <a:t>thức</a:t>
            </a:r>
            <a:r>
              <a:rPr lang="en-US" sz="2400" dirty="0">
                <a:solidFill>
                  <a:srgbClr val="002060"/>
                </a:solidFill>
                <a:cs typeface="Arial" charset="0"/>
              </a:rPr>
              <a:t> </a:t>
            </a:r>
            <a:r>
              <a:rPr lang="en-US" sz="2400" dirty="0" err="1">
                <a:solidFill>
                  <a:srgbClr val="002060"/>
                </a:solidFill>
                <a:cs typeface="Arial" charset="0"/>
              </a:rPr>
              <a:t>có</a:t>
            </a:r>
            <a:r>
              <a:rPr lang="en-US" sz="2400" dirty="0">
                <a:solidFill>
                  <a:srgbClr val="002060"/>
                </a:solidFill>
                <a:cs typeface="Arial" charset="0"/>
              </a:rPr>
              <a:t> </a:t>
            </a:r>
            <a:r>
              <a:rPr lang="en-US" sz="2400" dirty="0" err="1">
                <a:solidFill>
                  <a:srgbClr val="002060"/>
                </a:solidFill>
                <a:cs typeface="Arial" charset="0"/>
              </a:rPr>
              <a:t>giá</a:t>
            </a:r>
            <a:r>
              <a:rPr lang="en-US" sz="2400" dirty="0">
                <a:solidFill>
                  <a:srgbClr val="002060"/>
                </a:solidFill>
                <a:cs typeface="Arial" charset="0"/>
              </a:rPr>
              <a:t> </a:t>
            </a:r>
            <a:r>
              <a:rPr lang="en-US" sz="2400" dirty="0" err="1">
                <a:solidFill>
                  <a:srgbClr val="002060"/>
                </a:solidFill>
                <a:cs typeface="Arial" charset="0"/>
              </a:rPr>
              <a:t>trị</a:t>
            </a:r>
            <a:r>
              <a:rPr lang="en-US" sz="2400" dirty="0">
                <a:solidFill>
                  <a:srgbClr val="002060"/>
                </a:solidFill>
                <a:cs typeface="Arial" charset="0"/>
              </a:rPr>
              <a:t> </a:t>
            </a:r>
            <a:r>
              <a:rPr lang="en-US" sz="2400" dirty="0" err="1">
                <a:solidFill>
                  <a:srgbClr val="002060"/>
                </a:solidFill>
                <a:cs typeface="Arial" charset="0"/>
              </a:rPr>
              <a:t>khác</a:t>
            </a:r>
            <a:r>
              <a:rPr lang="en-US" sz="2400" dirty="0">
                <a:solidFill>
                  <a:srgbClr val="002060"/>
                </a:solidFill>
                <a:cs typeface="Arial" charset="0"/>
              </a:rPr>
              <a:t> 0 </a:t>
            </a:r>
            <a:r>
              <a:rPr lang="en-US" sz="2400" dirty="0" err="1">
                <a:solidFill>
                  <a:srgbClr val="002060"/>
                </a:solidFill>
                <a:cs typeface="Arial" charset="0"/>
              </a:rPr>
              <a:t>là</a:t>
            </a:r>
            <a:r>
              <a:rPr lang="en-US" sz="2400" dirty="0">
                <a:solidFill>
                  <a:srgbClr val="002060"/>
                </a:solidFill>
                <a:cs typeface="Arial" charset="0"/>
              </a:rPr>
              <a:t> </a:t>
            </a:r>
            <a:r>
              <a:rPr lang="en-US" sz="2400" dirty="0" err="1">
                <a:solidFill>
                  <a:srgbClr val="002060"/>
                </a:solidFill>
                <a:cs typeface="Arial" charset="0"/>
              </a:rPr>
              <a:t>đúng</a:t>
            </a:r>
            <a:r>
              <a:rPr lang="en-US" sz="2400" dirty="0">
                <a:solidFill>
                  <a:srgbClr val="002060"/>
                </a:solidFill>
                <a:cs typeface="Arial" charset="0"/>
              </a:rPr>
              <a:t> </a:t>
            </a:r>
            <a:r>
              <a:rPr lang="en-US" sz="2400" dirty="0" err="1">
                <a:solidFill>
                  <a:srgbClr val="002060"/>
                </a:solidFill>
                <a:cs typeface="Arial" charset="0"/>
              </a:rPr>
              <a:t>và</a:t>
            </a:r>
            <a:r>
              <a:rPr lang="en-US" sz="2400" dirty="0">
                <a:solidFill>
                  <a:srgbClr val="002060"/>
                </a:solidFill>
                <a:cs typeface="Arial" charset="0"/>
              </a:rPr>
              <a:t> </a:t>
            </a:r>
            <a:r>
              <a:rPr lang="en-US" sz="2400" dirty="0" err="1">
                <a:solidFill>
                  <a:srgbClr val="002060"/>
                </a:solidFill>
                <a:cs typeface="Arial" charset="0"/>
              </a:rPr>
              <a:t>ngược</a:t>
            </a:r>
            <a:r>
              <a:rPr lang="en-US" sz="2400" dirty="0">
                <a:solidFill>
                  <a:srgbClr val="002060"/>
                </a:solidFill>
                <a:cs typeface="Arial" charset="0"/>
              </a:rPr>
              <a:t> </a:t>
            </a:r>
            <a:r>
              <a:rPr lang="en-US" sz="2400" dirty="0" err="1">
                <a:solidFill>
                  <a:srgbClr val="002060"/>
                </a:solidFill>
                <a:cs typeface="Arial" charset="0"/>
              </a:rPr>
              <a:t>lại</a:t>
            </a:r>
            <a:r>
              <a:rPr lang="en-US" sz="2400" dirty="0">
                <a:solidFill>
                  <a:srgbClr val="002060"/>
                </a:solidFill>
                <a:cs typeface="Arial" charset="0"/>
              </a:rPr>
              <a:t>, </a:t>
            </a:r>
            <a:r>
              <a:rPr lang="en-US" sz="2400" dirty="0" err="1">
                <a:solidFill>
                  <a:srgbClr val="002060"/>
                </a:solidFill>
                <a:cs typeface="Arial" charset="0"/>
              </a:rPr>
              <a:t>các</a:t>
            </a:r>
            <a:r>
              <a:rPr lang="en-US" sz="2400" dirty="0">
                <a:solidFill>
                  <a:srgbClr val="002060"/>
                </a:solidFill>
                <a:cs typeface="Arial" charset="0"/>
              </a:rPr>
              <a:t> </a:t>
            </a:r>
            <a:r>
              <a:rPr lang="en-US" sz="2400" dirty="0" err="1">
                <a:solidFill>
                  <a:srgbClr val="002060"/>
                </a:solidFill>
                <a:cs typeface="Arial" charset="0"/>
              </a:rPr>
              <a:t>biểu</a:t>
            </a:r>
            <a:r>
              <a:rPr lang="en-US" sz="2400" dirty="0">
                <a:solidFill>
                  <a:srgbClr val="002060"/>
                </a:solidFill>
                <a:cs typeface="Arial" charset="0"/>
              </a:rPr>
              <a:t> </a:t>
            </a:r>
            <a:r>
              <a:rPr lang="en-US" sz="2400" dirty="0" err="1">
                <a:solidFill>
                  <a:srgbClr val="002060"/>
                </a:solidFill>
                <a:cs typeface="Arial" charset="0"/>
              </a:rPr>
              <a:t>thức</a:t>
            </a:r>
            <a:r>
              <a:rPr lang="en-US" sz="2400" dirty="0">
                <a:solidFill>
                  <a:srgbClr val="002060"/>
                </a:solidFill>
                <a:cs typeface="Arial" charset="0"/>
              </a:rPr>
              <a:t> </a:t>
            </a:r>
            <a:r>
              <a:rPr lang="en-US" sz="2400" dirty="0" err="1">
                <a:solidFill>
                  <a:srgbClr val="002060"/>
                </a:solidFill>
                <a:cs typeface="Arial" charset="0"/>
              </a:rPr>
              <a:t>có</a:t>
            </a:r>
            <a:r>
              <a:rPr lang="en-US" sz="2400" dirty="0">
                <a:solidFill>
                  <a:srgbClr val="002060"/>
                </a:solidFill>
                <a:cs typeface="Arial" charset="0"/>
              </a:rPr>
              <a:t> </a:t>
            </a:r>
            <a:r>
              <a:rPr lang="en-US" sz="2400" dirty="0" err="1">
                <a:solidFill>
                  <a:srgbClr val="002060"/>
                </a:solidFill>
                <a:cs typeface="Arial" charset="0"/>
              </a:rPr>
              <a:t>giá</a:t>
            </a:r>
            <a:r>
              <a:rPr lang="en-US" sz="2400" dirty="0">
                <a:solidFill>
                  <a:srgbClr val="002060"/>
                </a:solidFill>
                <a:cs typeface="Arial" charset="0"/>
              </a:rPr>
              <a:t> </a:t>
            </a:r>
            <a:r>
              <a:rPr lang="en-US" sz="2400" dirty="0" err="1">
                <a:solidFill>
                  <a:srgbClr val="002060"/>
                </a:solidFill>
                <a:cs typeface="Arial" charset="0"/>
              </a:rPr>
              <a:t>trị</a:t>
            </a:r>
            <a:r>
              <a:rPr lang="en-US" sz="2400" dirty="0">
                <a:solidFill>
                  <a:srgbClr val="002060"/>
                </a:solidFill>
                <a:cs typeface="Arial" charset="0"/>
              </a:rPr>
              <a:t> </a:t>
            </a:r>
            <a:r>
              <a:rPr lang="en-US" sz="2400" dirty="0" err="1">
                <a:solidFill>
                  <a:srgbClr val="002060"/>
                </a:solidFill>
                <a:cs typeface="Arial" charset="0"/>
              </a:rPr>
              <a:t>bằng</a:t>
            </a:r>
            <a:r>
              <a:rPr lang="en-US" sz="2400" dirty="0">
                <a:solidFill>
                  <a:srgbClr val="002060"/>
                </a:solidFill>
                <a:cs typeface="Arial" charset="0"/>
              </a:rPr>
              <a:t> 0 </a:t>
            </a:r>
            <a:r>
              <a:rPr lang="en-US" sz="2400" dirty="0" err="1">
                <a:solidFill>
                  <a:srgbClr val="002060"/>
                </a:solidFill>
                <a:cs typeface="Arial" charset="0"/>
              </a:rPr>
              <a:t>là</a:t>
            </a:r>
            <a:r>
              <a:rPr lang="en-US" sz="2400" dirty="0">
                <a:solidFill>
                  <a:srgbClr val="002060"/>
                </a:solidFill>
                <a:cs typeface="Arial" charset="0"/>
              </a:rPr>
              <a:t> </a:t>
            </a:r>
            <a:r>
              <a:rPr lang="en-US" sz="2400" dirty="0" err="1">
                <a:solidFill>
                  <a:srgbClr val="002060"/>
                </a:solidFill>
                <a:cs typeface="Arial" charset="0"/>
              </a:rPr>
              <a:t>sai</a:t>
            </a:r>
            <a:r>
              <a:rPr lang="en-US" sz="2400" dirty="0">
                <a:solidFill>
                  <a:srgbClr val="002060"/>
                </a:solidFill>
                <a:cs typeface="Arial" charset="0"/>
              </a:rPr>
              <a:t>. (0 = false, &lt;&gt;0 = true).</a:t>
            </a:r>
          </a:p>
        </p:txBody>
      </p:sp>
      <p:sp>
        <p:nvSpPr>
          <p:cNvPr id="4" name="Slide Number Placeholder 3"/>
          <p:cNvSpPr>
            <a:spLocks noGrp="1"/>
          </p:cNvSpPr>
          <p:nvPr>
            <p:ph type="sldNum" sz="quarter" idx="10"/>
          </p:nvPr>
        </p:nvSpPr>
        <p:spPr/>
        <p:txBody>
          <a:bodyPr/>
          <a:lstStyle/>
          <a:p>
            <a:pPr>
              <a:defRPr/>
            </a:pPr>
            <a:fld id="{95BC8E2B-AE71-4D79-9F99-0B8FB7FBC878}" type="slidenum">
              <a:rPr lang="en-US" smtClean="0"/>
              <a:pPr>
                <a:defRPr/>
              </a:pPr>
              <a:t>10</a:t>
            </a:fld>
            <a:endParaRPr lang="en-US"/>
          </a:p>
        </p:txBody>
      </p:sp>
      <p:sp>
        <p:nvSpPr>
          <p:cNvPr id="2" name="Title 3">
            <a:extLst>
              <a:ext uri="{FF2B5EF4-FFF2-40B4-BE49-F238E27FC236}">
                <a16:creationId xmlns:a16="http://schemas.microsoft.com/office/drawing/2014/main" id="{327F8286-ADD2-E06C-38D2-D2444D5525F0}"/>
              </a:ext>
            </a:extLst>
          </p:cNvPr>
          <p:cNvSpPr>
            <a:spLocks noGrp="1"/>
          </p:cNvSpPr>
          <p:nvPr>
            <p:ph type="title"/>
          </p:nvPr>
        </p:nvSpPr>
        <p:spPr>
          <a:xfrm>
            <a:off x="0" y="-26145"/>
            <a:ext cx="12100957" cy="685801"/>
          </a:xfrm>
        </p:spPr>
        <p:txBody>
          <a:bodyPr>
            <a:normAutofit/>
          </a:bodyPr>
          <a:lstStyle/>
          <a:p>
            <a:r>
              <a:rPr lang="en-US" sz="3600"/>
              <a:t>2.1 Các kiểu dữ liệu cơ bản</a:t>
            </a:r>
            <a:endParaRPr lang="en-US" sz="3600" dirty="0"/>
          </a:p>
        </p:txBody>
      </p:sp>
      <p:pic>
        <p:nvPicPr>
          <p:cNvPr id="2050" name="Picture 2" descr="True False Images – Browse 27,464 Stock Photos, Vectors, and Video | Adobe  Stock">
            <a:extLst>
              <a:ext uri="{FF2B5EF4-FFF2-40B4-BE49-F238E27FC236}">
                <a16:creationId xmlns:a16="http://schemas.microsoft.com/office/drawing/2014/main" id="{05CECB62-6E19-EA42-493E-4427FDE4B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4650" y="3766951"/>
            <a:ext cx="3619500"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4774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type="body" idx="4294967295"/>
          </p:nvPr>
        </p:nvSpPr>
        <p:spPr>
          <a:xfrm>
            <a:off x="609600" y="924346"/>
            <a:ext cx="10972800" cy="5171654"/>
          </a:xfrm>
        </p:spPr>
        <p:txBody>
          <a:bodyPr>
            <a:normAutofit/>
          </a:bodyPr>
          <a:lstStyle/>
          <a:p>
            <a:r>
              <a:rPr lang="en-US" sz="2800" dirty="0" err="1">
                <a:solidFill>
                  <a:srgbClr val="002060"/>
                </a:solidFill>
                <a:cs typeface="Arial" charset="0"/>
              </a:rPr>
              <a:t>Kiểu</a:t>
            </a:r>
            <a:r>
              <a:rPr lang="en-US" sz="2800" dirty="0">
                <a:solidFill>
                  <a:srgbClr val="002060"/>
                </a:solidFill>
                <a:cs typeface="Arial" charset="0"/>
              </a:rPr>
              <a:t> </a:t>
            </a:r>
            <a:r>
              <a:rPr lang="en-US" sz="2800" dirty="0" err="1">
                <a:solidFill>
                  <a:srgbClr val="002060"/>
                </a:solidFill>
                <a:cs typeface="Arial" charset="0"/>
              </a:rPr>
              <a:t>xâu</a:t>
            </a:r>
            <a:r>
              <a:rPr lang="en-US" sz="2800" dirty="0">
                <a:solidFill>
                  <a:srgbClr val="002060"/>
                </a:solidFill>
                <a:cs typeface="Arial" charset="0"/>
              </a:rPr>
              <a:t> (</a:t>
            </a:r>
            <a:r>
              <a:rPr lang="en-US" sz="2800" dirty="0" err="1">
                <a:solidFill>
                  <a:srgbClr val="002060"/>
                </a:solidFill>
                <a:cs typeface="Arial" charset="0"/>
              </a:rPr>
              <a:t>chuỗi</a:t>
            </a:r>
            <a:r>
              <a:rPr lang="en-US" sz="2800" dirty="0">
                <a:solidFill>
                  <a:srgbClr val="002060"/>
                </a:solidFill>
                <a:cs typeface="Arial" charset="0"/>
              </a:rPr>
              <a:t>) </a:t>
            </a:r>
            <a:r>
              <a:rPr lang="en-US" sz="2800" dirty="0" err="1">
                <a:solidFill>
                  <a:srgbClr val="002060"/>
                </a:solidFill>
                <a:cs typeface="Arial" charset="0"/>
              </a:rPr>
              <a:t>ký</a:t>
            </a:r>
            <a:r>
              <a:rPr lang="en-US" sz="2800" dirty="0">
                <a:solidFill>
                  <a:srgbClr val="002060"/>
                </a:solidFill>
                <a:cs typeface="Arial" charset="0"/>
              </a:rPr>
              <a:t> </a:t>
            </a:r>
            <a:r>
              <a:rPr lang="en-US" sz="2800" dirty="0" err="1">
                <a:solidFill>
                  <a:srgbClr val="002060"/>
                </a:solidFill>
                <a:cs typeface="Arial" charset="0"/>
              </a:rPr>
              <a:t>tự</a:t>
            </a:r>
            <a:r>
              <a:rPr lang="en-US" sz="2800" dirty="0">
                <a:solidFill>
                  <a:srgbClr val="002060"/>
                </a:solidFill>
                <a:cs typeface="Arial" charset="0"/>
              </a:rPr>
              <a:t>:</a:t>
            </a:r>
          </a:p>
          <a:p>
            <a:pPr lvl="1"/>
            <a:r>
              <a:rPr lang="en-US" sz="2400" dirty="0" err="1">
                <a:solidFill>
                  <a:srgbClr val="002060"/>
                </a:solidFill>
                <a:cs typeface="Arial" charset="0"/>
              </a:rPr>
              <a:t>Chuỗi</a:t>
            </a:r>
            <a:r>
              <a:rPr lang="en-US" sz="2400" dirty="0">
                <a:solidFill>
                  <a:srgbClr val="002060"/>
                </a:solidFill>
                <a:cs typeface="Arial" charset="0"/>
              </a:rPr>
              <a:t> (</a:t>
            </a:r>
            <a:r>
              <a:rPr lang="en-US" sz="2400" dirty="0" err="1">
                <a:solidFill>
                  <a:srgbClr val="002060"/>
                </a:solidFill>
                <a:cs typeface="Arial" charset="0"/>
              </a:rPr>
              <a:t>xâu</a:t>
            </a:r>
            <a:r>
              <a:rPr lang="en-US" sz="2400" dirty="0">
                <a:solidFill>
                  <a:srgbClr val="002060"/>
                </a:solidFill>
                <a:cs typeface="Arial" charset="0"/>
              </a:rPr>
              <a:t>) </a:t>
            </a:r>
            <a:r>
              <a:rPr lang="en-US" sz="2400" dirty="0" err="1">
                <a:solidFill>
                  <a:srgbClr val="002060"/>
                </a:solidFill>
                <a:cs typeface="Arial" charset="0"/>
              </a:rPr>
              <a:t>được</a:t>
            </a:r>
            <a:r>
              <a:rPr lang="en-US" sz="2400" dirty="0">
                <a:solidFill>
                  <a:srgbClr val="002060"/>
                </a:solidFill>
                <a:cs typeface="Arial" charset="0"/>
              </a:rPr>
              <a:t> </a:t>
            </a:r>
            <a:r>
              <a:rPr lang="en-US" sz="2400" dirty="0" err="1">
                <a:solidFill>
                  <a:srgbClr val="002060"/>
                </a:solidFill>
                <a:cs typeface="Arial" charset="0"/>
              </a:rPr>
              <a:t>xem</a:t>
            </a:r>
            <a:r>
              <a:rPr lang="en-US" sz="2400" dirty="0">
                <a:solidFill>
                  <a:srgbClr val="002060"/>
                </a:solidFill>
                <a:cs typeface="Arial" charset="0"/>
              </a:rPr>
              <a:t> </a:t>
            </a:r>
            <a:r>
              <a:rPr lang="en-US" sz="2400" dirty="0" err="1">
                <a:solidFill>
                  <a:srgbClr val="002060"/>
                </a:solidFill>
                <a:cs typeface="Arial" charset="0"/>
              </a:rPr>
              <a:t>như</a:t>
            </a:r>
            <a:r>
              <a:rPr lang="en-US" sz="2400" dirty="0">
                <a:solidFill>
                  <a:srgbClr val="002060"/>
                </a:solidFill>
                <a:cs typeface="Arial" charset="0"/>
              </a:rPr>
              <a:t> </a:t>
            </a:r>
            <a:r>
              <a:rPr lang="en-US" sz="2400" dirty="0" err="1">
                <a:solidFill>
                  <a:srgbClr val="002060"/>
                </a:solidFill>
                <a:cs typeface="Arial" charset="0"/>
              </a:rPr>
              <a:t>một</a:t>
            </a:r>
            <a:r>
              <a:rPr lang="en-US" sz="2400" dirty="0">
                <a:solidFill>
                  <a:srgbClr val="002060"/>
                </a:solidFill>
                <a:cs typeface="Arial" charset="0"/>
              </a:rPr>
              <a:t> </a:t>
            </a:r>
            <a:r>
              <a:rPr lang="en-US" sz="2400" dirty="0" err="1">
                <a:solidFill>
                  <a:srgbClr val="002060"/>
                </a:solidFill>
                <a:cs typeface="Arial" charset="0"/>
              </a:rPr>
              <a:t>mảng</a:t>
            </a:r>
            <a:r>
              <a:rPr lang="en-US" sz="2400" dirty="0">
                <a:solidFill>
                  <a:srgbClr val="002060"/>
                </a:solidFill>
                <a:cs typeface="Arial" charset="0"/>
              </a:rPr>
              <a:t> 1 </a:t>
            </a:r>
            <a:r>
              <a:rPr lang="en-US" sz="2400" dirty="0" err="1">
                <a:solidFill>
                  <a:srgbClr val="002060"/>
                </a:solidFill>
                <a:cs typeface="Arial" charset="0"/>
              </a:rPr>
              <a:t>chiều</a:t>
            </a:r>
            <a:r>
              <a:rPr lang="en-US" sz="2400" dirty="0">
                <a:solidFill>
                  <a:srgbClr val="002060"/>
                </a:solidFill>
                <a:cs typeface="Arial" charset="0"/>
              </a:rPr>
              <a:t> </a:t>
            </a:r>
            <a:r>
              <a:rPr lang="en-US" sz="2400" dirty="0" err="1">
                <a:solidFill>
                  <a:srgbClr val="002060"/>
                </a:solidFill>
                <a:cs typeface="Arial" charset="0"/>
              </a:rPr>
              <a:t>gồm</a:t>
            </a:r>
            <a:r>
              <a:rPr lang="en-US" sz="2400" dirty="0">
                <a:solidFill>
                  <a:srgbClr val="002060"/>
                </a:solidFill>
                <a:cs typeface="Arial" charset="0"/>
              </a:rPr>
              <a:t> </a:t>
            </a:r>
            <a:r>
              <a:rPr lang="en-US" sz="2400" dirty="0" err="1">
                <a:solidFill>
                  <a:srgbClr val="002060"/>
                </a:solidFill>
                <a:cs typeface="Arial" charset="0"/>
              </a:rPr>
              <a:t>các</a:t>
            </a:r>
            <a:r>
              <a:rPr lang="en-US" sz="2400" dirty="0">
                <a:solidFill>
                  <a:srgbClr val="002060"/>
                </a:solidFill>
                <a:cs typeface="Arial" charset="0"/>
              </a:rPr>
              <a:t> </a:t>
            </a:r>
            <a:r>
              <a:rPr lang="en-US" sz="2400" dirty="0" err="1">
                <a:solidFill>
                  <a:srgbClr val="002060"/>
                </a:solidFill>
                <a:cs typeface="Arial" charset="0"/>
              </a:rPr>
              <a:t>phần</a:t>
            </a:r>
            <a:r>
              <a:rPr lang="en-US" sz="2400" dirty="0">
                <a:solidFill>
                  <a:srgbClr val="002060"/>
                </a:solidFill>
                <a:cs typeface="Arial" charset="0"/>
              </a:rPr>
              <a:t> </a:t>
            </a:r>
            <a:r>
              <a:rPr lang="en-US" sz="2400" dirty="0" err="1">
                <a:solidFill>
                  <a:srgbClr val="002060"/>
                </a:solidFill>
                <a:cs typeface="Arial" charset="0"/>
              </a:rPr>
              <a:t>tử</a:t>
            </a:r>
            <a:r>
              <a:rPr lang="en-US" sz="2400" dirty="0">
                <a:solidFill>
                  <a:srgbClr val="002060"/>
                </a:solidFill>
                <a:cs typeface="Arial" charset="0"/>
              </a:rPr>
              <a:t> </a:t>
            </a:r>
            <a:r>
              <a:rPr lang="en-US" sz="2400" dirty="0" err="1">
                <a:solidFill>
                  <a:srgbClr val="002060"/>
                </a:solidFill>
                <a:cs typeface="Arial" charset="0"/>
              </a:rPr>
              <a:t>có</a:t>
            </a:r>
            <a:r>
              <a:rPr lang="en-US" sz="2400" dirty="0">
                <a:solidFill>
                  <a:srgbClr val="002060"/>
                </a:solidFill>
                <a:cs typeface="Arial" charset="0"/>
              </a:rPr>
              <a:t> </a:t>
            </a:r>
            <a:r>
              <a:rPr lang="en-US" sz="2400" dirty="0" err="1">
                <a:solidFill>
                  <a:srgbClr val="002060"/>
                </a:solidFill>
                <a:cs typeface="Arial" charset="0"/>
              </a:rPr>
              <a:t>kiểu</a:t>
            </a:r>
            <a:r>
              <a:rPr lang="en-US" sz="2400" dirty="0">
                <a:solidFill>
                  <a:srgbClr val="002060"/>
                </a:solidFill>
                <a:cs typeface="Arial" charset="0"/>
              </a:rPr>
              <a:t> char (</a:t>
            </a:r>
            <a:r>
              <a:rPr lang="en-US" sz="2400" dirty="0" err="1">
                <a:solidFill>
                  <a:srgbClr val="002060"/>
                </a:solidFill>
                <a:cs typeface="Arial" charset="0"/>
              </a:rPr>
              <a:t>ký</a:t>
            </a:r>
            <a:r>
              <a:rPr lang="en-US" sz="2400" dirty="0">
                <a:solidFill>
                  <a:srgbClr val="002060"/>
                </a:solidFill>
                <a:cs typeface="Arial" charset="0"/>
              </a:rPr>
              <a:t> </a:t>
            </a:r>
            <a:r>
              <a:rPr lang="en-US" sz="2400" dirty="0" err="1">
                <a:solidFill>
                  <a:srgbClr val="002060"/>
                </a:solidFill>
                <a:cs typeface="Arial" charset="0"/>
              </a:rPr>
              <a:t>tự</a:t>
            </a:r>
            <a:r>
              <a:rPr lang="en-US" sz="2400" dirty="0">
                <a:solidFill>
                  <a:srgbClr val="002060"/>
                </a:solidFill>
                <a:cs typeface="Arial" charset="0"/>
              </a:rPr>
              <a:t>) </a:t>
            </a:r>
            <a:r>
              <a:rPr lang="en-US" sz="2400" dirty="0" err="1">
                <a:solidFill>
                  <a:srgbClr val="002060"/>
                </a:solidFill>
                <a:cs typeface="Arial" charset="0"/>
              </a:rPr>
              <a:t>như</a:t>
            </a:r>
            <a:r>
              <a:rPr lang="en-US" sz="2400" dirty="0">
                <a:solidFill>
                  <a:srgbClr val="002060"/>
                </a:solidFill>
                <a:cs typeface="Arial" charset="0"/>
              </a:rPr>
              <a:t> </a:t>
            </a:r>
            <a:r>
              <a:rPr lang="en-US" sz="2400" dirty="0" err="1">
                <a:solidFill>
                  <a:srgbClr val="002060"/>
                </a:solidFill>
                <a:cs typeface="Arial" charset="0"/>
              </a:rPr>
              <a:t>các</a:t>
            </a:r>
            <a:r>
              <a:rPr lang="en-US" sz="2400" dirty="0">
                <a:solidFill>
                  <a:srgbClr val="002060"/>
                </a:solidFill>
                <a:cs typeface="Arial" charset="0"/>
              </a:rPr>
              <a:t> </a:t>
            </a:r>
            <a:r>
              <a:rPr lang="en-US" sz="2400" dirty="0" err="1">
                <a:solidFill>
                  <a:srgbClr val="002060"/>
                </a:solidFill>
                <a:cs typeface="Arial" charset="0"/>
              </a:rPr>
              <a:t>chữ</a:t>
            </a:r>
            <a:r>
              <a:rPr lang="en-US" sz="2400" dirty="0">
                <a:solidFill>
                  <a:srgbClr val="002060"/>
                </a:solidFill>
                <a:cs typeface="Arial" charset="0"/>
              </a:rPr>
              <a:t> </a:t>
            </a:r>
            <a:r>
              <a:rPr lang="en-US" sz="2400" dirty="0" err="1">
                <a:solidFill>
                  <a:srgbClr val="002060"/>
                </a:solidFill>
                <a:cs typeface="Arial" charset="0"/>
              </a:rPr>
              <a:t>cái</a:t>
            </a:r>
            <a:r>
              <a:rPr lang="en-US" sz="2400" dirty="0">
                <a:solidFill>
                  <a:srgbClr val="002060"/>
                </a:solidFill>
                <a:cs typeface="Arial" charset="0"/>
              </a:rPr>
              <a:t>, con </a:t>
            </a:r>
            <a:r>
              <a:rPr lang="en-US" sz="2400" dirty="0" err="1">
                <a:solidFill>
                  <a:srgbClr val="002060"/>
                </a:solidFill>
                <a:cs typeface="Arial" charset="0"/>
              </a:rPr>
              <a:t>số</a:t>
            </a:r>
            <a:r>
              <a:rPr lang="en-US" sz="2400" dirty="0">
                <a:solidFill>
                  <a:srgbClr val="002060"/>
                </a:solidFill>
                <a:cs typeface="Arial" charset="0"/>
              </a:rPr>
              <a:t> </a:t>
            </a:r>
            <a:r>
              <a:rPr lang="en-US" sz="2400" dirty="0" err="1">
                <a:solidFill>
                  <a:srgbClr val="002060"/>
                </a:solidFill>
                <a:cs typeface="Arial" charset="0"/>
              </a:rPr>
              <a:t>và</a:t>
            </a:r>
            <a:r>
              <a:rPr lang="en-US" sz="2400" dirty="0">
                <a:solidFill>
                  <a:srgbClr val="002060"/>
                </a:solidFill>
                <a:cs typeface="Arial" charset="0"/>
              </a:rPr>
              <a:t> </a:t>
            </a:r>
            <a:r>
              <a:rPr lang="en-US" sz="2400" dirty="0" err="1">
                <a:solidFill>
                  <a:srgbClr val="002060"/>
                </a:solidFill>
                <a:cs typeface="Arial" charset="0"/>
              </a:rPr>
              <a:t>các</a:t>
            </a:r>
            <a:r>
              <a:rPr lang="en-US" sz="2400" dirty="0">
                <a:solidFill>
                  <a:srgbClr val="002060"/>
                </a:solidFill>
                <a:cs typeface="Arial" charset="0"/>
              </a:rPr>
              <a:t> </a:t>
            </a:r>
            <a:r>
              <a:rPr lang="en-US" sz="2400" dirty="0" err="1">
                <a:solidFill>
                  <a:srgbClr val="002060"/>
                </a:solidFill>
                <a:cs typeface="Arial" charset="0"/>
              </a:rPr>
              <a:t>ký</a:t>
            </a:r>
            <a:r>
              <a:rPr lang="en-US" sz="2400" dirty="0">
                <a:solidFill>
                  <a:srgbClr val="002060"/>
                </a:solidFill>
                <a:cs typeface="Arial" charset="0"/>
              </a:rPr>
              <a:t> </a:t>
            </a:r>
            <a:r>
              <a:rPr lang="en-US" sz="2400" dirty="0" err="1">
                <a:solidFill>
                  <a:srgbClr val="002060"/>
                </a:solidFill>
                <a:cs typeface="Arial" charset="0"/>
              </a:rPr>
              <a:t>tự</a:t>
            </a:r>
            <a:r>
              <a:rPr lang="en-US" sz="2400" dirty="0">
                <a:solidFill>
                  <a:srgbClr val="002060"/>
                </a:solidFill>
                <a:cs typeface="Arial" charset="0"/>
              </a:rPr>
              <a:t> </a:t>
            </a:r>
            <a:r>
              <a:rPr lang="en-US" sz="2400" dirty="0" err="1">
                <a:solidFill>
                  <a:srgbClr val="002060"/>
                </a:solidFill>
                <a:cs typeface="Arial" charset="0"/>
              </a:rPr>
              <a:t>đặc</a:t>
            </a:r>
            <a:r>
              <a:rPr lang="en-US" sz="2400" dirty="0">
                <a:solidFill>
                  <a:srgbClr val="002060"/>
                </a:solidFill>
                <a:cs typeface="Arial" charset="0"/>
              </a:rPr>
              <a:t> </a:t>
            </a:r>
            <a:r>
              <a:rPr lang="en-US" sz="2400" dirty="0" err="1">
                <a:solidFill>
                  <a:srgbClr val="002060"/>
                </a:solidFill>
                <a:cs typeface="Arial" charset="0"/>
              </a:rPr>
              <a:t>biệt</a:t>
            </a:r>
            <a:r>
              <a:rPr lang="en-US" sz="2400" dirty="0">
                <a:solidFill>
                  <a:srgbClr val="002060"/>
                </a:solidFill>
                <a:cs typeface="Arial" charset="0"/>
              </a:rPr>
              <a:t> </a:t>
            </a:r>
            <a:r>
              <a:rPr lang="en-US" sz="2400" dirty="0" err="1">
                <a:solidFill>
                  <a:srgbClr val="002060"/>
                </a:solidFill>
                <a:cs typeface="Arial" charset="0"/>
              </a:rPr>
              <a:t>khác</a:t>
            </a:r>
            <a:r>
              <a:rPr lang="en-US" sz="2400" dirty="0">
                <a:solidFill>
                  <a:srgbClr val="002060"/>
                </a:solidFill>
                <a:cs typeface="Arial" charset="0"/>
              </a:rPr>
              <a:t> </a:t>
            </a:r>
            <a:r>
              <a:rPr lang="en-US" sz="2400" dirty="0" err="1">
                <a:solidFill>
                  <a:srgbClr val="002060"/>
                </a:solidFill>
                <a:cs typeface="Arial" charset="0"/>
              </a:rPr>
              <a:t>như</a:t>
            </a:r>
            <a:r>
              <a:rPr lang="en-US" sz="2400" dirty="0">
                <a:solidFill>
                  <a:srgbClr val="002060"/>
                </a:solidFill>
                <a:cs typeface="Arial" charset="0"/>
              </a:rPr>
              <a:t> +, -, *, /, $, %, ...</a:t>
            </a:r>
          </a:p>
          <a:p>
            <a:pPr marL="914400" lvl="2" indent="0">
              <a:buNone/>
            </a:pPr>
            <a:r>
              <a:rPr lang="en-US" sz="2000" dirty="0">
                <a:solidFill>
                  <a:srgbClr val="002060"/>
                </a:solidFill>
                <a:cs typeface="Arial" charset="0"/>
              </a:rPr>
              <a:t>	</a:t>
            </a:r>
            <a:r>
              <a:rPr lang="en-US" sz="2200" i="1" dirty="0" err="1">
                <a:solidFill>
                  <a:srgbClr val="002060"/>
                </a:solidFill>
                <a:cs typeface="Arial" charset="0"/>
              </a:rPr>
              <a:t>Ví</a:t>
            </a:r>
            <a:r>
              <a:rPr lang="en-US" sz="2200" i="1" dirty="0">
                <a:solidFill>
                  <a:srgbClr val="002060"/>
                </a:solidFill>
                <a:cs typeface="Arial" charset="0"/>
              </a:rPr>
              <a:t> </a:t>
            </a:r>
            <a:r>
              <a:rPr lang="en-US" sz="2200" i="1" dirty="0" err="1">
                <a:solidFill>
                  <a:srgbClr val="002060"/>
                </a:solidFill>
                <a:cs typeface="Arial" charset="0"/>
              </a:rPr>
              <a:t>dụ</a:t>
            </a:r>
            <a:r>
              <a:rPr lang="en-US" sz="2200" i="1" dirty="0">
                <a:solidFill>
                  <a:srgbClr val="002060"/>
                </a:solidFill>
                <a:cs typeface="Arial" charset="0"/>
              </a:rPr>
              <a:t>:  </a:t>
            </a:r>
            <a:r>
              <a:rPr lang="en-US" sz="2200" i="1" dirty="0" err="1">
                <a:solidFill>
                  <a:srgbClr val="FF0000"/>
                </a:solidFill>
                <a:cs typeface="Arial" charset="0"/>
              </a:rPr>
              <a:t>avbsSDC</a:t>
            </a:r>
            <a:r>
              <a:rPr lang="en-US" sz="2200" i="1" dirty="0">
                <a:solidFill>
                  <a:srgbClr val="FF0000"/>
                </a:solidFill>
                <a:cs typeface="Arial" charset="0"/>
              </a:rPr>
              <a:t>*123mcks</a:t>
            </a:r>
          </a:p>
          <a:p>
            <a:pPr lvl="1"/>
            <a:r>
              <a:rPr lang="vi-VN" sz="2400" dirty="0">
                <a:solidFill>
                  <a:srgbClr val="002060"/>
                </a:solidFill>
                <a:cs typeface="Arial" charset="0"/>
              </a:rPr>
              <a:t>Theo quy ước, một chuỗi sẽ được kết thúc bởi ký tự null (‘\0’: kí tự rỗng).</a:t>
            </a:r>
          </a:p>
          <a:p>
            <a:pPr lvl="1"/>
            <a:endParaRPr lang="en-US" sz="24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95BC8E2B-AE71-4D79-9F99-0B8FB7FBC878}" type="slidenum">
              <a:rPr lang="en-US" smtClean="0"/>
              <a:pPr>
                <a:defRPr/>
              </a:pPr>
              <a:t>11</a:t>
            </a:fld>
            <a:endParaRPr lang="en-US"/>
          </a:p>
        </p:txBody>
      </p:sp>
      <p:sp>
        <p:nvSpPr>
          <p:cNvPr id="2" name="Title 3">
            <a:extLst>
              <a:ext uri="{FF2B5EF4-FFF2-40B4-BE49-F238E27FC236}">
                <a16:creationId xmlns:a16="http://schemas.microsoft.com/office/drawing/2014/main" id="{327F8286-ADD2-E06C-38D2-D2444D5525F0}"/>
              </a:ext>
            </a:extLst>
          </p:cNvPr>
          <p:cNvSpPr>
            <a:spLocks noGrp="1"/>
          </p:cNvSpPr>
          <p:nvPr>
            <p:ph type="title"/>
          </p:nvPr>
        </p:nvSpPr>
        <p:spPr>
          <a:xfrm>
            <a:off x="0" y="-26145"/>
            <a:ext cx="12100957" cy="685801"/>
          </a:xfrm>
        </p:spPr>
        <p:txBody>
          <a:bodyPr>
            <a:normAutofit/>
          </a:bodyPr>
          <a:lstStyle/>
          <a:p>
            <a:r>
              <a:rPr lang="en-US" sz="3600"/>
              <a:t>2.1 Các kiểu dữ liệu cơ bản</a:t>
            </a:r>
            <a:endParaRPr lang="en-US" sz="3600" dirty="0"/>
          </a:p>
        </p:txBody>
      </p:sp>
      <p:pic>
        <p:nvPicPr>
          <p:cNvPr id="10242" name="Picture 2" descr="String Trong C++ - Techacademy">
            <a:extLst>
              <a:ext uri="{FF2B5EF4-FFF2-40B4-BE49-F238E27FC236}">
                <a16:creationId xmlns:a16="http://schemas.microsoft.com/office/drawing/2014/main" id="{72032589-8532-CC40-3A3F-7F4A622C3B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886200"/>
            <a:ext cx="6702408"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799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399"/>
            <a:ext cx="10972800" cy="5441951"/>
          </a:xfrm>
        </p:spPr>
        <p:txBody>
          <a:bodyPr>
            <a:normAutofit/>
          </a:bodyPr>
          <a:lstStyle/>
          <a:p>
            <a:pPr>
              <a:spcBef>
                <a:spcPts val="600"/>
              </a:spcBef>
              <a:spcAft>
                <a:spcPts val="600"/>
              </a:spcAft>
            </a:pPr>
            <a:r>
              <a:rPr lang="en-AU" sz="2400" dirty="0" err="1">
                <a:solidFill>
                  <a:srgbClr val="002060"/>
                </a:solidFill>
                <a:cs typeface="Arial" charset="0"/>
              </a:rPr>
              <a:t>Khái</a:t>
            </a:r>
            <a:r>
              <a:rPr lang="en-AU" sz="2400" dirty="0">
                <a:solidFill>
                  <a:srgbClr val="002060"/>
                </a:solidFill>
                <a:cs typeface="Arial" charset="0"/>
              </a:rPr>
              <a:t> </a:t>
            </a:r>
            <a:r>
              <a:rPr lang="en-AU" sz="2400" dirty="0" err="1">
                <a:solidFill>
                  <a:srgbClr val="002060"/>
                </a:solidFill>
                <a:cs typeface="Arial" charset="0"/>
              </a:rPr>
              <a:t>niệm</a:t>
            </a:r>
            <a:r>
              <a:rPr lang="en-AU" sz="2400" dirty="0">
                <a:solidFill>
                  <a:srgbClr val="002060"/>
                </a:solidFill>
                <a:cs typeface="Arial" charset="0"/>
              </a:rPr>
              <a:t>: </a:t>
            </a:r>
            <a:r>
              <a:rPr lang="vi-VN" sz="2400" b="0" dirty="0">
                <a:solidFill>
                  <a:srgbClr val="002060"/>
                </a:solidFill>
                <a:cs typeface="Arial" charset="0"/>
              </a:rPr>
              <a:t>Hằng là các đại lượng mà giá trị của nó không thay đổi trong quá trình tính toán</a:t>
            </a:r>
            <a:r>
              <a:rPr lang="en-AU" sz="2400" b="0" dirty="0">
                <a:solidFill>
                  <a:srgbClr val="002060"/>
                </a:solidFill>
                <a:cs typeface="Arial" charset="0"/>
              </a:rPr>
              <a:t>.</a:t>
            </a:r>
          </a:p>
          <a:p>
            <a:pPr>
              <a:spcBef>
                <a:spcPts val="600"/>
              </a:spcBef>
              <a:spcAft>
                <a:spcPts val="600"/>
              </a:spcAft>
            </a:pPr>
            <a:r>
              <a:rPr lang="en-AU" sz="2400" dirty="0" err="1">
                <a:solidFill>
                  <a:srgbClr val="002060"/>
                </a:solidFill>
                <a:cs typeface="Arial" charset="0"/>
              </a:rPr>
              <a:t>Cách</a:t>
            </a:r>
            <a:r>
              <a:rPr lang="en-AU" sz="2400" dirty="0">
                <a:solidFill>
                  <a:srgbClr val="002060"/>
                </a:solidFill>
                <a:cs typeface="Arial" charset="0"/>
              </a:rPr>
              <a:t> </a:t>
            </a:r>
            <a:r>
              <a:rPr lang="en-AU" sz="2400" dirty="0" err="1">
                <a:solidFill>
                  <a:srgbClr val="002060"/>
                </a:solidFill>
                <a:cs typeface="Arial" charset="0"/>
              </a:rPr>
              <a:t>biểu</a:t>
            </a:r>
            <a:r>
              <a:rPr lang="en-AU" sz="2400" dirty="0">
                <a:solidFill>
                  <a:srgbClr val="002060"/>
                </a:solidFill>
                <a:cs typeface="Arial" charset="0"/>
              </a:rPr>
              <a:t> </a:t>
            </a:r>
            <a:r>
              <a:rPr lang="en-AU" sz="2400" dirty="0" err="1">
                <a:solidFill>
                  <a:srgbClr val="002060"/>
                </a:solidFill>
                <a:cs typeface="Arial" charset="0"/>
              </a:rPr>
              <a:t>diễn</a:t>
            </a:r>
            <a:r>
              <a:rPr lang="en-AU" sz="2400" dirty="0">
                <a:solidFill>
                  <a:srgbClr val="002060"/>
                </a:solidFill>
                <a:cs typeface="Arial" charset="0"/>
              </a:rPr>
              <a:t> </a:t>
            </a:r>
            <a:r>
              <a:rPr lang="en-AU" sz="2400" dirty="0" err="1">
                <a:solidFill>
                  <a:srgbClr val="002060"/>
                </a:solidFill>
                <a:cs typeface="Arial" charset="0"/>
              </a:rPr>
              <a:t>các</a:t>
            </a:r>
            <a:r>
              <a:rPr lang="en-AU" sz="2400" dirty="0">
                <a:solidFill>
                  <a:srgbClr val="002060"/>
                </a:solidFill>
                <a:cs typeface="Arial" charset="0"/>
              </a:rPr>
              <a:t> </a:t>
            </a:r>
            <a:r>
              <a:rPr lang="en-AU" sz="2400" dirty="0" err="1">
                <a:solidFill>
                  <a:srgbClr val="002060"/>
                </a:solidFill>
                <a:cs typeface="Arial" charset="0"/>
              </a:rPr>
              <a:t>hằng</a:t>
            </a:r>
            <a:r>
              <a:rPr lang="en-AU" sz="2400" dirty="0">
                <a:solidFill>
                  <a:srgbClr val="002060"/>
                </a:solidFill>
                <a:cs typeface="Arial" charset="0"/>
              </a:rPr>
              <a:t>:</a:t>
            </a:r>
          </a:p>
          <a:p>
            <a:pPr lvl="1">
              <a:spcBef>
                <a:spcPts val="600"/>
              </a:spcBef>
              <a:spcAft>
                <a:spcPts val="600"/>
              </a:spcAft>
            </a:pPr>
            <a:r>
              <a:rPr lang="en-AU" sz="2400" dirty="0" err="1">
                <a:solidFill>
                  <a:srgbClr val="002060"/>
                </a:solidFill>
                <a:cs typeface="Arial" charset="0"/>
              </a:rPr>
              <a:t>Hằng</a:t>
            </a:r>
            <a:r>
              <a:rPr lang="en-AU" sz="2400" dirty="0">
                <a:solidFill>
                  <a:srgbClr val="002060"/>
                </a:solidFill>
                <a:cs typeface="Arial" charset="0"/>
              </a:rPr>
              <a:t> </a:t>
            </a:r>
            <a:r>
              <a:rPr lang="en-AU" sz="2400" dirty="0" err="1">
                <a:solidFill>
                  <a:srgbClr val="002060"/>
                </a:solidFill>
                <a:cs typeface="Arial" charset="0"/>
              </a:rPr>
              <a:t>số</a:t>
            </a:r>
            <a:r>
              <a:rPr lang="en-AU" sz="2400" dirty="0">
                <a:solidFill>
                  <a:srgbClr val="002060"/>
                </a:solidFill>
                <a:cs typeface="Arial" charset="0"/>
              </a:rPr>
              <a:t> </a:t>
            </a:r>
            <a:r>
              <a:rPr lang="en-AU" sz="2400" dirty="0" err="1">
                <a:solidFill>
                  <a:srgbClr val="002060"/>
                </a:solidFill>
                <a:cs typeface="Arial" charset="0"/>
              </a:rPr>
              <a:t>thực</a:t>
            </a:r>
            <a:r>
              <a:rPr lang="en-AU" sz="2400" dirty="0">
                <a:solidFill>
                  <a:srgbClr val="002060"/>
                </a:solidFill>
                <a:cs typeface="Arial" charset="0"/>
              </a:rPr>
              <a:t> </a:t>
            </a:r>
          </a:p>
          <a:p>
            <a:pPr lvl="1">
              <a:spcBef>
                <a:spcPts val="600"/>
              </a:spcBef>
              <a:spcAft>
                <a:spcPts val="600"/>
              </a:spcAft>
            </a:pPr>
            <a:r>
              <a:rPr lang="en-AU" sz="2400" dirty="0" err="1">
                <a:solidFill>
                  <a:srgbClr val="002060"/>
                </a:solidFill>
                <a:cs typeface="Arial" charset="0"/>
              </a:rPr>
              <a:t>Hằng</a:t>
            </a:r>
            <a:r>
              <a:rPr lang="en-AU" sz="2400" dirty="0">
                <a:solidFill>
                  <a:srgbClr val="002060"/>
                </a:solidFill>
                <a:cs typeface="Arial" charset="0"/>
              </a:rPr>
              <a:t> </a:t>
            </a:r>
            <a:r>
              <a:rPr lang="en-AU" sz="2400" dirty="0" err="1">
                <a:solidFill>
                  <a:srgbClr val="002060"/>
                </a:solidFill>
                <a:cs typeface="Arial" charset="0"/>
              </a:rPr>
              <a:t>số</a:t>
            </a:r>
            <a:r>
              <a:rPr lang="en-AU" sz="2400" dirty="0">
                <a:solidFill>
                  <a:srgbClr val="002060"/>
                </a:solidFill>
                <a:cs typeface="Arial" charset="0"/>
              </a:rPr>
              <a:t> </a:t>
            </a:r>
            <a:r>
              <a:rPr lang="en-AU" sz="2400" dirty="0" err="1">
                <a:solidFill>
                  <a:srgbClr val="002060"/>
                </a:solidFill>
                <a:cs typeface="Arial" charset="0"/>
              </a:rPr>
              <a:t>nguyên</a:t>
            </a:r>
            <a:r>
              <a:rPr lang="en-AU" sz="2400" dirty="0">
                <a:solidFill>
                  <a:srgbClr val="002060"/>
                </a:solidFill>
                <a:cs typeface="Arial" charset="0"/>
              </a:rPr>
              <a:t> </a:t>
            </a:r>
            <a:r>
              <a:rPr lang="en-AU" sz="2400" dirty="0" err="1">
                <a:solidFill>
                  <a:srgbClr val="002060"/>
                </a:solidFill>
                <a:cs typeface="Arial" charset="0"/>
              </a:rPr>
              <a:t>kiểu</a:t>
            </a:r>
            <a:r>
              <a:rPr lang="en-AU" sz="2400" dirty="0">
                <a:solidFill>
                  <a:srgbClr val="002060"/>
                </a:solidFill>
                <a:cs typeface="Arial" charset="0"/>
              </a:rPr>
              <a:t> int</a:t>
            </a:r>
          </a:p>
          <a:p>
            <a:pPr lvl="1">
              <a:spcBef>
                <a:spcPts val="600"/>
              </a:spcBef>
              <a:spcAft>
                <a:spcPts val="600"/>
              </a:spcAft>
            </a:pPr>
            <a:r>
              <a:rPr lang="en-AU" sz="2400" dirty="0" err="1">
                <a:solidFill>
                  <a:srgbClr val="002060"/>
                </a:solidFill>
                <a:cs typeface="Arial" charset="0"/>
              </a:rPr>
              <a:t>Hằng</a:t>
            </a:r>
            <a:r>
              <a:rPr lang="en-AU" sz="2400" dirty="0">
                <a:solidFill>
                  <a:srgbClr val="002060"/>
                </a:solidFill>
                <a:cs typeface="Arial" charset="0"/>
              </a:rPr>
              <a:t> </a:t>
            </a:r>
            <a:r>
              <a:rPr lang="en-AU" sz="2400" dirty="0" err="1">
                <a:solidFill>
                  <a:srgbClr val="002060"/>
                </a:solidFill>
                <a:cs typeface="Arial" charset="0"/>
              </a:rPr>
              <a:t>số</a:t>
            </a:r>
            <a:r>
              <a:rPr lang="en-AU" sz="2400" dirty="0">
                <a:solidFill>
                  <a:srgbClr val="002060"/>
                </a:solidFill>
                <a:cs typeface="Arial" charset="0"/>
              </a:rPr>
              <a:t> </a:t>
            </a:r>
            <a:r>
              <a:rPr lang="en-AU" sz="2400" dirty="0" err="1">
                <a:solidFill>
                  <a:srgbClr val="002060"/>
                </a:solidFill>
                <a:cs typeface="Arial" charset="0"/>
              </a:rPr>
              <a:t>nguyên</a:t>
            </a:r>
            <a:r>
              <a:rPr lang="en-AU" sz="2400" dirty="0">
                <a:solidFill>
                  <a:srgbClr val="002060"/>
                </a:solidFill>
                <a:cs typeface="Arial" charset="0"/>
              </a:rPr>
              <a:t> </a:t>
            </a:r>
            <a:r>
              <a:rPr lang="en-AU" sz="2400" dirty="0" err="1">
                <a:solidFill>
                  <a:srgbClr val="002060"/>
                </a:solidFill>
                <a:cs typeface="Arial" charset="0"/>
              </a:rPr>
              <a:t>kiểu</a:t>
            </a:r>
            <a:r>
              <a:rPr lang="en-AU" sz="2400" dirty="0">
                <a:solidFill>
                  <a:srgbClr val="002060"/>
                </a:solidFill>
                <a:cs typeface="Arial" charset="0"/>
              </a:rPr>
              <a:t> long</a:t>
            </a:r>
          </a:p>
          <a:p>
            <a:pPr lvl="1">
              <a:spcBef>
                <a:spcPts val="600"/>
              </a:spcBef>
              <a:spcAft>
                <a:spcPts val="600"/>
              </a:spcAft>
            </a:pPr>
            <a:r>
              <a:rPr lang="en-AU" sz="2400" dirty="0" err="1">
                <a:solidFill>
                  <a:srgbClr val="002060"/>
                </a:solidFill>
                <a:cs typeface="Arial" charset="0"/>
              </a:rPr>
              <a:t>Hằng</a:t>
            </a:r>
            <a:r>
              <a:rPr lang="en-AU" sz="2400" dirty="0">
                <a:solidFill>
                  <a:srgbClr val="002060"/>
                </a:solidFill>
                <a:cs typeface="Arial" charset="0"/>
              </a:rPr>
              <a:t> </a:t>
            </a:r>
            <a:r>
              <a:rPr lang="en-AU" sz="2400" dirty="0" err="1">
                <a:solidFill>
                  <a:srgbClr val="002060"/>
                </a:solidFill>
                <a:cs typeface="Arial" charset="0"/>
              </a:rPr>
              <a:t>nguyên</a:t>
            </a:r>
            <a:r>
              <a:rPr lang="en-AU" sz="2400" dirty="0">
                <a:solidFill>
                  <a:srgbClr val="002060"/>
                </a:solidFill>
                <a:cs typeface="Arial" charset="0"/>
              </a:rPr>
              <a:t> </a:t>
            </a:r>
            <a:r>
              <a:rPr lang="en-AU" sz="2400" dirty="0" err="1">
                <a:solidFill>
                  <a:srgbClr val="002060"/>
                </a:solidFill>
                <a:cs typeface="Arial" charset="0"/>
              </a:rPr>
              <a:t>dạng</a:t>
            </a:r>
            <a:r>
              <a:rPr lang="en-AU" sz="2400" dirty="0">
                <a:solidFill>
                  <a:srgbClr val="002060"/>
                </a:solidFill>
                <a:cs typeface="Arial" charset="0"/>
              </a:rPr>
              <a:t> </a:t>
            </a:r>
            <a:r>
              <a:rPr lang="en-AU" sz="2400" dirty="0" err="1">
                <a:solidFill>
                  <a:srgbClr val="002060"/>
                </a:solidFill>
                <a:cs typeface="Arial" charset="0"/>
              </a:rPr>
              <a:t>ký</a:t>
            </a:r>
            <a:r>
              <a:rPr lang="en-AU" sz="2400" dirty="0">
                <a:solidFill>
                  <a:srgbClr val="002060"/>
                </a:solidFill>
                <a:cs typeface="Arial" charset="0"/>
              </a:rPr>
              <a:t> </a:t>
            </a:r>
            <a:r>
              <a:rPr lang="en-AU" sz="2400" dirty="0" err="1">
                <a:solidFill>
                  <a:srgbClr val="002060"/>
                </a:solidFill>
                <a:cs typeface="Arial" charset="0"/>
              </a:rPr>
              <a:t>tự</a:t>
            </a:r>
            <a:endParaRPr lang="en-AU" sz="2400" dirty="0">
              <a:solidFill>
                <a:srgbClr val="002060"/>
              </a:solidFill>
              <a:cs typeface="Arial" charset="0"/>
            </a:endParaRPr>
          </a:p>
          <a:p>
            <a:pPr lvl="1">
              <a:spcBef>
                <a:spcPts val="600"/>
              </a:spcBef>
              <a:spcAft>
                <a:spcPts val="600"/>
              </a:spcAft>
            </a:pPr>
            <a:r>
              <a:rPr lang="en-AU" sz="2400" dirty="0" err="1">
                <a:solidFill>
                  <a:srgbClr val="002060"/>
                </a:solidFill>
                <a:cs typeface="Arial" charset="0"/>
              </a:rPr>
              <a:t>Hằng</a:t>
            </a:r>
            <a:r>
              <a:rPr lang="en-AU" sz="2400" dirty="0">
                <a:solidFill>
                  <a:srgbClr val="002060"/>
                </a:solidFill>
                <a:cs typeface="Arial" charset="0"/>
              </a:rPr>
              <a:t> </a:t>
            </a:r>
            <a:r>
              <a:rPr lang="en-AU" sz="2400" dirty="0" err="1">
                <a:solidFill>
                  <a:srgbClr val="002060"/>
                </a:solidFill>
                <a:cs typeface="Arial" charset="0"/>
              </a:rPr>
              <a:t>xâu</a:t>
            </a:r>
            <a:r>
              <a:rPr lang="en-AU" sz="2400" dirty="0">
                <a:solidFill>
                  <a:srgbClr val="002060"/>
                </a:solidFill>
                <a:cs typeface="Arial" charset="0"/>
              </a:rPr>
              <a:t> </a:t>
            </a:r>
            <a:r>
              <a:rPr lang="en-AU" sz="2400" dirty="0" err="1">
                <a:solidFill>
                  <a:srgbClr val="002060"/>
                </a:solidFill>
                <a:cs typeface="Arial" charset="0"/>
              </a:rPr>
              <a:t>ký</a:t>
            </a:r>
            <a:r>
              <a:rPr lang="en-AU" sz="2400" dirty="0">
                <a:solidFill>
                  <a:srgbClr val="002060"/>
                </a:solidFill>
                <a:cs typeface="Arial" charset="0"/>
              </a:rPr>
              <a:t> </a:t>
            </a:r>
            <a:r>
              <a:rPr lang="en-AU" sz="2400" dirty="0" err="1">
                <a:solidFill>
                  <a:srgbClr val="002060"/>
                </a:solidFill>
                <a:cs typeface="Arial" charset="0"/>
              </a:rPr>
              <a:t>tự</a:t>
            </a:r>
            <a:endParaRPr lang="en-AU" sz="2400" dirty="0">
              <a:solidFill>
                <a:srgbClr val="002060"/>
              </a:solidFill>
              <a:cs typeface="Arial" charset="0"/>
            </a:endParaRPr>
          </a:p>
          <a:p>
            <a:pPr>
              <a:spcBef>
                <a:spcPts val="600"/>
              </a:spcBef>
              <a:spcAft>
                <a:spcPts val="600"/>
              </a:spcAft>
            </a:pPr>
            <a:endParaRPr lang="vi-VN" sz="2400" b="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12</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2.4. </a:t>
            </a:r>
            <a:r>
              <a:rPr lang="en-US" sz="3600" dirty="0" err="1"/>
              <a:t>Hằng</a:t>
            </a:r>
            <a:endParaRPr lang="en-US" sz="3600" dirty="0"/>
          </a:p>
        </p:txBody>
      </p:sp>
    </p:spTree>
    <p:extLst>
      <p:ext uri="{BB962C8B-B14F-4D97-AF65-F5344CB8AC3E}">
        <p14:creationId xmlns:p14="http://schemas.microsoft.com/office/powerpoint/2010/main" val="2346353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cs typeface="Arial" charset="0"/>
              </a:rPr>
              <a:t>2.2. Hằng</a:t>
            </a:r>
            <a:endParaRPr lang="en-US" dirty="0">
              <a:cs typeface="Arial" charset="0"/>
            </a:endParaRPr>
          </a:p>
        </p:txBody>
      </p:sp>
      <p:sp>
        <p:nvSpPr>
          <p:cNvPr id="19459" name="Rectangle 3"/>
          <p:cNvSpPr>
            <a:spLocks noGrp="1" noChangeArrowheads="1"/>
          </p:cNvSpPr>
          <p:nvPr>
            <p:ph idx="1"/>
          </p:nvPr>
        </p:nvSpPr>
        <p:spPr>
          <a:xfrm>
            <a:off x="914400" y="895144"/>
            <a:ext cx="10591800" cy="5257800"/>
          </a:xfrm>
        </p:spPr>
        <p:txBody>
          <a:bodyPr/>
          <a:lstStyle/>
          <a:p>
            <a:pPr algn="just"/>
            <a:r>
              <a:rPr lang="en-US" sz="2800" b="0">
                <a:solidFill>
                  <a:srgbClr val="002060"/>
                </a:solidFill>
                <a:cs typeface="Arial" charset="0"/>
              </a:rPr>
              <a:t>Khai báo hằng:</a:t>
            </a:r>
          </a:p>
          <a:p>
            <a:pPr marL="0" indent="0" algn="just" eaLnBrk="1" hangingPunct="1">
              <a:buNone/>
            </a:pPr>
            <a:endParaRPr lang="en-US" sz="2800">
              <a:cs typeface="Arial" charset="0"/>
            </a:endParaRPr>
          </a:p>
          <a:p>
            <a:pPr marL="0" indent="0" algn="just" eaLnBrk="1" hangingPunct="1">
              <a:buNone/>
            </a:pPr>
            <a:r>
              <a:rPr lang="en-US" sz="2800">
                <a:cs typeface="Arial" charset="0"/>
              </a:rPr>
              <a:t>Cách </a:t>
            </a:r>
            <a:r>
              <a:rPr lang="en-US" sz="2800" dirty="0">
                <a:cs typeface="Arial" charset="0"/>
              </a:rPr>
              <a:t>1: </a:t>
            </a:r>
            <a:r>
              <a:rPr lang="en-US" sz="2800" dirty="0" err="1">
                <a:cs typeface="Arial" charset="0"/>
              </a:rPr>
              <a:t>Dùng</a:t>
            </a:r>
            <a:r>
              <a:rPr lang="en-US" sz="2800" dirty="0">
                <a:cs typeface="Arial" charset="0"/>
              </a:rPr>
              <a:t> </a:t>
            </a:r>
            <a:r>
              <a:rPr lang="en-US" sz="2800" dirty="0" err="1">
                <a:cs typeface="Arial" charset="0"/>
              </a:rPr>
              <a:t>từ</a:t>
            </a:r>
            <a:r>
              <a:rPr lang="en-US" sz="2800" dirty="0">
                <a:cs typeface="Arial" charset="0"/>
              </a:rPr>
              <a:t> </a:t>
            </a:r>
            <a:r>
              <a:rPr lang="en-US" sz="2800" dirty="0" err="1">
                <a:cs typeface="Arial" charset="0"/>
              </a:rPr>
              <a:t>khóa</a:t>
            </a:r>
            <a:r>
              <a:rPr lang="en-US" sz="2800" dirty="0">
                <a:cs typeface="Arial" charset="0"/>
              </a:rPr>
              <a:t> </a:t>
            </a:r>
            <a:r>
              <a:rPr lang="en-US" sz="2800" b="1" dirty="0">
                <a:solidFill>
                  <a:srgbClr val="33CC33"/>
                </a:solidFill>
                <a:latin typeface="Courier New" panose="02070309020205020404" pitchFamily="49" charset="0"/>
                <a:cs typeface="Courier New" panose="02070309020205020404" pitchFamily="49" charset="0"/>
              </a:rPr>
              <a:t>#define</a:t>
            </a:r>
            <a:endParaRPr lang="en-US" sz="2800" dirty="0">
              <a:solidFill>
                <a:srgbClr val="33CC33"/>
              </a:solidFill>
              <a:latin typeface="Courier New" panose="02070309020205020404" pitchFamily="49" charset="0"/>
              <a:cs typeface="Courier New" panose="02070309020205020404" pitchFamily="49" charset="0"/>
            </a:endParaRPr>
          </a:p>
          <a:p>
            <a:pPr lvl="1" algn="just" eaLnBrk="1" hangingPunct="1"/>
            <a:r>
              <a:rPr lang="en-US" dirty="0">
                <a:cs typeface="Arial" charset="0"/>
              </a:rPr>
              <a:t>	</a:t>
            </a:r>
            <a:r>
              <a:rPr lang="en-US" sz="2400" i="1" dirty="0" err="1">
                <a:cs typeface="Arial" charset="0"/>
              </a:rPr>
              <a:t>Cú</a:t>
            </a:r>
            <a:r>
              <a:rPr lang="en-US" sz="2400" i="1" dirty="0">
                <a:cs typeface="Arial" charset="0"/>
              </a:rPr>
              <a:t> </a:t>
            </a:r>
            <a:r>
              <a:rPr lang="en-US" sz="2400" i="1" dirty="0" err="1">
                <a:cs typeface="Arial" charset="0"/>
              </a:rPr>
              <a:t>pháp</a:t>
            </a:r>
            <a:r>
              <a:rPr lang="en-US" sz="2400" i="1" dirty="0">
                <a:cs typeface="Arial" charset="0"/>
              </a:rPr>
              <a:t>:</a:t>
            </a:r>
          </a:p>
          <a:p>
            <a:pPr algn="just" eaLnBrk="1" hangingPunct="1">
              <a:buFont typeface="Wingdings" pitchFamily="2" charset="2"/>
              <a:buNone/>
            </a:pPr>
            <a:r>
              <a:rPr lang="en-US" dirty="0">
                <a:cs typeface="Arial" charset="0"/>
              </a:rPr>
              <a:t>		</a:t>
            </a:r>
            <a:r>
              <a:rPr lang="en-US" sz="2800" dirty="0">
                <a:latin typeface="Courier New" panose="02070309020205020404" pitchFamily="49" charset="0"/>
                <a:cs typeface="Courier New" panose="02070309020205020404" pitchFamily="49" charset="0"/>
              </a:rPr>
              <a:t>#define </a:t>
            </a:r>
            <a:r>
              <a:rPr lang="en-US" sz="2800" dirty="0" err="1">
                <a:solidFill>
                  <a:srgbClr val="7030A0"/>
                </a:solidFill>
                <a:latin typeface="Courier New" panose="02070309020205020404" pitchFamily="49" charset="0"/>
                <a:cs typeface="Courier New" panose="02070309020205020404" pitchFamily="49" charset="0"/>
              </a:rPr>
              <a:t>ten_hang</a:t>
            </a:r>
            <a:r>
              <a:rPr lang="en-US" sz="2800" dirty="0">
                <a:latin typeface="Courier New" panose="02070309020205020404" pitchFamily="49" charset="0"/>
                <a:cs typeface="Courier New" panose="02070309020205020404" pitchFamily="49" charset="0"/>
              </a:rPr>
              <a:t> </a:t>
            </a:r>
            <a:r>
              <a:rPr lang="en-US" sz="2800" dirty="0" err="1">
                <a:solidFill>
                  <a:schemeClr val="accent2">
                    <a:lumMod val="75000"/>
                  </a:schemeClr>
                </a:solidFill>
                <a:latin typeface="Courier New" panose="02070309020205020404" pitchFamily="49" charset="0"/>
                <a:cs typeface="Courier New" panose="02070309020205020404" pitchFamily="49" charset="0"/>
              </a:rPr>
              <a:t>gia_tri</a:t>
            </a:r>
            <a:endParaRPr lang="en-US" b="1" dirty="0">
              <a:solidFill>
                <a:schemeClr val="accent2">
                  <a:lumMod val="75000"/>
                </a:schemeClr>
              </a:solidFill>
              <a:latin typeface="Courier New" panose="02070309020205020404" pitchFamily="49" charset="0"/>
              <a:cs typeface="Courier New" panose="02070309020205020404" pitchFamily="49" charset="0"/>
            </a:endParaRPr>
          </a:p>
          <a:p>
            <a:pPr lvl="1" algn="just" eaLnBrk="1" hangingPunct="1"/>
            <a:r>
              <a:rPr lang="en-US" dirty="0">
                <a:cs typeface="Arial" charset="0"/>
              </a:rPr>
              <a:t>	</a:t>
            </a:r>
            <a:r>
              <a:rPr lang="en-US" sz="2400" i="1" dirty="0" err="1">
                <a:cs typeface="Arial" charset="0"/>
              </a:rPr>
              <a:t>Ví</a:t>
            </a:r>
            <a:r>
              <a:rPr lang="en-US" sz="2400" i="1" dirty="0">
                <a:cs typeface="Arial" charset="0"/>
              </a:rPr>
              <a:t> </a:t>
            </a:r>
            <a:r>
              <a:rPr lang="en-US" sz="2400" i="1" dirty="0" err="1">
                <a:cs typeface="Arial" charset="0"/>
              </a:rPr>
              <a:t>dụ</a:t>
            </a:r>
            <a:r>
              <a:rPr lang="en-US" sz="2400" i="1" dirty="0">
                <a:cs typeface="Arial" charset="0"/>
              </a:rPr>
              <a:t>:</a:t>
            </a:r>
          </a:p>
          <a:p>
            <a:pPr lvl="2" eaLnBrk="1" hangingPunct="1">
              <a:buFont typeface="Wingdings" pitchFamily="2" charset="2"/>
              <a:buNone/>
            </a:pPr>
            <a:r>
              <a:rPr lang="en-US" dirty="0">
                <a:latin typeface="Courier New" panose="02070309020205020404" pitchFamily="49" charset="0"/>
                <a:cs typeface="Courier New" panose="02070309020205020404" pitchFamily="49" charset="0"/>
              </a:rPr>
              <a:t>#define </a:t>
            </a:r>
            <a:r>
              <a:rPr lang="en-US" dirty="0">
                <a:solidFill>
                  <a:srgbClr val="7030A0"/>
                </a:solidFill>
                <a:latin typeface="Courier New" panose="02070309020205020404" pitchFamily="49" charset="0"/>
                <a:cs typeface="Courier New" panose="02070309020205020404" pitchFamily="49" charset="0"/>
              </a:rPr>
              <a:t>MAX_SINH_VIEN</a:t>
            </a:r>
            <a:r>
              <a:rPr lang="en-US" dirty="0">
                <a:latin typeface="Courier New" panose="02070309020205020404" pitchFamily="49" charset="0"/>
                <a:cs typeface="Courier New" panose="02070309020205020404" pitchFamily="49" charset="0"/>
              </a:rPr>
              <a:t> </a:t>
            </a:r>
            <a:r>
              <a:rPr lang="en-US" dirty="0">
                <a:solidFill>
                  <a:srgbClr val="C00000"/>
                </a:solidFill>
                <a:latin typeface="Courier New" panose="02070309020205020404" pitchFamily="49" charset="0"/>
                <a:cs typeface="Courier New" panose="02070309020205020404" pitchFamily="49" charset="0"/>
              </a:rPr>
              <a:t>50</a:t>
            </a:r>
          </a:p>
          <a:p>
            <a:pPr lvl="2" eaLnBrk="1" hangingPunct="1">
              <a:buFont typeface="Wingdings" pitchFamily="2" charset="2"/>
              <a:buNone/>
            </a:pPr>
            <a:r>
              <a:rPr lang="en-US" dirty="0">
                <a:latin typeface="Courier New" panose="02070309020205020404" pitchFamily="49" charset="0"/>
                <a:cs typeface="Courier New" panose="02070309020205020404" pitchFamily="49" charset="0"/>
              </a:rPr>
              <a:t>#define </a:t>
            </a:r>
            <a:r>
              <a:rPr lang="en-US" dirty="0">
                <a:solidFill>
                  <a:srgbClr val="7030A0"/>
                </a:solidFill>
                <a:latin typeface="Courier New" panose="02070309020205020404" pitchFamily="49" charset="0"/>
                <a:cs typeface="Courier New" panose="02070309020205020404" pitchFamily="49" charset="0"/>
              </a:rPr>
              <a:t>CNTT</a:t>
            </a:r>
            <a:r>
              <a:rPr lang="en-US" dirty="0">
                <a:latin typeface="Courier New" panose="02070309020205020404" pitchFamily="49" charset="0"/>
                <a:cs typeface="Courier New" panose="02070309020205020404" pitchFamily="49" charset="0"/>
              </a:rPr>
              <a:t> </a:t>
            </a:r>
            <a:r>
              <a:rPr lang="en-US" dirty="0">
                <a:solidFill>
                  <a:srgbClr val="C00000"/>
                </a:solidFill>
                <a:latin typeface="Courier New" panose="02070309020205020404" pitchFamily="49" charset="0"/>
                <a:cs typeface="Courier New" panose="02070309020205020404" pitchFamily="49" charset="0"/>
              </a:rPr>
              <a:t>“Cong </a:t>
            </a:r>
            <a:r>
              <a:rPr lang="en-US" dirty="0" err="1">
                <a:solidFill>
                  <a:srgbClr val="C00000"/>
                </a:solidFill>
                <a:latin typeface="Courier New" panose="02070309020205020404" pitchFamily="49" charset="0"/>
                <a:cs typeface="Courier New" panose="02070309020205020404" pitchFamily="49" charset="0"/>
              </a:rPr>
              <a:t>nghe</a:t>
            </a:r>
            <a:r>
              <a:rPr lang="en-US" dirty="0">
                <a:solidFill>
                  <a:srgbClr val="C00000"/>
                </a:solidFill>
                <a:latin typeface="Courier New" panose="02070309020205020404" pitchFamily="49" charset="0"/>
                <a:cs typeface="Courier New" panose="02070309020205020404" pitchFamily="49" charset="0"/>
              </a:rPr>
              <a:t> thong tin” </a:t>
            </a:r>
          </a:p>
          <a:p>
            <a:pPr lvl="2" eaLnBrk="1" hangingPunct="1">
              <a:buFont typeface="Wingdings" pitchFamily="2" charset="2"/>
              <a:buNone/>
            </a:pPr>
            <a:r>
              <a:rPr lang="en-US" dirty="0">
                <a:latin typeface="Courier New" panose="02070309020205020404" pitchFamily="49" charset="0"/>
                <a:cs typeface="Courier New" panose="02070309020205020404" pitchFamily="49" charset="0"/>
              </a:rPr>
              <a:t>#define </a:t>
            </a:r>
            <a:r>
              <a:rPr lang="en-US" dirty="0">
                <a:solidFill>
                  <a:srgbClr val="7030A0"/>
                </a:solidFill>
                <a:latin typeface="Courier New" panose="02070309020205020404" pitchFamily="49" charset="0"/>
                <a:cs typeface="Courier New" panose="02070309020205020404" pitchFamily="49" charset="0"/>
              </a:rPr>
              <a:t>DIEM_</a:t>
            </a:r>
            <a:r>
              <a:rPr lang="en-US">
                <a:solidFill>
                  <a:srgbClr val="7030A0"/>
                </a:solidFill>
                <a:latin typeface="Courier New" panose="02070309020205020404" pitchFamily="49" charset="0"/>
                <a:cs typeface="Courier New" panose="02070309020205020404" pitchFamily="49" charset="0"/>
              </a:rPr>
              <a:t>CHUAN</a:t>
            </a:r>
            <a:r>
              <a:rPr lang="en-US">
                <a:latin typeface="Courier New" panose="02070309020205020404" pitchFamily="49" charset="0"/>
                <a:cs typeface="Courier New" panose="02070309020205020404" pitchFamily="49" charset="0"/>
              </a:rPr>
              <a:t> </a:t>
            </a:r>
            <a:r>
              <a:rPr lang="en-US">
                <a:solidFill>
                  <a:srgbClr val="C00000"/>
                </a:solidFill>
                <a:latin typeface="Courier New" panose="02070309020205020404" pitchFamily="49" charset="0"/>
                <a:cs typeface="Courier New" panose="02070309020205020404" pitchFamily="49" charset="0"/>
              </a:rPr>
              <a:t>26.5</a:t>
            </a:r>
            <a:endParaRPr lang="en-US" dirty="0">
              <a:solidFill>
                <a:srgbClr val="C00000"/>
              </a:solidFill>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0"/>
          </p:nvPr>
        </p:nvSpPr>
        <p:spPr/>
        <p:txBody>
          <a:bodyPr/>
          <a:lstStyle/>
          <a:p>
            <a:pPr>
              <a:defRPr/>
            </a:pPr>
            <a:fld id="{AE0151DE-A3D2-4E5F-A0E5-EB47CD8C0FCA}" type="slidenum">
              <a:rPr lang="en-US"/>
              <a:pPr>
                <a:defRPr/>
              </a:pPr>
              <a:t>13</a:t>
            </a:fld>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a:bodyPr>
          <a:lstStyle/>
          <a:p>
            <a:pPr eaLnBrk="1" hangingPunct="1"/>
            <a:r>
              <a:rPr lang="en-US" sz="3600">
                <a:cs typeface="Arial" charset="0"/>
              </a:rPr>
              <a:t>2.2. Hằng</a:t>
            </a:r>
            <a:endParaRPr lang="en-US" sz="3600" dirty="0">
              <a:cs typeface="Arial" charset="0"/>
            </a:endParaRPr>
          </a:p>
        </p:txBody>
      </p:sp>
      <p:sp>
        <p:nvSpPr>
          <p:cNvPr id="20483" name="Rectangle 3"/>
          <p:cNvSpPr>
            <a:spLocks noGrp="1" noChangeArrowheads="1"/>
          </p:cNvSpPr>
          <p:nvPr>
            <p:ph idx="1"/>
          </p:nvPr>
        </p:nvSpPr>
        <p:spPr>
          <a:xfrm>
            <a:off x="762000" y="876301"/>
            <a:ext cx="10820400" cy="5184775"/>
          </a:xfrm>
        </p:spPr>
        <p:txBody>
          <a:bodyPr/>
          <a:lstStyle/>
          <a:p>
            <a:pPr eaLnBrk="1" hangingPunct="1"/>
            <a:r>
              <a:rPr lang="en-US" sz="2800">
                <a:cs typeface="Arial" charset="0"/>
              </a:rPr>
              <a:t>Cách </a:t>
            </a:r>
            <a:r>
              <a:rPr lang="en-US" sz="2800" dirty="0">
                <a:cs typeface="Arial" charset="0"/>
              </a:rPr>
              <a:t>2: </a:t>
            </a:r>
            <a:r>
              <a:rPr lang="en-US" sz="2800" dirty="0" err="1">
                <a:cs typeface="Arial" charset="0"/>
              </a:rPr>
              <a:t>Dùng</a:t>
            </a:r>
            <a:r>
              <a:rPr lang="en-US" sz="2800" dirty="0">
                <a:cs typeface="Arial" charset="0"/>
              </a:rPr>
              <a:t> </a:t>
            </a:r>
            <a:r>
              <a:rPr lang="en-US" sz="2800" dirty="0" err="1">
                <a:cs typeface="Arial" charset="0"/>
              </a:rPr>
              <a:t>từ</a:t>
            </a:r>
            <a:r>
              <a:rPr lang="en-US" sz="2800" dirty="0">
                <a:cs typeface="Arial" charset="0"/>
              </a:rPr>
              <a:t> </a:t>
            </a:r>
            <a:r>
              <a:rPr lang="en-US" sz="2800" dirty="0" err="1">
                <a:cs typeface="Arial" charset="0"/>
              </a:rPr>
              <a:t>khóa</a:t>
            </a:r>
            <a:r>
              <a:rPr lang="en-US" sz="2800" dirty="0">
                <a:cs typeface="Arial" charset="0"/>
              </a:rPr>
              <a:t> </a:t>
            </a:r>
            <a:r>
              <a:rPr lang="en-US" sz="2800" dirty="0" err="1">
                <a:solidFill>
                  <a:srgbClr val="33CC33"/>
                </a:solidFill>
                <a:latin typeface="Courier New" panose="02070309020205020404" pitchFamily="49" charset="0"/>
                <a:cs typeface="Courier New" panose="02070309020205020404" pitchFamily="49" charset="0"/>
              </a:rPr>
              <a:t>const</a:t>
            </a:r>
            <a:r>
              <a:rPr lang="en-US" sz="2800" dirty="0">
                <a:cs typeface="Arial" charset="0"/>
              </a:rPr>
              <a:t> :</a:t>
            </a:r>
          </a:p>
          <a:p>
            <a:pPr lvl="1" eaLnBrk="1" hangingPunct="1"/>
            <a:r>
              <a:rPr lang="en-US" sz="2400" b="1" i="1" dirty="0" err="1">
                <a:cs typeface="Arial" charset="0"/>
              </a:rPr>
              <a:t>Cú</a:t>
            </a:r>
            <a:r>
              <a:rPr lang="en-US" sz="2400" b="1" i="1" dirty="0">
                <a:cs typeface="Arial" charset="0"/>
              </a:rPr>
              <a:t> </a:t>
            </a:r>
            <a:r>
              <a:rPr lang="en-US" sz="2400" b="1" i="1" dirty="0" err="1">
                <a:cs typeface="Arial" charset="0"/>
              </a:rPr>
              <a:t>pháp</a:t>
            </a:r>
            <a:r>
              <a:rPr lang="en-US" sz="2400" b="1" i="1" dirty="0">
                <a:cs typeface="Arial" charset="0"/>
              </a:rPr>
              <a:t>:</a:t>
            </a:r>
          </a:p>
          <a:p>
            <a:pPr eaLnBrk="1" hangingPunct="1">
              <a:buFont typeface="Wingdings" pitchFamily="2" charset="2"/>
              <a:buNone/>
            </a:pPr>
            <a:r>
              <a:rPr lang="en-US" dirty="0">
                <a:cs typeface="Arial" charset="0"/>
              </a:rPr>
              <a:t>	</a:t>
            </a:r>
            <a:r>
              <a:rPr lang="en-US" sz="2800" dirty="0" err="1">
                <a:solidFill>
                  <a:srgbClr val="FF0000"/>
                </a:solidFill>
                <a:latin typeface="Courier New" panose="02070309020205020404" pitchFamily="49" charset="0"/>
                <a:cs typeface="Courier New" panose="02070309020205020404" pitchFamily="49" charset="0"/>
              </a:rPr>
              <a:t>const</a:t>
            </a:r>
            <a:r>
              <a:rPr lang="en-US" sz="2800" dirty="0">
                <a:latin typeface="Courier New" panose="02070309020205020404" pitchFamily="49" charset="0"/>
                <a:cs typeface="Courier New" panose="02070309020205020404" pitchFamily="49" charset="0"/>
              </a:rPr>
              <a:t> </a:t>
            </a:r>
            <a:r>
              <a:rPr lang="en-US" sz="2800" dirty="0" err="1">
                <a:solidFill>
                  <a:srgbClr val="002060"/>
                </a:solidFill>
                <a:latin typeface="Courier New" panose="02070309020205020404" pitchFamily="49" charset="0"/>
                <a:cs typeface="Courier New" panose="02070309020205020404" pitchFamily="49" charset="0"/>
              </a:rPr>
              <a:t>kieu_du_lieu</a:t>
            </a:r>
            <a:r>
              <a:rPr lang="en-US" sz="2800" dirty="0">
                <a:solidFill>
                  <a:srgbClr val="002060"/>
                </a:solidFill>
                <a:latin typeface="Courier New" panose="02070309020205020404" pitchFamily="49" charset="0"/>
                <a:cs typeface="Courier New" panose="02070309020205020404" pitchFamily="49" charset="0"/>
              </a:rPr>
              <a:t> </a:t>
            </a:r>
            <a:r>
              <a:rPr lang="en-US" sz="2800" dirty="0" err="1">
                <a:solidFill>
                  <a:srgbClr val="FF0000"/>
                </a:solidFill>
                <a:latin typeface="Courier New" panose="02070309020205020404" pitchFamily="49" charset="0"/>
                <a:cs typeface="Courier New" panose="02070309020205020404" pitchFamily="49" charset="0"/>
              </a:rPr>
              <a:t>ten_hang</a:t>
            </a:r>
            <a:r>
              <a:rPr lang="en-US" sz="2800" dirty="0">
                <a:solidFill>
                  <a:srgbClr val="FF0000"/>
                </a:solidFill>
                <a:latin typeface="Courier New" panose="02070309020205020404" pitchFamily="49" charset="0"/>
                <a:cs typeface="Courier New" panose="02070309020205020404" pitchFamily="49" charset="0"/>
              </a:rPr>
              <a:t> </a:t>
            </a:r>
            <a:r>
              <a:rPr lang="en-US" sz="2800" dirty="0">
                <a:latin typeface="Courier New" panose="02070309020205020404" pitchFamily="49" charset="0"/>
                <a:cs typeface="Courier New" panose="02070309020205020404" pitchFamily="49" charset="0"/>
              </a:rPr>
              <a:t>= </a:t>
            </a:r>
            <a:r>
              <a:rPr lang="en-US" sz="2800" dirty="0" err="1">
                <a:solidFill>
                  <a:srgbClr val="7030A0"/>
                </a:solidFill>
                <a:latin typeface="Courier New" panose="02070309020205020404" pitchFamily="49" charset="0"/>
                <a:cs typeface="Courier New" panose="02070309020205020404" pitchFamily="49" charset="0"/>
              </a:rPr>
              <a:t>gia_</a:t>
            </a:r>
            <a:r>
              <a:rPr lang="en-US" sz="2800" err="1">
                <a:solidFill>
                  <a:srgbClr val="7030A0"/>
                </a:solidFill>
                <a:latin typeface="Courier New" panose="02070309020205020404" pitchFamily="49" charset="0"/>
                <a:cs typeface="Courier New" panose="02070309020205020404" pitchFamily="49" charset="0"/>
              </a:rPr>
              <a:t>tri</a:t>
            </a:r>
            <a:r>
              <a:rPr lang="en-US" sz="2800">
                <a:latin typeface="Courier New" panose="02070309020205020404" pitchFamily="49" charset="0"/>
                <a:cs typeface="Courier New" panose="02070309020205020404" pitchFamily="49" charset="0"/>
              </a:rPr>
              <a:t>;</a:t>
            </a:r>
          </a:p>
          <a:p>
            <a:pPr eaLnBrk="1" hangingPunct="1">
              <a:buFont typeface="Wingdings" pitchFamily="2" charset="2"/>
              <a:buNone/>
            </a:pPr>
            <a:endParaRPr lang="en-US" sz="2800" dirty="0">
              <a:latin typeface="Courier New" panose="02070309020205020404" pitchFamily="49" charset="0"/>
              <a:cs typeface="Courier New" panose="02070309020205020404" pitchFamily="49" charset="0"/>
            </a:endParaRPr>
          </a:p>
          <a:p>
            <a:pPr lvl="1" eaLnBrk="1" hangingPunct="1"/>
            <a:r>
              <a:rPr lang="en-US" sz="2400" b="1" i="1" dirty="0" err="1">
                <a:cs typeface="Arial" charset="0"/>
              </a:rPr>
              <a:t>Ví</a:t>
            </a:r>
            <a:r>
              <a:rPr lang="en-US" sz="2400" b="1" i="1" dirty="0">
                <a:cs typeface="Arial" charset="0"/>
              </a:rPr>
              <a:t> </a:t>
            </a:r>
            <a:r>
              <a:rPr lang="en-US" sz="2400" b="1" i="1" dirty="0" err="1">
                <a:cs typeface="Arial" charset="0"/>
              </a:rPr>
              <a:t>dụ</a:t>
            </a:r>
            <a:r>
              <a:rPr lang="en-US" sz="2400" b="1" i="1" dirty="0">
                <a:cs typeface="Arial" charset="0"/>
              </a:rPr>
              <a:t>:</a:t>
            </a:r>
            <a:endParaRPr lang="en-US" b="1" i="1" dirty="0">
              <a:cs typeface="Arial" charset="0"/>
            </a:endParaRPr>
          </a:p>
          <a:p>
            <a:pPr lvl="1" eaLnBrk="1" hangingPunct="1">
              <a:buFont typeface="Wingdings" pitchFamily="2" charset="2"/>
              <a:buNone/>
            </a:pPr>
            <a:r>
              <a:rPr lang="en-US" sz="2400" b="0" dirty="0" err="1">
                <a:latin typeface="Courier New" panose="02070309020205020404" pitchFamily="49" charset="0"/>
                <a:cs typeface="Courier New" panose="02070309020205020404" pitchFamily="49" charset="0"/>
              </a:rPr>
              <a:t>const</a:t>
            </a:r>
            <a:r>
              <a:rPr lang="en-US" sz="2400" b="0" dirty="0">
                <a:latin typeface="Courier New" panose="02070309020205020404" pitchFamily="49" charset="0"/>
                <a:cs typeface="Courier New" panose="02070309020205020404" pitchFamily="49" charset="0"/>
              </a:rPr>
              <a:t> </a:t>
            </a:r>
            <a:r>
              <a:rPr lang="en-US" sz="2400" b="0" dirty="0" err="1">
                <a:latin typeface="Courier New" panose="02070309020205020404" pitchFamily="49" charset="0"/>
                <a:cs typeface="Courier New" panose="02070309020205020404" pitchFamily="49" charset="0"/>
              </a:rPr>
              <a:t>int</a:t>
            </a:r>
            <a:r>
              <a:rPr lang="en-US" sz="2400" b="0" dirty="0">
                <a:latin typeface="Courier New" panose="02070309020205020404" pitchFamily="49" charset="0"/>
                <a:cs typeface="Courier New" panose="02070309020205020404" pitchFamily="49" charset="0"/>
              </a:rPr>
              <a:t> </a:t>
            </a:r>
            <a:r>
              <a:rPr lang="en-US" sz="2400" b="0" dirty="0">
                <a:solidFill>
                  <a:srgbClr val="7030A0"/>
                </a:solidFill>
                <a:latin typeface="Courier New" panose="02070309020205020404" pitchFamily="49" charset="0"/>
                <a:cs typeface="Courier New" panose="02070309020205020404" pitchFamily="49" charset="0"/>
              </a:rPr>
              <a:t>MAX_SINH_VIEN </a:t>
            </a:r>
            <a:r>
              <a:rPr lang="en-US" sz="2400" b="0" dirty="0">
                <a:latin typeface="Courier New" panose="02070309020205020404" pitchFamily="49" charset="0"/>
                <a:cs typeface="Courier New" panose="02070309020205020404" pitchFamily="49" charset="0"/>
              </a:rPr>
              <a:t>= </a:t>
            </a:r>
            <a:r>
              <a:rPr lang="en-US" sz="2400" b="0" dirty="0">
                <a:solidFill>
                  <a:srgbClr val="C00000"/>
                </a:solidFill>
                <a:latin typeface="Courier New" panose="02070309020205020404" pitchFamily="49" charset="0"/>
                <a:cs typeface="Courier New" panose="02070309020205020404" pitchFamily="49" charset="0"/>
              </a:rPr>
              <a:t>50</a:t>
            </a:r>
            <a:r>
              <a:rPr lang="en-US" sz="2400" b="0" dirty="0">
                <a:latin typeface="Courier New" panose="02070309020205020404" pitchFamily="49" charset="0"/>
                <a:cs typeface="Courier New" panose="02070309020205020404" pitchFamily="49" charset="0"/>
              </a:rPr>
              <a:t>;</a:t>
            </a:r>
          </a:p>
          <a:p>
            <a:pPr lvl="1" eaLnBrk="1" hangingPunct="1">
              <a:buFont typeface="Wingdings" pitchFamily="2" charset="2"/>
              <a:buNone/>
            </a:pPr>
            <a:r>
              <a:rPr lang="en-US" sz="2400" b="0" dirty="0" err="1">
                <a:latin typeface="Courier New" panose="02070309020205020404" pitchFamily="49" charset="0"/>
                <a:cs typeface="Courier New" panose="02070309020205020404" pitchFamily="49" charset="0"/>
              </a:rPr>
              <a:t>const</a:t>
            </a:r>
            <a:r>
              <a:rPr lang="en-US" sz="2400" b="0" dirty="0">
                <a:latin typeface="Courier New" panose="02070309020205020404" pitchFamily="49" charset="0"/>
                <a:cs typeface="Courier New" panose="02070309020205020404" pitchFamily="49" charset="0"/>
              </a:rPr>
              <a:t> char </a:t>
            </a:r>
            <a:r>
              <a:rPr lang="en-US" sz="2400" b="0" dirty="0">
                <a:solidFill>
                  <a:srgbClr val="7030A0"/>
                </a:solidFill>
                <a:latin typeface="Courier New" panose="02070309020205020404" pitchFamily="49" charset="0"/>
                <a:cs typeface="Courier New" panose="02070309020205020404" pitchFamily="49" charset="0"/>
              </a:rPr>
              <a:t>CNTT[20] </a:t>
            </a:r>
            <a:r>
              <a:rPr lang="en-US" sz="2400" b="0" dirty="0">
                <a:latin typeface="Courier New" panose="02070309020205020404" pitchFamily="49" charset="0"/>
                <a:cs typeface="Courier New" panose="02070309020205020404" pitchFamily="49" charset="0"/>
              </a:rPr>
              <a:t>= “</a:t>
            </a:r>
            <a:r>
              <a:rPr lang="en-US" sz="2400" b="0" dirty="0">
                <a:solidFill>
                  <a:srgbClr val="C00000"/>
                </a:solidFill>
                <a:latin typeface="Courier New" panose="02070309020205020404" pitchFamily="49" charset="0"/>
                <a:cs typeface="Courier New" panose="02070309020205020404" pitchFamily="49" charset="0"/>
              </a:rPr>
              <a:t>Cong </a:t>
            </a:r>
            <a:r>
              <a:rPr lang="en-US" sz="2400" b="0" dirty="0" err="1">
                <a:solidFill>
                  <a:srgbClr val="C00000"/>
                </a:solidFill>
                <a:latin typeface="Courier New" panose="02070309020205020404" pitchFamily="49" charset="0"/>
                <a:cs typeface="Courier New" panose="02070309020205020404" pitchFamily="49" charset="0"/>
              </a:rPr>
              <a:t>nghe</a:t>
            </a:r>
            <a:r>
              <a:rPr lang="en-US" sz="2400" b="0" dirty="0">
                <a:solidFill>
                  <a:srgbClr val="C00000"/>
                </a:solidFill>
                <a:latin typeface="Courier New" panose="02070309020205020404" pitchFamily="49" charset="0"/>
                <a:cs typeface="Courier New" panose="02070309020205020404" pitchFamily="49" charset="0"/>
              </a:rPr>
              <a:t> thong tin</a:t>
            </a:r>
            <a:r>
              <a:rPr lang="en-US" sz="2400" b="0" dirty="0">
                <a:latin typeface="Courier New" panose="02070309020205020404" pitchFamily="49" charset="0"/>
                <a:cs typeface="Courier New" panose="02070309020205020404" pitchFamily="49" charset="0"/>
              </a:rPr>
              <a:t>”;</a:t>
            </a:r>
          </a:p>
          <a:p>
            <a:pPr lvl="1" eaLnBrk="1" hangingPunct="1">
              <a:buFont typeface="Wingdings" pitchFamily="2" charset="2"/>
              <a:buNone/>
            </a:pPr>
            <a:r>
              <a:rPr lang="en-US" sz="2400" b="0" dirty="0" err="1">
                <a:latin typeface="Courier New" panose="02070309020205020404" pitchFamily="49" charset="0"/>
                <a:cs typeface="Courier New" panose="02070309020205020404" pitchFamily="49" charset="0"/>
              </a:rPr>
              <a:t>const</a:t>
            </a:r>
            <a:r>
              <a:rPr lang="en-US" sz="2400" b="0" dirty="0">
                <a:latin typeface="Courier New" panose="02070309020205020404" pitchFamily="49" charset="0"/>
                <a:cs typeface="Courier New" panose="02070309020205020404" pitchFamily="49" charset="0"/>
              </a:rPr>
              <a:t> float </a:t>
            </a:r>
            <a:r>
              <a:rPr lang="en-US" sz="2400" b="0" dirty="0">
                <a:solidFill>
                  <a:srgbClr val="7030A0"/>
                </a:solidFill>
                <a:latin typeface="Courier New" panose="02070309020205020404" pitchFamily="49" charset="0"/>
                <a:cs typeface="Courier New" panose="02070309020205020404" pitchFamily="49" charset="0"/>
              </a:rPr>
              <a:t>DIEM_CHUAN </a:t>
            </a:r>
            <a:r>
              <a:rPr lang="en-US" sz="2400" b="0">
                <a:latin typeface="Courier New" panose="02070309020205020404" pitchFamily="49" charset="0"/>
                <a:cs typeface="Courier New" panose="02070309020205020404" pitchFamily="49" charset="0"/>
              </a:rPr>
              <a:t>= </a:t>
            </a:r>
            <a:r>
              <a:rPr lang="en-US" sz="2400" b="0">
                <a:solidFill>
                  <a:srgbClr val="C00000"/>
                </a:solidFill>
                <a:latin typeface="Courier New" panose="02070309020205020404" pitchFamily="49" charset="0"/>
                <a:cs typeface="Courier New" panose="02070309020205020404" pitchFamily="49" charset="0"/>
              </a:rPr>
              <a:t>26.5</a:t>
            </a:r>
            <a:r>
              <a:rPr lang="en-US" sz="2400" b="0">
                <a:latin typeface="Courier New" panose="02070309020205020404" pitchFamily="49" charset="0"/>
                <a:cs typeface="Courier New" panose="02070309020205020404" pitchFamily="49" charset="0"/>
              </a:rPr>
              <a:t>;</a:t>
            </a:r>
          </a:p>
          <a:p>
            <a:pPr lvl="1">
              <a:buNone/>
            </a:pPr>
            <a:r>
              <a:rPr lang="en-US" sz="2400" b="0">
                <a:latin typeface="Courier New" panose="02070309020205020404" pitchFamily="49" charset="0"/>
                <a:cs typeface="Courier New" panose="02070309020205020404" pitchFamily="49" charset="0"/>
              </a:rPr>
              <a:t>const char </a:t>
            </a:r>
            <a:r>
              <a:rPr lang="en-US" sz="2400" b="0">
                <a:solidFill>
                  <a:srgbClr val="7030A0"/>
                </a:solidFill>
                <a:latin typeface="Courier New" panose="02070309020205020404" pitchFamily="49" charset="0"/>
                <a:cs typeface="Courier New" panose="02070309020205020404" pitchFamily="49" charset="0"/>
              </a:rPr>
              <a:t>KYTU </a:t>
            </a:r>
            <a:r>
              <a:rPr lang="en-US" sz="2400" b="0">
                <a:latin typeface="Courier New" panose="02070309020205020404" pitchFamily="49" charset="0"/>
                <a:cs typeface="Courier New" panose="02070309020205020404" pitchFamily="49" charset="0"/>
              </a:rPr>
              <a:t>= ‘</a:t>
            </a:r>
            <a:r>
              <a:rPr lang="en-US" sz="2400" b="0">
                <a:solidFill>
                  <a:srgbClr val="C00000"/>
                </a:solidFill>
                <a:latin typeface="Courier New" panose="02070309020205020404" pitchFamily="49" charset="0"/>
                <a:cs typeface="Courier New" panose="02070309020205020404" pitchFamily="49" charset="0"/>
              </a:rPr>
              <a:t>A</a:t>
            </a:r>
            <a:r>
              <a:rPr lang="en-US" sz="2400" b="0">
                <a:latin typeface="Courier New" panose="02070309020205020404" pitchFamily="49" charset="0"/>
                <a:cs typeface="Courier New" panose="02070309020205020404" pitchFamily="49" charset="0"/>
              </a:rPr>
              <a:t>’;	</a:t>
            </a:r>
            <a:r>
              <a:rPr lang="en-US" sz="2400" b="0" dirty="0">
                <a:latin typeface="Courier New" panose="02070309020205020404" pitchFamily="49" charset="0"/>
                <a:cs typeface="Courier New" panose="02070309020205020404" pitchFamily="49" charset="0"/>
              </a:rPr>
              <a:t>	</a:t>
            </a:r>
            <a:r>
              <a:rPr lang="en-US" sz="2400" dirty="0">
                <a:cs typeface="Arial" charset="0"/>
              </a:rPr>
              <a:t>	</a:t>
            </a:r>
          </a:p>
        </p:txBody>
      </p:sp>
      <p:sp>
        <p:nvSpPr>
          <p:cNvPr id="4" name="Slide Number Placeholder 3"/>
          <p:cNvSpPr>
            <a:spLocks noGrp="1"/>
          </p:cNvSpPr>
          <p:nvPr>
            <p:ph type="sldNum" sz="quarter" idx="10"/>
          </p:nvPr>
        </p:nvSpPr>
        <p:spPr/>
        <p:txBody>
          <a:bodyPr/>
          <a:lstStyle/>
          <a:p>
            <a:pPr>
              <a:defRPr/>
            </a:pPr>
            <a:fld id="{C12ADCD0-39A1-497E-B92A-3049E0F1BB47}" type="slidenum">
              <a:rPr lang="en-US"/>
              <a:pPr>
                <a:defRPr/>
              </a:pPr>
              <a:t>14</a:t>
            </a:fld>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a:bodyPr>
          <a:lstStyle/>
          <a:p>
            <a:pPr eaLnBrk="1" hangingPunct="1"/>
            <a:r>
              <a:rPr lang="en-US" sz="3600">
                <a:cs typeface="Arial" charset="0"/>
              </a:rPr>
              <a:t>2.2. Hằng</a:t>
            </a:r>
            <a:endParaRPr lang="en-US" sz="3600" dirty="0">
              <a:cs typeface="Arial" charset="0"/>
            </a:endParaRPr>
          </a:p>
        </p:txBody>
      </p:sp>
      <p:sp>
        <p:nvSpPr>
          <p:cNvPr id="21507" name="Rectangle 3"/>
          <p:cNvSpPr>
            <a:spLocks noGrp="1" noChangeArrowheads="1"/>
          </p:cNvSpPr>
          <p:nvPr>
            <p:ph idx="1"/>
          </p:nvPr>
        </p:nvSpPr>
        <p:spPr>
          <a:xfrm>
            <a:off x="609600" y="989013"/>
            <a:ext cx="11049000" cy="5184775"/>
          </a:xfrm>
        </p:spPr>
        <p:txBody>
          <a:bodyPr/>
          <a:lstStyle/>
          <a:p>
            <a:pPr eaLnBrk="1" hangingPunct="1"/>
            <a:r>
              <a:rPr lang="en-US" sz="2800" i="1" dirty="0" err="1">
                <a:solidFill>
                  <a:srgbClr val="002060"/>
                </a:solidFill>
                <a:cs typeface="Arial" charset="0"/>
              </a:rPr>
              <a:t>Chú</a:t>
            </a:r>
            <a:r>
              <a:rPr lang="en-US" sz="2800" i="1" dirty="0">
                <a:solidFill>
                  <a:srgbClr val="002060"/>
                </a:solidFill>
                <a:cs typeface="Arial" charset="0"/>
              </a:rPr>
              <a:t> ý:</a:t>
            </a:r>
            <a:endParaRPr lang="en-US" b="1" i="1" dirty="0">
              <a:solidFill>
                <a:srgbClr val="002060"/>
              </a:solidFill>
              <a:cs typeface="Arial" charset="0"/>
            </a:endParaRPr>
          </a:p>
          <a:p>
            <a:pPr lvl="1" eaLnBrk="1" hangingPunct="1"/>
            <a:r>
              <a:rPr lang="en-US" b="0" dirty="0" err="1">
                <a:solidFill>
                  <a:srgbClr val="002060"/>
                </a:solidFill>
                <a:cs typeface="Arial" charset="0"/>
              </a:rPr>
              <a:t>Giá</a:t>
            </a:r>
            <a:r>
              <a:rPr lang="en-US" b="0" dirty="0">
                <a:solidFill>
                  <a:srgbClr val="002060"/>
                </a:solidFill>
                <a:cs typeface="Arial" charset="0"/>
              </a:rPr>
              <a:t> </a:t>
            </a:r>
            <a:r>
              <a:rPr lang="en-US" b="0" dirty="0" err="1">
                <a:solidFill>
                  <a:srgbClr val="002060"/>
                </a:solidFill>
                <a:cs typeface="Arial" charset="0"/>
              </a:rPr>
              <a:t>trị</a:t>
            </a:r>
            <a:r>
              <a:rPr lang="en-US" b="0" dirty="0">
                <a:solidFill>
                  <a:srgbClr val="002060"/>
                </a:solidFill>
                <a:cs typeface="Arial" charset="0"/>
              </a:rPr>
              <a:t> </a:t>
            </a:r>
            <a:r>
              <a:rPr lang="en-US" b="0" dirty="0" err="1">
                <a:solidFill>
                  <a:srgbClr val="002060"/>
                </a:solidFill>
                <a:cs typeface="Arial" charset="0"/>
              </a:rPr>
              <a:t>của</a:t>
            </a:r>
            <a:r>
              <a:rPr lang="en-US" b="0" dirty="0">
                <a:solidFill>
                  <a:srgbClr val="002060"/>
                </a:solidFill>
                <a:cs typeface="Arial" charset="0"/>
              </a:rPr>
              <a:t> </a:t>
            </a:r>
            <a:r>
              <a:rPr lang="en-US" b="0" dirty="0" err="1">
                <a:solidFill>
                  <a:srgbClr val="002060"/>
                </a:solidFill>
                <a:cs typeface="Arial" charset="0"/>
              </a:rPr>
              <a:t>các</a:t>
            </a:r>
            <a:r>
              <a:rPr lang="en-US" b="0" dirty="0">
                <a:solidFill>
                  <a:srgbClr val="002060"/>
                </a:solidFill>
                <a:cs typeface="Arial" charset="0"/>
              </a:rPr>
              <a:t> </a:t>
            </a:r>
            <a:r>
              <a:rPr lang="en-US" b="0" dirty="0" err="1">
                <a:solidFill>
                  <a:srgbClr val="002060"/>
                </a:solidFill>
                <a:cs typeface="Arial" charset="0"/>
              </a:rPr>
              <a:t>hằng</a:t>
            </a:r>
            <a:r>
              <a:rPr lang="en-US" b="0" dirty="0">
                <a:solidFill>
                  <a:srgbClr val="002060"/>
                </a:solidFill>
                <a:cs typeface="Arial" charset="0"/>
              </a:rPr>
              <a:t> </a:t>
            </a:r>
            <a:r>
              <a:rPr lang="en-US" b="0" dirty="0" err="1">
                <a:solidFill>
                  <a:srgbClr val="002060"/>
                </a:solidFill>
                <a:cs typeface="Arial" charset="0"/>
              </a:rPr>
              <a:t>phải</a:t>
            </a:r>
            <a:r>
              <a:rPr lang="en-US" b="0" dirty="0">
                <a:solidFill>
                  <a:srgbClr val="002060"/>
                </a:solidFill>
                <a:cs typeface="Arial" charset="0"/>
              </a:rPr>
              <a:t> </a:t>
            </a:r>
            <a:r>
              <a:rPr lang="en-US" b="0" dirty="0" err="1">
                <a:solidFill>
                  <a:srgbClr val="002060"/>
                </a:solidFill>
                <a:cs typeface="Arial" charset="0"/>
              </a:rPr>
              <a:t>được</a:t>
            </a:r>
            <a:r>
              <a:rPr lang="en-US" b="0" dirty="0">
                <a:solidFill>
                  <a:srgbClr val="002060"/>
                </a:solidFill>
                <a:cs typeface="Arial" charset="0"/>
              </a:rPr>
              <a:t> </a:t>
            </a:r>
            <a:r>
              <a:rPr lang="en-US" b="0" dirty="0" err="1">
                <a:solidFill>
                  <a:srgbClr val="002060"/>
                </a:solidFill>
                <a:cs typeface="Arial" charset="0"/>
              </a:rPr>
              <a:t>xác</a:t>
            </a:r>
            <a:r>
              <a:rPr lang="en-US" b="0" dirty="0">
                <a:solidFill>
                  <a:srgbClr val="002060"/>
                </a:solidFill>
                <a:cs typeface="Arial" charset="0"/>
              </a:rPr>
              <a:t> </a:t>
            </a:r>
            <a:r>
              <a:rPr lang="en-US" b="0" dirty="0" err="1">
                <a:solidFill>
                  <a:srgbClr val="002060"/>
                </a:solidFill>
                <a:cs typeface="Arial" charset="0"/>
              </a:rPr>
              <a:t>định</a:t>
            </a:r>
            <a:r>
              <a:rPr lang="en-US" b="0" dirty="0">
                <a:solidFill>
                  <a:srgbClr val="002060"/>
                </a:solidFill>
                <a:cs typeface="Arial" charset="0"/>
              </a:rPr>
              <a:t> </a:t>
            </a:r>
            <a:r>
              <a:rPr lang="en-US" b="0" dirty="0" err="1">
                <a:solidFill>
                  <a:srgbClr val="002060"/>
                </a:solidFill>
                <a:cs typeface="Arial" charset="0"/>
              </a:rPr>
              <a:t>ngay</a:t>
            </a:r>
            <a:r>
              <a:rPr lang="en-US" b="0" dirty="0">
                <a:solidFill>
                  <a:srgbClr val="002060"/>
                </a:solidFill>
                <a:cs typeface="Arial" charset="0"/>
              </a:rPr>
              <a:t> </a:t>
            </a:r>
            <a:r>
              <a:rPr lang="en-US" b="0" dirty="0" err="1">
                <a:solidFill>
                  <a:srgbClr val="002060"/>
                </a:solidFill>
                <a:cs typeface="Arial" charset="0"/>
              </a:rPr>
              <a:t>khi</a:t>
            </a:r>
            <a:r>
              <a:rPr lang="en-US" b="0" dirty="0">
                <a:solidFill>
                  <a:srgbClr val="002060"/>
                </a:solidFill>
                <a:cs typeface="Arial" charset="0"/>
              </a:rPr>
              <a:t> </a:t>
            </a:r>
            <a:r>
              <a:rPr lang="en-US" b="0" dirty="0" err="1">
                <a:solidFill>
                  <a:srgbClr val="002060"/>
                </a:solidFill>
                <a:cs typeface="Arial" charset="0"/>
              </a:rPr>
              <a:t>khai</a:t>
            </a:r>
            <a:r>
              <a:rPr lang="en-US" b="0" dirty="0">
                <a:solidFill>
                  <a:srgbClr val="002060"/>
                </a:solidFill>
                <a:cs typeface="Arial" charset="0"/>
              </a:rPr>
              <a:t> </a:t>
            </a:r>
            <a:r>
              <a:rPr lang="en-US" b="0" dirty="0" err="1">
                <a:solidFill>
                  <a:srgbClr val="002060"/>
                </a:solidFill>
                <a:cs typeface="Arial" charset="0"/>
              </a:rPr>
              <a:t>báo</a:t>
            </a:r>
            <a:r>
              <a:rPr lang="en-US" b="0" dirty="0">
                <a:solidFill>
                  <a:srgbClr val="002060"/>
                </a:solidFill>
                <a:cs typeface="Arial" charset="0"/>
              </a:rPr>
              <a:t>.</a:t>
            </a:r>
          </a:p>
          <a:p>
            <a:pPr lvl="1" eaLnBrk="1" hangingPunct="1"/>
            <a:r>
              <a:rPr lang="en-US" b="0" dirty="0" err="1">
                <a:solidFill>
                  <a:srgbClr val="002060"/>
                </a:solidFill>
                <a:cs typeface="Arial" charset="0"/>
              </a:rPr>
              <a:t>Trong</a:t>
            </a:r>
            <a:r>
              <a:rPr lang="en-US" b="0" dirty="0">
                <a:solidFill>
                  <a:srgbClr val="002060"/>
                </a:solidFill>
                <a:cs typeface="Arial" charset="0"/>
              </a:rPr>
              <a:t> </a:t>
            </a:r>
            <a:r>
              <a:rPr lang="en-US" b="0" dirty="0" err="1">
                <a:solidFill>
                  <a:srgbClr val="002060"/>
                </a:solidFill>
                <a:cs typeface="Arial" charset="0"/>
              </a:rPr>
              <a:t>chương</a:t>
            </a:r>
            <a:r>
              <a:rPr lang="en-US" b="0" dirty="0">
                <a:solidFill>
                  <a:srgbClr val="002060"/>
                </a:solidFill>
                <a:cs typeface="Arial" charset="0"/>
              </a:rPr>
              <a:t> </a:t>
            </a:r>
            <a:r>
              <a:rPr lang="en-US" b="0" dirty="0" err="1">
                <a:solidFill>
                  <a:srgbClr val="002060"/>
                </a:solidFill>
                <a:cs typeface="Arial" charset="0"/>
              </a:rPr>
              <a:t>trình</a:t>
            </a:r>
            <a:r>
              <a:rPr lang="en-US" b="0" dirty="0">
                <a:solidFill>
                  <a:srgbClr val="002060"/>
                </a:solidFill>
                <a:cs typeface="Arial" charset="0"/>
              </a:rPr>
              <a:t>, KHÔNG </a:t>
            </a:r>
            <a:r>
              <a:rPr lang="en-US" b="0" dirty="0" err="1">
                <a:solidFill>
                  <a:srgbClr val="002060"/>
                </a:solidFill>
                <a:cs typeface="Arial" charset="0"/>
              </a:rPr>
              <a:t>thể</a:t>
            </a:r>
            <a:r>
              <a:rPr lang="en-US" b="0" dirty="0">
                <a:solidFill>
                  <a:srgbClr val="002060"/>
                </a:solidFill>
                <a:cs typeface="Arial" charset="0"/>
              </a:rPr>
              <a:t> </a:t>
            </a:r>
            <a:r>
              <a:rPr lang="en-US" b="0" dirty="0" err="1">
                <a:solidFill>
                  <a:srgbClr val="002060"/>
                </a:solidFill>
                <a:cs typeface="Arial" charset="0"/>
              </a:rPr>
              <a:t>thay</a:t>
            </a:r>
            <a:r>
              <a:rPr lang="en-US" b="0" dirty="0">
                <a:solidFill>
                  <a:srgbClr val="002060"/>
                </a:solidFill>
                <a:cs typeface="Arial" charset="0"/>
              </a:rPr>
              <a:t> </a:t>
            </a:r>
            <a:r>
              <a:rPr lang="en-US" b="0" dirty="0" err="1">
                <a:solidFill>
                  <a:srgbClr val="002060"/>
                </a:solidFill>
                <a:cs typeface="Arial" charset="0"/>
              </a:rPr>
              <a:t>đổi</a:t>
            </a:r>
            <a:r>
              <a:rPr lang="en-US" b="0" dirty="0">
                <a:solidFill>
                  <a:srgbClr val="002060"/>
                </a:solidFill>
                <a:cs typeface="Arial" charset="0"/>
              </a:rPr>
              <a:t> </a:t>
            </a:r>
            <a:r>
              <a:rPr lang="en-US" b="0" dirty="0" err="1">
                <a:solidFill>
                  <a:srgbClr val="002060"/>
                </a:solidFill>
                <a:cs typeface="Arial" charset="0"/>
              </a:rPr>
              <a:t>được</a:t>
            </a:r>
            <a:r>
              <a:rPr lang="en-US" b="0" dirty="0">
                <a:solidFill>
                  <a:srgbClr val="002060"/>
                </a:solidFill>
                <a:cs typeface="Arial" charset="0"/>
              </a:rPr>
              <a:t> </a:t>
            </a:r>
            <a:r>
              <a:rPr lang="en-US" b="0" dirty="0" err="1">
                <a:solidFill>
                  <a:srgbClr val="002060"/>
                </a:solidFill>
                <a:cs typeface="Arial" charset="0"/>
              </a:rPr>
              <a:t>giá</a:t>
            </a:r>
            <a:r>
              <a:rPr lang="en-US" b="0" dirty="0">
                <a:solidFill>
                  <a:srgbClr val="002060"/>
                </a:solidFill>
                <a:cs typeface="Arial" charset="0"/>
              </a:rPr>
              <a:t> </a:t>
            </a:r>
            <a:r>
              <a:rPr lang="en-US" b="0" dirty="0" err="1">
                <a:solidFill>
                  <a:srgbClr val="002060"/>
                </a:solidFill>
                <a:cs typeface="Arial" charset="0"/>
              </a:rPr>
              <a:t>trị</a:t>
            </a:r>
            <a:r>
              <a:rPr lang="en-US" b="0" dirty="0">
                <a:solidFill>
                  <a:srgbClr val="002060"/>
                </a:solidFill>
                <a:cs typeface="Arial" charset="0"/>
              </a:rPr>
              <a:t> </a:t>
            </a:r>
            <a:r>
              <a:rPr lang="en-US" b="0" dirty="0" err="1">
                <a:solidFill>
                  <a:srgbClr val="002060"/>
                </a:solidFill>
                <a:cs typeface="Arial" charset="0"/>
              </a:rPr>
              <a:t>của</a:t>
            </a:r>
            <a:r>
              <a:rPr lang="en-US" b="0" dirty="0">
                <a:solidFill>
                  <a:srgbClr val="002060"/>
                </a:solidFill>
                <a:cs typeface="Arial" charset="0"/>
              </a:rPr>
              <a:t> </a:t>
            </a:r>
            <a:r>
              <a:rPr lang="en-US" b="0" dirty="0" err="1">
                <a:solidFill>
                  <a:srgbClr val="002060"/>
                </a:solidFill>
                <a:cs typeface="Arial" charset="0"/>
              </a:rPr>
              <a:t>hằng</a:t>
            </a:r>
            <a:r>
              <a:rPr lang="en-US" b="0" dirty="0">
                <a:solidFill>
                  <a:srgbClr val="002060"/>
                </a:solidFill>
                <a:cs typeface="Arial" charset="0"/>
              </a:rPr>
              <a:t>.</a:t>
            </a:r>
          </a:p>
          <a:p>
            <a:pPr lvl="1" eaLnBrk="1" hangingPunct="1"/>
            <a:r>
              <a:rPr lang="en-US" b="1" dirty="0">
                <a:solidFill>
                  <a:srgbClr val="00B050"/>
                </a:solidFill>
                <a:latin typeface="Courier New" panose="02070309020205020404" pitchFamily="49" charset="0"/>
                <a:cs typeface="Courier New" panose="02070309020205020404" pitchFamily="49" charset="0"/>
              </a:rPr>
              <a:t>#define</a:t>
            </a:r>
            <a:r>
              <a:rPr lang="en-US" dirty="0">
                <a:solidFill>
                  <a:srgbClr val="00B050"/>
                </a:solidFill>
                <a:cs typeface="Arial" charset="0"/>
              </a:rPr>
              <a:t> </a:t>
            </a:r>
            <a:r>
              <a:rPr lang="en-US" b="0" dirty="0" err="1">
                <a:solidFill>
                  <a:srgbClr val="002060"/>
                </a:solidFill>
                <a:cs typeface="Arial" charset="0"/>
              </a:rPr>
              <a:t>là</a:t>
            </a:r>
            <a:r>
              <a:rPr lang="en-US" b="0" dirty="0">
                <a:solidFill>
                  <a:srgbClr val="002060"/>
                </a:solidFill>
                <a:cs typeface="Arial" charset="0"/>
              </a:rPr>
              <a:t> </a:t>
            </a:r>
            <a:r>
              <a:rPr lang="en-US" b="0" dirty="0" err="1">
                <a:solidFill>
                  <a:srgbClr val="002060"/>
                </a:solidFill>
                <a:cs typeface="Arial" charset="0"/>
              </a:rPr>
              <a:t>chỉ</a:t>
            </a:r>
            <a:r>
              <a:rPr lang="en-US" b="0" dirty="0">
                <a:solidFill>
                  <a:srgbClr val="002060"/>
                </a:solidFill>
                <a:cs typeface="Arial" charset="0"/>
              </a:rPr>
              <a:t> </a:t>
            </a:r>
            <a:r>
              <a:rPr lang="en-US" b="0" dirty="0" err="1">
                <a:solidFill>
                  <a:srgbClr val="002060"/>
                </a:solidFill>
                <a:cs typeface="Arial" charset="0"/>
              </a:rPr>
              <a:t>thị</a:t>
            </a:r>
            <a:r>
              <a:rPr lang="en-US" b="0" dirty="0">
                <a:solidFill>
                  <a:srgbClr val="002060"/>
                </a:solidFill>
                <a:cs typeface="Arial" charset="0"/>
              </a:rPr>
              <a:t> </a:t>
            </a:r>
            <a:r>
              <a:rPr lang="en-US" b="0" dirty="0" err="1">
                <a:solidFill>
                  <a:srgbClr val="002060"/>
                </a:solidFill>
                <a:cs typeface="Arial" charset="0"/>
              </a:rPr>
              <a:t>tiền</a:t>
            </a:r>
            <a:r>
              <a:rPr lang="en-US" b="0" dirty="0">
                <a:solidFill>
                  <a:srgbClr val="002060"/>
                </a:solidFill>
                <a:cs typeface="Arial" charset="0"/>
              </a:rPr>
              <a:t> </a:t>
            </a:r>
            <a:r>
              <a:rPr lang="en-US" b="0" dirty="0" err="1">
                <a:solidFill>
                  <a:srgbClr val="002060"/>
                </a:solidFill>
                <a:cs typeface="Arial" charset="0"/>
              </a:rPr>
              <a:t>xử</a:t>
            </a:r>
            <a:r>
              <a:rPr lang="en-US" b="0" dirty="0">
                <a:solidFill>
                  <a:srgbClr val="002060"/>
                </a:solidFill>
                <a:cs typeface="Arial" charset="0"/>
              </a:rPr>
              <a:t> </a:t>
            </a:r>
            <a:r>
              <a:rPr lang="en-US" b="0" dirty="0" err="1">
                <a:solidFill>
                  <a:srgbClr val="002060"/>
                </a:solidFill>
                <a:cs typeface="Arial" charset="0"/>
              </a:rPr>
              <a:t>lý</a:t>
            </a:r>
            <a:r>
              <a:rPr lang="en-US" b="0" dirty="0">
                <a:solidFill>
                  <a:srgbClr val="002060"/>
                </a:solidFill>
                <a:cs typeface="Arial" charset="0"/>
              </a:rPr>
              <a:t> (preprocessing directive)</a:t>
            </a:r>
          </a:p>
          <a:p>
            <a:pPr lvl="2" eaLnBrk="1" hangingPunct="1"/>
            <a:r>
              <a:rPr lang="en-US" dirty="0" err="1">
                <a:solidFill>
                  <a:srgbClr val="002060"/>
                </a:solidFill>
                <a:cs typeface="Arial" charset="0"/>
              </a:rPr>
              <a:t>Dễ</a:t>
            </a:r>
            <a:r>
              <a:rPr lang="en-US" dirty="0">
                <a:solidFill>
                  <a:srgbClr val="002060"/>
                </a:solidFill>
                <a:cs typeface="Arial" charset="0"/>
              </a:rPr>
              <a:t> </a:t>
            </a:r>
            <a:r>
              <a:rPr lang="en-US" dirty="0" err="1">
                <a:solidFill>
                  <a:srgbClr val="002060"/>
                </a:solidFill>
                <a:cs typeface="Arial" charset="0"/>
              </a:rPr>
              <a:t>đọc</a:t>
            </a:r>
            <a:r>
              <a:rPr lang="en-US" dirty="0">
                <a:solidFill>
                  <a:srgbClr val="002060"/>
                </a:solidFill>
                <a:cs typeface="Arial" charset="0"/>
              </a:rPr>
              <a:t>, </a:t>
            </a:r>
            <a:r>
              <a:rPr lang="en-US" dirty="0" err="1">
                <a:solidFill>
                  <a:srgbClr val="002060"/>
                </a:solidFill>
                <a:cs typeface="Arial" charset="0"/>
              </a:rPr>
              <a:t>dễ</a:t>
            </a:r>
            <a:r>
              <a:rPr lang="en-US" dirty="0">
                <a:solidFill>
                  <a:srgbClr val="002060"/>
                </a:solidFill>
                <a:cs typeface="Arial" charset="0"/>
              </a:rPr>
              <a:t> </a:t>
            </a:r>
            <a:r>
              <a:rPr lang="en-US" dirty="0" err="1">
                <a:solidFill>
                  <a:srgbClr val="002060"/>
                </a:solidFill>
                <a:cs typeface="Arial" charset="0"/>
              </a:rPr>
              <a:t>thay</a:t>
            </a:r>
            <a:r>
              <a:rPr lang="en-US" dirty="0">
                <a:solidFill>
                  <a:srgbClr val="002060"/>
                </a:solidFill>
                <a:cs typeface="Arial" charset="0"/>
              </a:rPr>
              <a:t> </a:t>
            </a:r>
            <a:r>
              <a:rPr lang="en-US" dirty="0" err="1">
                <a:solidFill>
                  <a:srgbClr val="002060"/>
                </a:solidFill>
                <a:cs typeface="Arial" charset="0"/>
              </a:rPr>
              <a:t>đổi</a:t>
            </a:r>
            <a:endParaRPr lang="en-US" dirty="0">
              <a:solidFill>
                <a:srgbClr val="002060"/>
              </a:solidFill>
              <a:cs typeface="Arial" charset="0"/>
            </a:endParaRPr>
          </a:p>
          <a:p>
            <a:pPr lvl="2" eaLnBrk="1" hangingPunct="1"/>
            <a:r>
              <a:rPr lang="en-US" dirty="0" err="1">
                <a:solidFill>
                  <a:srgbClr val="002060"/>
                </a:solidFill>
                <a:cs typeface="Arial" charset="0"/>
              </a:rPr>
              <a:t>Dễ</a:t>
            </a:r>
            <a:r>
              <a:rPr lang="en-US" dirty="0">
                <a:solidFill>
                  <a:srgbClr val="002060"/>
                </a:solidFill>
                <a:cs typeface="Arial" charset="0"/>
              </a:rPr>
              <a:t> </a:t>
            </a:r>
            <a:r>
              <a:rPr lang="en-US" dirty="0" err="1">
                <a:solidFill>
                  <a:srgbClr val="002060"/>
                </a:solidFill>
                <a:cs typeface="Arial" charset="0"/>
              </a:rPr>
              <a:t>chuyển</a:t>
            </a:r>
            <a:r>
              <a:rPr lang="en-US" dirty="0">
                <a:solidFill>
                  <a:srgbClr val="002060"/>
                </a:solidFill>
                <a:cs typeface="Arial" charset="0"/>
              </a:rPr>
              <a:t> </a:t>
            </a:r>
            <a:r>
              <a:rPr lang="en-US" dirty="0" err="1">
                <a:solidFill>
                  <a:srgbClr val="002060"/>
                </a:solidFill>
                <a:cs typeface="Arial" charset="0"/>
              </a:rPr>
              <a:t>đổi</a:t>
            </a:r>
            <a:r>
              <a:rPr lang="en-US" dirty="0">
                <a:solidFill>
                  <a:srgbClr val="002060"/>
                </a:solidFill>
                <a:cs typeface="Arial" charset="0"/>
              </a:rPr>
              <a:t> </a:t>
            </a:r>
            <a:r>
              <a:rPr lang="en-US" dirty="0" err="1">
                <a:solidFill>
                  <a:srgbClr val="002060"/>
                </a:solidFill>
                <a:cs typeface="Arial" charset="0"/>
              </a:rPr>
              <a:t>giữa</a:t>
            </a:r>
            <a:r>
              <a:rPr lang="en-US" dirty="0">
                <a:solidFill>
                  <a:srgbClr val="002060"/>
                </a:solidFill>
                <a:cs typeface="Arial" charset="0"/>
              </a:rPr>
              <a:t> </a:t>
            </a:r>
            <a:r>
              <a:rPr lang="en-US" dirty="0" err="1">
                <a:solidFill>
                  <a:srgbClr val="002060"/>
                </a:solidFill>
                <a:cs typeface="Arial" charset="0"/>
              </a:rPr>
              <a:t>các</a:t>
            </a:r>
            <a:r>
              <a:rPr lang="en-US" dirty="0">
                <a:solidFill>
                  <a:srgbClr val="002060"/>
                </a:solidFill>
                <a:cs typeface="Arial" charset="0"/>
              </a:rPr>
              <a:t> </a:t>
            </a:r>
            <a:r>
              <a:rPr lang="en-US" dirty="0" err="1">
                <a:solidFill>
                  <a:srgbClr val="002060"/>
                </a:solidFill>
                <a:cs typeface="Arial" charset="0"/>
              </a:rPr>
              <a:t>nền</a:t>
            </a:r>
            <a:r>
              <a:rPr lang="en-US" dirty="0">
                <a:solidFill>
                  <a:srgbClr val="002060"/>
                </a:solidFill>
                <a:cs typeface="Arial" charset="0"/>
              </a:rPr>
              <a:t> </a:t>
            </a:r>
            <a:r>
              <a:rPr lang="en-US" dirty="0" err="1">
                <a:solidFill>
                  <a:srgbClr val="002060"/>
                </a:solidFill>
                <a:cs typeface="Arial" charset="0"/>
              </a:rPr>
              <a:t>tảng</a:t>
            </a:r>
            <a:r>
              <a:rPr lang="en-US" dirty="0">
                <a:solidFill>
                  <a:srgbClr val="002060"/>
                </a:solidFill>
                <a:cs typeface="Arial" charset="0"/>
              </a:rPr>
              <a:t> </a:t>
            </a:r>
            <a:r>
              <a:rPr lang="en-US" dirty="0" err="1">
                <a:solidFill>
                  <a:srgbClr val="002060"/>
                </a:solidFill>
                <a:cs typeface="Arial" charset="0"/>
              </a:rPr>
              <a:t>phần</a:t>
            </a:r>
            <a:r>
              <a:rPr lang="en-US" dirty="0">
                <a:solidFill>
                  <a:srgbClr val="002060"/>
                </a:solidFill>
                <a:cs typeface="Arial" charset="0"/>
              </a:rPr>
              <a:t> </a:t>
            </a:r>
            <a:r>
              <a:rPr lang="en-US" dirty="0" err="1">
                <a:solidFill>
                  <a:srgbClr val="002060"/>
                </a:solidFill>
                <a:cs typeface="Arial" charset="0"/>
              </a:rPr>
              <a:t>cứng</a:t>
            </a:r>
            <a:r>
              <a:rPr lang="en-US" dirty="0">
                <a:solidFill>
                  <a:srgbClr val="002060"/>
                </a:solidFill>
                <a:cs typeface="Arial" charset="0"/>
              </a:rPr>
              <a:t> </a:t>
            </a:r>
            <a:r>
              <a:rPr lang="en-US" dirty="0" err="1">
                <a:solidFill>
                  <a:srgbClr val="002060"/>
                </a:solidFill>
                <a:cs typeface="Arial" charset="0"/>
              </a:rPr>
              <a:t>hơn</a:t>
            </a:r>
            <a:endParaRPr lang="en-US" dirty="0">
              <a:solidFill>
                <a:srgbClr val="002060"/>
              </a:solidFill>
              <a:cs typeface="Arial" charset="0"/>
            </a:endParaRPr>
          </a:p>
          <a:p>
            <a:pPr lvl="2" eaLnBrk="1" hangingPunct="1"/>
            <a:r>
              <a:rPr lang="en-US" dirty="0" err="1">
                <a:solidFill>
                  <a:srgbClr val="002060"/>
                </a:solidFill>
                <a:cs typeface="Arial" charset="0"/>
              </a:rPr>
              <a:t>Tốc</a:t>
            </a:r>
            <a:r>
              <a:rPr lang="en-US" dirty="0">
                <a:solidFill>
                  <a:srgbClr val="002060"/>
                </a:solidFill>
                <a:cs typeface="Arial" charset="0"/>
              </a:rPr>
              <a:t> </a:t>
            </a:r>
            <a:r>
              <a:rPr lang="en-US" dirty="0" err="1">
                <a:solidFill>
                  <a:srgbClr val="002060"/>
                </a:solidFill>
                <a:cs typeface="Arial" charset="0"/>
              </a:rPr>
              <a:t>độ</a:t>
            </a:r>
            <a:r>
              <a:rPr lang="en-US" dirty="0">
                <a:solidFill>
                  <a:srgbClr val="002060"/>
                </a:solidFill>
                <a:cs typeface="Arial" charset="0"/>
              </a:rPr>
              <a:t> </a:t>
            </a:r>
            <a:r>
              <a:rPr lang="en-US" dirty="0" err="1">
                <a:solidFill>
                  <a:srgbClr val="002060"/>
                </a:solidFill>
                <a:cs typeface="Arial" charset="0"/>
              </a:rPr>
              <a:t>nhanh</a:t>
            </a:r>
            <a:r>
              <a:rPr lang="en-US" dirty="0">
                <a:solidFill>
                  <a:srgbClr val="002060"/>
                </a:solidFill>
                <a:cs typeface="Arial" charset="0"/>
              </a:rPr>
              <a:t> </a:t>
            </a:r>
            <a:r>
              <a:rPr lang="en-US" dirty="0" err="1">
                <a:solidFill>
                  <a:srgbClr val="002060"/>
                </a:solidFill>
                <a:cs typeface="Arial" charset="0"/>
              </a:rPr>
              <a:t>hơn</a:t>
            </a:r>
            <a:endParaRPr lang="en-US"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1187A287-8915-4013-95DE-757F6B8FA713}" type="slidenum">
              <a:rPr lang="en-US"/>
              <a:pPr>
                <a:defRPr/>
              </a:pPr>
              <a:t>15</a:t>
            </a:fld>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pPr eaLnBrk="1" hangingPunct="1"/>
            <a:r>
              <a:rPr lang="en-US" sz="3600">
                <a:cs typeface="Arial" charset="0"/>
              </a:rPr>
              <a:t>2.3. Biến</a:t>
            </a:r>
            <a:endParaRPr lang="en-US" sz="3600" dirty="0">
              <a:cs typeface="Arial" charset="0"/>
            </a:endParaRPr>
          </a:p>
        </p:txBody>
      </p:sp>
      <p:sp>
        <p:nvSpPr>
          <p:cNvPr id="17411" name="Rectangle 3"/>
          <p:cNvSpPr>
            <a:spLocks noGrp="1" noChangeArrowheads="1"/>
          </p:cNvSpPr>
          <p:nvPr>
            <p:ph idx="1"/>
          </p:nvPr>
        </p:nvSpPr>
        <p:spPr>
          <a:xfrm>
            <a:off x="609600" y="790955"/>
            <a:ext cx="11125200" cy="5565395"/>
          </a:xfrm>
        </p:spPr>
        <p:txBody>
          <a:bodyPr>
            <a:noAutofit/>
          </a:bodyPr>
          <a:lstStyle/>
          <a:p>
            <a:pPr marL="0" indent="0">
              <a:spcBef>
                <a:spcPts val="600"/>
              </a:spcBef>
              <a:spcAft>
                <a:spcPts val="600"/>
              </a:spcAft>
              <a:buNone/>
            </a:pPr>
            <a:r>
              <a:rPr lang="en-AU" sz="2400">
                <a:solidFill>
                  <a:srgbClr val="002060"/>
                </a:solidFill>
                <a:cs typeface="Arial" charset="0"/>
              </a:rPr>
              <a:t>Khái niệm:</a:t>
            </a:r>
            <a:r>
              <a:rPr lang="vi-VN" sz="2400">
                <a:solidFill>
                  <a:srgbClr val="002060"/>
                </a:solidFill>
                <a:cs typeface="Arial" charset="0"/>
              </a:rPr>
              <a:t> </a:t>
            </a:r>
            <a:r>
              <a:rPr lang="vi-VN" sz="2400" b="0">
                <a:solidFill>
                  <a:srgbClr val="002060"/>
                </a:solidFill>
                <a:cs typeface="Arial" charset="0"/>
              </a:rPr>
              <a:t>Biến là đại lượng dùng để chứa (lưu trữ) các giá trị trong quá trình tính toán, giá trị của nó có thể được thay đổi trong quá trình chương trình thực hiện</a:t>
            </a:r>
            <a:r>
              <a:rPr lang="en-AU" sz="2400" b="0">
                <a:solidFill>
                  <a:srgbClr val="002060"/>
                </a:solidFill>
                <a:cs typeface="Arial" charset="0"/>
              </a:rPr>
              <a:t>. </a:t>
            </a:r>
            <a:endParaRPr lang="en-US" sz="2400" b="0">
              <a:solidFill>
                <a:srgbClr val="002060"/>
              </a:solidFill>
              <a:cs typeface="Arial" charset="0"/>
            </a:endParaRPr>
          </a:p>
          <a:p>
            <a:pPr>
              <a:spcBef>
                <a:spcPts val="600"/>
              </a:spcBef>
              <a:spcAft>
                <a:spcPts val="600"/>
              </a:spcAft>
            </a:pPr>
            <a:r>
              <a:rPr lang="en-US" sz="2400" b="0">
                <a:solidFill>
                  <a:srgbClr val="002060"/>
                </a:solidFill>
                <a:cs typeface="Arial" charset="0"/>
              </a:rPr>
              <a:t>Mọi biến cần phải khai báo trước khi sử dụng.</a:t>
            </a:r>
            <a:r>
              <a:rPr lang="en-US" sz="2400" b="0"/>
              <a:t> </a:t>
            </a:r>
          </a:p>
          <a:p>
            <a:pPr marL="0" indent="0">
              <a:spcBef>
                <a:spcPts val="600"/>
              </a:spcBef>
              <a:buNone/>
            </a:pPr>
            <a:r>
              <a:rPr lang="en-US" sz="2400"/>
              <a:t>Khai báo biến:</a:t>
            </a:r>
          </a:p>
          <a:p>
            <a:pPr eaLnBrk="1" hangingPunct="1">
              <a:spcBef>
                <a:spcPts val="600"/>
              </a:spcBef>
            </a:pPr>
            <a:r>
              <a:rPr lang="en-US" sz="2400" b="0" i="1"/>
              <a:t>Cú </a:t>
            </a:r>
            <a:r>
              <a:rPr lang="en-US" sz="2400" b="0" i="1" err="1"/>
              <a:t>pháp</a:t>
            </a:r>
            <a:r>
              <a:rPr lang="en-US" sz="2400" b="0" i="1"/>
              <a:t>:  	 </a:t>
            </a:r>
            <a:r>
              <a:rPr lang="en-US" sz="2400">
                <a:solidFill>
                  <a:srgbClr val="00B050"/>
                </a:solidFill>
              </a:rPr>
              <a:t>&lt;</a:t>
            </a:r>
            <a:r>
              <a:rPr lang="en-US" sz="2400" b="0">
                <a:solidFill>
                  <a:srgbClr val="00B050"/>
                </a:solidFill>
              </a:rPr>
              <a:t>kieu</a:t>
            </a:r>
            <a:r>
              <a:rPr lang="en-US" sz="2400" b="0" dirty="0" err="1">
                <a:solidFill>
                  <a:srgbClr val="00B050"/>
                </a:solidFill>
              </a:rPr>
              <a:t>_du</a:t>
            </a:r>
            <a:r>
              <a:rPr lang="en-US" sz="2400" b="0" err="1">
                <a:solidFill>
                  <a:srgbClr val="00B050"/>
                </a:solidFill>
              </a:rPr>
              <a:t>_</a:t>
            </a:r>
            <a:r>
              <a:rPr lang="en-US" sz="2400" b="0">
                <a:solidFill>
                  <a:srgbClr val="00B050"/>
                </a:solidFill>
              </a:rPr>
              <a:t>lieu&gt;</a:t>
            </a:r>
            <a:r>
              <a:rPr lang="en-US" sz="2400" b="0"/>
              <a:t> &lt;ten</a:t>
            </a:r>
            <a:r>
              <a:rPr lang="en-US" sz="2400" b="0" err="1"/>
              <a:t>_</a:t>
            </a:r>
            <a:r>
              <a:rPr lang="en-US" sz="2400" b="0"/>
              <a:t>bien&gt;;</a:t>
            </a:r>
            <a:endParaRPr lang="en-US" sz="2400" b="0" dirty="0"/>
          </a:p>
          <a:p>
            <a:pPr lvl="3">
              <a:spcBef>
                <a:spcPts val="600"/>
              </a:spcBef>
              <a:buNone/>
            </a:pPr>
            <a:r>
              <a:rPr lang="en-US" sz="2400" b="0">
                <a:solidFill>
                  <a:srgbClr val="00B050"/>
                </a:solidFill>
              </a:rPr>
              <a:t>	    </a:t>
            </a:r>
            <a:r>
              <a:rPr lang="en-US" sz="2400">
                <a:solidFill>
                  <a:srgbClr val="00B050"/>
                </a:solidFill>
              </a:rPr>
              <a:t>&lt;</a:t>
            </a:r>
            <a:r>
              <a:rPr lang="en-US" sz="2400" b="0">
                <a:solidFill>
                  <a:srgbClr val="00B050"/>
                </a:solidFill>
              </a:rPr>
              <a:t>kieu</a:t>
            </a:r>
            <a:r>
              <a:rPr lang="en-US" sz="2400" b="0" dirty="0" err="1">
                <a:solidFill>
                  <a:srgbClr val="00B050"/>
                </a:solidFill>
              </a:rPr>
              <a:t>_du</a:t>
            </a:r>
            <a:r>
              <a:rPr lang="en-US" sz="2400" b="0" err="1">
                <a:solidFill>
                  <a:srgbClr val="00B050"/>
                </a:solidFill>
              </a:rPr>
              <a:t>_</a:t>
            </a:r>
            <a:r>
              <a:rPr lang="en-US" sz="2400" b="0">
                <a:solidFill>
                  <a:srgbClr val="00B050"/>
                </a:solidFill>
              </a:rPr>
              <a:t>lieu&gt;</a:t>
            </a:r>
            <a:r>
              <a:rPr lang="en-US" sz="2400" b="0"/>
              <a:t> &lt;ten</a:t>
            </a:r>
            <a:r>
              <a:rPr lang="en-US" sz="2400" b="0" dirty="0"/>
              <a:t>_bien_1, …, </a:t>
            </a:r>
            <a:r>
              <a:rPr lang="en-US" sz="2400" b="0" dirty="0" err="1"/>
              <a:t>ten_bien</a:t>
            </a:r>
            <a:r>
              <a:rPr lang="en-US" sz="2400" b="0" err="1"/>
              <a:t>_</a:t>
            </a:r>
            <a:r>
              <a:rPr lang="en-US" sz="2400" b="0"/>
              <a:t>N&gt;;</a:t>
            </a:r>
            <a:endParaRPr lang="en-US" sz="2400" b="0" dirty="0"/>
          </a:p>
          <a:p>
            <a:pPr eaLnBrk="1" hangingPunct="1">
              <a:spcBef>
                <a:spcPts val="600"/>
              </a:spcBef>
            </a:pPr>
            <a:r>
              <a:rPr lang="en-US" sz="2400" b="0" i="1"/>
              <a:t>Ví </a:t>
            </a:r>
            <a:r>
              <a:rPr lang="en-US" sz="2400" b="0" i="1" dirty="0" err="1"/>
              <a:t>dụ</a:t>
            </a:r>
            <a:r>
              <a:rPr lang="en-US" sz="2400" b="0" i="1" dirty="0"/>
              <a:t>:</a:t>
            </a:r>
            <a:r>
              <a:rPr lang="en-US" sz="2400" b="0" dirty="0"/>
              <a:t> </a:t>
            </a:r>
            <a:r>
              <a:rPr lang="en-US" sz="2400" b="0" dirty="0" err="1"/>
              <a:t>Khai</a:t>
            </a:r>
            <a:r>
              <a:rPr lang="en-US" sz="2400" b="0" dirty="0"/>
              <a:t> </a:t>
            </a:r>
            <a:r>
              <a:rPr lang="en-US" sz="2400" b="0" dirty="0" err="1"/>
              <a:t>báo</a:t>
            </a:r>
            <a:r>
              <a:rPr lang="en-US" sz="2400" b="0" dirty="0"/>
              <a:t> </a:t>
            </a:r>
            <a:r>
              <a:rPr lang="en-US" sz="2400" b="0" dirty="0" err="1"/>
              <a:t>một</a:t>
            </a:r>
            <a:r>
              <a:rPr lang="en-US" sz="2400" b="0" dirty="0"/>
              <a:t> </a:t>
            </a:r>
            <a:r>
              <a:rPr lang="en-US" sz="2400" b="0" dirty="0" err="1"/>
              <a:t>biến</a:t>
            </a:r>
            <a:r>
              <a:rPr lang="en-US" sz="2400" b="0" dirty="0"/>
              <a:t> x </a:t>
            </a:r>
            <a:r>
              <a:rPr lang="en-US" sz="2400" b="0" dirty="0" err="1"/>
              <a:t>thuộc</a:t>
            </a:r>
            <a:r>
              <a:rPr lang="en-US" sz="2400" b="0" dirty="0"/>
              <a:t> </a:t>
            </a:r>
            <a:r>
              <a:rPr lang="en-US" sz="2400" b="0" dirty="0" err="1"/>
              <a:t>kiểu</a:t>
            </a:r>
            <a:r>
              <a:rPr lang="en-US" sz="2400" b="0" dirty="0"/>
              <a:t> </a:t>
            </a:r>
            <a:r>
              <a:rPr lang="en-US" sz="2400" b="0" dirty="0" err="1"/>
              <a:t>số</a:t>
            </a:r>
            <a:r>
              <a:rPr lang="en-US" sz="2400" b="0" dirty="0"/>
              <a:t> </a:t>
            </a:r>
            <a:r>
              <a:rPr lang="en-US" sz="2400" b="0" err="1"/>
              <a:t>nguyên</a:t>
            </a:r>
            <a:r>
              <a:rPr lang="en-US" sz="2400" b="0"/>
              <a:t> có </a:t>
            </a:r>
            <a:r>
              <a:rPr lang="en-US" sz="2400" b="0" dirty="0" err="1"/>
              <a:t>dấu</a:t>
            </a:r>
            <a:r>
              <a:rPr lang="en-US" sz="2400" b="0" dirty="0"/>
              <a:t> (</a:t>
            </a:r>
            <a:r>
              <a:rPr lang="en-US" sz="2400" b="0" dirty="0" err="1">
                <a:solidFill>
                  <a:srgbClr val="FF0000"/>
                </a:solidFill>
              </a:rPr>
              <a:t>int</a:t>
            </a:r>
            <a:r>
              <a:rPr lang="en-US" sz="2400" b="0" dirty="0"/>
              <a:t>); </a:t>
            </a:r>
            <a:r>
              <a:rPr lang="en-US" sz="2400" b="0" dirty="0" err="1"/>
              <a:t>biến</a:t>
            </a:r>
            <a:r>
              <a:rPr lang="en-US" sz="2400" b="0" dirty="0"/>
              <a:t> y</a:t>
            </a:r>
            <a:r>
              <a:rPr lang="en-US" sz="2400" b="0"/>
              <a:t>, z </a:t>
            </a:r>
            <a:r>
              <a:rPr lang="en-US" sz="2400" b="0" dirty="0" err="1"/>
              <a:t>thuộc</a:t>
            </a:r>
            <a:r>
              <a:rPr lang="en-US" sz="2400" b="0" dirty="0"/>
              <a:t> </a:t>
            </a:r>
            <a:r>
              <a:rPr lang="en-US" sz="2400" b="0" dirty="0" err="1"/>
              <a:t>kiểu</a:t>
            </a:r>
            <a:r>
              <a:rPr lang="en-US" sz="2400" b="0" dirty="0"/>
              <a:t> </a:t>
            </a:r>
            <a:r>
              <a:rPr lang="en-US" sz="2400" b="0" dirty="0" err="1"/>
              <a:t>số</a:t>
            </a:r>
            <a:r>
              <a:rPr lang="en-US" sz="2400" b="0" dirty="0"/>
              <a:t> </a:t>
            </a:r>
            <a:r>
              <a:rPr lang="en-US" sz="2400" b="0" err="1"/>
              <a:t>thực</a:t>
            </a:r>
            <a:r>
              <a:rPr lang="en-US" sz="2400" b="0"/>
              <a:t> (</a:t>
            </a:r>
            <a:r>
              <a:rPr lang="en-US" sz="2400" b="0" dirty="0">
                <a:solidFill>
                  <a:srgbClr val="FF0000"/>
                </a:solidFill>
              </a:rPr>
              <a:t>float</a:t>
            </a:r>
            <a:r>
              <a:rPr lang="en-US" sz="2400" b="0" dirty="0"/>
              <a:t>) </a:t>
            </a:r>
            <a:r>
              <a:rPr lang="en-US" sz="2400" b="0" dirty="0" err="1"/>
              <a:t>như</a:t>
            </a:r>
            <a:r>
              <a:rPr lang="en-US" sz="2400" b="0" dirty="0"/>
              <a:t> </a:t>
            </a:r>
            <a:r>
              <a:rPr lang="en-US" sz="2400" b="0" dirty="0" err="1"/>
              <a:t>sau</a:t>
            </a:r>
            <a:r>
              <a:rPr lang="en-US" sz="2400" b="0" dirty="0"/>
              <a:t>:</a:t>
            </a:r>
          </a:p>
          <a:p>
            <a:pPr marL="0" indent="0">
              <a:spcBef>
                <a:spcPts val="600"/>
              </a:spcBef>
              <a:buNone/>
            </a:pPr>
            <a:r>
              <a:rPr lang="en-US" sz="2400" b="0" dirty="0">
                <a:solidFill>
                  <a:srgbClr val="00B050"/>
                </a:solidFill>
              </a:rPr>
              <a:t>	</a:t>
            </a:r>
            <a:r>
              <a:rPr lang="en-US" sz="2400" b="0" dirty="0" err="1">
                <a:solidFill>
                  <a:srgbClr val="00B050"/>
                </a:solidFill>
              </a:rPr>
              <a:t>int</a:t>
            </a:r>
            <a:r>
              <a:rPr lang="en-US" sz="2400" b="0" dirty="0"/>
              <a:t> x;</a:t>
            </a:r>
            <a:r>
              <a:rPr lang="en-US" sz="2400" b="0"/>
              <a:t>	</a:t>
            </a:r>
            <a:r>
              <a:rPr lang="en-US" sz="2400" b="0">
                <a:solidFill>
                  <a:srgbClr val="00B050"/>
                </a:solidFill>
              </a:rPr>
              <a:t>float</a:t>
            </a:r>
            <a:r>
              <a:rPr lang="en-US" sz="2400" b="0"/>
              <a:t> </a:t>
            </a:r>
            <a:r>
              <a:rPr lang="en-US" sz="2400" b="0" dirty="0"/>
              <a:t>y</a:t>
            </a:r>
            <a:r>
              <a:rPr lang="en-US" sz="2400" b="0"/>
              <a:t>, z;</a:t>
            </a:r>
            <a:endParaRPr lang="en-US" sz="2400" b="0" dirty="0"/>
          </a:p>
          <a:p>
            <a:pPr lvl="1" eaLnBrk="1" hangingPunct="1">
              <a:spcBef>
                <a:spcPts val="600"/>
              </a:spcBef>
              <a:buFont typeface="Wingdings" pitchFamily="2" charset="2"/>
              <a:buNone/>
            </a:pPr>
            <a:r>
              <a:rPr lang="en-US" sz="2400" b="0" dirty="0"/>
              <a:t>		x = 3; y </a:t>
            </a:r>
            <a:r>
              <a:rPr lang="en-US" sz="2400" b="0"/>
              <a:t>= 10.5; z=x+y;</a:t>
            </a:r>
            <a:endParaRPr lang="en-US" sz="2400" b="0" dirty="0"/>
          </a:p>
        </p:txBody>
      </p:sp>
      <p:sp>
        <p:nvSpPr>
          <p:cNvPr id="4" name="Slide Number Placeholder 3"/>
          <p:cNvSpPr>
            <a:spLocks noGrp="1"/>
          </p:cNvSpPr>
          <p:nvPr>
            <p:ph type="sldNum" sz="quarter" idx="10"/>
          </p:nvPr>
        </p:nvSpPr>
        <p:spPr/>
        <p:txBody>
          <a:bodyPr/>
          <a:lstStyle/>
          <a:p>
            <a:pPr>
              <a:defRPr/>
            </a:pPr>
            <a:fld id="{E764F814-4C6C-4CB5-B93E-05417975BBF5}" type="slidenum">
              <a:rPr lang="en-US"/>
              <a:pPr>
                <a:defRPr/>
              </a:pPr>
              <a:t>16</a:t>
            </a:fld>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a:bodyPr>
          <a:lstStyle/>
          <a:p>
            <a:pPr eaLnBrk="1" hangingPunct="1"/>
            <a:r>
              <a:rPr lang="en-US" sz="3600">
                <a:cs typeface="Arial" charset="0"/>
              </a:rPr>
              <a:t>2.3. Biến</a:t>
            </a:r>
            <a:endParaRPr lang="en-US" sz="3600" b="1" dirty="0">
              <a:cs typeface="Arial" charset="0"/>
            </a:endParaRPr>
          </a:p>
        </p:txBody>
      </p:sp>
      <p:sp>
        <p:nvSpPr>
          <p:cNvPr id="18435" name="Rectangle 3"/>
          <p:cNvSpPr>
            <a:spLocks noGrp="1" noChangeArrowheads="1"/>
          </p:cNvSpPr>
          <p:nvPr>
            <p:ph idx="1"/>
          </p:nvPr>
        </p:nvSpPr>
        <p:spPr>
          <a:xfrm>
            <a:off x="762000" y="850077"/>
            <a:ext cx="11125200" cy="5276088"/>
          </a:xfrm>
        </p:spPr>
        <p:txBody>
          <a:bodyPr>
            <a:normAutofit/>
          </a:bodyPr>
          <a:lstStyle/>
          <a:p>
            <a:pPr eaLnBrk="1" hangingPunct="1">
              <a:buFont typeface="Arial" charset="0"/>
              <a:buNone/>
            </a:pPr>
            <a:r>
              <a:rPr lang="en-US" sz="2400"/>
              <a:t>Kết </a:t>
            </a:r>
            <a:r>
              <a:rPr lang="en-US" sz="2400" dirty="0" err="1"/>
              <a:t>hợp</a:t>
            </a:r>
            <a:r>
              <a:rPr lang="en-US" sz="2400" dirty="0"/>
              <a:t> </a:t>
            </a:r>
            <a:r>
              <a:rPr lang="en-US" sz="2400" dirty="0" err="1"/>
              <a:t>khai</a:t>
            </a:r>
            <a:r>
              <a:rPr lang="en-US" sz="2400" dirty="0"/>
              <a:t> </a:t>
            </a:r>
            <a:r>
              <a:rPr lang="en-US" sz="2400" dirty="0" err="1"/>
              <a:t>báo</a:t>
            </a:r>
            <a:r>
              <a:rPr lang="en-US" sz="2400" dirty="0"/>
              <a:t> </a:t>
            </a:r>
            <a:r>
              <a:rPr lang="en-US" sz="2400" dirty="0" err="1"/>
              <a:t>và</a:t>
            </a:r>
            <a:r>
              <a:rPr lang="en-US" sz="2400" dirty="0"/>
              <a:t> </a:t>
            </a:r>
            <a:r>
              <a:rPr lang="en-US" sz="2400" err="1"/>
              <a:t>khởi</a:t>
            </a:r>
            <a:r>
              <a:rPr lang="en-US" sz="2400"/>
              <a:t> tạo giá trị của biến</a:t>
            </a:r>
            <a:endParaRPr lang="en-US" sz="2400" dirty="0"/>
          </a:p>
          <a:p>
            <a:pPr eaLnBrk="1" hangingPunct="1"/>
            <a:r>
              <a:rPr lang="en-US" sz="2400" i="1"/>
              <a:t>Cú pháp:</a:t>
            </a:r>
          </a:p>
          <a:p>
            <a:pPr marL="1711325" lvl="1" eaLnBrk="1" hangingPunct="1">
              <a:buFont typeface="Wingdings" pitchFamily="2" charset="2"/>
              <a:buNone/>
            </a:pPr>
            <a:r>
              <a:rPr lang="fr-FR" sz="2400">
                <a:solidFill>
                  <a:srgbClr val="00B050"/>
                </a:solidFill>
              </a:rPr>
              <a:t>kieu_du_lieu</a:t>
            </a:r>
            <a:r>
              <a:rPr lang="fr-FR" sz="2400"/>
              <a:t> ten_bien </a:t>
            </a:r>
            <a:r>
              <a:rPr lang="fr-FR" sz="2400">
                <a:solidFill>
                  <a:schemeClr val="accent2">
                    <a:lumMod val="75000"/>
                  </a:schemeClr>
                </a:solidFill>
              </a:rPr>
              <a:t>= gia_tri_ban_dau</a:t>
            </a:r>
            <a:r>
              <a:rPr lang="fr-FR" sz="2400"/>
              <a:t>;</a:t>
            </a:r>
            <a:endParaRPr lang="en-US" sz="2400" u="sng"/>
          </a:p>
          <a:p>
            <a:pPr marL="1711325" lvl="1" eaLnBrk="1" hangingPunct="1">
              <a:buFont typeface="Wingdings" pitchFamily="2" charset="2"/>
              <a:buNone/>
            </a:pPr>
            <a:r>
              <a:rPr lang="fr-FR" sz="2400">
                <a:solidFill>
                  <a:srgbClr val="00B050"/>
                </a:solidFill>
              </a:rPr>
              <a:t>kieu_du_lieu</a:t>
            </a:r>
            <a:r>
              <a:rPr lang="fr-FR" sz="2400"/>
              <a:t> bien_1</a:t>
            </a:r>
            <a:r>
              <a:rPr lang="fr-FR" sz="2400" baseline="-25000"/>
              <a:t> </a:t>
            </a:r>
            <a:r>
              <a:rPr lang="fr-FR" sz="2400">
                <a:solidFill>
                  <a:schemeClr val="accent2">
                    <a:lumMod val="75000"/>
                  </a:schemeClr>
                </a:solidFill>
              </a:rPr>
              <a:t>= gia_tri_1</a:t>
            </a:r>
            <a:r>
              <a:rPr lang="fr-FR" sz="2400"/>
              <a:t>, …., bien_N</a:t>
            </a:r>
            <a:r>
              <a:rPr lang="fr-FR" sz="2400" baseline="-25000"/>
              <a:t> </a:t>
            </a:r>
            <a:r>
              <a:rPr lang="fr-FR" sz="2400">
                <a:solidFill>
                  <a:schemeClr val="accent2">
                    <a:lumMod val="75000"/>
                  </a:schemeClr>
                </a:solidFill>
              </a:rPr>
              <a:t>= gia_tri_N</a:t>
            </a:r>
            <a:r>
              <a:rPr lang="fr-FR" sz="2400"/>
              <a:t>;</a:t>
            </a:r>
            <a:r>
              <a:rPr lang="en-US" sz="2400"/>
              <a:t> </a:t>
            </a:r>
          </a:p>
          <a:p>
            <a:pPr eaLnBrk="1" hangingPunct="1"/>
            <a:r>
              <a:rPr lang="en-US" sz="2400" i="1"/>
              <a:t>Ví </a:t>
            </a:r>
            <a:r>
              <a:rPr lang="en-US" sz="2400" i="1" dirty="0" err="1"/>
              <a:t>dụ</a:t>
            </a:r>
            <a:r>
              <a:rPr lang="en-US" sz="2400" i="1" dirty="0"/>
              <a:t>:</a:t>
            </a:r>
          </a:p>
          <a:p>
            <a:pPr lvl="1" eaLnBrk="1" hangingPunct="1">
              <a:buFont typeface="Wingdings" pitchFamily="2" charset="2"/>
              <a:buNone/>
            </a:pPr>
            <a:r>
              <a:rPr lang="en-US" sz="2400" dirty="0" err="1">
                <a:solidFill>
                  <a:srgbClr val="00B050"/>
                </a:solidFill>
              </a:rPr>
              <a:t>int</a:t>
            </a:r>
            <a:r>
              <a:rPr lang="en-US" sz="2400" dirty="0"/>
              <a:t> a = </a:t>
            </a:r>
            <a:r>
              <a:rPr lang="en-US" sz="2400">
                <a:solidFill>
                  <a:schemeClr val="accent2">
                    <a:lumMod val="75000"/>
                  </a:schemeClr>
                </a:solidFill>
              </a:rPr>
              <a:t>3</a:t>
            </a:r>
            <a:r>
              <a:rPr lang="en-US" sz="2400"/>
              <a:t>; </a:t>
            </a:r>
            <a:r>
              <a:rPr lang="en-US" sz="2400" b="0"/>
              <a:t>// </a:t>
            </a:r>
            <a:r>
              <a:rPr lang="en-US" sz="2400" b="0" dirty="0" err="1"/>
              <a:t>sau</a:t>
            </a:r>
            <a:r>
              <a:rPr lang="en-US" sz="2400" b="0" dirty="0"/>
              <a:t> </a:t>
            </a:r>
            <a:r>
              <a:rPr lang="en-US" sz="2400" b="0" dirty="0" err="1"/>
              <a:t>lenh</a:t>
            </a:r>
            <a:r>
              <a:rPr lang="en-US" sz="2400" b="0" dirty="0"/>
              <a:t> nay </a:t>
            </a:r>
            <a:r>
              <a:rPr lang="en-US" sz="2400" b="0" dirty="0" err="1"/>
              <a:t>bien</a:t>
            </a:r>
            <a:r>
              <a:rPr lang="en-US" sz="2400" b="0" dirty="0"/>
              <a:t> a se co </a:t>
            </a:r>
            <a:r>
              <a:rPr lang="en-US" sz="2400" b="0" dirty="0" err="1"/>
              <a:t>gia</a:t>
            </a:r>
            <a:r>
              <a:rPr lang="en-US" sz="2400" b="0" dirty="0"/>
              <a:t> tri </a:t>
            </a:r>
            <a:r>
              <a:rPr lang="en-US" sz="2400" b="0"/>
              <a:t>bang 3</a:t>
            </a:r>
          </a:p>
          <a:p>
            <a:pPr lvl="1">
              <a:buNone/>
            </a:pPr>
            <a:r>
              <a:rPr lang="en-US" sz="2400">
                <a:solidFill>
                  <a:srgbClr val="00B050"/>
                </a:solidFill>
              </a:rPr>
              <a:t>int</a:t>
            </a:r>
            <a:r>
              <a:rPr lang="en-US" sz="2400"/>
              <a:t> i = </a:t>
            </a:r>
            <a:r>
              <a:rPr lang="en-US" sz="2400">
                <a:solidFill>
                  <a:schemeClr val="accent2">
                    <a:lumMod val="75000"/>
                  </a:schemeClr>
                </a:solidFill>
              </a:rPr>
              <a:t>3,</a:t>
            </a:r>
            <a:r>
              <a:rPr lang="en-US" sz="2400"/>
              <a:t> j = </a:t>
            </a:r>
            <a:r>
              <a:rPr lang="en-US" sz="2400">
                <a:solidFill>
                  <a:schemeClr val="accent2">
                    <a:lumMod val="75000"/>
                  </a:schemeClr>
                </a:solidFill>
              </a:rPr>
              <a:t>-10</a:t>
            </a:r>
            <a:r>
              <a:rPr lang="en-US" sz="2400"/>
              <a:t>;</a:t>
            </a:r>
            <a:endParaRPr lang="en-US" sz="2400" b="0" dirty="0"/>
          </a:p>
          <a:p>
            <a:pPr lvl="1" eaLnBrk="1" hangingPunct="1">
              <a:buFont typeface="Wingdings" pitchFamily="2" charset="2"/>
              <a:buNone/>
            </a:pPr>
            <a:r>
              <a:rPr lang="en-US" sz="2400" dirty="0">
                <a:solidFill>
                  <a:srgbClr val="00B050"/>
                </a:solidFill>
              </a:rPr>
              <a:t>float</a:t>
            </a:r>
            <a:r>
              <a:rPr lang="en-US" sz="2400" dirty="0"/>
              <a:t> x = </a:t>
            </a:r>
            <a:r>
              <a:rPr lang="en-US" sz="2400" dirty="0">
                <a:solidFill>
                  <a:schemeClr val="accent2">
                    <a:lumMod val="75000"/>
                  </a:schemeClr>
                </a:solidFill>
              </a:rPr>
              <a:t>5.0</a:t>
            </a:r>
            <a:r>
              <a:rPr lang="en-US" sz="2400" dirty="0"/>
              <a:t>, y = </a:t>
            </a:r>
            <a:r>
              <a:rPr lang="en-US" sz="2400" dirty="0">
                <a:solidFill>
                  <a:schemeClr val="accent2">
                    <a:lumMod val="75000"/>
                  </a:schemeClr>
                </a:solidFill>
              </a:rPr>
              <a:t>7.6</a:t>
            </a:r>
            <a:r>
              <a:rPr lang="en-US" sz="2400" dirty="0"/>
              <a:t>; </a:t>
            </a:r>
            <a:r>
              <a:rPr lang="en-US" sz="2400" b="0" dirty="0"/>
              <a:t>// </a:t>
            </a:r>
            <a:r>
              <a:rPr lang="en-US" sz="2400" b="0" dirty="0" err="1"/>
              <a:t>sau</a:t>
            </a:r>
            <a:r>
              <a:rPr lang="en-US" sz="2400" b="0" dirty="0"/>
              <a:t> </a:t>
            </a:r>
            <a:r>
              <a:rPr lang="en-US" sz="2400" b="0" dirty="0" err="1"/>
              <a:t>lenh</a:t>
            </a:r>
            <a:r>
              <a:rPr lang="en-US" sz="2400" b="0" dirty="0"/>
              <a:t> nay x co </a:t>
            </a:r>
            <a:r>
              <a:rPr lang="en-US" sz="2400" b="0" dirty="0" err="1"/>
              <a:t>gia</a:t>
            </a:r>
            <a:r>
              <a:rPr lang="en-US" sz="2400" b="0" dirty="0"/>
              <a:t> tri 5.0, y co </a:t>
            </a:r>
            <a:r>
              <a:rPr lang="en-US" sz="2400" b="0" dirty="0" err="1"/>
              <a:t>gia</a:t>
            </a:r>
            <a:r>
              <a:rPr lang="en-US" sz="2400" b="0" dirty="0"/>
              <a:t> </a:t>
            </a:r>
            <a:r>
              <a:rPr lang="en-US" sz="2400" b="0"/>
              <a:t>tri 7</a:t>
            </a:r>
          </a:p>
          <a:p>
            <a:pPr marL="285750" lvl="1" eaLnBrk="1" hangingPunct="1">
              <a:buFont typeface="Wingdings" pitchFamily="2" charset="2"/>
              <a:buNone/>
            </a:pPr>
            <a:endParaRPr lang="en-US" sz="2400" b="0">
              <a:solidFill>
                <a:srgbClr val="002060"/>
              </a:solidFill>
              <a:cs typeface="Arial" charset="0"/>
            </a:endParaRPr>
          </a:p>
          <a:p>
            <a:pPr marL="285750" lvl="1" eaLnBrk="1" hangingPunct="1">
              <a:buFont typeface="Wingdings" pitchFamily="2" charset="2"/>
              <a:buNone/>
            </a:pPr>
            <a:r>
              <a:rPr lang="en-US" sz="2400">
                <a:solidFill>
                  <a:srgbClr val="002060"/>
                </a:solidFill>
                <a:cs typeface="Arial" charset="0"/>
              </a:rPr>
              <a:t>Chú ý</a:t>
            </a:r>
            <a:r>
              <a:rPr lang="en-US" sz="2400" b="0">
                <a:solidFill>
                  <a:srgbClr val="002060"/>
                </a:solidFill>
                <a:cs typeface="Arial" charset="0"/>
              </a:rPr>
              <a:t> </a:t>
            </a:r>
            <a:r>
              <a:rPr lang="en-US" sz="2400">
                <a:solidFill>
                  <a:srgbClr val="002060"/>
                </a:solidFill>
                <a:cs typeface="Arial" charset="0"/>
              </a:rPr>
              <a:t>v</a:t>
            </a:r>
            <a:r>
              <a:rPr lang="en-AU" sz="2400">
                <a:solidFill>
                  <a:srgbClr val="002060"/>
                </a:solidFill>
                <a:cs typeface="Arial" charset="0"/>
              </a:rPr>
              <a:t>ị trí khai báo biến:</a:t>
            </a:r>
            <a:r>
              <a:rPr lang="vi-VN" sz="2400">
                <a:solidFill>
                  <a:srgbClr val="002060"/>
                </a:solidFill>
                <a:cs typeface="Arial" charset="0"/>
              </a:rPr>
              <a:t> </a:t>
            </a:r>
            <a:r>
              <a:rPr lang="vi-VN" sz="2400" b="0">
                <a:solidFill>
                  <a:srgbClr val="002060"/>
                </a:solidFill>
                <a:cs typeface="Arial" charset="0"/>
              </a:rPr>
              <a:t>cần đặt ngay sau dấu { đầu tiên của thân hàm  hoặc của khối lệnh và cần đứng trước mọi câu lệnh khác</a:t>
            </a:r>
            <a:r>
              <a:rPr lang="en-AU" sz="2400" b="0">
                <a:solidFill>
                  <a:srgbClr val="002060"/>
                </a:solidFill>
                <a:cs typeface="Arial" charset="0"/>
              </a:rPr>
              <a:t>. </a:t>
            </a:r>
            <a:endParaRPr lang="en-US" sz="2400" b="0">
              <a:solidFill>
                <a:srgbClr val="002060"/>
              </a:solidFill>
              <a:cs typeface="Arial" charset="0"/>
            </a:endParaRPr>
          </a:p>
          <a:p>
            <a:pPr lvl="1" eaLnBrk="1" hangingPunct="1">
              <a:buFont typeface="Wingdings" pitchFamily="2" charset="2"/>
              <a:buNone/>
            </a:pPr>
            <a:endParaRPr lang="en-US" sz="2400" b="0" dirty="0"/>
          </a:p>
        </p:txBody>
      </p:sp>
      <p:sp>
        <p:nvSpPr>
          <p:cNvPr id="4" name="Slide Number Placeholder 3"/>
          <p:cNvSpPr>
            <a:spLocks noGrp="1"/>
          </p:cNvSpPr>
          <p:nvPr>
            <p:ph type="sldNum" sz="quarter" idx="10"/>
          </p:nvPr>
        </p:nvSpPr>
        <p:spPr/>
        <p:txBody>
          <a:bodyPr/>
          <a:lstStyle/>
          <a:p>
            <a:pPr>
              <a:defRPr/>
            </a:pPr>
            <a:fld id="{851D899F-00B6-46FC-AC92-BACE24E7CC1B}" type="slidenum">
              <a:rPr lang="en-US"/>
              <a:pPr>
                <a:defRPr/>
              </a:pPr>
              <a:t>17</a:t>
            </a:fld>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029200"/>
          </a:xfrm>
        </p:spPr>
        <p:txBody>
          <a:bodyPr>
            <a:normAutofit/>
          </a:bodyPr>
          <a:lstStyle/>
          <a:p>
            <a:pPr>
              <a:spcBef>
                <a:spcPts val="600"/>
              </a:spcBef>
              <a:spcAft>
                <a:spcPts val="600"/>
              </a:spcAft>
            </a:pPr>
            <a:r>
              <a:rPr lang="en-AU" sz="2600" dirty="0" err="1">
                <a:solidFill>
                  <a:srgbClr val="002060"/>
                </a:solidFill>
                <a:cs typeface="Arial" charset="0"/>
              </a:rPr>
              <a:t>Cấp</a:t>
            </a:r>
            <a:r>
              <a:rPr lang="en-AU" sz="2600" dirty="0">
                <a:solidFill>
                  <a:srgbClr val="002060"/>
                </a:solidFill>
                <a:cs typeface="Arial" charset="0"/>
              </a:rPr>
              <a:t> </a:t>
            </a:r>
            <a:r>
              <a:rPr lang="en-AU" sz="2600" dirty="0" err="1">
                <a:solidFill>
                  <a:srgbClr val="002060"/>
                </a:solidFill>
                <a:cs typeface="Arial" charset="0"/>
              </a:rPr>
              <a:t>phát</a:t>
            </a:r>
            <a:r>
              <a:rPr lang="en-AU" sz="2600" dirty="0">
                <a:solidFill>
                  <a:srgbClr val="002060"/>
                </a:solidFill>
                <a:cs typeface="Arial" charset="0"/>
              </a:rPr>
              <a:t> </a:t>
            </a:r>
            <a:r>
              <a:rPr lang="en-AU" sz="2600" dirty="0" err="1">
                <a:solidFill>
                  <a:srgbClr val="002060"/>
                </a:solidFill>
                <a:cs typeface="Arial" charset="0"/>
              </a:rPr>
              <a:t>bộ</a:t>
            </a:r>
            <a:r>
              <a:rPr lang="en-AU" sz="2600" dirty="0">
                <a:solidFill>
                  <a:srgbClr val="002060"/>
                </a:solidFill>
                <a:cs typeface="Arial" charset="0"/>
              </a:rPr>
              <a:t> </a:t>
            </a:r>
            <a:r>
              <a:rPr lang="en-AU" sz="2600" dirty="0" err="1">
                <a:solidFill>
                  <a:srgbClr val="002060"/>
                </a:solidFill>
                <a:cs typeface="Arial" charset="0"/>
              </a:rPr>
              <a:t>nhớ</a:t>
            </a:r>
            <a:r>
              <a:rPr lang="en-AU" sz="2600" dirty="0">
                <a:solidFill>
                  <a:srgbClr val="002060"/>
                </a:solidFill>
                <a:cs typeface="Arial" charset="0"/>
              </a:rPr>
              <a:t> </a:t>
            </a:r>
            <a:r>
              <a:rPr lang="en-AU" sz="2600" dirty="0" err="1">
                <a:solidFill>
                  <a:srgbClr val="002060"/>
                </a:solidFill>
                <a:cs typeface="Arial" charset="0"/>
              </a:rPr>
              <a:t>cho</a:t>
            </a:r>
            <a:r>
              <a:rPr lang="en-AU" sz="2600" dirty="0">
                <a:solidFill>
                  <a:srgbClr val="002060"/>
                </a:solidFill>
                <a:cs typeface="Arial" charset="0"/>
              </a:rPr>
              <a:t> </a:t>
            </a:r>
            <a:r>
              <a:rPr lang="en-AU" sz="2600" dirty="0" err="1">
                <a:solidFill>
                  <a:srgbClr val="002060"/>
                </a:solidFill>
                <a:cs typeface="Arial" charset="0"/>
              </a:rPr>
              <a:t>biến</a:t>
            </a:r>
            <a:r>
              <a:rPr lang="en-AU" sz="2600" dirty="0">
                <a:solidFill>
                  <a:srgbClr val="002060"/>
                </a:solidFill>
                <a:cs typeface="Arial" charset="0"/>
              </a:rPr>
              <a:t>:</a:t>
            </a:r>
            <a:r>
              <a:rPr lang="vi-VN" sz="2600" dirty="0">
                <a:solidFill>
                  <a:srgbClr val="002060"/>
                </a:solidFill>
                <a:cs typeface="Arial" charset="0"/>
              </a:rPr>
              <a:t> </a:t>
            </a:r>
            <a:r>
              <a:rPr lang="vi-VN" sz="2600" b="0" dirty="0">
                <a:solidFill>
                  <a:srgbClr val="002060"/>
                </a:solidFill>
                <a:cs typeface="Arial" charset="0"/>
              </a:rPr>
              <a:t>Khi thực hiện chương trình, nếu máy gặp một khai báo biến nó sẽ thực hiện việc cấp phát bộ nhớ cho biến gồm một số byte liên tiếp nhau tùy thuộc vào kiểu dữ liệu của biến</a:t>
            </a:r>
            <a:r>
              <a:rPr lang="vi-VN" sz="2600" b="0">
                <a:solidFill>
                  <a:srgbClr val="002060"/>
                </a:solidFill>
                <a:cs typeface="Arial" charset="0"/>
              </a:rPr>
              <a:t>. </a:t>
            </a:r>
            <a:endParaRPr lang="en-US" sz="2600" b="0">
              <a:solidFill>
                <a:srgbClr val="002060"/>
              </a:solidFill>
              <a:cs typeface="Arial" charset="0"/>
            </a:endParaRPr>
          </a:p>
          <a:p>
            <a:pPr marL="0" indent="0">
              <a:spcBef>
                <a:spcPts val="600"/>
              </a:spcBef>
              <a:spcAft>
                <a:spcPts val="600"/>
              </a:spcAft>
              <a:buNone/>
            </a:pPr>
            <a:r>
              <a:rPr lang="en-US" sz="2600" b="0" i="1">
                <a:solidFill>
                  <a:srgbClr val="002060"/>
                </a:solidFill>
                <a:cs typeface="Arial" charset="0"/>
              </a:rPr>
              <a:t>	</a:t>
            </a:r>
            <a:r>
              <a:rPr lang="vi-VN" sz="2600" b="0" i="1">
                <a:solidFill>
                  <a:srgbClr val="002060"/>
                </a:solidFill>
                <a:cs typeface="Arial" charset="0"/>
              </a:rPr>
              <a:t>Ví </a:t>
            </a:r>
            <a:r>
              <a:rPr lang="vi-VN" sz="2600" b="0" i="1" dirty="0">
                <a:solidFill>
                  <a:srgbClr val="002060"/>
                </a:solidFill>
                <a:cs typeface="Arial" charset="0"/>
              </a:rPr>
              <a:t>dụ như biến kiểu int được cấp </a:t>
            </a:r>
            <a:r>
              <a:rPr lang="vi-VN" sz="2600" b="0" i="1">
                <a:solidFill>
                  <a:srgbClr val="002060"/>
                </a:solidFill>
                <a:cs typeface="Arial" charset="0"/>
              </a:rPr>
              <a:t>phát </a:t>
            </a:r>
            <a:r>
              <a:rPr lang="en-US" sz="2600" b="0" i="1">
                <a:solidFill>
                  <a:srgbClr val="002060"/>
                </a:solidFill>
                <a:cs typeface="Arial" charset="0"/>
              </a:rPr>
              <a:t>2</a:t>
            </a:r>
            <a:r>
              <a:rPr lang="vi-VN" sz="2600" b="0" i="1">
                <a:solidFill>
                  <a:srgbClr val="002060"/>
                </a:solidFill>
                <a:cs typeface="Arial" charset="0"/>
              </a:rPr>
              <a:t> </a:t>
            </a:r>
            <a:r>
              <a:rPr lang="vi-VN" sz="2600" b="0" i="1" dirty="0">
                <a:solidFill>
                  <a:srgbClr val="002060"/>
                </a:solidFill>
                <a:cs typeface="Arial" charset="0"/>
              </a:rPr>
              <a:t>byte bộ nhớ, biến kiểu float được cấp phát 4 byte bộ nhớ….</a:t>
            </a:r>
          </a:p>
          <a:p>
            <a:pPr>
              <a:spcBef>
                <a:spcPts val="600"/>
              </a:spcBef>
              <a:spcAft>
                <a:spcPts val="600"/>
              </a:spcAft>
            </a:pPr>
            <a:r>
              <a:rPr lang="en-US" sz="2600" dirty="0" err="1">
                <a:solidFill>
                  <a:srgbClr val="002060"/>
                </a:solidFill>
                <a:cs typeface="Arial" charset="0"/>
              </a:rPr>
              <a:t>Lấy</a:t>
            </a:r>
            <a:r>
              <a:rPr lang="en-US" sz="2600" dirty="0">
                <a:solidFill>
                  <a:srgbClr val="002060"/>
                </a:solidFill>
                <a:cs typeface="Arial" charset="0"/>
              </a:rPr>
              <a:t> </a:t>
            </a:r>
            <a:r>
              <a:rPr lang="en-US" sz="2600" dirty="0" err="1">
                <a:solidFill>
                  <a:srgbClr val="002060"/>
                </a:solidFill>
                <a:cs typeface="Arial" charset="0"/>
              </a:rPr>
              <a:t>địa</a:t>
            </a:r>
            <a:r>
              <a:rPr lang="en-US" sz="2600" dirty="0">
                <a:solidFill>
                  <a:srgbClr val="002060"/>
                </a:solidFill>
                <a:cs typeface="Arial" charset="0"/>
              </a:rPr>
              <a:t> </a:t>
            </a:r>
            <a:r>
              <a:rPr lang="en-US" sz="2600" dirty="0" err="1">
                <a:solidFill>
                  <a:srgbClr val="002060"/>
                </a:solidFill>
                <a:cs typeface="Arial" charset="0"/>
              </a:rPr>
              <a:t>chỉ</a:t>
            </a:r>
            <a:r>
              <a:rPr lang="en-US" sz="2600" dirty="0">
                <a:solidFill>
                  <a:srgbClr val="002060"/>
                </a:solidFill>
                <a:cs typeface="Arial" charset="0"/>
              </a:rPr>
              <a:t> </a:t>
            </a:r>
            <a:r>
              <a:rPr lang="en-US" sz="2600" dirty="0" err="1">
                <a:solidFill>
                  <a:srgbClr val="002060"/>
                </a:solidFill>
                <a:cs typeface="Arial" charset="0"/>
              </a:rPr>
              <a:t>của</a:t>
            </a:r>
            <a:r>
              <a:rPr lang="en-US" sz="2600" dirty="0">
                <a:solidFill>
                  <a:srgbClr val="002060"/>
                </a:solidFill>
                <a:cs typeface="Arial" charset="0"/>
              </a:rPr>
              <a:t> </a:t>
            </a:r>
            <a:r>
              <a:rPr lang="en-US" sz="2600" dirty="0" err="1">
                <a:solidFill>
                  <a:srgbClr val="002060"/>
                </a:solidFill>
                <a:cs typeface="Arial" charset="0"/>
              </a:rPr>
              <a:t>biến</a:t>
            </a:r>
            <a:r>
              <a:rPr lang="en-US" sz="2600" dirty="0">
                <a:solidFill>
                  <a:srgbClr val="002060"/>
                </a:solidFill>
                <a:cs typeface="Arial" charset="0"/>
              </a:rPr>
              <a:t>: </a:t>
            </a:r>
            <a:r>
              <a:rPr lang="vi-VN" sz="2600" b="0" dirty="0">
                <a:solidFill>
                  <a:srgbClr val="002060"/>
                </a:solidFill>
                <a:cs typeface="Arial" charset="0"/>
              </a:rPr>
              <a:t>Mỗi biến được cấp phát một vùng nhớ gồm một số byte liên tiếp. Số hiệu của byte đầu chính là địa chỉ của biến. Để nhận (lấy) địa chỉ biến ta dùng phép toán:</a:t>
            </a:r>
            <a:endParaRPr lang="en-AU" sz="2600" b="0" dirty="0">
              <a:solidFill>
                <a:srgbClr val="002060"/>
              </a:solidFill>
              <a:cs typeface="Arial" charset="0"/>
            </a:endParaRPr>
          </a:p>
          <a:p>
            <a:pPr marL="0" indent="0">
              <a:spcBef>
                <a:spcPts val="600"/>
              </a:spcBef>
              <a:spcAft>
                <a:spcPts val="600"/>
              </a:spcAft>
              <a:buNone/>
            </a:pPr>
            <a:r>
              <a:rPr lang="en-AU" sz="2600" b="0" i="1" dirty="0">
                <a:solidFill>
                  <a:srgbClr val="002060"/>
                </a:solidFill>
                <a:cs typeface="Arial" charset="0"/>
              </a:rPr>
              <a:t>				</a:t>
            </a:r>
            <a:r>
              <a:rPr lang="en-AU" sz="2800" i="1" dirty="0">
                <a:solidFill>
                  <a:srgbClr val="FF0000"/>
                </a:solidFill>
                <a:cs typeface="Arial" charset="0"/>
              </a:rPr>
              <a:t>&amp; </a:t>
            </a:r>
            <a:r>
              <a:rPr lang="en-AU" sz="2800" i="1" dirty="0" err="1">
                <a:solidFill>
                  <a:srgbClr val="FF0000"/>
                </a:solidFill>
                <a:cs typeface="Arial" charset="0"/>
              </a:rPr>
              <a:t>tên_biến</a:t>
            </a:r>
            <a:endParaRPr lang="en-US" sz="2800" i="1"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18</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a:t>2.3. </a:t>
            </a:r>
            <a:r>
              <a:rPr lang="en-US" sz="3600" dirty="0" err="1"/>
              <a:t>Biến</a:t>
            </a:r>
            <a:endParaRPr lang="en-US" sz="3600" dirty="0"/>
          </a:p>
        </p:txBody>
      </p:sp>
    </p:spTree>
    <p:extLst>
      <p:ext uri="{BB962C8B-B14F-4D97-AF65-F5344CB8AC3E}">
        <p14:creationId xmlns:p14="http://schemas.microsoft.com/office/powerpoint/2010/main" val="3014363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399"/>
            <a:ext cx="11353800" cy="5441951"/>
          </a:xfrm>
        </p:spPr>
        <p:txBody>
          <a:bodyPr>
            <a:normAutofit fontScale="85000" lnSpcReduction="10000"/>
          </a:bodyPr>
          <a:lstStyle/>
          <a:p>
            <a:pPr>
              <a:spcBef>
                <a:spcPts val="600"/>
              </a:spcBef>
              <a:spcAft>
                <a:spcPts val="600"/>
              </a:spcAft>
            </a:pPr>
            <a:r>
              <a:rPr lang="en-AU" sz="2600" dirty="0" err="1">
                <a:solidFill>
                  <a:srgbClr val="002060"/>
                </a:solidFill>
                <a:cs typeface="Arial" charset="0"/>
              </a:rPr>
              <a:t>Khái</a:t>
            </a:r>
            <a:r>
              <a:rPr lang="en-AU" sz="2600" dirty="0">
                <a:solidFill>
                  <a:srgbClr val="002060"/>
                </a:solidFill>
                <a:cs typeface="Arial" charset="0"/>
              </a:rPr>
              <a:t> </a:t>
            </a:r>
            <a:r>
              <a:rPr lang="en-AU" sz="2600" dirty="0" err="1">
                <a:solidFill>
                  <a:srgbClr val="002060"/>
                </a:solidFill>
                <a:cs typeface="Arial" charset="0"/>
              </a:rPr>
              <a:t>niệm</a:t>
            </a:r>
            <a:r>
              <a:rPr lang="en-AU" sz="2600" dirty="0">
                <a:solidFill>
                  <a:srgbClr val="002060"/>
                </a:solidFill>
                <a:cs typeface="Arial" charset="0"/>
              </a:rPr>
              <a:t>: </a:t>
            </a:r>
            <a:r>
              <a:rPr lang="en-AU" sz="2600" b="0" dirty="0" err="1">
                <a:solidFill>
                  <a:srgbClr val="002060"/>
                </a:solidFill>
                <a:cs typeface="Arial" charset="0"/>
              </a:rPr>
              <a:t>là</a:t>
            </a:r>
            <a:r>
              <a:rPr lang="en-AU" sz="2600" b="0" dirty="0">
                <a:solidFill>
                  <a:srgbClr val="002060"/>
                </a:solidFill>
                <a:cs typeface="Arial" charset="0"/>
              </a:rPr>
              <a:t> </a:t>
            </a:r>
            <a:r>
              <a:rPr lang="en-AU" sz="2600" b="0" dirty="0" err="1">
                <a:solidFill>
                  <a:srgbClr val="002060"/>
                </a:solidFill>
                <a:cs typeface="Arial" charset="0"/>
              </a:rPr>
              <a:t>một</a:t>
            </a:r>
            <a:r>
              <a:rPr lang="en-AU" sz="2600" b="0" dirty="0">
                <a:solidFill>
                  <a:srgbClr val="002060"/>
                </a:solidFill>
                <a:cs typeface="Arial" charset="0"/>
              </a:rPr>
              <a:t> </a:t>
            </a:r>
            <a:r>
              <a:rPr lang="en-AU" sz="2600" b="0" dirty="0" err="1">
                <a:solidFill>
                  <a:srgbClr val="002060"/>
                </a:solidFill>
                <a:cs typeface="Arial" charset="0"/>
              </a:rPr>
              <a:t>tập</a:t>
            </a:r>
            <a:r>
              <a:rPr lang="en-AU" sz="2600" b="0" dirty="0">
                <a:solidFill>
                  <a:srgbClr val="002060"/>
                </a:solidFill>
                <a:cs typeface="Arial" charset="0"/>
              </a:rPr>
              <a:t> </a:t>
            </a:r>
            <a:r>
              <a:rPr lang="en-AU" sz="2600" b="0" dirty="0" err="1">
                <a:solidFill>
                  <a:srgbClr val="002060"/>
                </a:solidFill>
                <a:cs typeface="Arial" charset="0"/>
              </a:rPr>
              <a:t>hợp</a:t>
            </a:r>
            <a:r>
              <a:rPr lang="en-AU" sz="2600" b="0" dirty="0">
                <a:solidFill>
                  <a:srgbClr val="002060"/>
                </a:solidFill>
                <a:cs typeface="Arial" charset="0"/>
              </a:rPr>
              <a:t> </a:t>
            </a:r>
            <a:r>
              <a:rPr lang="en-AU" sz="2600" b="0" dirty="0" err="1">
                <a:solidFill>
                  <a:srgbClr val="002060"/>
                </a:solidFill>
                <a:cs typeface="Arial" charset="0"/>
              </a:rPr>
              <a:t>nhiều</a:t>
            </a:r>
            <a:r>
              <a:rPr lang="en-AU" sz="2600" b="0" dirty="0">
                <a:solidFill>
                  <a:srgbClr val="002060"/>
                </a:solidFill>
                <a:cs typeface="Arial" charset="0"/>
              </a:rPr>
              <a:t> </a:t>
            </a:r>
            <a:r>
              <a:rPr lang="en-AU" sz="2600" b="0" dirty="0" err="1">
                <a:solidFill>
                  <a:srgbClr val="002060"/>
                </a:solidFill>
                <a:cs typeface="Arial" charset="0"/>
              </a:rPr>
              <a:t>phần</a:t>
            </a:r>
            <a:r>
              <a:rPr lang="en-AU" sz="2600" b="0" dirty="0">
                <a:solidFill>
                  <a:srgbClr val="002060"/>
                </a:solidFill>
                <a:cs typeface="Arial" charset="0"/>
              </a:rPr>
              <a:t> </a:t>
            </a:r>
            <a:r>
              <a:rPr lang="en-AU" sz="2600" b="0" dirty="0" err="1">
                <a:solidFill>
                  <a:srgbClr val="002060"/>
                </a:solidFill>
                <a:cs typeface="Arial" charset="0"/>
              </a:rPr>
              <a:t>tử</a:t>
            </a:r>
            <a:r>
              <a:rPr lang="en-AU" sz="2600" b="0" dirty="0">
                <a:solidFill>
                  <a:srgbClr val="002060"/>
                </a:solidFill>
                <a:cs typeface="Arial" charset="0"/>
              </a:rPr>
              <a:t> </a:t>
            </a:r>
            <a:r>
              <a:rPr lang="en-AU" sz="2600" b="0" dirty="0" err="1">
                <a:solidFill>
                  <a:srgbClr val="002060"/>
                </a:solidFill>
                <a:cs typeface="Arial" charset="0"/>
              </a:rPr>
              <a:t>có</a:t>
            </a:r>
            <a:r>
              <a:rPr lang="en-AU" sz="2600" b="0" dirty="0">
                <a:solidFill>
                  <a:srgbClr val="002060"/>
                </a:solidFill>
                <a:cs typeface="Arial" charset="0"/>
              </a:rPr>
              <a:t> </a:t>
            </a:r>
            <a:r>
              <a:rPr lang="en-AU" sz="2600" b="0" dirty="0" err="1">
                <a:solidFill>
                  <a:srgbClr val="002060"/>
                </a:solidFill>
                <a:cs typeface="Arial" charset="0"/>
              </a:rPr>
              <a:t>cùng</a:t>
            </a:r>
            <a:r>
              <a:rPr lang="en-AU" sz="2600" b="0" dirty="0">
                <a:solidFill>
                  <a:srgbClr val="002060"/>
                </a:solidFill>
                <a:cs typeface="Arial" charset="0"/>
              </a:rPr>
              <a:t> </a:t>
            </a:r>
            <a:r>
              <a:rPr lang="en-AU" sz="2600" b="0" dirty="0" err="1">
                <a:solidFill>
                  <a:srgbClr val="002060"/>
                </a:solidFill>
                <a:cs typeface="Arial" charset="0"/>
              </a:rPr>
              <a:t>một</a:t>
            </a:r>
            <a:r>
              <a:rPr lang="en-AU" sz="2600" b="0" dirty="0">
                <a:solidFill>
                  <a:srgbClr val="002060"/>
                </a:solidFill>
                <a:cs typeface="Arial" charset="0"/>
              </a:rPr>
              <a:t> </a:t>
            </a:r>
            <a:r>
              <a:rPr lang="en-AU" sz="2600" b="0" dirty="0" err="1">
                <a:solidFill>
                  <a:srgbClr val="002060"/>
                </a:solidFill>
                <a:cs typeface="Arial" charset="0"/>
              </a:rPr>
              <a:t>kiểu</a:t>
            </a:r>
            <a:r>
              <a:rPr lang="en-AU" sz="2600" b="0" dirty="0">
                <a:solidFill>
                  <a:srgbClr val="002060"/>
                </a:solidFill>
                <a:cs typeface="Arial" charset="0"/>
              </a:rPr>
              <a:t> </a:t>
            </a:r>
            <a:r>
              <a:rPr lang="en-AU" sz="2600" b="0" dirty="0" err="1">
                <a:solidFill>
                  <a:srgbClr val="002060"/>
                </a:solidFill>
                <a:cs typeface="Arial" charset="0"/>
              </a:rPr>
              <a:t>giá</a:t>
            </a:r>
            <a:r>
              <a:rPr lang="en-AU" sz="2600" b="0" dirty="0">
                <a:solidFill>
                  <a:srgbClr val="002060"/>
                </a:solidFill>
                <a:cs typeface="Arial" charset="0"/>
              </a:rPr>
              <a:t> </a:t>
            </a:r>
            <a:r>
              <a:rPr lang="en-AU" sz="2600" b="0" dirty="0" err="1">
                <a:solidFill>
                  <a:srgbClr val="002060"/>
                </a:solidFill>
                <a:cs typeface="Arial" charset="0"/>
              </a:rPr>
              <a:t>trị</a:t>
            </a:r>
            <a:r>
              <a:rPr lang="en-AU" sz="2600" b="0" dirty="0">
                <a:solidFill>
                  <a:srgbClr val="002060"/>
                </a:solidFill>
                <a:cs typeface="Arial" charset="0"/>
              </a:rPr>
              <a:t> </a:t>
            </a:r>
            <a:r>
              <a:rPr lang="en-AU" sz="2600" b="0" dirty="0" err="1">
                <a:solidFill>
                  <a:srgbClr val="002060"/>
                </a:solidFill>
                <a:cs typeface="Arial" charset="0"/>
              </a:rPr>
              <a:t>và</a:t>
            </a:r>
            <a:r>
              <a:rPr lang="en-AU" sz="2600" b="0" dirty="0">
                <a:solidFill>
                  <a:srgbClr val="002060"/>
                </a:solidFill>
                <a:cs typeface="Arial" charset="0"/>
              </a:rPr>
              <a:t> </a:t>
            </a:r>
            <a:r>
              <a:rPr lang="en-AU" sz="2600" b="0" dirty="0" err="1">
                <a:solidFill>
                  <a:srgbClr val="002060"/>
                </a:solidFill>
                <a:cs typeface="Arial" charset="0"/>
              </a:rPr>
              <a:t>có</a:t>
            </a:r>
            <a:r>
              <a:rPr lang="en-AU" sz="2600" b="0" dirty="0">
                <a:solidFill>
                  <a:srgbClr val="002060"/>
                </a:solidFill>
                <a:cs typeface="Arial" charset="0"/>
              </a:rPr>
              <a:t> </a:t>
            </a:r>
            <a:r>
              <a:rPr lang="en-AU" sz="2600" b="0" dirty="0" err="1">
                <a:solidFill>
                  <a:srgbClr val="002060"/>
                </a:solidFill>
                <a:cs typeface="Arial" charset="0"/>
              </a:rPr>
              <a:t>chung</a:t>
            </a:r>
            <a:r>
              <a:rPr lang="en-AU" sz="2600" b="0" dirty="0">
                <a:solidFill>
                  <a:srgbClr val="002060"/>
                </a:solidFill>
                <a:cs typeface="Arial" charset="0"/>
              </a:rPr>
              <a:t> </a:t>
            </a:r>
            <a:r>
              <a:rPr lang="en-AU" sz="2600" b="0" err="1">
                <a:solidFill>
                  <a:srgbClr val="002060"/>
                </a:solidFill>
                <a:cs typeface="Arial" charset="0"/>
              </a:rPr>
              <a:t>một</a:t>
            </a:r>
            <a:r>
              <a:rPr lang="en-AU" sz="2600" b="0">
                <a:solidFill>
                  <a:srgbClr val="002060"/>
                </a:solidFill>
                <a:cs typeface="Arial" charset="0"/>
              </a:rPr>
              <a:t> tên</a:t>
            </a:r>
            <a:r>
              <a:rPr lang="en-AU" sz="2600" b="0" dirty="0">
                <a:solidFill>
                  <a:srgbClr val="002060"/>
                </a:solidFill>
                <a:cs typeface="Arial" charset="0"/>
              </a:rPr>
              <a:t>.</a:t>
            </a:r>
          </a:p>
          <a:p>
            <a:pPr>
              <a:spcBef>
                <a:spcPts val="600"/>
              </a:spcBef>
              <a:spcAft>
                <a:spcPts val="600"/>
              </a:spcAft>
            </a:pPr>
            <a:r>
              <a:rPr lang="en-AU" sz="2600" b="0" dirty="0" err="1">
                <a:solidFill>
                  <a:srgbClr val="002060"/>
                </a:solidFill>
                <a:cs typeface="Arial" charset="0"/>
              </a:rPr>
              <a:t>Mỗi</a:t>
            </a:r>
            <a:r>
              <a:rPr lang="en-AU" sz="2600" b="0" dirty="0">
                <a:solidFill>
                  <a:srgbClr val="002060"/>
                </a:solidFill>
                <a:cs typeface="Arial" charset="0"/>
              </a:rPr>
              <a:t> </a:t>
            </a:r>
            <a:r>
              <a:rPr lang="en-AU" sz="2600" b="0" dirty="0" err="1">
                <a:solidFill>
                  <a:srgbClr val="002060"/>
                </a:solidFill>
                <a:cs typeface="Arial" charset="0"/>
              </a:rPr>
              <a:t>phần</a:t>
            </a:r>
            <a:r>
              <a:rPr lang="en-AU" sz="2600" b="0" dirty="0">
                <a:solidFill>
                  <a:srgbClr val="002060"/>
                </a:solidFill>
                <a:cs typeface="Arial" charset="0"/>
              </a:rPr>
              <a:t> </a:t>
            </a:r>
            <a:r>
              <a:rPr lang="en-AU" sz="2600" b="0" dirty="0" err="1">
                <a:solidFill>
                  <a:srgbClr val="002060"/>
                </a:solidFill>
                <a:cs typeface="Arial" charset="0"/>
              </a:rPr>
              <a:t>tử</a:t>
            </a:r>
            <a:r>
              <a:rPr lang="en-AU" sz="2600" b="0" dirty="0">
                <a:solidFill>
                  <a:srgbClr val="002060"/>
                </a:solidFill>
                <a:cs typeface="Arial" charset="0"/>
              </a:rPr>
              <a:t> </a:t>
            </a:r>
            <a:r>
              <a:rPr lang="en-AU" sz="2600" b="0" dirty="0" err="1">
                <a:solidFill>
                  <a:srgbClr val="002060"/>
                </a:solidFill>
                <a:cs typeface="Arial" charset="0"/>
              </a:rPr>
              <a:t>của</a:t>
            </a:r>
            <a:r>
              <a:rPr lang="en-AU" sz="2600" b="0" dirty="0">
                <a:solidFill>
                  <a:srgbClr val="002060"/>
                </a:solidFill>
                <a:cs typeface="Arial" charset="0"/>
              </a:rPr>
              <a:t> </a:t>
            </a:r>
            <a:r>
              <a:rPr lang="en-AU" sz="2600" b="0" dirty="0" err="1">
                <a:solidFill>
                  <a:srgbClr val="002060"/>
                </a:solidFill>
                <a:cs typeface="Arial" charset="0"/>
              </a:rPr>
              <a:t>mảng</a:t>
            </a:r>
            <a:r>
              <a:rPr lang="en-AU" sz="2600" b="0" dirty="0">
                <a:solidFill>
                  <a:srgbClr val="002060"/>
                </a:solidFill>
                <a:cs typeface="Arial" charset="0"/>
              </a:rPr>
              <a:t> </a:t>
            </a:r>
            <a:r>
              <a:rPr lang="en-AU" sz="2600" b="0" dirty="0" err="1">
                <a:solidFill>
                  <a:srgbClr val="002060"/>
                </a:solidFill>
                <a:cs typeface="Arial" charset="0"/>
              </a:rPr>
              <a:t>có</a:t>
            </a:r>
            <a:r>
              <a:rPr lang="en-AU" sz="2600" b="0" dirty="0">
                <a:solidFill>
                  <a:srgbClr val="002060"/>
                </a:solidFill>
                <a:cs typeface="Arial" charset="0"/>
              </a:rPr>
              <a:t> </a:t>
            </a:r>
            <a:r>
              <a:rPr lang="en-AU" sz="2600" b="0" dirty="0" err="1">
                <a:solidFill>
                  <a:srgbClr val="002060"/>
                </a:solidFill>
                <a:cs typeface="Arial" charset="0"/>
              </a:rPr>
              <a:t>vai</a:t>
            </a:r>
            <a:r>
              <a:rPr lang="en-AU" sz="2600" b="0" dirty="0">
                <a:solidFill>
                  <a:srgbClr val="002060"/>
                </a:solidFill>
                <a:cs typeface="Arial" charset="0"/>
              </a:rPr>
              <a:t> </a:t>
            </a:r>
            <a:r>
              <a:rPr lang="en-AU" sz="2600" b="0" dirty="0" err="1">
                <a:solidFill>
                  <a:srgbClr val="002060"/>
                </a:solidFill>
                <a:cs typeface="Arial" charset="0"/>
              </a:rPr>
              <a:t>trò</a:t>
            </a:r>
            <a:r>
              <a:rPr lang="en-AU" sz="2600" b="0" dirty="0">
                <a:solidFill>
                  <a:srgbClr val="002060"/>
                </a:solidFill>
                <a:cs typeface="Arial" charset="0"/>
              </a:rPr>
              <a:t> </a:t>
            </a:r>
            <a:r>
              <a:rPr lang="en-AU" sz="2600" b="0" dirty="0" err="1">
                <a:solidFill>
                  <a:srgbClr val="002060"/>
                </a:solidFill>
                <a:cs typeface="Arial" charset="0"/>
              </a:rPr>
              <a:t>như</a:t>
            </a:r>
            <a:r>
              <a:rPr lang="en-AU" sz="2600" b="0" dirty="0">
                <a:solidFill>
                  <a:srgbClr val="002060"/>
                </a:solidFill>
                <a:cs typeface="Arial" charset="0"/>
              </a:rPr>
              <a:t> </a:t>
            </a:r>
            <a:r>
              <a:rPr lang="en-AU" sz="2600" b="0" dirty="0" err="1">
                <a:solidFill>
                  <a:srgbClr val="002060"/>
                </a:solidFill>
                <a:cs typeface="Arial" charset="0"/>
              </a:rPr>
              <a:t>một</a:t>
            </a:r>
            <a:r>
              <a:rPr lang="en-AU" sz="2600" b="0" dirty="0">
                <a:solidFill>
                  <a:srgbClr val="002060"/>
                </a:solidFill>
                <a:cs typeface="Arial" charset="0"/>
              </a:rPr>
              <a:t> </a:t>
            </a:r>
            <a:r>
              <a:rPr lang="en-AU" sz="2600" b="0" dirty="0" err="1">
                <a:solidFill>
                  <a:srgbClr val="002060"/>
                </a:solidFill>
                <a:cs typeface="Arial" charset="0"/>
              </a:rPr>
              <a:t>biến</a:t>
            </a:r>
            <a:r>
              <a:rPr lang="en-AU" sz="2600" b="0" dirty="0">
                <a:solidFill>
                  <a:srgbClr val="002060"/>
                </a:solidFill>
                <a:cs typeface="Arial" charset="0"/>
              </a:rPr>
              <a:t> </a:t>
            </a:r>
            <a:r>
              <a:rPr lang="en-AU" sz="2600" b="0" dirty="0" err="1">
                <a:solidFill>
                  <a:srgbClr val="002060"/>
                </a:solidFill>
                <a:cs typeface="Arial" charset="0"/>
              </a:rPr>
              <a:t>và</a:t>
            </a:r>
            <a:r>
              <a:rPr lang="en-AU" sz="2600" b="0" dirty="0">
                <a:solidFill>
                  <a:srgbClr val="002060"/>
                </a:solidFill>
                <a:cs typeface="Arial" charset="0"/>
              </a:rPr>
              <a:t> </a:t>
            </a:r>
            <a:r>
              <a:rPr lang="en-AU" sz="2600" b="0" dirty="0" err="1">
                <a:solidFill>
                  <a:srgbClr val="002060"/>
                </a:solidFill>
                <a:cs typeface="Arial" charset="0"/>
              </a:rPr>
              <a:t>chứa</a:t>
            </a:r>
            <a:r>
              <a:rPr lang="en-AU" sz="2600" b="0" dirty="0">
                <a:solidFill>
                  <a:srgbClr val="002060"/>
                </a:solidFill>
                <a:cs typeface="Arial" charset="0"/>
              </a:rPr>
              <a:t> </a:t>
            </a:r>
            <a:r>
              <a:rPr lang="en-AU" sz="2600" b="0" dirty="0" err="1">
                <a:solidFill>
                  <a:srgbClr val="002060"/>
                </a:solidFill>
                <a:cs typeface="Arial" charset="0"/>
              </a:rPr>
              <a:t>được</a:t>
            </a:r>
            <a:r>
              <a:rPr lang="en-AU" sz="2600" b="0" dirty="0">
                <a:solidFill>
                  <a:srgbClr val="002060"/>
                </a:solidFill>
                <a:cs typeface="Arial" charset="0"/>
              </a:rPr>
              <a:t> </a:t>
            </a:r>
            <a:r>
              <a:rPr lang="en-AU" sz="2600" b="0" dirty="0" err="1">
                <a:solidFill>
                  <a:srgbClr val="002060"/>
                </a:solidFill>
                <a:cs typeface="Arial" charset="0"/>
              </a:rPr>
              <a:t>một</a:t>
            </a:r>
            <a:r>
              <a:rPr lang="en-AU" sz="2600" b="0" dirty="0">
                <a:solidFill>
                  <a:srgbClr val="002060"/>
                </a:solidFill>
                <a:cs typeface="Arial" charset="0"/>
              </a:rPr>
              <a:t> </a:t>
            </a:r>
            <a:r>
              <a:rPr lang="en-AU" sz="2600" b="0" dirty="0" err="1">
                <a:solidFill>
                  <a:srgbClr val="002060"/>
                </a:solidFill>
                <a:cs typeface="Arial" charset="0"/>
              </a:rPr>
              <a:t>giá</a:t>
            </a:r>
            <a:r>
              <a:rPr lang="en-AU" sz="2600" b="0" dirty="0">
                <a:solidFill>
                  <a:srgbClr val="002060"/>
                </a:solidFill>
                <a:cs typeface="Arial" charset="0"/>
              </a:rPr>
              <a:t> </a:t>
            </a:r>
            <a:r>
              <a:rPr lang="en-AU" sz="2600" b="0" dirty="0" err="1">
                <a:solidFill>
                  <a:srgbClr val="002060"/>
                </a:solidFill>
                <a:cs typeface="Arial" charset="0"/>
              </a:rPr>
              <a:t>trị</a:t>
            </a:r>
            <a:endParaRPr lang="vi-VN" sz="2600" b="0" dirty="0">
              <a:solidFill>
                <a:srgbClr val="002060"/>
              </a:solidFill>
              <a:cs typeface="Arial" charset="0"/>
            </a:endParaRPr>
          </a:p>
          <a:p>
            <a:pPr>
              <a:spcBef>
                <a:spcPts val="600"/>
              </a:spcBef>
              <a:spcAft>
                <a:spcPts val="600"/>
              </a:spcAft>
            </a:pPr>
            <a:r>
              <a:rPr lang="en-AU" sz="2600" b="0" dirty="0" err="1">
                <a:solidFill>
                  <a:srgbClr val="002060"/>
                </a:solidFill>
                <a:cs typeface="Arial" charset="0"/>
              </a:rPr>
              <a:t>Mảng</a:t>
            </a:r>
            <a:r>
              <a:rPr lang="en-AU" sz="2600" b="0" dirty="0">
                <a:solidFill>
                  <a:srgbClr val="002060"/>
                </a:solidFill>
                <a:cs typeface="Arial" charset="0"/>
              </a:rPr>
              <a:t> </a:t>
            </a:r>
            <a:r>
              <a:rPr lang="en-AU" sz="2600" b="0" dirty="0" err="1">
                <a:solidFill>
                  <a:srgbClr val="002060"/>
                </a:solidFill>
                <a:cs typeface="Arial" charset="0"/>
              </a:rPr>
              <a:t>cần</a:t>
            </a:r>
            <a:r>
              <a:rPr lang="en-AU" sz="2600" b="0" dirty="0">
                <a:solidFill>
                  <a:srgbClr val="002060"/>
                </a:solidFill>
                <a:cs typeface="Arial" charset="0"/>
              </a:rPr>
              <a:t> </a:t>
            </a:r>
            <a:r>
              <a:rPr lang="en-AU" sz="2600" b="0" dirty="0" err="1">
                <a:solidFill>
                  <a:srgbClr val="002060"/>
                </a:solidFill>
                <a:cs typeface="Arial" charset="0"/>
              </a:rPr>
              <a:t>được</a:t>
            </a:r>
            <a:r>
              <a:rPr lang="en-AU" sz="2600" b="0" dirty="0">
                <a:solidFill>
                  <a:srgbClr val="002060"/>
                </a:solidFill>
                <a:cs typeface="Arial" charset="0"/>
              </a:rPr>
              <a:t> </a:t>
            </a:r>
            <a:r>
              <a:rPr lang="en-AU" sz="2600" b="0" dirty="0" err="1">
                <a:solidFill>
                  <a:srgbClr val="002060"/>
                </a:solidFill>
                <a:cs typeface="Arial" charset="0"/>
              </a:rPr>
              <a:t>khai</a:t>
            </a:r>
            <a:r>
              <a:rPr lang="en-AU" sz="2600" b="0" dirty="0">
                <a:solidFill>
                  <a:srgbClr val="002060"/>
                </a:solidFill>
                <a:cs typeface="Arial" charset="0"/>
              </a:rPr>
              <a:t> </a:t>
            </a:r>
            <a:r>
              <a:rPr lang="en-AU" sz="2600" b="0" dirty="0" err="1">
                <a:solidFill>
                  <a:srgbClr val="002060"/>
                </a:solidFill>
                <a:cs typeface="Arial" charset="0"/>
              </a:rPr>
              <a:t>báo</a:t>
            </a:r>
            <a:r>
              <a:rPr lang="en-AU" sz="2600" b="0" dirty="0">
                <a:solidFill>
                  <a:srgbClr val="002060"/>
                </a:solidFill>
                <a:cs typeface="Arial" charset="0"/>
              </a:rPr>
              <a:t> </a:t>
            </a:r>
            <a:r>
              <a:rPr lang="en-AU" sz="2600" b="0" dirty="0" err="1">
                <a:solidFill>
                  <a:srgbClr val="002060"/>
                </a:solidFill>
                <a:cs typeface="Arial" charset="0"/>
              </a:rPr>
              <a:t>để</a:t>
            </a:r>
            <a:r>
              <a:rPr lang="en-AU" sz="2600" b="0" dirty="0">
                <a:solidFill>
                  <a:srgbClr val="002060"/>
                </a:solidFill>
                <a:cs typeface="Arial" charset="0"/>
              </a:rPr>
              <a:t> </a:t>
            </a:r>
            <a:r>
              <a:rPr lang="en-AU" sz="2600" b="0" dirty="0" err="1">
                <a:solidFill>
                  <a:srgbClr val="002060"/>
                </a:solidFill>
                <a:cs typeface="Arial" charset="0"/>
              </a:rPr>
              <a:t>định</a:t>
            </a:r>
            <a:r>
              <a:rPr lang="en-AU" sz="2600" b="0" dirty="0">
                <a:solidFill>
                  <a:srgbClr val="002060"/>
                </a:solidFill>
                <a:cs typeface="Arial" charset="0"/>
              </a:rPr>
              <a:t> </a:t>
            </a:r>
            <a:r>
              <a:rPr lang="en-AU" sz="2600" b="0" dirty="0" err="1">
                <a:solidFill>
                  <a:srgbClr val="002060"/>
                </a:solidFill>
                <a:cs typeface="Arial" charset="0"/>
              </a:rPr>
              <a:t>rõ</a:t>
            </a:r>
            <a:r>
              <a:rPr lang="en-AU" sz="2600" b="0" dirty="0">
                <a:solidFill>
                  <a:srgbClr val="002060"/>
                </a:solidFill>
                <a:cs typeface="Arial" charset="0"/>
              </a:rPr>
              <a:t>:</a:t>
            </a:r>
          </a:p>
          <a:p>
            <a:pPr lvl="1">
              <a:spcBef>
                <a:spcPts val="600"/>
              </a:spcBef>
              <a:spcAft>
                <a:spcPts val="600"/>
              </a:spcAft>
            </a:pPr>
            <a:r>
              <a:rPr lang="en-AU" sz="2400" dirty="0" err="1">
                <a:solidFill>
                  <a:srgbClr val="002060"/>
                </a:solidFill>
                <a:cs typeface="Arial" charset="0"/>
              </a:rPr>
              <a:t>Kiểu</a:t>
            </a:r>
            <a:r>
              <a:rPr lang="en-AU" sz="2400" dirty="0">
                <a:solidFill>
                  <a:srgbClr val="002060"/>
                </a:solidFill>
                <a:cs typeface="Arial" charset="0"/>
              </a:rPr>
              <a:t> </a:t>
            </a:r>
            <a:r>
              <a:rPr lang="en-AU" sz="2400" dirty="0" err="1">
                <a:solidFill>
                  <a:srgbClr val="002060"/>
                </a:solidFill>
                <a:cs typeface="Arial" charset="0"/>
              </a:rPr>
              <a:t>mảng</a:t>
            </a:r>
            <a:r>
              <a:rPr lang="en-AU" sz="2400" dirty="0">
                <a:solidFill>
                  <a:srgbClr val="002060"/>
                </a:solidFill>
                <a:cs typeface="Arial" charset="0"/>
              </a:rPr>
              <a:t> (int, float, double, …)</a:t>
            </a:r>
          </a:p>
          <a:p>
            <a:pPr lvl="1">
              <a:spcBef>
                <a:spcPts val="600"/>
              </a:spcBef>
              <a:spcAft>
                <a:spcPts val="600"/>
              </a:spcAft>
            </a:pPr>
            <a:r>
              <a:rPr lang="en-AU" sz="2400" b="0" dirty="0" err="1">
                <a:solidFill>
                  <a:srgbClr val="002060"/>
                </a:solidFill>
                <a:cs typeface="Arial" charset="0"/>
              </a:rPr>
              <a:t>T</a:t>
            </a:r>
            <a:r>
              <a:rPr lang="en-AU" sz="2400" dirty="0" err="1">
                <a:solidFill>
                  <a:srgbClr val="002060"/>
                </a:solidFill>
                <a:cs typeface="Arial" charset="0"/>
              </a:rPr>
              <a:t>ên</a:t>
            </a:r>
            <a:r>
              <a:rPr lang="en-AU" sz="2400" dirty="0">
                <a:solidFill>
                  <a:srgbClr val="002060"/>
                </a:solidFill>
                <a:cs typeface="Arial" charset="0"/>
              </a:rPr>
              <a:t> </a:t>
            </a:r>
            <a:r>
              <a:rPr lang="en-AU" sz="2400" dirty="0" err="1">
                <a:solidFill>
                  <a:srgbClr val="002060"/>
                </a:solidFill>
                <a:cs typeface="Arial" charset="0"/>
              </a:rPr>
              <a:t>mảng</a:t>
            </a:r>
            <a:endParaRPr lang="en-AU" sz="2400" dirty="0">
              <a:solidFill>
                <a:srgbClr val="002060"/>
              </a:solidFill>
              <a:cs typeface="Arial" charset="0"/>
            </a:endParaRPr>
          </a:p>
          <a:p>
            <a:pPr lvl="1">
              <a:spcBef>
                <a:spcPts val="600"/>
              </a:spcBef>
              <a:spcAft>
                <a:spcPts val="600"/>
              </a:spcAft>
            </a:pPr>
            <a:r>
              <a:rPr lang="en-AU" sz="2400" b="0" dirty="0" err="1">
                <a:solidFill>
                  <a:srgbClr val="002060"/>
                </a:solidFill>
                <a:cs typeface="Arial" charset="0"/>
              </a:rPr>
              <a:t>Số</a:t>
            </a:r>
            <a:r>
              <a:rPr lang="en-AU" sz="2400" b="0" dirty="0">
                <a:solidFill>
                  <a:srgbClr val="002060"/>
                </a:solidFill>
                <a:cs typeface="Arial" charset="0"/>
              </a:rPr>
              <a:t> </a:t>
            </a:r>
            <a:r>
              <a:rPr lang="en-AU" sz="2400" b="0" dirty="0" err="1">
                <a:solidFill>
                  <a:srgbClr val="002060"/>
                </a:solidFill>
                <a:cs typeface="Arial" charset="0"/>
              </a:rPr>
              <a:t>chiều</a:t>
            </a:r>
            <a:r>
              <a:rPr lang="en-AU" sz="2400" b="0" dirty="0">
                <a:solidFill>
                  <a:srgbClr val="002060"/>
                </a:solidFill>
                <a:cs typeface="Arial" charset="0"/>
              </a:rPr>
              <a:t> </a:t>
            </a:r>
            <a:r>
              <a:rPr lang="en-AU" sz="2400" b="0" dirty="0" err="1">
                <a:solidFill>
                  <a:srgbClr val="002060"/>
                </a:solidFill>
                <a:cs typeface="Arial" charset="0"/>
              </a:rPr>
              <a:t>và</a:t>
            </a:r>
            <a:r>
              <a:rPr lang="en-AU" sz="2400" b="0" dirty="0">
                <a:solidFill>
                  <a:srgbClr val="002060"/>
                </a:solidFill>
                <a:cs typeface="Arial" charset="0"/>
              </a:rPr>
              <a:t> </a:t>
            </a:r>
            <a:r>
              <a:rPr lang="en-AU" sz="2400" b="0" dirty="0" err="1">
                <a:solidFill>
                  <a:srgbClr val="002060"/>
                </a:solidFill>
                <a:cs typeface="Arial" charset="0"/>
              </a:rPr>
              <a:t>chiều</a:t>
            </a:r>
            <a:r>
              <a:rPr lang="en-AU" sz="2400" b="0" dirty="0">
                <a:solidFill>
                  <a:srgbClr val="002060"/>
                </a:solidFill>
                <a:cs typeface="Arial" charset="0"/>
              </a:rPr>
              <a:t> </a:t>
            </a:r>
            <a:r>
              <a:rPr lang="en-AU" sz="2400" b="0" dirty="0" err="1">
                <a:solidFill>
                  <a:srgbClr val="002060"/>
                </a:solidFill>
                <a:cs typeface="Arial" charset="0"/>
              </a:rPr>
              <a:t>kích</a:t>
            </a:r>
            <a:r>
              <a:rPr lang="en-AU" sz="2400" b="0" dirty="0">
                <a:solidFill>
                  <a:srgbClr val="002060"/>
                </a:solidFill>
                <a:cs typeface="Arial" charset="0"/>
              </a:rPr>
              <a:t> </a:t>
            </a:r>
            <a:r>
              <a:rPr lang="en-AU" sz="2400" b="0" dirty="0" err="1">
                <a:solidFill>
                  <a:srgbClr val="002060"/>
                </a:solidFill>
                <a:cs typeface="Arial" charset="0"/>
              </a:rPr>
              <a:t>thước</a:t>
            </a:r>
            <a:r>
              <a:rPr lang="en-AU" sz="2400" b="0" dirty="0">
                <a:solidFill>
                  <a:srgbClr val="002060"/>
                </a:solidFill>
                <a:cs typeface="Arial" charset="0"/>
              </a:rPr>
              <a:t> </a:t>
            </a:r>
            <a:r>
              <a:rPr lang="en-AU" sz="2400" b="0" dirty="0" err="1">
                <a:solidFill>
                  <a:srgbClr val="002060"/>
                </a:solidFill>
                <a:cs typeface="Arial" charset="0"/>
              </a:rPr>
              <a:t>mỗi</a:t>
            </a:r>
            <a:r>
              <a:rPr lang="en-AU" sz="2400" b="0" dirty="0">
                <a:solidFill>
                  <a:srgbClr val="002060"/>
                </a:solidFill>
                <a:cs typeface="Arial" charset="0"/>
              </a:rPr>
              <a:t> </a:t>
            </a:r>
            <a:r>
              <a:rPr lang="en-AU" sz="2400" b="0" dirty="0" err="1">
                <a:solidFill>
                  <a:srgbClr val="002060"/>
                </a:solidFill>
                <a:cs typeface="Arial" charset="0"/>
              </a:rPr>
              <a:t>chiều</a:t>
            </a:r>
            <a:endParaRPr lang="en-AU" sz="2400" b="0" dirty="0">
              <a:solidFill>
                <a:srgbClr val="002060"/>
              </a:solidFill>
              <a:cs typeface="Arial" charset="0"/>
            </a:endParaRPr>
          </a:p>
          <a:p>
            <a:pPr lvl="1">
              <a:spcBef>
                <a:spcPts val="600"/>
              </a:spcBef>
              <a:spcAft>
                <a:spcPts val="600"/>
              </a:spcAft>
            </a:pPr>
            <a:r>
              <a:rPr lang="en-AU" sz="2400" dirty="0" err="1">
                <a:solidFill>
                  <a:srgbClr val="002060"/>
                </a:solidFill>
                <a:cs typeface="Arial" charset="0"/>
              </a:rPr>
              <a:t>Mẫu</a:t>
            </a:r>
            <a:r>
              <a:rPr lang="en-AU" sz="2400" dirty="0">
                <a:solidFill>
                  <a:srgbClr val="002060"/>
                </a:solidFill>
                <a:cs typeface="Arial" charset="0"/>
              </a:rPr>
              <a:t> </a:t>
            </a:r>
            <a:r>
              <a:rPr lang="en-AU" sz="2400" dirty="0" err="1">
                <a:solidFill>
                  <a:srgbClr val="002060"/>
                </a:solidFill>
                <a:cs typeface="Arial" charset="0"/>
              </a:rPr>
              <a:t>khai</a:t>
            </a:r>
            <a:r>
              <a:rPr lang="en-AU" sz="2400" dirty="0">
                <a:solidFill>
                  <a:srgbClr val="002060"/>
                </a:solidFill>
                <a:cs typeface="Arial" charset="0"/>
              </a:rPr>
              <a:t> </a:t>
            </a:r>
            <a:r>
              <a:rPr lang="en-AU" sz="2400" dirty="0" err="1">
                <a:solidFill>
                  <a:srgbClr val="002060"/>
                </a:solidFill>
                <a:cs typeface="Arial" charset="0"/>
              </a:rPr>
              <a:t>báo</a:t>
            </a:r>
            <a:r>
              <a:rPr lang="en-AU" sz="2400" dirty="0">
                <a:solidFill>
                  <a:srgbClr val="002060"/>
                </a:solidFill>
                <a:cs typeface="Arial" charset="0"/>
              </a:rPr>
              <a:t> </a:t>
            </a:r>
            <a:r>
              <a:rPr lang="en-AU" sz="2400" dirty="0" err="1">
                <a:solidFill>
                  <a:srgbClr val="002060"/>
                </a:solidFill>
                <a:cs typeface="Arial" charset="0"/>
              </a:rPr>
              <a:t>của</a:t>
            </a:r>
            <a:r>
              <a:rPr lang="en-AU" sz="2400" dirty="0">
                <a:solidFill>
                  <a:srgbClr val="002060"/>
                </a:solidFill>
                <a:cs typeface="Arial" charset="0"/>
              </a:rPr>
              <a:t> </a:t>
            </a:r>
            <a:r>
              <a:rPr lang="en-AU" sz="2400" dirty="0" err="1">
                <a:solidFill>
                  <a:srgbClr val="002060"/>
                </a:solidFill>
                <a:cs typeface="Arial" charset="0"/>
              </a:rPr>
              <a:t>mảng</a:t>
            </a:r>
            <a:r>
              <a:rPr lang="en-AU" sz="2400" dirty="0">
                <a:solidFill>
                  <a:srgbClr val="002060"/>
                </a:solidFill>
                <a:cs typeface="Arial" charset="0"/>
              </a:rPr>
              <a:t>:</a:t>
            </a:r>
          </a:p>
          <a:p>
            <a:pPr marL="914400" lvl="2" indent="0">
              <a:spcBef>
                <a:spcPts val="600"/>
              </a:spcBef>
              <a:spcAft>
                <a:spcPts val="600"/>
              </a:spcAft>
              <a:buNone/>
            </a:pPr>
            <a:r>
              <a:rPr lang="en-US" sz="2600" b="1" i="1" dirty="0">
                <a:solidFill>
                  <a:srgbClr val="002060"/>
                </a:solidFill>
                <a:cs typeface="Arial" charset="0"/>
              </a:rPr>
              <a:t>	</a:t>
            </a:r>
            <a:r>
              <a:rPr lang="en-US" sz="2600" b="1" i="1" dirty="0">
                <a:cs typeface="Arial" charset="0"/>
              </a:rPr>
              <a:t>&lt;</a:t>
            </a:r>
            <a:r>
              <a:rPr lang="en-US" sz="2600" b="1" i="1" dirty="0" err="1">
                <a:cs typeface="Arial" charset="0"/>
              </a:rPr>
              <a:t>Kiểu</a:t>
            </a:r>
            <a:r>
              <a:rPr lang="en-US" sz="2600" b="1" i="1" dirty="0">
                <a:cs typeface="Arial" charset="0"/>
              </a:rPr>
              <a:t> </a:t>
            </a:r>
            <a:r>
              <a:rPr lang="en-US" sz="2600" b="1" i="1" dirty="0" err="1">
                <a:cs typeface="Arial" charset="0"/>
              </a:rPr>
              <a:t>dữ</a:t>
            </a:r>
            <a:r>
              <a:rPr lang="en-US" sz="2600" b="1" i="1" dirty="0">
                <a:cs typeface="Arial" charset="0"/>
              </a:rPr>
              <a:t> </a:t>
            </a:r>
            <a:r>
              <a:rPr lang="en-US" sz="2600" b="1" i="1" dirty="0" err="1">
                <a:cs typeface="Arial" charset="0"/>
              </a:rPr>
              <a:t>liệu</a:t>
            </a:r>
            <a:r>
              <a:rPr lang="en-US" sz="2600" b="1" i="1" dirty="0">
                <a:cs typeface="Arial" charset="0"/>
              </a:rPr>
              <a:t>&gt; </a:t>
            </a:r>
            <a:r>
              <a:rPr lang="en-US" sz="2600" b="1" i="1" dirty="0">
                <a:solidFill>
                  <a:srgbClr val="FF0000"/>
                </a:solidFill>
                <a:cs typeface="Arial" charset="0"/>
              </a:rPr>
              <a:t>&lt;</a:t>
            </a:r>
            <a:r>
              <a:rPr lang="en-US" sz="2600" b="1" i="1" dirty="0" err="1">
                <a:solidFill>
                  <a:srgbClr val="C00000"/>
                </a:solidFill>
                <a:cs typeface="Arial" charset="0"/>
              </a:rPr>
              <a:t>tên_mảng</a:t>
            </a:r>
            <a:r>
              <a:rPr lang="en-US" sz="2600" b="1" i="1" dirty="0">
                <a:solidFill>
                  <a:srgbClr val="FF0000"/>
                </a:solidFill>
                <a:cs typeface="Arial" charset="0"/>
              </a:rPr>
              <a:t>&gt;</a:t>
            </a:r>
            <a:r>
              <a:rPr lang="en-US" sz="2600" b="1" i="1" dirty="0">
                <a:solidFill>
                  <a:srgbClr val="00B050"/>
                </a:solidFill>
                <a:cs typeface="Arial" charset="0"/>
              </a:rPr>
              <a:t>[</a:t>
            </a:r>
            <a:r>
              <a:rPr lang="en-US" sz="2600" b="1" i="1" dirty="0" err="1">
                <a:solidFill>
                  <a:srgbClr val="00B050"/>
                </a:solidFill>
                <a:cs typeface="Arial" charset="0"/>
              </a:rPr>
              <a:t>kích</a:t>
            </a:r>
            <a:r>
              <a:rPr lang="en-US" sz="2600" b="1" i="1" dirty="0">
                <a:solidFill>
                  <a:srgbClr val="00B050"/>
                </a:solidFill>
                <a:cs typeface="Arial" charset="0"/>
              </a:rPr>
              <a:t> </a:t>
            </a:r>
            <a:r>
              <a:rPr lang="en-US" sz="2600" b="1" i="1" err="1">
                <a:solidFill>
                  <a:srgbClr val="00B050"/>
                </a:solidFill>
                <a:cs typeface="Arial" charset="0"/>
              </a:rPr>
              <a:t>thước</a:t>
            </a:r>
            <a:r>
              <a:rPr lang="en-US" sz="2600" b="1" i="1">
                <a:solidFill>
                  <a:srgbClr val="00B050"/>
                </a:solidFill>
                <a:cs typeface="Arial" charset="0"/>
              </a:rPr>
              <a:t>];</a:t>
            </a:r>
            <a:endParaRPr lang="en-US" sz="2600" b="1" i="1" dirty="0">
              <a:solidFill>
                <a:srgbClr val="00B050"/>
              </a:solidFill>
              <a:cs typeface="Arial" charset="0"/>
            </a:endParaRPr>
          </a:p>
          <a:p>
            <a:pPr marL="914400" lvl="2" indent="0">
              <a:spcBef>
                <a:spcPts val="600"/>
              </a:spcBef>
              <a:spcAft>
                <a:spcPts val="600"/>
              </a:spcAft>
              <a:buNone/>
            </a:pPr>
            <a:r>
              <a:rPr lang="en-US" sz="2600" b="1" i="1" dirty="0">
                <a:solidFill>
                  <a:srgbClr val="FF0000"/>
                </a:solidFill>
                <a:cs typeface="Arial" charset="0"/>
              </a:rPr>
              <a:t>	</a:t>
            </a:r>
            <a:r>
              <a:rPr lang="en-US" sz="2600" b="1" i="1" dirty="0">
                <a:cs typeface="Arial" charset="0"/>
              </a:rPr>
              <a:t>&lt;</a:t>
            </a:r>
            <a:r>
              <a:rPr lang="en-US" sz="2600" b="1" i="1" dirty="0" err="1">
                <a:cs typeface="Arial" charset="0"/>
              </a:rPr>
              <a:t>Kiểu</a:t>
            </a:r>
            <a:r>
              <a:rPr lang="en-US" sz="2600" b="1" i="1" dirty="0">
                <a:cs typeface="Arial" charset="0"/>
              </a:rPr>
              <a:t> </a:t>
            </a:r>
            <a:r>
              <a:rPr lang="en-US" sz="2600" b="1" i="1" dirty="0" err="1">
                <a:cs typeface="Arial" charset="0"/>
              </a:rPr>
              <a:t>dữ</a:t>
            </a:r>
            <a:r>
              <a:rPr lang="en-US" sz="2600" b="1" i="1" dirty="0">
                <a:cs typeface="Arial" charset="0"/>
              </a:rPr>
              <a:t> </a:t>
            </a:r>
            <a:r>
              <a:rPr lang="en-US" sz="2600" b="1" i="1" dirty="0" err="1">
                <a:cs typeface="Arial" charset="0"/>
              </a:rPr>
              <a:t>liệu</a:t>
            </a:r>
            <a:r>
              <a:rPr lang="en-US" sz="2600" b="1" i="1" dirty="0">
                <a:cs typeface="Arial" charset="0"/>
              </a:rPr>
              <a:t>&gt; </a:t>
            </a:r>
            <a:r>
              <a:rPr lang="en-US" sz="2600" b="1" i="1" dirty="0">
                <a:solidFill>
                  <a:srgbClr val="FF0000"/>
                </a:solidFill>
                <a:cs typeface="Arial" charset="0"/>
              </a:rPr>
              <a:t>&lt;</a:t>
            </a:r>
            <a:r>
              <a:rPr lang="en-US" sz="2600" b="1" i="1" dirty="0" err="1">
                <a:solidFill>
                  <a:srgbClr val="C00000"/>
                </a:solidFill>
                <a:cs typeface="Arial" charset="0"/>
              </a:rPr>
              <a:t>tên_mảng</a:t>
            </a:r>
            <a:r>
              <a:rPr lang="en-US" sz="2600" b="1" i="1" dirty="0">
                <a:solidFill>
                  <a:srgbClr val="FF0000"/>
                </a:solidFill>
                <a:cs typeface="Arial" charset="0"/>
              </a:rPr>
              <a:t>&gt;</a:t>
            </a:r>
            <a:r>
              <a:rPr lang="en-US" sz="2600" b="1" i="1" dirty="0">
                <a:solidFill>
                  <a:srgbClr val="00B050"/>
                </a:solidFill>
                <a:cs typeface="Arial" charset="0"/>
              </a:rPr>
              <a:t>[</a:t>
            </a:r>
            <a:r>
              <a:rPr lang="en-US" sz="2600" b="1" i="1" dirty="0" err="1">
                <a:solidFill>
                  <a:srgbClr val="00B050"/>
                </a:solidFill>
                <a:cs typeface="Arial" charset="0"/>
              </a:rPr>
              <a:t>kích</a:t>
            </a:r>
            <a:r>
              <a:rPr lang="en-US" sz="2600" b="1" i="1" dirty="0">
                <a:solidFill>
                  <a:srgbClr val="00B050"/>
                </a:solidFill>
                <a:cs typeface="Arial" charset="0"/>
              </a:rPr>
              <a:t> </a:t>
            </a:r>
            <a:r>
              <a:rPr lang="en-US" sz="2600" b="1" i="1" dirty="0" err="1">
                <a:solidFill>
                  <a:srgbClr val="00B050"/>
                </a:solidFill>
                <a:cs typeface="Arial" charset="0"/>
              </a:rPr>
              <a:t>thước</a:t>
            </a:r>
            <a:r>
              <a:rPr lang="en-US" sz="2600" b="1" i="1" dirty="0">
                <a:solidFill>
                  <a:srgbClr val="00B050"/>
                </a:solidFill>
                <a:cs typeface="Arial" charset="0"/>
              </a:rPr>
              <a:t> 1][</a:t>
            </a:r>
            <a:r>
              <a:rPr lang="en-US" sz="2600" b="1" i="1" dirty="0" err="1">
                <a:solidFill>
                  <a:srgbClr val="00B050"/>
                </a:solidFill>
                <a:cs typeface="Arial" charset="0"/>
              </a:rPr>
              <a:t>kích</a:t>
            </a:r>
            <a:r>
              <a:rPr lang="en-US" sz="2600" b="1" i="1" dirty="0">
                <a:solidFill>
                  <a:srgbClr val="00B050"/>
                </a:solidFill>
                <a:cs typeface="Arial" charset="0"/>
              </a:rPr>
              <a:t> </a:t>
            </a:r>
            <a:r>
              <a:rPr lang="en-US" sz="2600" b="1" i="1" dirty="0" err="1">
                <a:solidFill>
                  <a:srgbClr val="00B050"/>
                </a:solidFill>
                <a:cs typeface="Arial" charset="0"/>
              </a:rPr>
              <a:t>thước</a:t>
            </a:r>
            <a:r>
              <a:rPr lang="en-US" sz="2600" b="1" i="1" dirty="0">
                <a:solidFill>
                  <a:srgbClr val="00B050"/>
                </a:solidFill>
                <a:cs typeface="Arial" charset="0"/>
              </a:rPr>
              <a:t> </a:t>
            </a:r>
            <a:r>
              <a:rPr lang="en-US" sz="2600" b="1" i="1">
                <a:solidFill>
                  <a:srgbClr val="00B050"/>
                </a:solidFill>
                <a:cs typeface="Arial" charset="0"/>
              </a:rPr>
              <a:t>2];</a:t>
            </a:r>
            <a:r>
              <a:rPr lang="en-US" sz="2600" b="1" i="1" dirty="0">
                <a:solidFill>
                  <a:srgbClr val="FF0000"/>
                </a:solidFill>
                <a:cs typeface="Arial" charset="0"/>
              </a:rPr>
              <a:t>	</a:t>
            </a:r>
          </a:p>
          <a:p>
            <a:pPr>
              <a:spcBef>
                <a:spcPts val="600"/>
              </a:spcBef>
              <a:spcAft>
                <a:spcPts val="600"/>
              </a:spcAft>
            </a:pPr>
            <a:r>
              <a:rPr lang="en-AU" sz="2600" b="0">
                <a:solidFill>
                  <a:srgbClr val="002060"/>
                </a:solidFill>
                <a:cs typeface="Arial" charset="0"/>
              </a:rPr>
              <a:t>Ví dụ:  </a:t>
            </a:r>
            <a:r>
              <a:rPr lang="en-AU" sz="2400" i="1">
                <a:cs typeface="Arial" charset="0"/>
              </a:rPr>
              <a:t>int</a:t>
            </a:r>
            <a:r>
              <a:rPr lang="en-AU" sz="2400" i="1">
                <a:solidFill>
                  <a:srgbClr val="FF0000"/>
                </a:solidFill>
                <a:cs typeface="Arial" charset="0"/>
              </a:rPr>
              <a:t> </a:t>
            </a:r>
            <a:r>
              <a:rPr lang="en-AU" sz="2600" i="1">
                <a:solidFill>
                  <a:srgbClr val="C00000"/>
                </a:solidFill>
                <a:cs typeface="Arial" charset="0"/>
              </a:rPr>
              <a:t>a</a:t>
            </a:r>
            <a:r>
              <a:rPr lang="en-AU" sz="2600" i="1">
                <a:solidFill>
                  <a:srgbClr val="00B050"/>
                </a:solidFill>
                <a:cs typeface="Arial" charset="0"/>
              </a:rPr>
              <a:t>[10]; </a:t>
            </a:r>
            <a:r>
              <a:rPr lang="en-AU" sz="2600" i="1">
                <a:solidFill>
                  <a:srgbClr val="C00000"/>
                </a:solidFill>
                <a:cs typeface="Arial" charset="0"/>
              </a:rPr>
              <a:t>b</a:t>
            </a:r>
            <a:r>
              <a:rPr lang="en-AU" sz="2600" i="1">
                <a:solidFill>
                  <a:srgbClr val="00B050"/>
                </a:solidFill>
                <a:cs typeface="Arial" charset="0"/>
              </a:rPr>
              <a:t>[3][4];</a:t>
            </a:r>
          </a:p>
          <a:p>
            <a:pPr marL="0" indent="0">
              <a:spcBef>
                <a:spcPts val="600"/>
              </a:spcBef>
              <a:spcAft>
                <a:spcPts val="600"/>
              </a:spcAft>
              <a:buNone/>
            </a:pPr>
            <a:r>
              <a:rPr lang="en-AU" sz="2400" i="1">
                <a:solidFill>
                  <a:srgbClr val="FF0000"/>
                </a:solidFill>
                <a:cs typeface="Arial" charset="0"/>
              </a:rPr>
              <a:t>	   </a:t>
            </a:r>
            <a:r>
              <a:rPr lang="en-AU" sz="2400" i="1">
                <a:cs typeface="Arial" charset="0"/>
              </a:rPr>
              <a:t>float</a:t>
            </a:r>
            <a:r>
              <a:rPr lang="en-AU" sz="2400" i="1">
                <a:solidFill>
                  <a:srgbClr val="FF0000"/>
                </a:solidFill>
                <a:cs typeface="Arial" charset="0"/>
              </a:rPr>
              <a:t> </a:t>
            </a:r>
            <a:r>
              <a:rPr lang="en-AU" sz="2800" i="1">
                <a:solidFill>
                  <a:srgbClr val="C00000"/>
                </a:solidFill>
                <a:cs typeface="Arial" charset="0"/>
              </a:rPr>
              <a:t>x</a:t>
            </a:r>
            <a:r>
              <a:rPr lang="en-AU" sz="2600" i="1">
                <a:solidFill>
                  <a:srgbClr val="00B050"/>
                </a:solidFill>
                <a:cs typeface="Arial" charset="0"/>
              </a:rPr>
              <a:t>[5], </a:t>
            </a:r>
            <a:r>
              <a:rPr lang="en-AU" sz="2600" i="1">
                <a:solidFill>
                  <a:srgbClr val="C00000"/>
                </a:solidFill>
                <a:cs typeface="Arial" charset="0"/>
              </a:rPr>
              <a:t>y</a:t>
            </a:r>
            <a:r>
              <a:rPr lang="en-AU" sz="2600" i="1">
                <a:solidFill>
                  <a:srgbClr val="00B050"/>
                </a:solidFill>
                <a:cs typeface="Arial" charset="0"/>
              </a:rPr>
              <a:t>[3][3];</a:t>
            </a:r>
          </a:p>
          <a:p>
            <a:pPr marL="914400" lvl="2" indent="0">
              <a:spcBef>
                <a:spcPts val="600"/>
              </a:spcBef>
              <a:spcAft>
                <a:spcPts val="600"/>
              </a:spcAft>
              <a:buNone/>
            </a:pPr>
            <a:r>
              <a:rPr lang="en-US" sz="1800" b="1" i="1" dirty="0">
                <a:solidFill>
                  <a:srgbClr val="002060"/>
                </a:solidFill>
                <a:cs typeface="Arial" charset="0"/>
              </a:rPr>
              <a:t>	</a:t>
            </a:r>
          </a:p>
          <a:p>
            <a:pPr lvl="2">
              <a:spcBef>
                <a:spcPts val="600"/>
              </a:spcBef>
              <a:spcAft>
                <a:spcPts val="600"/>
              </a:spcAft>
            </a:pPr>
            <a:endParaRPr lang="en-AU" sz="18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19</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a:t>2.4. </a:t>
            </a:r>
            <a:r>
              <a:rPr lang="en-US" sz="3600" dirty="0" err="1"/>
              <a:t>Mảng</a:t>
            </a:r>
            <a:endParaRPr lang="en-US" sz="3600" dirty="0"/>
          </a:p>
        </p:txBody>
      </p:sp>
    </p:spTree>
    <p:extLst>
      <p:ext uri="{BB962C8B-B14F-4D97-AF65-F5344CB8AC3E}">
        <p14:creationId xmlns:p14="http://schemas.microsoft.com/office/powerpoint/2010/main" val="303050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399"/>
            <a:ext cx="10972800" cy="5441951"/>
          </a:xfrm>
        </p:spPr>
        <p:txBody>
          <a:bodyPr>
            <a:normAutofit/>
          </a:bodyPr>
          <a:lstStyle/>
          <a:p>
            <a:pPr>
              <a:spcBef>
                <a:spcPts val="600"/>
              </a:spcBef>
              <a:spcAft>
                <a:spcPts val="600"/>
              </a:spcAft>
            </a:pPr>
            <a:r>
              <a:rPr lang="en-AU" sz="2400" dirty="0" err="1">
                <a:solidFill>
                  <a:srgbClr val="002060"/>
                </a:solidFill>
                <a:cs typeface="Arial" charset="0"/>
              </a:rPr>
              <a:t>Chỉ</a:t>
            </a:r>
            <a:r>
              <a:rPr lang="en-AU" sz="2400" dirty="0">
                <a:solidFill>
                  <a:srgbClr val="002060"/>
                </a:solidFill>
                <a:cs typeface="Arial" charset="0"/>
              </a:rPr>
              <a:t> </a:t>
            </a:r>
            <a:r>
              <a:rPr lang="en-AU" sz="2400" dirty="0" err="1">
                <a:solidFill>
                  <a:srgbClr val="002060"/>
                </a:solidFill>
                <a:cs typeface="Arial" charset="0"/>
              </a:rPr>
              <a:t>số</a:t>
            </a:r>
            <a:r>
              <a:rPr lang="en-AU" sz="2400" dirty="0">
                <a:solidFill>
                  <a:srgbClr val="002060"/>
                </a:solidFill>
                <a:cs typeface="Arial" charset="0"/>
              </a:rPr>
              <a:t> </a:t>
            </a:r>
            <a:r>
              <a:rPr lang="en-AU" sz="2400" dirty="0" err="1">
                <a:solidFill>
                  <a:srgbClr val="002060"/>
                </a:solidFill>
                <a:cs typeface="Arial" charset="0"/>
              </a:rPr>
              <a:t>mảng</a:t>
            </a:r>
            <a:r>
              <a:rPr lang="en-AU" sz="2400" dirty="0">
                <a:solidFill>
                  <a:srgbClr val="002060"/>
                </a:solidFill>
                <a:cs typeface="Arial" charset="0"/>
              </a:rPr>
              <a:t>: </a:t>
            </a:r>
            <a:r>
              <a:rPr lang="vi-VN" sz="2400" b="0" dirty="0">
                <a:solidFill>
                  <a:srgbClr val="002060"/>
                </a:solidFill>
                <a:cs typeface="Arial" charset="0"/>
              </a:rPr>
              <a:t>Một phần tử cụ thể của mảng được xác định nhờ các chỉ số của nó. Chỉ số của mảng phải có giá trị </a:t>
            </a:r>
            <a:r>
              <a:rPr lang="vi-VN" sz="2400" dirty="0">
                <a:solidFill>
                  <a:srgbClr val="FF0000"/>
                </a:solidFill>
                <a:cs typeface="Arial" charset="0"/>
              </a:rPr>
              <a:t>int</a:t>
            </a:r>
            <a:r>
              <a:rPr lang="vi-VN" sz="2400" b="0" dirty="0">
                <a:solidFill>
                  <a:srgbClr val="002060"/>
                </a:solidFill>
                <a:cs typeface="Arial" charset="0"/>
              </a:rPr>
              <a:t> không vượt quá kích thước của chiều tương ứng. Số chỉ số phải bằng số chiều của mảng</a:t>
            </a:r>
            <a:r>
              <a:rPr lang="en-AU" sz="2400" b="0" dirty="0">
                <a:solidFill>
                  <a:srgbClr val="002060"/>
                </a:solidFill>
                <a:cs typeface="Arial" charset="0"/>
              </a:rPr>
              <a:t>.</a:t>
            </a:r>
          </a:p>
          <a:p>
            <a:pPr>
              <a:spcBef>
                <a:spcPts val="600"/>
              </a:spcBef>
              <a:spcAft>
                <a:spcPts val="600"/>
              </a:spcAft>
            </a:pPr>
            <a:r>
              <a:rPr lang="en-AU" sz="2400" dirty="0" err="1">
                <a:solidFill>
                  <a:srgbClr val="002060"/>
                </a:solidFill>
                <a:cs typeface="Arial" charset="0"/>
              </a:rPr>
              <a:t>Lấy</a:t>
            </a:r>
            <a:r>
              <a:rPr lang="en-AU" sz="2400" dirty="0">
                <a:solidFill>
                  <a:srgbClr val="002060"/>
                </a:solidFill>
                <a:cs typeface="Arial" charset="0"/>
              </a:rPr>
              <a:t> </a:t>
            </a:r>
            <a:r>
              <a:rPr lang="en-AU" sz="2400" dirty="0" err="1">
                <a:solidFill>
                  <a:srgbClr val="002060"/>
                </a:solidFill>
                <a:cs typeface="Arial" charset="0"/>
              </a:rPr>
              <a:t>địa</a:t>
            </a:r>
            <a:r>
              <a:rPr lang="en-AU" sz="2400" dirty="0">
                <a:solidFill>
                  <a:srgbClr val="002060"/>
                </a:solidFill>
                <a:cs typeface="Arial" charset="0"/>
              </a:rPr>
              <a:t> </a:t>
            </a:r>
            <a:r>
              <a:rPr lang="en-AU" sz="2400" dirty="0" err="1">
                <a:solidFill>
                  <a:srgbClr val="002060"/>
                </a:solidFill>
                <a:cs typeface="Arial" charset="0"/>
              </a:rPr>
              <a:t>chỉ</a:t>
            </a:r>
            <a:r>
              <a:rPr lang="en-AU" sz="2400" dirty="0">
                <a:solidFill>
                  <a:srgbClr val="002060"/>
                </a:solidFill>
                <a:cs typeface="Arial" charset="0"/>
              </a:rPr>
              <a:t> </a:t>
            </a:r>
            <a:r>
              <a:rPr lang="en-AU" sz="2400" dirty="0" err="1">
                <a:solidFill>
                  <a:srgbClr val="002060"/>
                </a:solidFill>
                <a:cs typeface="Arial" charset="0"/>
              </a:rPr>
              <a:t>phần</a:t>
            </a:r>
            <a:r>
              <a:rPr lang="en-AU" sz="2400" dirty="0">
                <a:solidFill>
                  <a:srgbClr val="002060"/>
                </a:solidFill>
                <a:cs typeface="Arial" charset="0"/>
              </a:rPr>
              <a:t> </a:t>
            </a:r>
            <a:r>
              <a:rPr lang="en-AU" sz="2400" dirty="0" err="1">
                <a:solidFill>
                  <a:srgbClr val="002060"/>
                </a:solidFill>
                <a:cs typeface="Arial" charset="0"/>
              </a:rPr>
              <a:t>tử</a:t>
            </a:r>
            <a:r>
              <a:rPr lang="en-AU" sz="2400" dirty="0">
                <a:solidFill>
                  <a:srgbClr val="002060"/>
                </a:solidFill>
                <a:cs typeface="Arial" charset="0"/>
              </a:rPr>
              <a:t> </a:t>
            </a:r>
            <a:r>
              <a:rPr lang="en-AU" sz="2400" dirty="0" err="1">
                <a:solidFill>
                  <a:srgbClr val="002060"/>
                </a:solidFill>
                <a:cs typeface="Arial" charset="0"/>
              </a:rPr>
              <a:t>của</a:t>
            </a:r>
            <a:r>
              <a:rPr lang="en-AU" sz="2400" dirty="0">
                <a:solidFill>
                  <a:srgbClr val="002060"/>
                </a:solidFill>
                <a:cs typeface="Arial" charset="0"/>
              </a:rPr>
              <a:t> </a:t>
            </a:r>
            <a:r>
              <a:rPr lang="en-AU" sz="2400" dirty="0" err="1">
                <a:solidFill>
                  <a:srgbClr val="002060"/>
                </a:solidFill>
                <a:cs typeface="Arial" charset="0"/>
              </a:rPr>
              <a:t>mảng</a:t>
            </a:r>
            <a:r>
              <a:rPr lang="en-AU" sz="2400" dirty="0">
                <a:solidFill>
                  <a:srgbClr val="002060"/>
                </a:solidFill>
                <a:cs typeface="Arial" charset="0"/>
              </a:rPr>
              <a:t>:</a:t>
            </a:r>
            <a:r>
              <a:rPr lang="en-AU" sz="2400" b="0" dirty="0">
                <a:solidFill>
                  <a:srgbClr val="002060"/>
                </a:solidFill>
                <a:cs typeface="Arial" charset="0"/>
              </a:rPr>
              <a:t> </a:t>
            </a:r>
            <a:r>
              <a:rPr lang="vi-VN" sz="2400" b="0" dirty="0">
                <a:solidFill>
                  <a:srgbClr val="002060"/>
                </a:solidFill>
                <a:cs typeface="Arial" charset="0"/>
              </a:rPr>
              <a:t>lấy địa chỉ phần tử mảng một chiều, nhưng nói chung không cho phép lấy địa chỉ phần tử mảng nhiều chiều. Như vậy máy sẽ chấp nhận phép tính:  </a:t>
            </a:r>
            <a:r>
              <a:rPr lang="vi-VN" sz="2400" i="1" dirty="0">
                <a:solidFill>
                  <a:srgbClr val="FF0000"/>
                </a:solidFill>
                <a:cs typeface="Arial" charset="0"/>
              </a:rPr>
              <a:t>&amp;a[i]</a:t>
            </a:r>
            <a:r>
              <a:rPr lang="vi-VN" sz="2400" i="1" dirty="0">
                <a:solidFill>
                  <a:srgbClr val="002060"/>
                </a:solidFill>
                <a:cs typeface="Arial" charset="0"/>
              </a:rPr>
              <a:t> nhưng không chấp nhận phép tính: </a:t>
            </a:r>
            <a:r>
              <a:rPr lang="vi-VN" sz="2400" i="1" dirty="0">
                <a:solidFill>
                  <a:srgbClr val="FF0000"/>
                </a:solidFill>
                <a:cs typeface="Arial" charset="0"/>
              </a:rPr>
              <a:t>&amp;y[i][j]</a:t>
            </a:r>
            <a:endParaRPr lang="en-AU" sz="2400" i="1" dirty="0">
              <a:solidFill>
                <a:srgbClr val="FF0000"/>
              </a:solidFill>
              <a:cs typeface="Arial" charset="0"/>
            </a:endParaRPr>
          </a:p>
          <a:p>
            <a:pPr>
              <a:spcBef>
                <a:spcPts val="600"/>
              </a:spcBef>
              <a:spcAft>
                <a:spcPts val="600"/>
              </a:spcAft>
            </a:pPr>
            <a:r>
              <a:rPr lang="en-AU" sz="2400" dirty="0" err="1">
                <a:solidFill>
                  <a:srgbClr val="002060"/>
                </a:solidFill>
                <a:cs typeface="Arial" charset="0"/>
              </a:rPr>
              <a:t>Chú</a:t>
            </a:r>
            <a:r>
              <a:rPr lang="en-AU" sz="2400" dirty="0">
                <a:solidFill>
                  <a:srgbClr val="002060"/>
                </a:solidFill>
                <a:cs typeface="Arial" charset="0"/>
              </a:rPr>
              <a:t> ý:</a:t>
            </a:r>
          </a:p>
          <a:p>
            <a:pPr lvl="1">
              <a:spcBef>
                <a:spcPts val="600"/>
              </a:spcBef>
              <a:spcAft>
                <a:spcPts val="600"/>
              </a:spcAft>
            </a:pPr>
            <a:r>
              <a:rPr lang="vi-VN" sz="2400" dirty="0">
                <a:solidFill>
                  <a:srgbClr val="002060"/>
                </a:solidFill>
                <a:cs typeface="Arial" charset="0"/>
              </a:rPr>
              <a:t>Các phần tử của mảng được cấp phát các khoảng nhớ liên tiếp nhau trong bộ nhớ. Nói cách khác, các phần tử mảng có địa chỉ liên tiếp nhau.</a:t>
            </a:r>
          </a:p>
          <a:p>
            <a:pPr lvl="1">
              <a:spcBef>
                <a:spcPts val="600"/>
              </a:spcBef>
              <a:spcAft>
                <a:spcPts val="600"/>
              </a:spcAft>
            </a:pPr>
            <a:r>
              <a:rPr lang="vi-VN" sz="2400" dirty="0">
                <a:solidFill>
                  <a:srgbClr val="002060"/>
                </a:solidFill>
                <a:cs typeface="Arial" charset="0"/>
              </a:rPr>
              <a:t>Trong bộ nhớ, các phần tử của mảng hai chiều được sắp xếp theo hàng </a:t>
            </a: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20</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a:t>2.4. Mảng</a:t>
            </a:r>
            <a:endParaRPr lang="en-US" sz="3600" dirty="0"/>
          </a:p>
        </p:txBody>
      </p:sp>
    </p:spTree>
    <p:extLst>
      <p:ext uri="{BB962C8B-B14F-4D97-AF65-F5344CB8AC3E}">
        <p14:creationId xmlns:p14="http://schemas.microsoft.com/office/powerpoint/2010/main" val="1610158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399"/>
            <a:ext cx="10972800" cy="5441951"/>
          </a:xfrm>
        </p:spPr>
        <p:txBody>
          <a:bodyPr>
            <a:normAutofit/>
          </a:bodyPr>
          <a:lstStyle/>
          <a:p>
            <a:pPr>
              <a:spcBef>
                <a:spcPts val="600"/>
              </a:spcBef>
              <a:spcAft>
                <a:spcPts val="600"/>
              </a:spcAft>
            </a:pPr>
            <a:r>
              <a:rPr lang="en-AU" sz="2600" dirty="0" err="1">
                <a:solidFill>
                  <a:srgbClr val="002060"/>
                </a:solidFill>
                <a:cs typeface="Arial" charset="0"/>
              </a:rPr>
              <a:t>Ví</a:t>
            </a:r>
            <a:r>
              <a:rPr lang="en-AU" sz="2600" dirty="0">
                <a:solidFill>
                  <a:srgbClr val="002060"/>
                </a:solidFill>
                <a:cs typeface="Arial" charset="0"/>
              </a:rPr>
              <a:t> </a:t>
            </a:r>
            <a:r>
              <a:rPr lang="en-AU" sz="2600">
                <a:solidFill>
                  <a:srgbClr val="002060"/>
                </a:solidFill>
                <a:cs typeface="Arial" charset="0"/>
              </a:rPr>
              <a:t>dụ</a:t>
            </a:r>
            <a:r>
              <a:rPr lang="en-AU" sz="2600" b="0">
                <a:solidFill>
                  <a:srgbClr val="002060"/>
                </a:solidFill>
                <a:cs typeface="Arial" charset="0"/>
              </a:rPr>
              <a:t>:  </a:t>
            </a:r>
            <a:r>
              <a:rPr lang="en-AU" sz="2400" i="1">
                <a:solidFill>
                  <a:srgbClr val="FF0000"/>
                </a:solidFill>
                <a:cs typeface="Arial" charset="0"/>
              </a:rPr>
              <a:t>int </a:t>
            </a:r>
            <a:r>
              <a:rPr lang="en-AU" sz="2400" i="1" dirty="0">
                <a:solidFill>
                  <a:srgbClr val="FF0000"/>
                </a:solidFill>
                <a:cs typeface="Arial" charset="0"/>
              </a:rPr>
              <a:t>a[</a:t>
            </a:r>
            <a:r>
              <a:rPr lang="en-AU" sz="2400" i="1">
                <a:solidFill>
                  <a:srgbClr val="FF0000"/>
                </a:solidFill>
                <a:cs typeface="Arial" charset="0"/>
              </a:rPr>
              <a:t>10]; </a:t>
            </a:r>
            <a:endParaRPr lang="en-AU" sz="2400" i="1" dirty="0">
              <a:solidFill>
                <a:srgbClr val="FF0000"/>
              </a:solidFill>
              <a:cs typeface="Arial" charset="0"/>
            </a:endParaRPr>
          </a:p>
          <a:p>
            <a:pPr marL="0" indent="0">
              <a:spcBef>
                <a:spcPts val="600"/>
              </a:spcBef>
              <a:spcAft>
                <a:spcPts val="600"/>
              </a:spcAft>
              <a:buNone/>
            </a:pPr>
            <a:r>
              <a:rPr lang="en-AU" sz="2400" i="1">
                <a:solidFill>
                  <a:srgbClr val="FF0000"/>
                </a:solidFill>
                <a:cs typeface="Arial" charset="0"/>
              </a:rPr>
              <a:t>	</a:t>
            </a:r>
            <a:endParaRPr lang="en-AU" sz="2400" b="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21</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a:t>2.4. Mảng</a:t>
            </a:r>
            <a:endParaRPr lang="en-US" sz="3600" dirty="0"/>
          </a:p>
        </p:txBody>
      </p:sp>
      <p:sp>
        <p:nvSpPr>
          <p:cNvPr id="5" name="TextBox 4">
            <a:extLst>
              <a:ext uri="{FF2B5EF4-FFF2-40B4-BE49-F238E27FC236}">
                <a16:creationId xmlns:a16="http://schemas.microsoft.com/office/drawing/2014/main" id="{40D51C9E-5835-3CD7-8D76-2BD884DCBAE1}"/>
              </a:ext>
            </a:extLst>
          </p:cNvPr>
          <p:cNvSpPr txBox="1"/>
          <p:nvPr/>
        </p:nvSpPr>
        <p:spPr>
          <a:xfrm>
            <a:off x="914400" y="1752600"/>
            <a:ext cx="10744200" cy="2769989"/>
          </a:xfrm>
          <a:prstGeom prst="rect">
            <a:avLst/>
          </a:prstGeom>
          <a:noFill/>
        </p:spPr>
        <p:txBody>
          <a:bodyPr wrap="square">
            <a:spAutoFit/>
          </a:bodyPr>
          <a:lstStyle/>
          <a:p>
            <a:pPr>
              <a:spcBef>
                <a:spcPts val="600"/>
              </a:spcBef>
              <a:spcAft>
                <a:spcPts val="600"/>
              </a:spcAft>
            </a:pPr>
            <a:r>
              <a:rPr lang="vi-VN" sz="2400" b="0">
                <a:solidFill>
                  <a:srgbClr val="002060"/>
                </a:solidFill>
                <a:cs typeface="Arial" charset="0"/>
              </a:rPr>
              <a:t>Đối với mảng thứ nhất thì kiểu là int, tên là </a:t>
            </a:r>
            <a:r>
              <a:rPr lang="vi-VN" sz="2400" i="1">
                <a:solidFill>
                  <a:srgbClr val="FF0000"/>
                </a:solidFill>
                <a:cs typeface="Arial" charset="0"/>
              </a:rPr>
              <a:t>a</a:t>
            </a:r>
            <a:r>
              <a:rPr lang="vi-VN" sz="2400" b="0">
                <a:solidFill>
                  <a:srgbClr val="002060"/>
                </a:solidFill>
                <a:cs typeface="Arial" charset="0"/>
              </a:rPr>
              <a:t>, số chiều là một, kích thước bằng 10. Mảng có 10 phần tử được đánh </a:t>
            </a:r>
            <a:r>
              <a:rPr lang="vi-VN" sz="2400">
                <a:solidFill>
                  <a:srgbClr val="002060"/>
                </a:solidFill>
                <a:cs typeface="Arial" charset="0"/>
              </a:rPr>
              <a:t>số </a:t>
            </a:r>
            <a:r>
              <a:rPr lang="en-US" sz="2400">
                <a:solidFill>
                  <a:srgbClr val="002060"/>
                </a:solidFill>
                <a:latin typeface="Arial" panose="020B0604020202020204" pitchFamily="34" charset="0"/>
                <a:cs typeface="Arial" panose="020B0604020202020204" pitchFamily="34" charset="0"/>
              </a:rPr>
              <a:t>chỉ số từ 0 </a:t>
            </a:r>
            <a:r>
              <a:rPr lang="vi-VN" sz="2400">
                <a:solidFill>
                  <a:srgbClr val="002060"/>
                </a:solidFill>
                <a:cs typeface="Arial" charset="0"/>
              </a:rPr>
              <a:t>như </a:t>
            </a:r>
            <a:r>
              <a:rPr lang="vi-VN" sz="2400" b="0">
                <a:solidFill>
                  <a:srgbClr val="002060"/>
                </a:solidFill>
                <a:cs typeface="Arial" charset="0"/>
              </a:rPr>
              <a:t>sau: </a:t>
            </a:r>
          </a:p>
          <a:p>
            <a:pPr marL="0" indent="0">
              <a:spcBef>
                <a:spcPts val="600"/>
              </a:spcBef>
              <a:spcAft>
                <a:spcPts val="600"/>
              </a:spcAft>
              <a:buNone/>
            </a:pPr>
            <a:r>
              <a:rPr lang="en-AU" sz="2400" b="0">
                <a:solidFill>
                  <a:srgbClr val="002060"/>
                </a:solidFill>
                <a:cs typeface="Arial" charset="0"/>
              </a:rPr>
              <a:t>	</a:t>
            </a:r>
            <a:r>
              <a:rPr lang="vi-VN" sz="2400">
                <a:solidFill>
                  <a:srgbClr val="002060"/>
                </a:solidFill>
                <a:cs typeface="Arial" charset="0"/>
              </a:rPr>
              <a:t> </a:t>
            </a:r>
            <a:r>
              <a:rPr lang="vi-VN" sz="2400" i="1">
                <a:solidFill>
                  <a:srgbClr val="FF0000"/>
                </a:solidFill>
                <a:cs typeface="Arial" charset="0"/>
              </a:rPr>
              <a:t>a[0]    a[1]    a[2]   a[3]    a[4]    a[5]     a[6]     a[7]    a[8]     a[9]</a:t>
            </a:r>
            <a:endParaRPr lang="en-AU" sz="2400" i="1">
              <a:solidFill>
                <a:srgbClr val="FF0000"/>
              </a:solidFill>
              <a:cs typeface="Arial" charset="0"/>
            </a:endParaRPr>
          </a:p>
          <a:p>
            <a:pPr marL="0" indent="0">
              <a:spcBef>
                <a:spcPts val="600"/>
              </a:spcBef>
              <a:spcAft>
                <a:spcPts val="600"/>
              </a:spcAft>
              <a:buNone/>
            </a:pPr>
            <a:r>
              <a:rPr lang="en-AU" sz="2400" b="0">
                <a:solidFill>
                  <a:srgbClr val="002060"/>
                </a:solidFill>
                <a:cs typeface="Arial" charset="0"/>
              </a:rPr>
              <a:t>  </a:t>
            </a:r>
            <a:endParaRPr lang="en-AU" sz="2400">
              <a:solidFill>
                <a:srgbClr val="002060"/>
              </a:solidFill>
              <a:cs typeface="Arial" charset="0"/>
            </a:endParaRPr>
          </a:p>
          <a:p>
            <a:pPr marL="0" indent="0">
              <a:spcBef>
                <a:spcPts val="600"/>
              </a:spcBef>
              <a:spcAft>
                <a:spcPts val="600"/>
              </a:spcAft>
              <a:buNone/>
            </a:pPr>
            <a:r>
              <a:rPr lang="en-AU" sz="2400">
                <a:solidFill>
                  <a:srgbClr val="002060"/>
                </a:solidFill>
                <a:latin typeface="Arial" panose="020B0604020202020204" pitchFamily="34" charset="0"/>
                <a:cs typeface="Arial" panose="020B0604020202020204" pitchFamily="34" charset="0"/>
              </a:rPr>
              <a:t>Mỗi phần tử a[i] chứa được một giá trị kiểu int và mảng a có thể biểu diễn một dãy 10 số nguyên.</a:t>
            </a:r>
            <a:endParaRPr lang="en-AU" sz="24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1738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399"/>
            <a:ext cx="10972800" cy="5441951"/>
          </a:xfrm>
        </p:spPr>
        <p:txBody>
          <a:bodyPr>
            <a:normAutofit/>
          </a:bodyPr>
          <a:lstStyle/>
          <a:p>
            <a:pPr marL="0" indent="0">
              <a:spcBef>
                <a:spcPts val="600"/>
              </a:spcBef>
              <a:spcAft>
                <a:spcPts val="600"/>
              </a:spcAft>
              <a:buNone/>
            </a:pPr>
            <a:r>
              <a:rPr lang="en-AU" sz="2400">
                <a:solidFill>
                  <a:srgbClr val="002060"/>
                </a:solidFill>
                <a:latin typeface="Arial" panose="020B0604020202020204" pitchFamily="34" charset="0"/>
                <a:cs typeface="Arial" panose="020B0604020202020204" pitchFamily="34" charset="0"/>
              </a:rPr>
              <a:t>Ví dụ 2:</a:t>
            </a:r>
            <a:r>
              <a:rPr lang="en-AU" sz="2400" b="0">
                <a:solidFill>
                  <a:srgbClr val="002060"/>
                </a:solidFill>
                <a:latin typeface="Arial" panose="020B0604020202020204" pitchFamily="34" charset="0"/>
                <a:cs typeface="Arial" panose="020B0604020202020204" pitchFamily="34" charset="0"/>
              </a:rPr>
              <a:t> </a:t>
            </a:r>
            <a:r>
              <a:rPr lang="en-AU" sz="2400" i="1">
                <a:solidFill>
                  <a:srgbClr val="FF0000"/>
                </a:solidFill>
                <a:latin typeface="Arial" panose="020B0604020202020204" pitchFamily="34" charset="0"/>
                <a:cs typeface="Arial" panose="020B0604020202020204" pitchFamily="34" charset="0"/>
              </a:rPr>
              <a:t>float</a:t>
            </a:r>
            <a:r>
              <a:rPr lang="en-AU" sz="2400" b="0">
                <a:solidFill>
                  <a:srgbClr val="002060"/>
                </a:solidFill>
                <a:latin typeface="Arial" panose="020B0604020202020204" pitchFamily="34" charset="0"/>
                <a:cs typeface="Arial" panose="020B0604020202020204" pitchFamily="34" charset="0"/>
              </a:rPr>
              <a:t> </a:t>
            </a:r>
            <a:r>
              <a:rPr lang="en-AU" sz="2400" i="1">
                <a:solidFill>
                  <a:srgbClr val="FF0000"/>
                </a:solidFill>
                <a:latin typeface="Arial" panose="020B0604020202020204" pitchFamily="34" charset="0"/>
                <a:cs typeface="Arial" panose="020B0604020202020204" pitchFamily="34" charset="0"/>
              </a:rPr>
              <a:t>y[3][3];</a:t>
            </a:r>
            <a:endParaRPr lang="en-AU" sz="2400" b="0">
              <a:solidFill>
                <a:srgbClr val="002060"/>
              </a:solidFill>
              <a:latin typeface="Arial" panose="020B0604020202020204" pitchFamily="34" charset="0"/>
              <a:cs typeface="Arial" panose="020B0604020202020204" pitchFamily="34" charset="0"/>
            </a:endParaRPr>
          </a:p>
          <a:p>
            <a:pPr>
              <a:spcBef>
                <a:spcPts val="600"/>
              </a:spcBef>
              <a:spcAft>
                <a:spcPts val="600"/>
              </a:spcAft>
              <a:buFontTx/>
              <a:buChar char="-"/>
            </a:pPr>
            <a:r>
              <a:rPr lang="en-AU" sz="2400" b="0">
                <a:solidFill>
                  <a:srgbClr val="002060"/>
                </a:solidFill>
                <a:latin typeface="Arial" panose="020B0604020202020204" pitchFamily="34" charset="0"/>
                <a:cs typeface="Arial" panose="020B0604020202020204" pitchFamily="34" charset="0"/>
              </a:rPr>
              <a:t>kiểu </a:t>
            </a:r>
            <a:r>
              <a:rPr lang="en-AU" sz="2400" b="0" dirty="0" err="1">
                <a:solidFill>
                  <a:srgbClr val="002060"/>
                </a:solidFill>
                <a:latin typeface="Arial" panose="020B0604020202020204" pitchFamily="34" charset="0"/>
                <a:cs typeface="Arial" panose="020B0604020202020204" pitchFamily="34" charset="0"/>
              </a:rPr>
              <a:t>là</a:t>
            </a:r>
            <a:r>
              <a:rPr lang="en-AU" sz="2400" b="0" dirty="0">
                <a:solidFill>
                  <a:srgbClr val="002060"/>
                </a:solidFill>
                <a:latin typeface="Arial" panose="020B0604020202020204" pitchFamily="34" charset="0"/>
                <a:cs typeface="Arial" panose="020B0604020202020204" pitchFamily="34" charset="0"/>
              </a:rPr>
              <a:t> float (</a:t>
            </a:r>
            <a:r>
              <a:rPr lang="en-AU" sz="2400" b="0" dirty="0" err="1">
                <a:solidFill>
                  <a:srgbClr val="002060"/>
                </a:solidFill>
                <a:latin typeface="Arial" panose="020B0604020202020204" pitchFamily="34" charset="0"/>
                <a:cs typeface="Arial" panose="020B0604020202020204" pitchFamily="34" charset="0"/>
              </a:rPr>
              <a:t>số</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thực</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tên</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là</a:t>
            </a:r>
            <a:r>
              <a:rPr lang="en-AU" sz="2400" b="0" dirty="0">
                <a:solidFill>
                  <a:srgbClr val="002060"/>
                </a:solidFill>
                <a:latin typeface="Arial" panose="020B0604020202020204" pitchFamily="34" charset="0"/>
                <a:cs typeface="Arial" panose="020B0604020202020204" pitchFamily="34" charset="0"/>
              </a:rPr>
              <a:t> </a:t>
            </a:r>
            <a:r>
              <a:rPr lang="en-AU" sz="2400" i="1" dirty="0">
                <a:solidFill>
                  <a:srgbClr val="FF0000"/>
                </a:solidFill>
                <a:latin typeface="Arial" panose="020B0604020202020204" pitchFamily="34" charset="0"/>
                <a:cs typeface="Arial" panose="020B0604020202020204" pitchFamily="34" charset="0"/>
              </a:rPr>
              <a:t>y</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số</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chiều</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là</a:t>
            </a:r>
            <a:r>
              <a:rPr lang="en-AU" sz="2400" b="0" dirty="0">
                <a:solidFill>
                  <a:srgbClr val="002060"/>
                </a:solidFill>
                <a:latin typeface="Arial" panose="020B0604020202020204" pitchFamily="34" charset="0"/>
                <a:cs typeface="Arial" panose="020B0604020202020204" pitchFamily="34" charset="0"/>
              </a:rPr>
              <a:t> </a:t>
            </a:r>
            <a:r>
              <a:rPr lang="en-AU" sz="2400" dirty="0">
                <a:solidFill>
                  <a:srgbClr val="FF0000"/>
                </a:solidFill>
                <a:latin typeface="Arial" panose="020B0604020202020204" pitchFamily="34" charset="0"/>
                <a:cs typeface="Arial" panose="020B0604020202020204" pitchFamily="34" charset="0"/>
              </a:rPr>
              <a:t>2</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kích</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thước</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của</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mỗi</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chiều</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là</a:t>
            </a:r>
            <a:r>
              <a:rPr lang="en-AU" sz="2400" b="0" dirty="0">
                <a:solidFill>
                  <a:srgbClr val="002060"/>
                </a:solidFill>
                <a:latin typeface="Arial" panose="020B0604020202020204" pitchFamily="34" charset="0"/>
                <a:cs typeface="Arial" panose="020B0604020202020204" pitchFamily="34" charset="0"/>
              </a:rPr>
              <a:t> </a:t>
            </a:r>
            <a:r>
              <a:rPr lang="en-AU" sz="2400" dirty="0">
                <a:solidFill>
                  <a:srgbClr val="FF0000"/>
                </a:solidFill>
                <a:latin typeface="Arial" panose="020B0604020202020204" pitchFamily="34" charset="0"/>
                <a:cs typeface="Arial" panose="020B0604020202020204" pitchFamily="34" charset="0"/>
              </a:rPr>
              <a:t>3</a:t>
            </a:r>
            <a:r>
              <a:rPr lang="en-AU" sz="2400" b="0">
                <a:solidFill>
                  <a:srgbClr val="002060"/>
                </a:solidFill>
                <a:latin typeface="Arial" panose="020B0604020202020204" pitchFamily="34" charset="0"/>
                <a:cs typeface="Arial" panose="020B0604020202020204" pitchFamily="34" charset="0"/>
              </a:rPr>
              <a:t>. </a:t>
            </a:r>
          </a:p>
          <a:p>
            <a:pPr>
              <a:spcBef>
                <a:spcPts val="600"/>
              </a:spcBef>
              <a:spcAft>
                <a:spcPts val="600"/>
              </a:spcAft>
              <a:buFontTx/>
              <a:buChar char="-"/>
            </a:pPr>
            <a:r>
              <a:rPr lang="en-AU" sz="2400" b="0">
                <a:solidFill>
                  <a:srgbClr val="002060"/>
                </a:solidFill>
                <a:latin typeface="Arial" panose="020B0604020202020204" pitchFamily="34" charset="0"/>
                <a:cs typeface="Arial" panose="020B0604020202020204" pitchFamily="34" charset="0"/>
              </a:rPr>
              <a:t>Mảng </a:t>
            </a:r>
            <a:r>
              <a:rPr lang="en-AU" sz="2400" b="0" dirty="0" err="1">
                <a:solidFill>
                  <a:srgbClr val="002060"/>
                </a:solidFill>
                <a:latin typeface="Arial" panose="020B0604020202020204" pitchFamily="34" charset="0"/>
                <a:cs typeface="Arial" panose="020B0604020202020204" pitchFamily="34" charset="0"/>
              </a:rPr>
              <a:t>có</a:t>
            </a:r>
            <a:r>
              <a:rPr lang="en-AU" sz="2400" b="0" dirty="0">
                <a:solidFill>
                  <a:srgbClr val="002060"/>
                </a:solidFill>
                <a:latin typeface="Arial" panose="020B0604020202020204" pitchFamily="34" charset="0"/>
                <a:cs typeface="Arial" panose="020B0604020202020204" pitchFamily="34" charset="0"/>
              </a:rPr>
              <a:t> 9 </a:t>
            </a:r>
            <a:r>
              <a:rPr lang="en-AU" sz="2400" b="0" dirty="0" err="1">
                <a:solidFill>
                  <a:srgbClr val="002060"/>
                </a:solidFill>
                <a:latin typeface="Arial" panose="020B0604020202020204" pitchFamily="34" charset="0"/>
                <a:cs typeface="Arial" panose="020B0604020202020204" pitchFamily="34" charset="0"/>
              </a:rPr>
              <a:t>phần</a:t>
            </a:r>
            <a:r>
              <a:rPr lang="en-AU" sz="2400" b="0" dirty="0">
                <a:solidFill>
                  <a:srgbClr val="002060"/>
                </a:solidFill>
                <a:latin typeface="Arial" panose="020B0604020202020204" pitchFamily="34" charset="0"/>
                <a:cs typeface="Arial" panose="020B0604020202020204" pitchFamily="34" charset="0"/>
              </a:rPr>
              <a:t> </a:t>
            </a:r>
            <a:r>
              <a:rPr lang="en-AU" sz="2400" b="0" dirty="0" err="1">
                <a:solidFill>
                  <a:srgbClr val="002060"/>
                </a:solidFill>
                <a:latin typeface="Arial" panose="020B0604020202020204" pitchFamily="34" charset="0"/>
                <a:cs typeface="Arial" panose="020B0604020202020204" pitchFamily="34" charset="0"/>
              </a:rPr>
              <a:t>tử</a:t>
            </a:r>
            <a:r>
              <a:rPr lang="en-AU" sz="2400" b="0" dirty="0">
                <a:solidFill>
                  <a:srgbClr val="002060"/>
                </a:solidFill>
                <a:latin typeface="Arial" panose="020B0604020202020204" pitchFamily="34" charset="0"/>
                <a:cs typeface="Arial" panose="020B0604020202020204" pitchFamily="34" charset="0"/>
              </a:rPr>
              <a:t>, </a:t>
            </a:r>
            <a:r>
              <a:rPr lang="vi-VN" sz="2400" b="0" i="1" dirty="0">
                <a:solidFill>
                  <a:srgbClr val="002060"/>
                </a:solidFill>
                <a:latin typeface="Arial" panose="020B0604020202020204" pitchFamily="34" charset="0"/>
                <a:cs typeface="Arial" panose="020B0604020202020204" pitchFamily="34" charset="0"/>
              </a:rPr>
              <a:t>chúng được đánh số và được sắp xếp như sau: </a:t>
            </a:r>
          </a:p>
          <a:p>
            <a:pPr marL="0" indent="0">
              <a:spcBef>
                <a:spcPts val="600"/>
              </a:spcBef>
              <a:spcAft>
                <a:spcPts val="600"/>
              </a:spcAft>
              <a:buNone/>
            </a:pPr>
            <a:r>
              <a:rPr lang="en-AU" sz="2400" b="0" i="1" dirty="0">
                <a:solidFill>
                  <a:srgbClr val="002060"/>
                </a:solidFill>
                <a:latin typeface="Arial" panose="020B0604020202020204" pitchFamily="34" charset="0"/>
                <a:cs typeface="Arial" panose="020B0604020202020204" pitchFamily="34" charset="0"/>
              </a:rPr>
              <a:t>	</a:t>
            </a:r>
            <a:r>
              <a:rPr lang="vi-VN" sz="2400" i="1" dirty="0">
                <a:solidFill>
                  <a:srgbClr val="FF0000"/>
                </a:solidFill>
                <a:latin typeface="Arial" panose="020B0604020202020204" pitchFamily="34" charset="0"/>
                <a:cs typeface="Arial" panose="020B0604020202020204" pitchFamily="34" charset="0"/>
              </a:rPr>
              <a:t>y[0][0] 	y[0][1] 	y[0][2] </a:t>
            </a:r>
          </a:p>
          <a:p>
            <a:pPr marL="0" indent="0">
              <a:spcBef>
                <a:spcPts val="600"/>
              </a:spcBef>
              <a:spcAft>
                <a:spcPts val="600"/>
              </a:spcAft>
              <a:buNone/>
            </a:pPr>
            <a:r>
              <a:rPr lang="en-AU" sz="2400" i="1" dirty="0">
                <a:solidFill>
                  <a:srgbClr val="FF0000"/>
                </a:solidFill>
                <a:latin typeface="Arial" panose="020B0604020202020204" pitchFamily="34" charset="0"/>
                <a:cs typeface="Arial" panose="020B0604020202020204" pitchFamily="34" charset="0"/>
              </a:rPr>
              <a:t>	</a:t>
            </a:r>
            <a:r>
              <a:rPr lang="vi-VN" sz="2400" i="1" dirty="0">
                <a:solidFill>
                  <a:srgbClr val="FF0000"/>
                </a:solidFill>
                <a:latin typeface="Arial" panose="020B0604020202020204" pitchFamily="34" charset="0"/>
                <a:cs typeface="Arial" panose="020B0604020202020204" pitchFamily="34" charset="0"/>
              </a:rPr>
              <a:t>y[1][0] 	y[1][1] 	y[1][2] </a:t>
            </a:r>
          </a:p>
          <a:p>
            <a:pPr marL="0" indent="0">
              <a:spcBef>
                <a:spcPts val="600"/>
              </a:spcBef>
              <a:spcAft>
                <a:spcPts val="600"/>
              </a:spcAft>
              <a:buNone/>
            </a:pPr>
            <a:r>
              <a:rPr lang="en-AU" sz="2400" i="1" dirty="0">
                <a:solidFill>
                  <a:srgbClr val="FF0000"/>
                </a:solidFill>
                <a:latin typeface="Arial" panose="020B0604020202020204" pitchFamily="34" charset="0"/>
                <a:cs typeface="Arial" panose="020B0604020202020204" pitchFamily="34" charset="0"/>
              </a:rPr>
              <a:t>	</a:t>
            </a:r>
            <a:r>
              <a:rPr lang="vi-VN" sz="2400" i="1" dirty="0">
                <a:solidFill>
                  <a:srgbClr val="FF0000"/>
                </a:solidFill>
                <a:latin typeface="Arial" panose="020B0604020202020204" pitchFamily="34" charset="0"/>
                <a:cs typeface="Arial" panose="020B0604020202020204" pitchFamily="34" charset="0"/>
              </a:rPr>
              <a:t>y[2][0] 	y[2][1] 	y[2][2]</a:t>
            </a:r>
          </a:p>
          <a:p>
            <a:pPr marL="0" indent="0">
              <a:spcBef>
                <a:spcPts val="600"/>
              </a:spcBef>
              <a:spcAft>
                <a:spcPts val="600"/>
              </a:spcAft>
              <a:buNone/>
            </a:pPr>
            <a:r>
              <a:rPr lang="en-AU" sz="2400" b="0" i="1">
                <a:solidFill>
                  <a:srgbClr val="002060"/>
                </a:solidFill>
                <a:latin typeface="Arial" panose="020B0604020202020204" pitchFamily="34" charset="0"/>
                <a:cs typeface="Arial" panose="020B0604020202020204" pitchFamily="34" charset="0"/>
              </a:rPr>
              <a:t>     </a:t>
            </a:r>
          </a:p>
          <a:p>
            <a:pPr marL="0" indent="0">
              <a:spcBef>
                <a:spcPts val="600"/>
              </a:spcBef>
              <a:spcAft>
                <a:spcPts val="600"/>
              </a:spcAft>
              <a:buNone/>
            </a:pPr>
            <a:r>
              <a:rPr lang="vi-VN" sz="2400" b="0">
                <a:solidFill>
                  <a:srgbClr val="002060"/>
                </a:solidFill>
                <a:latin typeface="Arial" panose="020B0604020202020204" pitchFamily="34" charset="0"/>
                <a:cs typeface="Arial" panose="020B0604020202020204" pitchFamily="34" charset="0"/>
              </a:rPr>
              <a:t>Mỗi </a:t>
            </a:r>
            <a:r>
              <a:rPr lang="vi-VN" sz="2400" b="0" dirty="0">
                <a:solidFill>
                  <a:srgbClr val="002060"/>
                </a:solidFill>
                <a:latin typeface="Arial" panose="020B0604020202020204" pitchFamily="34" charset="0"/>
                <a:cs typeface="Arial" panose="020B0604020202020204" pitchFamily="34" charset="0"/>
              </a:rPr>
              <a:t>phần tử </a:t>
            </a:r>
            <a:r>
              <a:rPr lang="vi-VN" sz="2400" dirty="0">
                <a:solidFill>
                  <a:srgbClr val="FF0000"/>
                </a:solidFill>
                <a:latin typeface="Arial" panose="020B0604020202020204" pitchFamily="34" charset="0"/>
                <a:cs typeface="Arial" panose="020B0604020202020204" pitchFamily="34" charset="0"/>
              </a:rPr>
              <a:t>y[i][j]</a:t>
            </a:r>
            <a:r>
              <a:rPr lang="vi-VN" sz="2400" b="0" dirty="0">
                <a:solidFill>
                  <a:srgbClr val="002060"/>
                </a:solidFill>
                <a:latin typeface="Arial" panose="020B0604020202020204" pitchFamily="34" charset="0"/>
                <a:cs typeface="Arial" panose="020B0604020202020204" pitchFamily="34" charset="0"/>
              </a:rPr>
              <a:t> chứa được một giá trị kiểu float, và mảng y có thể biểu diễn được một bảng số thực 3 dòng, 3 </a:t>
            </a:r>
            <a:r>
              <a:rPr lang="vi-VN" sz="2400" b="0">
                <a:solidFill>
                  <a:srgbClr val="002060"/>
                </a:solidFill>
                <a:latin typeface="Arial" panose="020B0604020202020204" pitchFamily="34" charset="0"/>
                <a:cs typeface="Arial" panose="020B0604020202020204" pitchFamily="34" charset="0"/>
              </a:rPr>
              <a:t>cột </a:t>
            </a:r>
            <a:r>
              <a:rPr lang="en-US" sz="2400" b="0">
                <a:solidFill>
                  <a:srgbClr val="002060"/>
                </a:solidFill>
                <a:latin typeface="Arial" panose="020B0604020202020204" pitchFamily="34" charset="0"/>
                <a:cs typeface="Arial" panose="020B0604020202020204" pitchFamily="34" charset="0"/>
              </a:rPr>
              <a:t>.</a:t>
            </a:r>
            <a:endParaRPr lang="en-US" sz="2400" b="0" dirty="0">
              <a:solidFill>
                <a:srgbClr val="002060"/>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22</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a:t>2.4. Mảng</a:t>
            </a:r>
            <a:endParaRPr lang="en-US" sz="3600" dirty="0"/>
          </a:p>
        </p:txBody>
      </p:sp>
    </p:spTree>
    <p:extLst>
      <p:ext uri="{BB962C8B-B14F-4D97-AF65-F5344CB8AC3E}">
        <p14:creationId xmlns:p14="http://schemas.microsoft.com/office/powerpoint/2010/main" val="3894679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Khái</a:t>
            </a:r>
            <a:r>
              <a:rPr lang="en-AU" sz="2400" dirty="0">
                <a:solidFill>
                  <a:srgbClr val="002060"/>
                </a:solidFill>
                <a:cs typeface="Arial" charset="0"/>
              </a:rPr>
              <a:t> </a:t>
            </a:r>
            <a:r>
              <a:rPr lang="en-AU" sz="2400" dirty="0" err="1">
                <a:solidFill>
                  <a:srgbClr val="002060"/>
                </a:solidFill>
                <a:cs typeface="Arial" charset="0"/>
              </a:rPr>
              <a:t>niệm</a:t>
            </a:r>
            <a:r>
              <a:rPr lang="en-AU" sz="2400" dirty="0">
                <a:solidFill>
                  <a:srgbClr val="002060"/>
                </a:solidFill>
                <a:cs typeface="Arial" charset="0"/>
              </a:rPr>
              <a:t> </a:t>
            </a:r>
            <a:r>
              <a:rPr lang="en-AU" sz="2400" dirty="0" err="1">
                <a:solidFill>
                  <a:srgbClr val="002060"/>
                </a:solidFill>
                <a:cs typeface="Arial" charset="0"/>
              </a:rPr>
              <a:t>về</a:t>
            </a:r>
            <a:r>
              <a:rPr lang="en-AU" sz="2400" dirty="0">
                <a:solidFill>
                  <a:srgbClr val="002060"/>
                </a:solidFill>
                <a:cs typeface="Arial" charset="0"/>
              </a:rPr>
              <a:t> Biểu </a:t>
            </a:r>
            <a:r>
              <a:rPr lang="en-AU" sz="2400" dirty="0" err="1">
                <a:solidFill>
                  <a:srgbClr val="002060"/>
                </a:solidFill>
                <a:cs typeface="Arial" charset="0"/>
              </a:rPr>
              <a:t>thức</a:t>
            </a:r>
            <a:r>
              <a:rPr lang="en-AU" sz="2400" dirty="0">
                <a:solidFill>
                  <a:srgbClr val="002060"/>
                </a:solidFill>
                <a:cs typeface="Arial" charset="0"/>
              </a:rPr>
              <a:t>: </a:t>
            </a:r>
            <a:r>
              <a:rPr lang="en-AU" sz="2400" b="0" dirty="0" err="1">
                <a:solidFill>
                  <a:srgbClr val="002060"/>
                </a:solidFill>
                <a:cs typeface="Arial" charset="0"/>
              </a:rPr>
              <a:t>là</a:t>
            </a:r>
            <a:r>
              <a:rPr lang="en-AU" sz="2400" b="0" dirty="0">
                <a:solidFill>
                  <a:srgbClr val="002060"/>
                </a:solidFill>
                <a:cs typeface="Arial" charset="0"/>
              </a:rPr>
              <a:t> </a:t>
            </a:r>
            <a:r>
              <a:rPr lang="en-AU" sz="2400" b="0" dirty="0" err="1">
                <a:solidFill>
                  <a:srgbClr val="002060"/>
                </a:solidFill>
                <a:cs typeface="Arial" charset="0"/>
              </a:rPr>
              <a:t>một</a:t>
            </a:r>
            <a:r>
              <a:rPr lang="en-AU" sz="2400" b="0" dirty="0">
                <a:solidFill>
                  <a:srgbClr val="002060"/>
                </a:solidFill>
                <a:cs typeface="Arial" charset="0"/>
              </a:rPr>
              <a:t> </a:t>
            </a:r>
            <a:r>
              <a:rPr lang="en-AU" sz="2400" b="0" dirty="0" err="1">
                <a:solidFill>
                  <a:srgbClr val="002060"/>
                </a:solidFill>
                <a:cs typeface="Arial" charset="0"/>
              </a:rPr>
              <a:t>sự</a:t>
            </a:r>
            <a:r>
              <a:rPr lang="en-AU" sz="2400" b="0" dirty="0">
                <a:solidFill>
                  <a:srgbClr val="002060"/>
                </a:solidFill>
                <a:cs typeface="Arial" charset="0"/>
              </a:rPr>
              <a:t> </a:t>
            </a:r>
            <a:r>
              <a:rPr lang="en-AU" sz="2400" b="0" dirty="0" err="1">
                <a:solidFill>
                  <a:srgbClr val="002060"/>
                </a:solidFill>
                <a:cs typeface="Arial" charset="0"/>
              </a:rPr>
              <a:t>kết</a:t>
            </a:r>
            <a:r>
              <a:rPr lang="en-AU" sz="2400" b="0" dirty="0">
                <a:solidFill>
                  <a:srgbClr val="002060"/>
                </a:solidFill>
                <a:cs typeface="Arial" charset="0"/>
              </a:rPr>
              <a:t> </a:t>
            </a:r>
            <a:r>
              <a:rPr lang="en-AU" sz="2400" b="0" dirty="0" err="1">
                <a:solidFill>
                  <a:srgbClr val="002060"/>
                </a:solidFill>
                <a:cs typeface="Arial" charset="0"/>
              </a:rPr>
              <a:t>hợp</a:t>
            </a:r>
            <a:r>
              <a:rPr lang="en-AU" sz="2400" b="0" dirty="0">
                <a:solidFill>
                  <a:srgbClr val="002060"/>
                </a:solidFill>
                <a:cs typeface="Arial" charset="0"/>
              </a:rPr>
              <a:t> </a:t>
            </a:r>
            <a:r>
              <a:rPr lang="en-AU" sz="2400" b="0" dirty="0" err="1">
                <a:solidFill>
                  <a:srgbClr val="002060"/>
                </a:solidFill>
                <a:cs typeface="Arial" charset="0"/>
              </a:rPr>
              <a:t>giữa</a:t>
            </a:r>
            <a:r>
              <a:rPr lang="en-AU" sz="2400" b="0" dirty="0">
                <a:solidFill>
                  <a:srgbClr val="002060"/>
                </a:solidFill>
                <a:cs typeface="Arial" charset="0"/>
              </a:rPr>
              <a:t> </a:t>
            </a:r>
            <a:r>
              <a:rPr lang="en-AU" sz="2400" b="0" dirty="0" err="1">
                <a:solidFill>
                  <a:srgbClr val="002060"/>
                </a:solidFill>
                <a:cs typeface="Arial" charset="0"/>
              </a:rPr>
              <a:t>các</a:t>
            </a:r>
            <a:r>
              <a:rPr lang="en-AU" sz="2400" b="0" dirty="0">
                <a:solidFill>
                  <a:srgbClr val="002060"/>
                </a:solidFill>
                <a:cs typeface="Arial" charset="0"/>
              </a:rPr>
              <a:t> </a:t>
            </a:r>
            <a:r>
              <a:rPr lang="en-AU" sz="2400" b="0" dirty="0" err="1">
                <a:solidFill>
                  <a:srgbClr val="002060"/>
                </a:solidFill>
                <a:cs typeface="Arial" charset="0"/>
              </a:rPr>
              <a:t>phép</a:t>
            </a:r>
            <a:r>
              <a:rPr lang="en-AU" sz="2400" b="0" dirty="0">
                <a:solidFill>
                  <a:srgbClr val="002060"/>
                </a:solidFill>
                <a:cs typeface="Arial" charset="0"/>
              </a:rPr>
              <a:t> </a:t>
            </a:r>
            <a:r>
              <a:rPr lang="en-AU" sz="2400" b="0" dirty="0" err="1">
                <a:solidFill>
                  <a:srgbClr val="002060"/>
                </a:solidFill>
                <a:cs typeface="Arial" charset="0"/>
              </a:rPr>
              <a:t>toán</a:t>
            </a:r>
            <a:r>
              <a:rPr lang="en-AU" sz="2400" b="0" dirty="0">
                <a:solidFill>
                  <a:srgbClr val="002060"/>
                </a:solidFill>
                <a:cs typeface="Arial" charset="0"/>
              </a:rPr>
              <a:t> </a:t>
            </a:r>
            <a:r>
              <a:rPr lang="en-AU" sz="2400" b="0" dirty="0" err="1">
                <a:solidFill>
                  <a:srgbClr val="002060"/>
                </a:solidFill>
                <a:cs typeface="Arial" charset="0"/>
              </a:rPr>
              <a:t>và</a:t>
            </a:r>
            <a:r>
              <a:rPr lang="en-AU" sz="2400" b="0" dirty="0">
                <a:solidFill>
                  <a:srgbClr val="002060"/>
                </a:solidFill>
                <a:cs typeface="Arial" charset="0"/>
              </a:rPr>
              <a:t> </a:t>
            </a:r>
            <a:r>
              <a:rPr lang="en-AU" sz="2400" b="0" dirty="0" err="1">
                <a:solidFill>
                  <a:srgbClr val="002060"/>
                </a:solidFill>
                <a:cs typeface="Arial" charset="0"/>
              </a:rPr>
              <a:t>các</a:t>
            </a:r>
            <a:r>
              <a:rPr lang="en-AU" sz="2400" b="0" dirty="0">
                <a:solidFill>
                  <a:srgbClr val="002060"/>
                </a:solidFill>
                <a:cs typeface="Arial" charset="0"/>
              </a:rPr>
              <a:t> </a:t>
            </a:r>
            <a:r>
              <a:rPr lang="en-AU" sz="2400" b="0" dirty="0" err="1">
                <a:solidFill>
                  <a:srgbClr val="002060"/>
                </a:solidFill>
                <a:cs typeface="Arial" charset="0"/>
              </a:rPr>
              <a:t>toán</a:t>
            </a:r>
            <a:r>
              <a:rPr lang="en-AU" sz="2400" b="0" dirty="0">
                <a:solidFill>
                  <a:srgbClr val="002060"/>
                </a:solidFill>
                <a:cs typeface="Arial" charset="0"/>
              </a:rPr>
              <a:t> </a:t>
            </a:r>
            <a:r>
              <a:rPr lang="en-AU" sz="2400" b="0" dirty="0" err="1">
                <a:solidFill>
                  <a:srgbClr val="002060"/>
                </a:solidFill>
                <a:cs typeface="Arial" charset="0"/>
              </a:rPr>
              <a:t>hạng</a:t>
            </a:r>
            <a:r>
              <a:rPr lang="en-AU" sz="2400" b="0" dirty="0">
                <a:solidFill>
                  <a:srgbClr val="002060"/>
                </a:solidFill>
                <a:cs typeface="Arial" charset="0"/>
              </a:rPr>
              <a:t> </a:t>
            </a:r>
            <a:r>
              <a:rPr lang="en-AU" sz="2400" b="0" dirty="0" err="1">
                <a:solidFill>
                  <a:srgbClr val="002060"/>
                </a:solidFill>
                <a:cs typeface="Arial" charset="0"/>
              </a:rPr>
              <a:t>để</a:t>
            </a:r>
            <a:r>
              <a:rPr lang="en-AU" sz="2400" b="0" dirty="0">
                <a:solidFill>
                  <a:srgbClr val="002060"/>
                </a:solidFill>
                <a:cs typeface="Arial" charset="0"/>
              </a:rPr>
              <a:t> </a:t>
            </a:r>
            <a:r>
              <a:rPr lang="en-AU" sz="2400" b="0" dirty="0" err="1">
                <a:solidFill>
                  <a:srgbClr val="002060"/>
                </a:solidFill>
                <a:cs typeface="Arial" charset="0"/>
              </a:rPr>
              <a:t>diễn</a:t>
            </a:r>
            <a:r>
              <a:rPr lang="en-AU" sz="2400" b="0" dirty="0">
                <a:solidFill>
                  <a:srgbClr val="002060"/>
                </a:solidFill>
                <a:cs typeface="Arial" charset="0"/>
              </a:rPr>
              <a:t> </a:t>
            </a:r>
            <a:r>
              <a:rPr lang="en-AU" sz="2400" b="0" dirty="0" err="1">
                <a:solidFill>
                  <a:srgbClr val="002060"/>
                </a:solidFill>
                <a:cs typeface="Arial" charset="0"/>
              </a:rPr>
              <a:t>đạt</a:t>
            </a:r>
            <a:r>
              <a:rPr lang="en-AU" sz="2400" b="0" dirty="0">
                <a:solidFill>
                  <a:srgbClr val="002060"/>
                </a:solidFill>
                <a:cs typeface="Arial" charset="0"/>
              </a:rPr>
              <a:t> </a:t>
            </a:r>
            <a:r>
              <a:rPr lang="en-AU" sz="2400" b="0" dirty="0" err="1">
                <a:solidFill>
                  <a:srgbClr val="002060"/>
                </a:solidFill>
                <a:cs typeface="Arial" charset="0"/>
              </a:rPr>
              <a:t>một</a:t>
            </a:r>
            <a:r>
              <a:rPr lang="en-AU" sz="2400" b="0" dirty="0">
                <a:solidFill>
                  <a:srgbClr val="002060"/>
                </a:solidFill>
                <a:cs typeface="Arial" charset="0"/>
              </a:rPr>
              <a:t> </a:t>
            </a:r>
            <a:r>
              <a:rPr lang="en-AU" sz="2400" b="0" dirty="0" err="1">
                <a:solidFill>
                  <a:srgbClr val="002060"/>
                </a:solidFill>
                <a:cs typeface="Arial" charset="0"/>
              </a:rPr>
              <a:t>công</a:t>
            </a:r>
            <a:r>
              <a:rPr lang="en-AU" sz="2400" b="0" dirty="0">
                <a:solidFill>
                  <a:srgbClr val="002060"/>
                </a:solidFill>
                <a:cs typeface="Arial" charset="0"/>
              </a:rPr>
              <a:t> </a:t>
            </a:r>
            <a:r>
              <a:rPr lang="en-AU" sz="2400" b="0" dirty="0" err="1">
                <a:solidFill>
                  <a:srgbClr val="002060"/>
                </a:solidFill>
                <a:cs typeface="Arial" charset="0"/>
              </a:rPr>
              <a:t>thức</a:t>
            </a:r>
            <a:r>
              <a:rPr lang="en-AU" sz="2400" b="0" dirty="0">
                <a:solidFill>
                  <a:srgbClr val="002060"/>
                </a:solidFill>
                <a:cs typeface="Arial" charset="0"/>
              </a:rPr>
              <a:t> </a:t>
            </a:r>
            <a:r>
              <a:rPr lang="en-AU" sz="2400" b="0" dirty="0" err="1">
                <a:solidFill>
                  <a:srgbClr val="002060"/>
                </a:solidFill>
                <a:cs typeface="Arial" charset="0"/>
              </a:rPr>
              <a:t>toán</a:t>
            </a:r>
            <a:r>
              <a:rPr lang="en-AU" sz="2400" b="0" dirty="0">
                <a:solidFill>
                  <a:srgbClr val="002060"/>
                </a:solidFill>
                <a:cs typeface="Arial" charset="0"/>
              </a:rPr>
              <a:t> </a:t>
            </a:r>
            <a:r>
              <a:rPr lang="en-AU" sz="2400" b="0" dirty="0" err="1">
                <a:solidFill>
                  <a:srgbClr val="002060"/>
                </a:solidFill>
                <a:cs typeface="Arial" charset="0"/>
              </a:rPr>
              <a:t>học</a:t>
            </a:r>
            <a:r>
              <a:rPr lang="en-AU" sz="2400" b="0" dirty="0">
                <a:solidFill>
                  <a:srgbClr val="002060"/>
                </a:solidFill>
                <a:cs typeface="Arial" charset="0"/>
              </a:rPr>
              <a:t> </a:t>
            </a:r>
            <a:r>
              <a:rPr lang="en-AU" sz="2400" b="0" dirty="0" err="1">
                <a:solidFill>
                  <a:srgbClr val="002060"/>
                </a:solidFill>
                <a:cs typeface="Arial" charset="0"/>
              </a:rPr>
              <a:t>nào</a:t>
            </a:r>
            <a:r>
              <a:rPr lang="en-AU" sz="2400" b="0" dirty="0">
                <a:solidFill>
                  <a:srgbClr val="002060"/>
                </a:solidFill>
                <a:cs typeface="Arial" charset="0"/>
              </a:rPr>
              <a:t> </a:t>
            </a:r>
            <a:r>
              <a:rPr lang="en-AU" sz="2400" b="0" dirty="0" err="1">
                <a:solidFill>
                  <a:srgbClr val="002060"/>
                </a:solidFill>
                <a:cs typeface="Arial" charset="0"/>
              </a:rPr>
              <a:t>đó</a:t>
            </a:r>
            <a:r>
              <a:rPr lang="en-AU" sz="2400" b="0" dirty="0">
                <a:solidFill>
                  <a:srgbClr val="002060"/>
                </a:solidFill>
                <a:cs typeface="Arial" charset="0"/>
              </a:rPr>
              <a:t>. Khi </a:t>
            </a:r>
            <a:r>
              <a:rPr lang="en-AU" sz="2400" b="0" dirty="0" err="1">
                <a:solidFill>
                  <a:srgbClr val="002060"/>
                </a:solidFill>
                <a:cs typeface="Arial" charset="0"/>
              </a:rPr>
              <a:t>viết</a:t>
            </a:r>
            <a:r>
              <a:rPr lang="en-AU" sz="2400" b="0" dirty="0">
                <a:solidFill>
                  <a:srgbClr val="002060"/>
                </a:solidFill>
                <a:cs typeface="Arial" charset="0"/>
              </a:rPr>
              <a:t> </a:t>
            </a:r>
            <a:r>
              <a:rPr lang="en-AU" sz="2400" b="0" dirty="0" err="1">
                <a:solidFill>
                  <a:srgbClr val="002060"/>
                </a:solidFill>
                <a:cs typeface="Arial" charset="0"/>
              </a:rPr>
              <a:t>biểu</a:t>
            </a:r>
            <a:r>
              <a:rPr lang="en-AU" sz="2400" b="0" dirty="0">
                <a:solidFill>
                  <a:srgbClr val="002060"/>
                </a:solidFill>
                <a:cs typeface="Arial" charset="0"/>
              </a:rPr>
              <a:t> </a:t>
            </a:r>
            <a:r>
              <a:rPr lang="en-AU" sz="2400" b="0" dirty="0" err="1">
                <a:solidFill>
                  <a:srgbClr val="002060"/>
                </a:solidFill>
                <a:cs typeface="Arial" charset="0"/>
              </a:rPr>
              <a:t>thức</a:t>
            </a:r>
            <a:r>
              <a:rPr lang="en-AU" sz="2400" b="0" dirty="0">
                <a:solidFill>
                  <a:srgbClr val="002060"/>
                </a:solidFill>
                <a:cs typeface="Arial" charset="0"/>
              </a:rPr>
              <a:t> </a:t>
            </a:r>
            <a:r>
              <a:rPr lang="en-AU" sz="2400" b="0" dirty="0" err="1">
                <a:solidFill>
                  <a:srgbClr val="002060"/>
                </a:solidFill>
                <a:cs typeface="Arial" charset="0"/>
              </a:rPr>
              <a:t>có</a:t>
            </a:r>
            <a:r>
              <a:rPr lang="en-AU" sz="2400" b="0" dirty="0">
                <a:solidFill>
                  <a:srgbClr val="002060"/>
                </a:solidFill>
                <a:cs typeface="Arial" charset="0"/>
              </a:rPr>
              <a:t> </a:t>
            </a:r>
            <a:r>
              <a:rPr lang="en-AU" sz="2400" b="0" dirty="0" err="1">
                <a:solidFill>
                  <a:srgbClr val="002060"/>
                </a:solidFill>
                <a:cs typeface="Arial" charset="0"/>
              </a:rPr>
              <a:t>thể</a:t>
            </a:r>
            <a:r>
              <a:rPr lang="en-AU" sz="2400" b="0" dirty="0">
                <a:solidFill>
                  <a:srgbClr val="002060"/>
                </a:solidFill>
                <a:cs typeface="Arial" charset="0"/>
              </a:rPr>
              <a:t> </a:t>
            </a:r>
            <a:r>
              <a:rPr lang="en-AU" sz="2400" b="0" dirty="0" err="1">
                <a:solidFill>
                  <a:srgbClr val="002060"/>
                </a:solidFill>
                <a:cs typeface="Arial" charset="0"/>
              </a:rPr>
              <a:t>và</a:t>
            </a:r>
            <a:r>
              <a:rPr lang="en-AU" sz="2400" b="0" dirty="0">
                <a:solidFill>
                  <a:srgbClr val="002060"/>
                </a:solidFill>
                <a:cs typeface="Arial" charset="0"/>
              </a:rPr>
              <a:t> </a:t>
            </a:r>
            <a:r>
              <a:rPr lang="en-AU" sz="2400" b="0" dirty="0" err="1">
                <a:solidFill>
                  <a:srgbClr val="002060"/>
                </a:solidFill>
                <a:cs typeface="Arial" charset="0"/>
              </a:rPr>
              <a:t>nên</a:t>
            </a:r>
            <a:r>
              <a:rPr lang="en-AU" sz="2400" b="0" dirty="0">
                <a:solidFill>
                  <a:srgbClr val="002060"/>
                </a:solidFill>
                <a:cs typeface="Arial" charset="0"/>
              </a:rPr>
              <a:t> </a:t>
            </a:r>
            <a:r>
              <a:rPr lang="en-AU" sz="2400" b="0" dirty="0" err="1">
                <a:solidFill>
                  <a:srgbClr val="002060"/>
                </a:solidFill>
                <a:cs typeface="Arial" charset="0"/>
              </a:rPr>
              <a:t>dùng</a:t>
            </a:r>
            <a:r>
              <a:rPr lang="en-AU" sz="2400" b="0" dirty="0">
                <a:solidFill>
                  <a:srgbClr val="002060"/>
                </a:solidFill>
                <a:cs typeface="Arial" charset="0"/>
              </a:rPr>
              <a:t> </a:t>
            </a:r>
            <a:r>
              <a:rPr lang="en-AU" sz="2400" b="0" dirty="0" err="1">
                <a:solidFill>
                  <a:srgbClr val="002060"/>
                </a:solidFill>
                <a:cs typeface="Arial" charset="0"/>
              </a:rPr>
              <a:t>các</a:t>
            </a:r>
            <a:r>
              <a:rPr lang="en-AU" sz="2400" b="0" dirty="0">
                <a:solidFill>
                  <a:srgbClr val="002060"/>
                </a:solidFill>
                <a:cs typeface="Arial" charset="0"/>
              </a:rPr>
              <a:t> </a:t>
            </a:r>
            <a:r>
              <a:rPr lang="en-AU" sz="2400" b="0" dirty="0" err="1">
                <a:solidFill>
                  <a:srgbClr val="002060"/>
                </a:solidFill>
                <a:cs typeface="Arial" charset="0"/>
              </a:rPr>
              <a:t>dấu</a:t>
            </a:r>
            <a:r>
              <a:rPr lang="en-AU" sz="2400" b="0" dirty="0">
                <a:solidFill>
                  <a:srgbClr val="002060"/>
                </a:solidFill>
                <a:cs typeface="Arial" charset="0"/>
              </a:rPr>
              <a:t> </a:t>
            </a:r>
            <a:r>
              <a:rPr lang="en-AU" sz="2400" b="0" dirty="0" err="1">
                <a:solidFill>
                  <a:srgbClr val="002060"/>
                </a:solidFill>
                <a:cs typeface="Arial" charset="0"/>
              </a:rPr>
              <a:t>ngoặc</a:t>
            </a:r>
            <a:r>
              <a:rPr lang="en-AU" sz="2400" b="0" dirty="0">
                <a:solidFill>
                  <a:srgbClr val="002060"/>
                </a:solidFill>
                <a:cs typeface="Arial" charset="0"/>
              </a:rPr>
              <a:t> </a:t>
            </a:r>
            <a:r>
              <a:rPr lang="en-AU" sz="2400" b="0" dirty="0" err="1">
                <a:solidFill>
                  <a:srgbClr val="002060"/>
                </a:solidFill>
                <a:cs typeface="Arial" charset="0"/>
              </a:rPr>
              <a:t>tròn</a:t>
            </a:r>
            <a:r>
              <a:rPr lang="en-AU" sz="2400" b="0" dirty="0">
                <a:solidFill>
                  <a:srgbClr val="002060"/>
                </a:solidFill>
                <a:cs typeface="Arial" charset="0"/>
              </a:rPr>
              <a:t> </a:t>
            </a:r>
            <a:r>
              <a:rPr lang="en-AU" sz="2400" b="0" dirty="0" err="1">
                <a:solidFill>
                  <a:srgbClr val="002060"/>
                </a:solidFill>
                <a:cs typeface="Arial" charset="0"/>
              </a:rPr>
              <a:t>để</a:t>
            </a:r>
            <a:r>
              <a:rPr lang="en-AU" sz="2400" b="0" dirty="0">
                <a:solidFill>
                  <a:srgbClr val="002060"/>
                </a:solidFill>
                <a:cs typeface="Arial" charset="0"/>
              </a:rPr>
              <a:t> </a:t>
            </a:r>
            <a:r>
              <a:rPr lang="en-AU" sz="2400" b="0" dirty="0" err="1">
                <a:solidFill>
                  <a:srgbClr val="002060"/>
                </a:solidFill>
                <a:cs typeface="Arial" charset="0"/>
              </a:rPr>
              <a:t>thể</a:t>
            </a:r>
            <a:r>
              <a:rPr lang="en-AU" sz="2400" b="0" dirty="0">
                <a:solidFill>
                  <a:srgbClr val="002060"/>
                </a:solidFill>
                <a:cs typeface="Arial" charset="0"/>
              </a:rPr>
              <a:t> </a:t>
            </a:r>
            <a:r>
              <a:rPr lang="en-AU" sz="2400" b="0" dirty="0" err="1">
                <a:solidFill>
                  <a:srgbClr val="002060"/>
                </a:solidFill>
                <a:cs typeface="Arial" charset="0"/>
              </a:rPr>
              <a:t>hiện</a:t>
            </a:r>
            <a:r>
              <a:rPr lang="en-AU" sz="2400" b="0" dirty="0">
                <a:solidFill>
                  <a:srgbClr val="002060"/>
                </a:solidFill>
                <a:cs typeface="Arial" charset="0"/>
              </a:rPr>
              <a:t> </a:t>
            </a:r>
            <a:r>
              <a:rPr lang="en-AU" sz="2400" b="0" dirty="0" err="1">
                <a:solidFill>
                  <a:srgbClr val="002060"/>
                </a:solidFill>
                <a:cs typeface="Arial" charset="0"/>
              </a:rPr>
              <a:t>đúng</a:t>
            </a:r>
            <a:r>
              <a:rPr lang="en-AU" sz="2400" b="0" dirty="0">
                <a:solidFill>
                  <a:srgbClr val="002060"/>
                </a:solidFill>
                <a:cs typeface="Arial" charset="0"/>
              </a:rPr>
              <a:t> </a:t>
            </a:r>
            <a:r>
              <a:rPr lang="en-AU" sz="2400" b="0" dirty="0" err="1">
                <a:solidFill>
                  <a:srgbClr val="002060"/>
                </a:solidFill>
                <a:cs typeface="Arial" charset="0"/>
              </a:rPr>
              <a:t>trình</a:t>
            </a:r>
            <a:r>
              <a:rPr lang="en-AU" sz="2400" b="0" dirty="0">
                <a:solidFill>
                  <a:srgbClr val="002060"/>
                </a:solidFill>
                <a:cs typeface="Arial" charset="0"/>
              </a:rPr>
              <a:t> </a:t>
            </a:r>
            <a:r>
              <a:rPr lang="en-AU" sz="2400" b="0" dirty="0" err="1">
                <a:solidFill>
                  <a:srgbClr val="002060"/>
                </a:solidFill>
                <a:cs typeface="Arial" charset="0"/>
              </a:rPr>
              <a:t>tự</a:t>
            </a:r>
            <a:r>
              <a:rPr lang="en-AU" sz="2400" b="0" dirty="0">
                <a:solidFill>
                  <a:srgbClr val="002060"/>
                </a:solidFill>
                <a:cs typeface="Arial" charset="0"/>
              </a:rPr>
              <a:t> </a:t>
            </a:r>
            <a:r>
              <a:rPr lang="en-AU" sz="2400" b="0" dirty="0" err="1">
                <a:solidFill>
                  <a:srgbClr val="002060"/>
                </a:solidFill>
                <a:cs typeface="Arial" charset="0"/>
              </a:rPr>
              <a:t>tính</a:t>
            </a:r>
            <a:r>
              <a:rPr lang="en-AU" sz="2400" b="0" dirty="0">
                <a:solidFill>
                  <a:srgbClr val="002060"/>
                </a:solidFill>
                <a:cs typeface="Arial" charset="0"/>
              </a:rPr>
              <a:t> </a:t>
            </a:r>
            <a:r>
              <a:rPr lang="en-AU" sz="2400" b="0" dirty="0" err="1">
                <a:solidFill>
                  <a:srgbClr val="002060"/>
                </a:solidFill>
                <a:cs typeface="Arial" charset="0"/>
              </a:rPr>
              <a:t>toán</a:t>
            </a:r>
            <a:r>
              <a:rPr lang="en-AU" sz="2400" b="0" dirty="0">
                <a:solidFill>
                  <a:srgbClr val="002060"/>
                </a:solidFill>
                <a:cs typeface="Arial" charset="0"/>
              </a:rPr>
              <a:t> </a:t>
            </a:r>
            <a:r>
              <a:rPr lang="en-AU" sz="2400" b="0" dirty="0" err="1">
                <a:solidFill>
                  <a:srgbClr val="002060"/>
                </a:solidFill>
                <a:cs typeface="Arial" charset="0"/>
              </a:rPr>
              <a:t>trong</a:t>
            </a:r>
            <a:r>
              <a:rPr lang="en-AU" sz="2400" b="0" dirty="0">
                <a:solidFill>
                  <a:srgbClr val="002060"/>
                </a:solidFill>
                <a:cs typeface="Arial" charset="0"/>
              </a:rPr>
              <a:t> </a:t>
            </a:r>
            <a:r>
              <a:rPr lang="en-AU" sz="2400" b="0" dirty="0" err="1">
                <a:solidFill>
                  <a:srgbClr val="002060"/>
                </a:solidFill>
                <a:cs typeface="Arial" charset="0"/>
              </a:rPr>
              <a:t>biểu</a:t>
            </a:r>
            <a:r>
              <a:rPr lang="en-AU" sz="2400" b="0" dirty="0">
                <a:solidFill>
                  <a:srgbClr val="002060"/>
                </a:solidFill>
                <a:cs typeface="Arial" charset="0"/>
              </a:rPr>
              <a:t> </a:t>
            </a:r>
            <a:r>
              <a:rPr lang="en-AU" sz="2400" b="0" dirty="0" err="1">
                <a:solidFill>
                  <a:srgbClr val="002060"/>
                </a:solidFill>
                <a:cs typeface="Arial" charset="0"/>
              </a:rPr>
              <a:t>thức</a:t>
            </a:r>
            <a:r>
              <a:rPr lang="en-AU" sz="2400" b="0" dirty="0">
                <a:solidFill>
                  <a:srgbClr val="002060"/>
                </a:solidFill>
                <a:cs typeface="Arial" charset="0"/>
              </a:rPr>
              <a:t>. </a:t>
            </a:r>
            <a:r>
              <a:rPr lang="en-AU" sz="2400" b="0" dirty="0" err="1">
                <a:solidFill>
                  <a:srgbClr val="002060"/>
                </a:solidFill>
                <a:cs typeface="Arial" charset="0"/>
              </a:rPr>
              <a:t>Mỗi</a:t>
            </a:r>
            <a:r>
              <a:rPr lang="en-AU" sz="2400" b="0" dirty="0">
                <a:solidFill>
                  <a:srgbClr val="002060"/>
                </a:solidFill>
                <a:cs typeface="Arial" charset="0"/>
              </a:rPr>
              <a:t> </a:t>
            </a:r>
            <a:r>
              <a:rPr lang="en-AU" sz="2400" b="0" dirty="0" err="1">
                <a:solidFill>
                  <a:srgbClr val="002060"/>
                </a:solidFill>
                <a:cs typeface="Arial" charset="0"/>
              </a:rPr>
              <a:t>biểu</a:t>
            </a:r>
            <a:r>
              <a:rPr lang="en-AU" sz="2400" b="0" dirty="0">
                <a:solidFill>
                  <a:srgbClr val="002060"/>
                </a:solidFill>
                <a:cs typeface="Arial" charset="0"/>
              </a:rPr>
              <a:t> </a:t>
            </a:r>
            <a:r>
              <a:rPr lang="en-AU" sz="2400" b="0" dirty="0" err="1">
                <a:solidFill>
                  <a:srgbClr val="002060"/>
                </a:solidFill>
                <a:cs typeface="Arial" charset="0"/>
              </a:rPr>
              <a:t>thức</a:t>
            </a:r>
            <a:r>
              <a:rPr lang="en-AU" sz="2400" b="0" dirty="0">
                <a:solidFill>
                  <a:srgbClr val="002060"/>
                </a:solidFill>
                <a:cs typeface="Arial" charset="0"/>
              </a:rPr>
              <a:t> </a:t>
            </a:r>
            <a:r>
              <a:rPr lang="en-AU" sz="2400" b="0" dirty="0" err="1">
                <a:solidFill>
                  <a:srgbClr val="002060"/>
                </a:solidFill>
                <a:cs typeface="Arial" charset="0"/>
              </a:rPr>
              <a:t>sẽ</a:t>
            </a:r>
            <a:r>
              <a:rPr lang="en-AU" sz="2400" b="0" dirty="0">
                <a:solidFill>
                  <a:srgbClr val="002060"/>
                </a:solidFill>
                <a:cs typeface="Arial" charset="0"/>
              </a:rPr>
              <a:t> </a:t>
            </a:r>
            <a:r>
              <a:rPr lang="en-AU" sz="2400" b="0" dirty="0" err="1">
                <a:solidFill>
                  <a:srgbClr val="002060"/>
                </a:solidFill>
                <a:cs typeface="Arial" charset="0"/>
              </a:rPr>
              <a:t>có</a:t>
            </a:r>
            <a:r>
              <a:rPr lang="en-AU" sz="2400" b="0" dirty="0">
                <a:solidFill>
                  <a:srgbClr val="002060"/>
                </a:solidFill>
                <a:cs typeface="Arial" charset="0"/>
              </a:rPr>
              <a:t> </a:t>
            </a:r>
            <a:r>
              <a:rPr lang="en-AU" sz="2400" b="0" dirty="0" err="1">
                <a:solidFill>
                  <a:srgbClr val="002060"/>
                </a:solidFill>
                <a:cs typeface="Arial" charset="0"/>
              </a:rPr>
              <a:t>một</a:t>
            </a:r>
            <a:r>
              <a:rPr lang="en-AU" sz="2400" b="0" dirty="0">
                <a:solidFill>
                  <a:srgbClr val="002060"/>
                </a:solidFill>
                <a:cs typeface="Arial" charset="0"/>
              </a:rPr>
              <a:t> </a:t>
            </a:r>
            <a:r>
              <a:rPr lang="en-AU" sz="2400" b="0" dirty="0" err="1">
                <a:solidFill>
                  <a:srgbClr val="002060"/>
                </a:solidFill>
                <a:cs typeface="Arial" charset="0"/>
              </a:rPr>
              <a:t>giá</a:t>
            </a:r>
            <a:r>
              <a:rPr lang="en-AU" sz="2400" b="0" dirty="0">
                <a:solidFill>
                  <a:srgbClr val="002060"/>
                </a:solidFill>
                <a:cs typeface="Arial" charset="0"/>
              </a:rPr>
              <a:t> </a:t>
            </a:r>
            <a:r>
              <a:rPr lang="en-AU" sz="2400" b="0" dirty="0" err="1">
                <a:solidFill>
                  <a:srgbClr val="002060"/>
                </a:solidFill>
                <a:cs typeface="Arial" charset="0"/>
              </a:rPr>
              <a:t>trị</a:t>
            </a:r>
            <a:r>
              <a:rPr lang="en-AU" sz="2400" b="0" dirty="0">
                <a:solidFill>
                  <a:srgbClr val="002060"/>
                </a:solidFill>
                <a:cs typeface="Arial" charset="0"/>
              </a:rPr>
              <a:t>.</a:t>
            </a:r>
          </a:p>
          <a:p>
            <a:pPr>
              <a:spcBef>
                <a:spcPts val="600"/>
              </a:spcBef>
              <a:spcAft>
                <a:spcPts val="600"/>
              </a:spcAft>
            </a:pPr>
            <a:r>
              <a:rPr lang="en-AU" sz="2400" b="0" dirty="0" err="1">
                <a:solidFill>
                  <a:srgbClr val="002060"/>
                </a:solidFill>
                <a:cs typeface="Arial" charset="0"/>
              </a:rPr>
              <a:t>Trong</a:t>
            </a:r>
            <a:r>
              <a:rPr lang="en-AU" sz="2400" b="0" dirty="0">
                <a:solidFill>
                  <a:srgbClr val="002060"/>
                </a:solidFill>
                <a:cs typeface="Arial" charset="0"/>
              </a:rPr>
              <a:t> C </a:t>
            </a:r>
            <a:r>
              <a:rPr lang="vi-VN" sz="2400" b="0" dirty="0">
                <a:solidFill>
                  <a:srgbClr val="002060"/>
                </a:solidFill>
                <a:cs typeface="Arial" charset="0"/>
              </a:rPr>
              <a:t>đưa ra nhiều quan niệm mới về biểu thức như biểu thức gán, biểu thức điều kiện</a:t>
            </a:r>
            <a:r>
              <a:rPr lang="en-AU" sz="2400" b="0" dirty="0">
                <a:solidFill>
                  <a:srgbClr val="002060"/>
                </a:solidFill>
                <a:cs typeface="Arial" charset="0"/>
              </a:rPr>
              <a:t>.</a:t>
            </a:r>
          </a:p>
          <a:p>
            <a:pPr marL="0" indent="0">
              <a:spcBef>
                <a:spcPts val="600"/>
              </a:spcBef>
              <a:spcAft>
                <a:spcPts val="600"/>
              </a:spcAft>
              <a:buNone/>
            </a:pPr>
            <a:r>
              <a:rPr lang="en-AU" sz="2000" b="0" i="1" dirty="0">
                <a:solidFill>
                  <a:srgbClr val="002060"/>
                </a:solidFill>
                <a:cs typeface="Arial" charset="0"/>
              </a:rPr>
              <a:t>	</a:t>
            </a:r>
            <a:r>
              <a:rPr lang="en-AU" sz="2000" b="0" i="1" dirty="0" err="1">
                <a:solidFill>
                  <a:srgbClr val="002060"/>
                </a:solidFill>
                <a:cs typeface="Arial" charset="0"/>
              </a:rPr>
              <a:t>Ví</a:t>
            </a:r>
            <a:r>
              <a:rPr lang="en-AU" sz="2000" b="0" i="1" dirty="0">
                <a:solidFill>
                  <a:srgbClr val="002060"/>
                </a:solidFill>
                <a:cs typeface="Arial" charset="0"/>
              </a:rPr>
              <a:t> dụ </a:t>
            </a:r>
            <a:r>
              <a:rPr lang="en-AU" sz="2000" b="0" i="1" dirty="0" err="1">
                <a:solidFill>
                  <a:srgbClr val="002060"/>
                </a:solidFill>
                <a:cs typeface="Arial" charset="0"/>
              </a:rPr>
              <a:t>về</a:t>
            </a:r>
            <a:r>
              <a:rPr lang="en-AU" sz="2000" b="0" i="1" dirty="0">
                <a:solidFill>
                  <a:srgbClr val="002060"/>
                </a:solidFill>
                <a:cs typeface="Arial" charset="0"/>
              </a:rPr>
              <a:t> </a:t>
            </a:r>
            <a:r>
              <a:rPr lang="en-AU" sz="2000" b="0" i="1" dirty="0" err="1">
                <a:solidFill>
                  <a:srgbClr val="002060"/>
                </a:solidFill>
                <a:cs typeface="Arial" charset="0"/>
              </a:rPr>
              <a:t>biểu</a:t>
            </a:r>
            <a:r>
              <a:rPr lang="en-AU" sz="2000" b="0" i="1" dirty="0">
                <a:solidFill>
                  <a:srgbClr val="002060"/>
                </a:solidFill>
                <a:cs typeface="Arial" charset="0"/>
              </a:rPr>
              <a:t> </a:t>
            </a:r>
            <a:r>
              <a:rPr lang="en-AU" sz="2000" b="0" i="1" dirty="0" err="1">
                <a:solidFill>
                  <a:srgbClr val="002060"/>
                </a:solidFill>
                <a:cs typeface="Arial" charset="0"/>
              </a:rPr>
              <a:t>thức</a:t>
            </a:r>
            <a:r>
              <a:rPr lang="en-AU" sz="2000" b="0" i="1" dirty="0">
                <a:solidFill>
                  <a:srgbClr val="002060"/>
                </a:solidFill>
                <a:cs typeface="Arial" charset="0"/>
              </a:rPr>
              <a:t> </a:t>
            </a:r>
            <a:r>
              <a:rPr lang="en-AU" sz="2000" b="0" i="1" dirty="0" err="1">
                <a:solidFill>
                  <a:srgbClr val="002060"/>
                </a:solidFill>
                <a:cs typeface="Arial" charset="0"/>
              </a:rPr>
              <a:t>gán</a:t>
            </a:r>
            <a:r>
              <a:rPr lang="en-AU" sz="2000" b="0" i="1" dirty="0">
                <a:solidFill>
                  <a:srgbClr val="002060"/>
                </a:solidFill>
                <a:cs typeface="Arial" charset="0"/>
              </a:rPr>
              <a:t> </a:t>
            </a:r>
            <a:r>
              <a:rPr lang="en-AU" sz="2000" b="0" i="1" dirty="0" err="1">
                <a:solidFill>
                  <a:srgbClr val="002060"/>
                </a:solidFill>
                <a:cs typeface="Arial" charset="0"/>
              </a:rPr>
              <a:t>và</a:t>
            </a:r>
            <a:r>
              <a:rPr lang="en-AU" sz="2000" b="0" i="1" dirty="0">
                <a:solidFill>
                  <a:srgbClr val="002060"/>
                </a:solidFill>
                <a:cs typeface="Arial" charset="0"/>
              </a:rPr>
              <a:t> </a:t>
            </a:r>
            <a:r>
              <a:rPr lang="en-AU" sz="2000" b="0" i="1" dirty="0" err="1">
                <a:solidFill>
                  <a:srgbClr val="002060"/>
                </a:solidFill>
                <a:cs typeface="Arial" charset="0"/>
              </a:rPr>
              <a:t>biểu</a:t>
            </a:r>
            <a:r>
              <a:rPr lang="en-AU" sz="2000" b="0" i="1" dirty="0">
                <a:solidFill>
                  <a:srgbClr val="002060"/>
                </a:solidFill>
                <a:cs typeface="Arial" charset="0"/>
              </a:rPr>
              <a:t> </a:t>
            </a:r>
            <a:r>
              <a:rPr lang="en-AU" sz="2000" b="0" i="1" dirty="0" err="1">
                <a:solidFill>
                  <a:srgbClr val="002060"/>
                </a:solidFill>
                <a:cs typeface="Arial" charset="0"/>
              </a:rPr>
              <a:t>thức</a:t>
            </a:r>
            <a:r>
              <a:rPr lang="en-AU" sz="2000" b="0" i="1" dirty="0">
                <a:solidFill>
                  <a:srgbClr val="002060"/>
                </a:solidFill>
                <a:cs typeface="Arial" charset="0"/>
              </a:rPr>
              <a:t> </a:t>
            </a:r>
            <a:r>
              <a:rPr lang="en-AU" sz="2000" b="0" i="1" dirty="0" err="1">
                <a:solidFill>
                  <a:srgbClr val="002060"/>
                </a:solidFill>
                <a:cs typeface="Arial" charset="0"/>
              </a:rPr>
              <a:t>điều</a:t>
            </a:r>
            <a:r>
              <a:rPr lang="en-AU" sz="2000" b="0" i="1" dirty="0">
                <a:solidFill>
                  <a:srgbClr val="002060"/>
                </a:solidFill>
                <a:cs typeface="Arial" charset="0"/>
              </a:rPr>
              <a:t> </a:t>
            </a:r>
            <a:r>
              <a:rPr lang="en-AU" sz="2000" b="0" i="1" dirty="0" err="1">
                <a:solidFill>
                  <a:srgbClr val="002060"/>
                </a:solidFill>
                <a:cs typeface="Arial" charset="0"/>
              </a:rPr>
              <a:t>kiện</a:t>
            </a:r>
            <a:endParaRPr lang="vi-VN" sz="2000" b="0" i="1"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23</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pic>
        <p:nvPicPr>
          <p:cNvPr id="5" name="Picture 4">
            <a:extLst>
              <a:ext uri="{FF2B5EF4-FFF2-40B4-BE49-F238E27FC236}">
                <a16:creationId xmlns:a16="http://schemas.microsoft.com/office/drawing/2014/main" id="{58CA5A43-4B79-A0CA-2B4A-0247E6D7BDFB}"/>
              </a:ext>
            </a:extLst>
          </p:cNvPr>
          <p:cNvPicPr>
            <a:picLocks noChangeAspect="1"/>
          </p:cNvPicPr>
          <p:nvPr/>
        </p:nvPicPr>
        <p:blipFill>
          <a:blip r:embed="rId2"/>
          <a:stretch>
            <a:fillRect/>
          </a:stretch>
        </p:blipFill>
        <p:spPr>
          <a:xfrm>
            <a:off x="1600200" y="3922906"/>
            <a:ext cx="3109862" cy="2020694"/>
          </a:xfrm>
          <a:prstGeom prst="rect">
            <a:avLst/>
          </a:prstGeom>
        </p:spPr>
      </p:pic>
    </p:spTree>
    <p:extLst>
      <p:ext uri="{BB962C8B-B14F-4D97-AF65-F5344CB8AC3E}">
        <p14:creationId xmlns:p14="http://schemas.microsoft.com/office/powerpoint/2010/main" val="3916108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lnSpcReduction="10000"/>
          </a:bodyPr>
          <a:lstStyle/>
          <a:p>
            <a:pPr>
              <a:spcBef>
                <a:spcPts val="600"/>
              </a:spcBef>
              <a:spcAft>
                <a:spcPts val="600"/>
              </a:spcAft>
            </a:pPr>
            <a:r>
              <a:rPr lang="en-AU" sz="2400" dirty="0">
                <a:solidFill>
                  <a:srgbClr val="002060"/>
                </a:solidFill>
                <a:cs typeface="Arial" charset="0"/>
              </a:rPr>
              <a:t>Các </a:t>
            </a: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a:t>
            </a:r>
            <a:r>
              <a:rPr lang="en-AU" sz="2400" dirty="0" err="1">
                <a:solidFill>
                  <a:srgbClr val="002060"/>
                </a:solidFill>
                <a:cs typeface="Arial" charset="0"/>
              </a:rPr>
              <a:t>số</a:t>
            </a:r>
            <a:r>
              <a:rPr lang="en-AU" sz="2400" dirty="0">
                <a:solidFill>
                  <a:srgbClr val="002060"/>
                </a:solidFill>
                <a:cs typeface="Arial" charset="0"/>
              </a:rPr>
              <a:t> </a:t>
            </a:r>
            <a:r>
              <a:rPr lang="en-AU" sz="2400" dirty="0" err="1">
                <a:solidFill>
                  <a:srgbClr val="002060"/>
                </a:solidFill>
                <a:cs typeface="Arial" charset="0"/>
              </a:rPr>
              <a:t>học</a:t>
            </a:r>
            <a:r>
              <a:rPr lang="en-AU" sz="2400" dirty="0">
                <a:solidFill>
                  <a:srgbClr val="002060"/>
                </a:solidFill>
                <a:cs typeface="Arial" charset="0"/>
              </a:rPr>
              <a:t>: </a:t>
            </a:r>
            <a:endParaRPr lang="en-AU" sz="2400" b="0" dirty="0">
              <a:solidFill>
                <a:srgbClr val="002060"/>
              </a:solidFill>
              <a:cs typeface="Arial" charset="0"/>
            </a:endParaRPr>
          </a:p>
          <a:p>
            <a:pPr lvl="1">
              <a:spcBef>
                <a:spcPts val="600"/>
              </a:spcBef>
              <a:spcAft>
                <a:spcPts val="600"/>
              </a:spcAft>
            </a:pPr>
            <a:r>
              <a:rPr lang="en-AU" sz="2400" dirty="0">
                <a:solidFill>
                  <a:srgbClr val="002060"/>
                </a:solidFill>
                <a:cs typeface="Arial" charset="0"/>
              </a:rPr>
              <a:t>Các </a:t>
            </a: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a:t>
            </a:r>
            <a:r>
              <a:rPr lang="en-AU" sz="2400" dirty="0" err="1">
                <a:solidFill>
                  <a:srgbClr val="002060"/>
                </a:solidFill>
                <a:cs typeface="Arial" charset="0"/>
              </a:rPr>
              <a:t>hai</a:t>
            </a:r>
            <a:r>
              <a:rPr lang="en-AU" sz="2400" dirty="0">
                <a:solidFill>
                  <a:srgbClr val="002060"/>
                </a:solidFill>
                <a:cs typeface="Arial" charset="0"/>
              </a:rPr>
              <a:t> </a:t>
            </a:r>
            <a:r>
              <a:rPr lang="en-AU" sz="2400" dirty="0" err="1">
                <a:solidFill>
                  <a:srgbClr val="002060"/>
                </a:solidFill>
                <a:cs typeface="Arial" charset="0"/>
              </a:rPr>
              <a:t>ngôi</a:t>
            </a:r>
            <a:r>
              <a:rPr lang="en-AU" sz="2400" dirty="0">
                <a:solidFill>
                  <a:srgbClr val="002060"/>
                </a:solidFill>
                <a:cs typeface="Arial" charset="0"/>
              </a:rPr>
              <a:t> </a:t>
            </a:r>
            <a:r>
              <a:rPr lang="en-AU" sz="2400" dirty="0" err="1">
                <a:solidFill>
                  <a:srgbClr val="002060"/>
                </a:solidFill>
                <a:cs typeface="Arial" charset="0"/>
              </a:rPr>
              <a:t>số</a:t>
            </a:r>
            <a:r>
              <a:rPr lang="en-AU" sz="2400" dirty="0">
                <a:solidFill>
                  <a:srgbClr val="002060"/>
                </a:solidFill>
                <a:cs typeface="Arial" charset="0"/>
              </a:rPr>
              <a:t> </a:t>
            </a:r>
            <a:r>
              <a:rPr lang="en-AU" sz="2400" dirty="0" err="1">
                <a:solidFill>
                  <a:srgbClr val="002060"/>
                </a:solidFill>
                <a:cs typeface="Arial" charset="0"/>
              </a:rPr>
              <a:t>học</a:t>
            </a:r>
            <a:r>
              <a:rPr lang="en-AU" sz="2400" dirty="0">
                <a:solidFill>
                  <a:srgbClr val="002060"/>
                </a:solidFill>
                <a:cs typeface="Arial" charset="0"/>
              </a:rPr>
              <a:t> </a:t>
            </a:r>
            <a:r>
              <a:rPr lang="en-AU" sz="2400" dirty="0" err="1">
                <a:solidFill>
                  <a:srgbClr val="002060"/>
                </a:solidFill>
                <a:cs typeface="Arial" charset="0"/>
              </a:rPr>
              <a:t>là</a:t>
            </a:r>
            <a:r>
              <a:rPr lang="en-AU" sz="2400" dirty="0">
                <a:solidFill>
                  <a:srgbClr val="002060"/>
                </a:solidFill>
                <a:cs typeface="Arial" charset="0"/>
              </a:rPr>
              <a:t>:</a:t>
            </a:r>
          </a:p>
          <a:p>
            <a:pPr marL="457200" lvl="1" indent="0">
              <a:spcBef>
                <a:spcPts val="600"/>
              </a:spcBef>
              <a:spcAft>
                <a:spcPts val="600"/>
              </a:spcAft>
              <a:buNone/>
            </a:pP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a:p>
            <a:pPr lvl="1">
              <a:spcBef>
                <a:spcPts val="600"/>
              </a:spcBef>
              <a:spcAft>
                <a:spcPts val="600"/>
              </a:spcAft>
            </a:pPr>
            <a:r>
              <a:rPr lang="en-AU" sz="2400" b="0" dirty="0" err="1">
                <a:solidFill>
                  <a:srgbClr val="002060"/>
                </a:solidFill>
                <a:cs typeface="Arial" charset="0"/>
              </a:rPr>
              <a:t>Có</a:t>
            </a:r>
            <a:r>
              <a:rPr lang="en-AU" sz="2400" b="0" dirty="0">
                <a:solidFill>
                  <a:srgbClr val="002060"/>
                </a:solidFill>
                <a:cs typeface="Arial" charset="0"/>
              </a:rPr>
              <a:t> </a:t>
            </a:r>
            <a:r>
              <a:rPr lang="en-AU" sz="2400" b="0" dirty="0" err="1">
                <a:solidFill>
                  <a:srgbClr val="002060"/>
                </a:solidFill>
                <a:cs typeface="Arial" charset="0"/>
              </a:rPr>
              <a:t>phép</a:t>
            </a:r>
            <a:r>
              <a:rPr lang="en-AU" sz="2400" b="0" dirty="0">
                <a:solidFill>
                  <a:srgbClr val="002060"/>
                </a:solidFill>
                <a:cs typeface="Arial" charset="0"/>
              </a:rPr>
              <a:t> </a:t>
            </a:r>
            <a:r>
              <a:rPr lang="en-AU" sz="2400" b="0" dirty="0" err="1">
                <a:solidFill>
                  <a:srgbClr val="002060"/>
                </a:solidFill>
                <a:cs typeface="Arial" charset="0"/>
              </a:rPr>
              <a:t>toán</a:t>
            </a:r>
            <a:r>
              <a:rPr lang="en-AU" sz="2400" b="0" dirty="0">
                <a:solidFill>
                  <a:srgbClr val="002060"/>
                </a:solidFill>
                <a:cs typeface="Arial" charset="0"/>
              </a:rPr>
              <a:t> 1 </a:t>
            </a:r>
            <a:r>
              <a:rPr lang="en-AU" sz="2400" b="0" dirty="0" err="1">
                <a:solidFill>
                  <a:srgbClr val="002060"/>
                </a:solidFill>
                <a:cs typeface="Arial" charset="0"/>
              </a:rPr>
              <a:t>ngôi</a:t>
            </a:r>
            <a:r>
              <a:rPr lang="en-AU" sz="2400" b="0" dirty="0">
                <a:solidFill>
                  <a:srgbClr val="002060"/>
                </a:solidFill>
                <a:cs typeface="Arial" charset="0"/>
              </a:rPr>
              <a:t> ‘-’, </a:t>
            </a:r>
            <a:r>
              <a:rPr lang="vi-VN" sz="2400" b="0" dirty="0">
                <a:solidFill>
                  <a:srgbClr val="002060"/>
                </a:solidFill>
                <a:cs typeface="Arial" charset="0"/>
              </a:rPr>
              <a:t>ví dụ -(a+b) nhưng không có phép +</a:t>
            </a:r>
            <a:endParaRPr lang="en-AU" sz="2400" b="0" dirty="0">
              <a:solidFill>
                <a:srgbClr val="002060"/>
              </a:solidFill>
              <a:cs typeface="Arial" charset="0"/>
            </a:endParaRPr>
          </a:p>
          <a:p>
            <a:pPr lvl="1">
              <a:spcBef>
                <a:spcPts val="600"/>
              </a:spcBef>
              <a:spcAft>
                <a:spcPts val="600"/>
              </a:spcAft>
            </a:pPr>
            <a:r>
              <a:rPr lang="vi-VN" sz="2400" b="0" dirty="0">
                <a:solidFill>
                  <a:srgbClr val="002060"/>
                </a:solidFill>
                <a:cs typeface="Arial" charset="0"/>
              </a:rPr>
              <a:t> Phép chia hai số nguyên sẽ chặt cắt phần thập phân (kết quả của phép chia 2 số nguyên là một số nguyên; số nguyên đó là phần nguyên của thương số), ví dụ: 11/3 = 3</a:t>
            </a:r>
          </a:p>
          <a:p>
            <a:pPr lvl="1">
              <a:spcBef>
                <a:spcPts val="600"/>
              </a:spcBef>
              <a:spcAft>
                <a:spcPts val="600"/>
              </a:spcAft>
            </a:pPr>
            <a:r>
              <a:rPr lang="vi-VN" sz="2400" b="0" dirty="0">
                <a:solidFill>
                  <a:srgbClr val="002060"/>
                </a:solidFill>
                <a:cs typeface="Arial" charset="0"/>
              </a:rPr>
              <a:t>Phép toán % cho phần dư của phép chia nguyên, nó không áp dụng được cho các giá trị kiểu float và double. Ví dụ: 11%3 = 2 </a:t>
            </a: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24</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pic>
        <p:nvPicPr>
          <p:cNvPr id="6" name="Picture 4">
            <a:extLst>
              <a:ext uri="{FF2B5EF4-FFF2-40B4-BE49-F238E27FC236}">
                <a16:creationId xmlns:a16="http://schemas.microsoft.com/office/drawing/2014/main" id="{ED7A97A8-59B8-3071-EED0-0F528510A1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1917328"/>
            <a:ext cx="377190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8497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a:solidFill>
                  <a:srgbClr val="002060"/>
                </a:solidFill>
                <a:cs typeface="Arial" charset="0"/>
              </a:rPr>
              <a:t>Các </a:t>
            </a: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so </a:t>
            </a:r>
            <a:r>
              <a:rPr lang="en-AU" sz="2400" dirty="0" err="1">
                <a:solidFill>
                  <a:srgbClr val="002060"/>
                </a:solidFill>
                <a:cs typeface="Arial" charset="0"/>
              </a:rPr>
              <a:t>sánh</a:t>
            </a:r>
            <a:r>
              <a:rPr lang="en-AU" sz="2400" dirty="0">
                <a:solidFill>
                  <a:srgbClr val="002060"/>
                </a:solidFill>
                <a:cs typeface="Arial" charset="0"/>
              </a:rPr>
              <a:t>: </a:t>
            </a:r>
            <a:endParaRPr lang="en-AU" sz="2400" b="0" dirty="0">
              <a:solidFill>
                <a:srgbClr val="002060"/>
              </a:solidFill>
              <a:cs typeface="Arial" charset="0"/>
            </a:endParaRPr>
          </a:p>
          <a:p>
            <a:pPr lvl="1">
              <a:spcBef>
                <a:spcPts val="600"/>
              </a:spcBef>
              <a:spcAft>
                <a:spcPts val="600"/>
              </a:spcAft>
            </a:pPr>
            <a:r>
              <a:rPr lang="vi-VN" sz="2400" dirty="0">
                <a:solidFill>
                  <a:srgbClr val="002060"/>
                </a:solidFill>
                <a:cs typeface="Arial" charset="0"/>
              </a:rPr>
              <a:t>Phép toán so sánh cho ta hoặc giá trị 1 (đúng) hoặc giá trị 0 (sai). Nói cách khác, khi các điều kiện nêu ra là đúng thì ta nhận được giá trị 1, trong trường hợp trái lại, ta nhận được giá trị 0.</a:t>
            </a: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25</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pic>
        <p:nvPicPr>
          <p:cNvPr id="7" name="Picture 7">
            <a:extLst>
              <a:ext uri="{FF2B5EF4-FFF2-40B4-BE49-F238E27FC236}">
                <a16:creationId xmlns:a16="http://schemas.microsoft.com/office/drawing/2014/main" id="{7288DCA9-DB69-30AE-5C4C-E011817B3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739317"/>
            <a:ext cx="5715000" cy="336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4397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a:solidFill>
                  <a:srgbClr val="002060"/>
                </a:solidFill>
                <a:cs typeface="Arial" charset="0"/>
              </a:rPr>
              <a:t>Các </a:t>
            </a: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logic: </a:t>
            </a:r>
            <a:endParaRPr lang="en-AU" sz="2400" b="0" dirty="0">
              <a:solidFill>
                <a:srgbClr val="002060"/>
              </a:solidFill>
              <a:cs typeface="Arial" charset="0"/>
            </a:endParaRPr>
          </a:p>
          <a:p>
            <a:pPr lvl="1">
              <a:spcBef>
                <a:spcPts val="600"/>
              </a:spcBef>
              <a:spcAft>
                <a:spcPts val="600"/>
              </a:spcAft>
            </a:pPr>
            <a:r>
              <a:rPr lang="vi-VN" sz="2400" dirty="0">
                <a:solidFill>
                  <a:srgbClr val="002060"/>
                </a:solidFill>
                <a:cs typeface="Arial" charset="0"/>
              </a:rPr>
              <a:t>Cũng giống như các phép toán so sánh, các phép toán logic cho ta giá trị 1 (đúng) hoặc giá trị 0 (sai).Trong C sử dụng ba phép toán logic:</a:t>
            </a:r>
          </a:p>
          <a:p>
            <a:pPr lvl="2">
              <a:spcBef>
                <a:spcPts val="600"/>
              </a:spcBef>
              <a:spcAft>
                <a:spcPts val="600"/>
              </a:spcAft>
            </a:pPr>
            <a:r>
              <a:rPr lang="en-AU" sz="2200" dirty="0" err="1">
                <a:solidFill>
                  <a:srgbClr val="002060"/>
                </a:solidFill>
                <a:cs typeface="Arial" charset="0"/>
              </a:rPr>
              <a:t>Phép</a:t>
            </a:r>
            <a:r>
              <a:rPr lang="en-AU" sz="2200" dirty="0">
                <a:solidFill>
                  <a:srgbClr val="002060"/>
                </a:solidFill>
                <a:cs typeface="Arial" charset="0"/>
              </a:rPr>
              <a:t> </a:t>
            </a:r>
            <a:r>
              <a:rPr lang="en-AU" sz="2200" dirty="0" err="1">
                <a:solidFill>
                  <a:srgbClr val="002060"/>
                </a:solidFill>
                <a:cs typeface="Arial" charset="0"/>
              </a:rPr>
              <a:t>phủ</a:t>
            </a:r>
            <a:r>
              <a:rPr lang="en-AU" sz="2200" dirty="0">
                <a:solidFill>
                  <a:srgbClr val="002060"/>
                </a:solidFill>
                <a:cs typeface="Arial" charset="0"/>
              </a:rPr>
              <a:t> </a:t>
            </a:r>
            <a:r>
              <a:rPr lang="en-AU" sz="2200" dirty="0" err="1">
                <a:solidFill>
                  <a:srgbClr val="002060"/>
                </a:solidFill>
                <a:cs typeface="Arial" charset="0"/>
              </a:rPr>
              <a:t>định</a:t>
            </a:r>
            <a:r>
              <a:rPr lang="en-AU" sz="2200" dirty="0">
                <a:solidFill>
                  <a:srgbClr val="002060"/>
                </a:solidFill>
                <a:cs typeface="Arial" charset="0"/>
              </a:rPr>
              <a:t>	</a:t>
            </a:r>
            <a:r>
              <a:rPr lang="en-AU" sz="2200" b="1" dirty="0">
                <a:solidFill>
                  <a:srgbClr val="FF0000"/>
                </a:solidFill>
                <a:cs typeface="Arial" charset="0"/>
              </a:rPr>
              <a:t>!</a:t>
            </a:r>
          </a:p>
          <a:p>
            <a:pPr lvl="2">
              <a:spcBef>
                <a:spcPts val="600"/>
              </a:spcBef>
              <a:spcAft>
                <a:spcPts val="600"/>
              </a:spcAft>
            </a:pPr>
            <a:r>
              <a:rPr lang="en-AU" sz="2200" dirty="0" err="1">
                <a:solidFill>
                  <a:srgbClr val="002060"/>
                </a:solidFill>
                <a:cs typeface="Arial" charset="0"/>
              </a:rPr>
              <a:t>Phép</a:t>
            </a:r>
            <a:r>
              <a:rPr lang="en-AU" sz="2200" dirty="0">
                <a:solidFill>
                  <a:srgbClr val="002060"/>
                </a:solidFill>
                <a:cs typeface="Arial" charset="0"/>
              </a:rPr>
              <a:t> </a:t>
            </a:r>
            <a:r>
              <a:rPr lang="en-AU" sz="2200" dirty="0" err="1">
                <a:solidFill>
                  <a:srgbClr val="002060"/>
                </a:solidFill>
                <a:cs typeface="Arial" charset="0"/>
              </a:rPr>
              <a:t>và</a:t>
            </a:r>
            <a:r>
              <a:rPr lang="en-AU" sz="2200" dirty="0">
                <a:solidFill>
                  <a:srgbClr val="002060"/>
                </a:solidFill>
                <a:cs typeface="Arial" charset="0"/>
              </a:rPr>
              <a:t> (AND) 	</a:t>
            </a:r>
            <a:r>
              <a:rPr lang="en-AU" sz="2200" b="1" dirty="0">
                <a:solidFill>
                  <a:srgbClr val="FF0000"/>
                </a:solidFill>
                <a:cs typeface="Arial" charset="0"/>
              </a:rPr>
              <a:t>&amp;&amp;</a:t>
            </a:r>
          </a:p>
          <a:p>
            <a:pPr lvl="2">
              <a:spcBef>
                <a:spcPts val="600"/>
              </a:spcBef>
              <a:spcAft>
                <a:spcPts val="600"/>
              </a:spcAft>
            </a:pPr>
            <a:r>
              <a:rPr lang="en-AU" sz="2200" dirty="0" err="1">
                <a:solidFill>
                  <a:srgbClr val="002060"/>
                </a:solidFill>
                <a:cs typeface="Arial" charset="0"/>
              </a:rPr>
              <a:t>Phép</a:t>
            </a:r>
            <a:r>
              <a:rPr lang="en-AU" sz="2200" dirty="0">
                <a:solidFill>
                  <a:srgbClr val="002060"/>
                </a:solidFill>
                <a:cs typeface="Arial" charset="0"/>
              </a:rPr>
              <a:t> </a:t>
            </a:r>
            <a:r>
              <a:rPr lang="en-AU" sz="2200" dirty="0" err="1">
                <a:solidFill>
                  <a:srgbClr val="002060"/>
                </a:solidFill>
                <a:cs typeface="Arial" charset="0"/>
              </a:rPr>
              <a:t>hoặc</a:t>
            </a:r>
            <a:r>
              <a:rPr lang="en-AU" sz="2200" dirty="0">
                <a:solidFill>
                  <a:srgbClr val="002060"/>
                </a:solidFill>
                <a:cs typeface="Arial" charset="0"/>
              </a:rPr>
              <a:t> (OR)	</a:t>
            </a:r>
            <a:r>
              <a:rPr lang="en-AU" sz="2200" b="1" dirty="0">
                <a:solidFill>
                  <a:srgbClr val="FF0000"/>
                </a:solidFill>
                <a:cs typeface="Arial" charset="0"/>
              </a:rPr>
              <a:t>||</a:t>
            </a:r>
          </a:p>
          <a:p>
            <a:pPr marL="457200" lvl="1" indent="0">
              <a:spcBef>
                <a:spcPts val="600"/>
              </a:spcBef>
              <a:spcAft>
                <a:spcPts val="600"/>
              </a:spcAft>
              <a:buNone/>
            </a:pPr>
            <a:r>
              <a:rPr lang="en-AU" sz="2000" dirty="0" err="1">
                <a:solidFill>
                  <a:srgbClr val="002060"/>
                </a:solidFill>
                <a:cs typeface="Arial" charset="0"/>
              </a:rPr>
              <a:t>Ví</a:t>
            </a:r>
            <a:r>
              <a:rPr lang="en-AU" sz="2000" dirty="0">
                <a:solidFill>
                  <a:srgbClr val="002060"/>
                </a:solidFill>
                <a:cs typeface="Arial" charset="0"/>
              </a:rPr>
              <a:t> dụ:</a:t>
            </a:r>
          </a:p>
          <a:p>
            <a:pPr marL="457200" lvl="1" indent="0">
              <a:spcBef>
                <a:spcPts val="600"/>
              </a:spcBef>
              <a:spcAft>
                <a:spcPts val="600"/>
              </a:spcAft>
              <a:buNone/>
            </a:pPr>
            <a:r>
              <a:rPr lang="en-AU" sz="2000" dirty="0">
                <a:solidFill>
                  <a:srgbClr val="002060"/>
                </a:solidFill>
                <a:cs typeface="Arial" charset="0"/>
              </a:rPr>
              <a:t>      3&gt;7 </a:t>
            </a:r>
            <a:r>
              <a:rPr lang="en-AU" sz="2000" dirty="0" err="1">
                <a:solidFill>
                  <a:srgbClr val="002060"/>
                </a:solidFill>
                <a:cs typeface="Arial" charset="0"/>
              </a:rPr>
              <a:t>có</a:t>
            </a:r>
            <a:r>
              <a:rPr lang="en-AU" sz="2000" dirty="0">
                <a:solidFill>
                  <a:srgbClr val="002060"/>
                </a:solidFill>
                <a:cs typeface="Arial" charset="0"/>
              </a:rPr>
              <a:t> </a:t>
            </a:r>
            <a:r>
              <a:rPr lang="en-AU" sz="2000" dirty="0" err="1">
                <a:solidFill>
                  <a:srgbClr val="002060"/>
                </a:solidFill>
                <a:cs typeface="Arial" charset="0"/>
              </a:rPr>
              <a:t>giá</a:t>
            </a:r>
            <a:r>
              <a:rPr lang="en-AU" sz="2000" dirty="0">
                <a:solidFill>
                  <a:srgbClr val="002060"/>
                </a:solidFill>
                <a:cs typeface="Arial" charset="0"/>
              </a:rPr>
              <a:t> </a:t>
            </a:r>
            <a:r>
              <a:rPr lang="en-AU" sz="2000" dirty="0" err="1">
                <a:solidFill>
                  <a:srgbClr val="002060"/>
                </a:solidFill>
                <a:cs typeface="Arial" charset="0"/>
              </a:rPr>
              <a:t>trị</a:t>
            </a:r>
            <a:r>
              <a:rPr lang="en-AU" sz="2000" dirty="0">
                <a:solidFill>
                  <a:srgbClr val="002060"/>
                </a:solidFill>
                <a:cs typeface="Arial" charset="0"/>
              </a:rPr>
              <a:t> 0 </a:t>
            </a:r>
          </a:p>
          <a:p>
            <a:pPr marL="457200" lvl="1" indent="0">
              <a:spcBef>
                <a:spcPts val="600"/>
              </a:spcBef>
              <a:spcAft>
                <a:spcPts val="600"/>
              </a:spcAft>
              <a:buNone/>
            </a:pPr>
            <a:r>
              <a:rPr lang="en-AU" sz="2000" dirty="0">
                <a:solidFill>
                  <a:srgbClr val="002060"/>
                </a:solidFill>
                <a:cs typeface="Arial" charset="0"/>
              </a:rPr>
              <a:t>      7&gt;3 </a:t>
            </a:r>
            <a:r>
              <a:rPr lang="en-AU" sz="2000" dirty="0" err="1">
                <a:solidFill>
                  <a:srgbClr val="002060"/>
                </a:solidFill>
                <a:cs typeface="Arial" charset="0"/>
              </a:rPr>
              <a:t>có</a:t>
            </a:r>
            <a:r>
              <a:rPr lang="en-AU" sz="2000" dirty="0">
                <a:solidFill>
                  <a:srgbClr val="002060"/>
                </a:solidFill>
                <a:cs typeface="Arial" charset="0"/>
              </a:rPr>
              <a:t> </a:t>
            </a:r>
            <a:r>
              <a:rPr lang="en-AU" sz="2000" dirty="0" err="1">
                <a:solidFill>
                  <a:srgbClr val="002060"/>
                </a:solidFill>
                <a:cs typeface="Arial" charset="0"/>
              </a:rPr>
              <a:t>giá</a:t>
            </a:r>
            <a:r>
              <a:rPr lang="en-AU" sz="2000" dirty="0">
                <a:solidFill>
                  <a:srgbClr val="002060"/>
                </a:solidFill>
                <a:cs typeface="Arial" charset="0"/>
              </a:rPr>
              <a:t> </a:t>
            </a:r>
            <a:r>
              <a:rPr lang="en-AU" sz="2000" dirty="0" err="1">
                <a:solidFill>
                  <a:srgbClr val="002060"/>
                </a:solidFill>
                <a:cs typeface="Arial" charset="0"/>
              </a:rPr>
              <a:t>trị</a:t>
            </a:r>
            <a:r>
              <a:rPr lang="en-AU" sz="2000" dirty="0">
                <a:solidFill>
                  <a:srgbClr val="002060"/>
                </a:solidFill>
                <a:cs typeface="Arial" charset="0"/>
              </a:rPr>
              <a:t> 1 </a:t>
            </a:r>
          </a:p>
          <a:p>
            <a:pPr marL="457200" lvl="1" indent="0">
              <a:spcBef>
                <a:spcPts val="600"/>
              </a:spcBef>
              <a:spcAft>
                <a:spcPts val="600"/>
              </a:spcAft>
              <a:buNone/>
            </a:pPr>
            <a:r>
              <a:rPr lang="en-AU" sz="2000" dirty="0">
                <a:solidFill>
                  <a:srgbClr val="002060"/>
                </a:solidFill>
                <a:cs typeface="Arial" charset="0"/>
              </a:rPr>
              <a:t>      3 &amp;&amp; 7 </a:t>
            </a:r>
            <a:r>
              <a:rPr lang="en-AU" sz="2000" dirty="0" err="1">
                <a:solidFill>
                  <a:srgbClr val="002060"/>
                </a:solidFill>
                <a:cs typeface="Arial" charset="0"/>
              </a:rPr>
              <a:t>có</a:t>
            </a:r>
            <a:r>
              <a:rPr lang="en-AU" sz="2000" dirty="0">
                <a:solidFill>
                  <a:srgbClr val="002060"/>
                </a:solidFill>
                <a:cs typeface="Arial" charset="0"/>
              </a:rPr>
              <a:t> </a:t>
            </a:r>
            <a:r>
              <a:rPr lang="en-AU" sz="2000" dirty="0" err="1">
                <a:solidFill>
                  <a:srgbClr val="002060"/>
                </a:solidFill>
                <a:cs typeface="Arial" charset="0"/>
              </a:rPr>
              <a:t>giá</a:t>
            </a:r>
            <a:r>
              <a:rPr lang="en-AU" sz="2000" dirty="0">
                <a:solidFill>
                  <a:srgbClr val="002060"/>
                </a:solidFill>
                <a:cs typeface="Arial" charset="0"/>
              </a:rPr>
              <a:t> </a:t>
            </a:r>
            <a:r>
              <a:rPr lang="en-AU" sz="2000" dirty="0" err="1">
                <a:solidFill>
                  <a:srgbClr val="002060"/>
                </a:solidFill>
                <a:cs typeface="Arial" charset="0"/>
              </a:rPr>
              <a:t>trị</a:t>
            </a:r>
            <a:r>
              <a:rPr lang="en-AU" sz="2000" dirty="0">
                <a:solidFill>
                  <a:srgbClr val="002060"/>
                </a:solidFill>
                <a:cs typeface="Arial" charset="0"/>
              </a:rPr>
              <a:t> 1 </a:t>
            </a:r>
          </a:p>
          <a:p>
            <a:pPr marL="457200" lvl="1" indent="0">
              <a:spcBef>
                <a:spcPts val="600"/>
              </a:spcBef>
              <a:spcAft>
                <a:spcPts val="600"/>
              </a:spcAft>
              <a:buNone/>
            </a:pPr>
            <a:r>
              <a:rPr lang="en-AU" sz="2000" dirty="0">
                <a:solidFill>
                  <a:srgbClr val="002060"/>
                </a:solidFill>
                <a:cs typeface="Arial" charset="0"/>
              </a:rPr>
              <a:t>      ! 15.6 </a:t>
            </a:r>
            <a:r>
              <a:rPr lang="en-AU" sz="2000" dirty="0" err="1">
                <a:solidFill>
                  <a:srgbClr val="002060"/>
                </a:solidFill>
                <a:cs typeface="Arial" charset="0"/>
              </a:rPr>
              <a:t>có</a:t>
            </a:r>
            <a:r>
              <a:rPr lang="en-AU" sz="2000" dirty="0">
                <a:solidFill>
                  <a:srgbClr val="002060"/>
                </a:solidFill>
                <a:cs typeface="Arial" charset="0"/>
              </a:rPr>
              <a:t> </a:t>
            </a:r>
            <a:r>
              <a:rPr lang="en-AU" sz="2000" dirty="0" err="1">
                <a:solidFill>
                  <a:srgbClr val="002060"/>
                </a:solidFill>
                <a:cs typeface="Arial" charset="0"/>
              </a:rPr>
              <a:t>giá</a:t>
            </a:r>
            <a:r>
              <a:rPr lang="en-AU" sz="2000" dirty="0">
                <a:solidFill>
                  <a:srgbClr val="002060"/>
                </a:solidFill>
                <a:cs typeface="Arial" charset="0"/>
              </a:rPr>
              <a:t> </a:t>
            </a:r>
            <a:r>
              <a:rPr lang="en-AU" sz="2000" dirty="0" err="1">
                <a:solidFill>
                  <a:srgbClr val="002060"/>
                </a:solidFill>
                <a:cs typeface="Arial" charset="0"/>
              </a:rPr>
              <a:t>trị</a:t>
            </a:r>
            <a:r>
              <a:rPr lang="en-AU" sz="2000" dirty="0">
                <a:solidFill>
                  <a:srgbClr val="002060"/>
                </a:solidFill>
                <a:cs typeface="Arial" charset="0"/>
              </a:rPr>
              <a:t> 0</a:t>
            </a:r>
          </a:p>
          <a:p>
            <a:pPr marL="457200" lvl="1" indent="0">
              <a:spcBef>
                <a:spcPts val="600"/>
              </a:spcBef>
              <a:spcAft>
                <a:spcPts val="600"/>
              </a:spcAft>
              <a:buNone/>
            </a:pP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26</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pic>
        <p:nvPicPr>
          <p:cNvPr id="6" name="Picture 6">
            <a:extLst>
              <a:ext uri="{FF2B5EF4-FFF2-40B4-BE49-F238E27FC236}">
                <a16:creationId xmlns:a16="http://schemas.microsoft.com/office/drawing/2014/main" id="{16E435D2-0055-6EE2-80AC-B47FB41FC8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2362200"/>
            <a:ext cx="533400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7B11605B-3638-A05A-9F7C-84577AC62F73}"/>
              </a:ext>
            </a:extLst>
          </p:cNvPr>
          <p:cNvSpPr txBox="1"/>
          <p:nvPr/>
        </p:nvSpPr>
        <p:spPr>
          <a:xfrm>
            <a:off x="4419600" y="4234122"/>
            <a:ext cx="9496895" cy="338554"/>
          </a:xfrm>
          <a:prstGeom prst="rect">
            <a:avLst/>
          </a:prstGeom>
          <a:noFill/>
        </p:spPr>
        <p:txBody>
          <a:bodyPr wrap="none" rtlCol="0">
            <a:spAutoFit/>
          </a:bodyPr>
          <a:lstStyle/>
          <a:p>
            <a:pPr marL="1920240" marR="3573779" lvl="4" indent="182880" algn="just">
              <a:spcBef>
                <a:spcPts val="600"/>
              </a:spcBef>
              <a:buClr>
                <a:srgbClr val="FF0000"/>
              </a:buClr>
              <a:buSzPct val="54166"/>
              <a:buFont typeface="Wingdings"/>
              <a:buChar char="◼"/>
              <a:tabLst>
                <a:tab pos="286385" algn="l"/>
                <a:tab pos="756920" algn="l"/>
              </a:tabLst>
            </a:pPr>
            <a:r>
              <a:rPr lang="en-AU" sz="1600" dirty="0" err="1">
                <a:latin typeface="Myriad Pro"/>
                <a:cs typeface="Times New Roman"/>
              </a:rPr>
              <a:t>Trong</a:t>
            </a:r>
            <a:r>
              <a:rPr lang="en-AU" sz="1600" dirty="0">
                <a:latin typeface="Myriad Pro"/>
                <a:cs typeface="Times New Roman"/>
              </a:rPr>
              <a:t> </a:t>
            </a:r>
            <a:r>
              <a:rPr lang="en-AU" sz="1600" dirty="0" err="1">
                <a:latin typeface="Myriad Pro"/>
                <a:cs typeface="Times New Roman"/>
              </a:rPr>
              <a:t>đó</a:t>
            </a:r>
            <a:r>
              <a:rPr lang="en-AU" sz="1600" dirty="0">
                <a:latin typeface="Myriad Pro"/>
                <a:cs typeface="Times New Roman"/>
              </a:rPr>
              <a:t> a </a:t>
            </a:r>
            <a:r>
              <a:rPr lang="en-AU" sz="1600" dirty="0" err="1">
                <a:latin typeface="Myriad Pro"/>
                <a:cs typeface="Times New Roman"/>
              </a:rPr>
              <a:t>và</a:t>
            </a:r>
            <a:r>
              <a:rPr lang="en-AU" sz="1600" dirty="0">
                <a:latin typeface="Myriad Pro"/>
                <a:cs typeface="Times New Roman"/>
              </a:rPr>
              <a:t> b </a:t>
            </a:r>
            <a:r>
              <a:rPr lang="en-AU" sz="1600" dirty="0" err="1">
                <a:latin typeface="Myriad Pro"/>
                <a:cs typeface="Times New Roman"/>
              </a:rPr>
              <a:t>có</a:t>
            </a:r>
            <a:r>
              <a:rPr lang="en-AU" sz="1600" dirty="0">
                <a:latin typeface="Myriad Pro"/>
                <a:cs typeface="Times New Roman"/>
              </a:rPr>
              <a:t> </a:t>
            </a:r>
            <a:r>
              <a:rPr lang="en-AU" sz="1600" dirty="0" err="1">
                <a:latin typeface="Myriad Pro"/>
                <a:cs typeface="Times New Roman"/>
              </a:rPr>
              <a:t>thể</a:t>
            </a:r>
            <a:r>
              <a:rPr lang="en-AU" sz="1600" dirty="0">
                <a:latin typeface="Myriad Pro"/>
                <a:cs typeface="Times New Roman"/>
              </a:rPr>
              <a:t> </a:t>
            </a:r>
            <a:r>
              <a:rPr lang="en-AU" sz="1600" dirty="0" err="1">
                <a:latin typeface="Myriad Pro"/>
                <a:cs typeface="Times New Roman"/>
              </a:rPr>
              <a:t>nguyên</a:t>
            </a:r>
            <a:r>
              <a:rPr lang="en-AU" sz="1600" dirty="0">
                <a:latin typeface="Myriad Pro"/>
                <a:cs typeface="Times New Roman"/>
              </a:rPr>
              <a:t> hay </a:t>
            </a:r>
            <a:r>
              <a:rPr lang="en-AU" sz="1600" dirty="0" err="1">
                <a:latin typeface="Myriad Pro"/>
                <a:cs typeface="Times New Roman"/>
              </a:rPr>
              <a:t>thực</a:t>
            </a:r>
            <a:endParaRPr lang="en-AU" sz="1600" dirty="0">
              <a:latin typeface="Myriad Pro"/>
              <a:cs typeface="Times New Roman"/>
            </a:endParaRPr>
          </a:p>
        </p:txBody>
      </p:sp>
    </p:spTree>
    <p:extLst>
      <p:ext uri="{BB962C8B-B14F-4D97-AF65-F5344CB8AC3E}">
        <p14:creationId xmlns:p14="http://schemas.microsoft.com/office/powerpoint/2010/main" val="377064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a:solidFill>
                  <a:srgbClr val="002060"/>
                </a:solidFill>
                <a:cs typeface="Arial" charset="0"/>
              </a:rPr>
              <a:t>Các </a:t>
            </a:r>
            <a:r>
              <a:rPr lang="en-AU" sz="2400" dirty="0" err="1">
                <a:solidFill>
                  <a:srgbClr val="002060"/>
                </a:solidFill>
                <a:cs typeface="Arial" charset="0"/>
              </a:rPr>
              <a:t>lệnh</a:t>
            </a:r>
            <a:r>
              <a:rPr lang="en-AU" sz="2400" dirty="0">
                <a:solidFill>
                  <a:srgbClr val="002060"/>
                </a:solidFill>
                <a:cs typeface="Arial" charset="0"/>
              </a:rPr>
              <a:t> </a:t>
            </a:r>
            <a:r>
              <a:rPr lang="en-AU" sz="2400" dirty="0" err="1">
                <a:solidFill>
                  <a:srgbClr val="002060"/>
                </a:solidFill>
                <a:cs typeface="Arial" charset="0"/>
              </a:rPr>
              <a:t>gán</a:t>
            </a:r>
            <a:r>
              <a:rPr lang="en-AU" sz="2400" dirty="0">
                <a:solidFill>
                  <a:srgbClr val="002060"/>
                </a:solidFill>
                <a:cs typeface="Arial" charset="0"/>
              </a:rPr>
              <a:t> </a:t>
            </a:r>
            <a:r>
              <a:rPr lang="en-AU" sz="2400" dirty="0" err="1">
                <a:solidFill>
                  <a:srgbClr val="002060"/>
                </a:solidFill>
                <a:cs typeface="Arial" charset="0"/>
              </a:rPr>
              <a:t>và</a:t>
            </a:r>
            <a:r>
              <a:rPr lang="en-AU" sz="2400" dirty="0">
                <a:solidFill>
                  <a:srgbClr val="002060"/>
                </a:solidFill>
                <a:cs typeface="Arial" charset="0"/>
              </a:rPr>
              <a:t> </a:t>
            </a:r>
            <a:r>
              <a:rPr lang="en-AU" sz="2400" dirty="0" err="1">
                <a:solidFill>
                  <a:srgbClr val="002060"/>
                </a:solidFill>
                <a:cs typeface="Arial" charset="0"/>
              </a:rPr>
              <a:t>biểu</a:t>
            </a:r>
            <a:r>
              <a:rPr lang="en-AU" sz="2400" dirty="0">
                <a:solidFill>
                  <a:srgbClr val="002060"/>
                </a:solidFill>
                <a:cs typeface="Arial" charset="0"/>
              </a:rPr>
              <a:t> </a:t>
            </a:r>
            <a:r>
              <a:rPr lang="en-AU" sz="2400" dirty="0" err="1">
                <a:solidFill>
                  <a:srgbClr val="002060"/>
                </a:solidFill>
                <a:cs typeface="Arial" charset="0"/>
              </a:rPr>
              <a:t>thức</a:t>
            </a:r>
            <a:r>
              <a:rPr lang="en-AU" sz="2400" dirty="0">
                <a:solidFill>
                  <a:srgbClr val="002060"/>
                </a:solidFill>
                <a:cs typeface="Arial" charset="0"/>
              </a:rPr>
              <a:t> </a:t>
            </a:r>
            <a:r>
              <a:rPr lang="en-AU" sz="2400" dirty="0" err="1">
                <a:solidFill>
                  <a:srgbClr val="002060"/>
                </a:solidFill>
                <a:cs typeface="Arial" charset="0"/>
              </a:rPr>
              <a:t>gán</a:t>
            </a:r>
            <a:r>
              <a:rPr lang="en-AU" sz="2400" dirty="0">
                <a:solidFill>
                  <a:srgbClr val="002060"/>
                </a:solidFill>
                <a:cs typeface="Arial" charset="0"/>
              </a:rPr>
              <a:t>: </a:t>
            </a:r>
            <a:endParaRPr lang="en-AU" sz="2400" b="0" dirty="0">
              <a:solidFill>
                <a:srgbClr val="002060"/>
              </a:solidFill>
              <a:cs typeface="Arial" charset="0"/>
            </a:endParaRPr>
          </a:p>
          <a:p>
            <a:pPr lvl="1">
              <a:spcBef>
                <a:spcPts val="600"/>
              </a:spcBef>
              <a:spcAft>
                <a:spcPts val="600"/>
              </a:spcAft>
            </a:pPr>
            <a:r>
              <a:rPr lang="vi-VN" sz="2400" dirty="0">
                <a:solidFill>
                  <a:srgbClr val="002060"/>
                </a:solidFill>
                <a:cs typeface="Arial" charset="0"/>
              </a:rPr>
              <a:t>Biểu thức gán là biểu thức có dạn</a:t>
            </a:r>
            <a:r>
              <a:rPr lang="en-AU" sz="2400" dirty="0">
                <a:solidFill>
                  <a:srgbClr val="002060"/>
                </a:solidFill>
                <a:cs typeface="Arial" charset="0"/>
              </a:rPr>
              <a:t>g: </a:t>
            </a:r>
            <a:r>
              <a:rPr lang="vi-VN" sz="2400" b="1" i="1" dirty="0">
                <a:solidFill>
                  <a:srgbClr val="FF0000"/>
                </a:solidFill>
                <a:cs typeface="Arial" charset="0"/>
              </a:rPr>
              <a:t>&lt;biến&gt; = &lt;biểu thức&gt;</a:t>
            </a:r>
            <a:endParaRPr lang="en-AU" sz="2400" b="1" i="1" dirty="0">
              <a:solidFill>
                <a:srgbClr val="FF0000"/>
              </a:solidFill>
              <a:cs typeface="Arial" charset="0"/>
            </a:endParaRPr>
          </a:p>
          <a:p>
            <a:pPr marL="457200" lvl="1" indent="0">
              <a:spcBef>
                <a:spcPts val="600"/>
              </a:spcBef>
              <a:spcAft>
                <a:spcPts val="600"/>
              </a:spcAft>
              <a:buNone/>
            </a:pPr>
            <a:r>
              <a:rPr lang="vi-VN" sz="2400" dirty="0">
                <a:solidFill>
                  <a:srgbClr val="002060"/>
                </a:solidFill>
                <a:cs typeface="Arial" charset="0"/>
              </a:rPr>
              <a:t> Vế trái của biểu thức là một biến (hay phần tử mảng), vế phải là một biểu thức. Giá trị của biểu thức gán là giá trị được gán.</a:t>
            </a:r>
            <a:r>
              <a:rPr lang="en-AU" sz="2400" dirty="0">
                <a:solidFill>
                  <a:srgbClr val="002060"/>
                </a:solidFill>
                <a:cs typeface="Arial" charset="0"/>
              </a:rPr>
              <a:t> </a:t>
            </a:r>
            <a:r>
              <a:rPr lang="vi-VN" sz="2400" dirty="0">
                <a:solidFill>
                  <a:srgbClr val="002060"/>
                </a:solidFill>
                <a:cs typeface="Arial" charset="0"/>
              </a:rPr>
              <a:t>Nếu đặt dấu ; vào sau biểu thức gán thì ta được lệnh gán: </a:t>
            </a:r>
            <a:r>
              <a:rPr lang="vi-VN" sz="2400" b="1" i="1" dirty="0">
                <a:solidFill>
                  <a:srgbClr val="FF0000"/>
                </a:solidFill>
                <a:cs typeface="Arial" charset="0"/>
              </a:rPr>
              <a:t>&lt;biến&gt; = &lt;biểu thức&gt;;</a:t>
            </a:r>
            <a:endParaRPr lang="en-AU" sz="2400" b="1" i="1" dirty="0">
              <a:solidFill>
                <a:srgbClr val="FF0000"/>
              </a:solidFill>
              <a:cs typeface="Arial" charset="0"/>
            </a:endParaRPr>
          </a:p>
          <a:p>
            <a:pPr lvl="1">
              <a:spcBef>
                <a:spcPts val="600"/>
              </a:spcBef>
              <a:spcAft>
                <a:spcPts val="600"/>
              </a:spcAft>
            </a:pPr>
            <a:r>
              <a:rPr lang="vi-VN" sz="2400" dirty="0">
                <a:solidFill>
                  <a:srgbClr val="002060"/>
                </a:solidFill>
                <a:cs typeface="Arial" charset="0"/>
              </a:rPr>
              <a:t>Biểu thức gán có thể sử dụng trong các phép toán và các câu lệnh như các biểu thức khác. Ví dụ: a = b = 5;</a:t>
            </a:r>
            <a:endParaRPr lang="vi-VN" sz="2400" dirty="0">
              <a:solidFill>
                <a:srgbClr val="FF000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27</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spTree>
    <p:extLst>
      <p:ext uri="{BB962C8B-B14F-4D97-AF65-F5344CB8AC3E}">
        <p14:creationId xmlns:p14="http://schemas.microsoft.com/office/powerpoint/2010/main" val="2214775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Một</a:t>
            </a:r>
            <a:r>
              <a:rPr lang="en-AU" sz="2400" dirty="0">
                <a:solidFill>
                  <a:srgbClr val="002060"/>
                </a:solidFill>
                <a:cs typeface="Arial" charset="0"/>
              </a:rPr>
              <a:t> </a:t>
            </a:r>
            <a:r>
              <a:rPr lang="en-AU" sz="2400" dirty="0" err="1">
                <a:solidFill>
                  <a:srgbClr val="002060"/>
                </a:solidFill>
                <a:cs typeface="Arial" charset="0"/>
              </a:rPr>
              <a:t>số</a:t>
            </a:r>
            <a:r>
              <a:rPr lang="en-AU" sz="2400" dirty="0">
                <a:solidFill>
                  <a:srgbClr val="002060"/>
                </a:solidFill>
                <a:cs typeface="Arial" charset="0"/>
              </a:rPr>
              <a:t> </a:t>
            </a:r>
            <a:r>
              <a:rPr lang="en-AU" sz="2400" dirty="0" err="1">
                <a:solidFill>
                  <a:srgbClr val="002060"/>
                </a:solidFill>
                <a:cs typeface="Arial" charset="0"/>
              </a:rPr>
              <a:t>dạng</a:t>
            </a:r>
            <a:r>
              <a:rPr lang="en-AU" sz="2400" dirty="0">
                <a:solidFill>
                  <a:srgbClr val="002060"/>
                </a:solidFill>
                <a:cs typeface="Arial" charset="0"/>
              </a:rPr>
              <a:t> </a:t>
            </a:r>
            <a:r>
              <a:rPr lang="en-AU" sz="2400" dirty="0" err="1">
                <a:solidFill>
                  <a:srgbClr val="002060"/>
                </a:solidFill>
                <a:cs typeface="Arial" charset="0"/>
              </a:rPr>
              <a:t>khác</a:t>
            </a:r>
            <a:r>
              <a:rPr lang="en-AU" sz="2400" dirty="0">
                <a:solidFill>
                  <a:srgbClr val="002060"/>
                </a:solidFill>
                <a:cs typeface="Arial" charset="0"/>
              </a:rPr>
              <a:t> </a:t>
            </a:r>
            <a:r>
              <a:rPr lang="en-AU" sz="2400" dirty="0" err="1">
                <a:solidFill>
                  <a:srgbClr val="002060"/>
                </a:solidFill>
                <a:cs typeface="Arial" charset="0"/>
              </a:rPr>
              <a:t>của</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a:t>
            </a:r>
            <a:r>
              <a:rPr lang="en-AU" sz="2400" dirty="0" err="1">
                <a:solidFill>
                  <a:srgbClr val="002060"/>
                </a:solidFill>
                <a:cs typeface="Arial" charset="0"/>
              </a:rPr>
              <a:t>tử</a:t>
            </a:r>
            <a:r>
              <a:rPr lang="en-AU" sz="2400" dirty="0">
                <a:solidFill>
                  <a:srgbClr val="002060"/>
                </a:solidFill>
                <a:cs typeface="Arial" charset="0"/>
              </a:rPr>
              <a:t> </a:t>
            </a:r>
            <a:r>
              <a:rPr lang="en-AU" sz="2400" dirty="0" err="1">
                <a:solidFill>
                  <a:srgbClr val="002060"/>
                </a:solidFill>
                <a:cs typeface="Arial" charset="0"/>
              </a:rPr>
              <a:t>gán</a:t>
            </a:r>
            <a:r>
              <a:rPr lang="en-AU" sz="2400" dirty="0">
                <a:solidFill>
                  <a:srgbClr val="002060"/>
                </a:solidFill>
                <a:cs typeface="Arial" charset="0"/>
              </a:rPr>
              <a:t>: </a:t>
            </a:r>
            <a:endParaRPr lang="en-AU" sz="2400" b="0" dirty="0">
              <a:solidFill>
                <a:srgbClr val="002060"/>
              </a:solidFill>
              <a:cs typeface="Arial" charset="0"/>
            </a:endParaRPr>
          </a:p>
          <a:p>
            <a:pPr lvl="1">
              <a:spcBef>
                <a:spcPts val="600"/>
              </a:spcBef>
              <a:spcAft>
                <a:spcPts val="600"/>
              </a:spcAft>
            </a:pPr>
            <a:r>
              <a:rPr lang="vi-VN" sz="2400" dirty="0">
                <a:solidFill>
                  <a:srgbClr val="002060"/>
                </a:solidFill>
                <a:cs typeface="Arial" charset="0"/>
              </a:rPr>
              <a:t>Trong trường hợp các biểu thức gán có dạng như</a:t>
            </a:r>
            <a:endParaRPr lang="en-AU" sz="2400" dirty="0">
              <a:solidFill>
                <a:srgbClr val="002060"/>
              </a:solidFill>
              <a:cs typeface="Arial" charset="0"/>
            </a:endParaRPr>
          </a:p>
          <a:p>
            <a:pPr marL="457200" lvl="1" indent="0">
              <a:spcBef>
                <a:spcPts val="600"/>
              </a:spcBef>
              <a:spcAft>
                <a:spcPts val="600"/>
              </a:spcAft>
              <a:buNone/>
            </a:pPr>
            <a:r>
              <a:rPr lang="en-AU" sz="2400" dirty="0">
                <a:solidFill>
                  <a:srgbClr val="002060"/>
                </a:solidFill>
                <a:cs typeface="Arial" charset="0"/>
              </a:rPr>
              <a:t>			</a:t>
            </a:r>
            <a:r>
              <a:rPr lang="vi-VN" sz="2400" b="1" i="1" dirty="0">
                <a:solidFill>
                  <a:srgbClr val="FF0000"/>
                </a:solidFill>
                <a:cs typeface="Arial" charset="0"/>
              </a:rPr>
              <a:t>i = i+2;   =&gt;  i+= 2;</a:t>
            </a:r>
          </a:p>
          <a:p>
            <a:pPr lvl="1">
              <a:spcBef>
                <a:spcPts val="600"/>
              </a:spcBef>
              <a:spcAft>
                <a:spcPts val="600"/>
              </a:spcAft>
            </a:pPr>
            <a:r>
              <a:rPr lang="en-AU" sz="2400" dirty="0">
                <a:solidFill>
                  <a:srgbClr val="002060"/>
                </a:solidFill>
                <a:cs typeface="Arial" charset="0"/>
              </a:rPr>
              <a:t>Các </a:t>
            </a:r>
            <a:r>
              <a:rPr lang="en-AU" sz="2400" dirty="0" err="1">
                <a:solidFill>
                  <a:srgbClr val="002060"/>
                </a:solidFill>
                <a:cs typeface="Arial" charset="0"/>
              </a:rPr>
              <a:t>biểu</a:t>
            </a:r>
            <a:r>
              <a:rPr lang="en-AU" sz="2400" dirty="0">
                <a:solidFill>
                  <a:srgbClr val="002060"/>
                </a:solidFill>
                <a:cs typeface="Arial" charset="0"/>
              </a:rPr>
              <a:t> </a:t>
            </a:r>
            <a:r>
              <a:rPr lang="en-AU" sz="2400" dirty="0" err="1">
                <a:solidFill>
                  <a:srgbClr val="002060"/>
                </a:solidFill>
                <a:cs typeface="Arial" charset="0"/>
              </a:rPr>
              <a:t>thức</a:t>
            </a:r>
            <a:r>
              <a:rPr lang="en-AU" sz="2400" dirty="0">
                <a:solidFill>
                  <a:srgbClr val="002060"/>
                </a:solidFill>
                <a:cs typeface="Arial" charset="0"/>
              </a:rPr>
              <a:t> </a:t>
            </a:r>
            <a:r>
              <a:rPr lang="en-AU" sz="2400" dirty="0" err="1">
                <a:solidFill>
                  <a:srgbClr val="002060"/>
                </a:solidFill>
                <a:cs typeface="Arial" charset="0"/>
              </a:rPr>
              <a:t>gán</a:t>
            </a:r>
            <a:r>
              <a:rPr lang="en-AU" sz="2400" dirty="0">
                <a:solidFill>
                  <a:srgbClr val="002060"/>
                </a:solidFill>
                <a:cs typeface="Arial" charset="0"/>
              </a:rPr>
              <a:t> </a:t>
            </a:r>
            <a:r>
              <a:rPr lang="en-AU" sz="2400" dirty="0" err="1">
                <a:solidFill>
                  <a:srgbClr val="002060"/>
                </a:solidFill>
                <a:cs typeface="Arial" charset="0"/>
              </a:rPr>
              <a:t>này</a:t>
            </a:r>
            <a:r>
              <a:rPr lang="en-AU" sz="2400" dirty="0">
                <a:solidFill>
                  <a:srgbClr val="002060"/>
                </a:solidFill>
                <a:cs typeface="Arial" charset="0"/>
              </a:rPr>
              <a:t> </a:t>
            </a:r>
            <a:r>
              <a:rPr lang="en-AU" sz="2400" dirty="0" err="1">
                <a:solidFill>
                  <a:srgbClr val="002060"/>
                </a:solidFill>
                <a:cs typeface="Arial" charset="0"/>
              </a:rPr>
              <a:t>có</a:t>
            </a:r>
            <a:r>
              <a:rPr lang="en-AU" sz="2400" dirty="0">
                <a:solidFill>
                  <a:srgbClr val="002060"/>
                </a:solidFill>
                <a:cs typeface="Arial" charset="0"/>
              </a:rPr>
              <a:t> </a:t>
            </a:r>
            <a:r>
              <a:rPr lang="en-AU" sz="2400" dirty="0" err="1">
                <a:solidFill>
                  <a:srgbClr val="002060"/>
                </a:solidFill>
                <a:cs typeface="Arial" charset="0"/>
              </a:rPr>
              <a:t>dạng</a:t>
            </a:r>
            <a:r>
              <a:rPr lang="en-AU" sz="2400" dirty="0">
                <a:solidFill>
                  <a:srgbClr val="002060"/>
                </a:solidFill>
                <a:cs typeface="Arial" charset="0"/>
              </a:rPr>
              <a:t>:</a:t>
            </a:r>
          </a:p>
          <a:p>
            <a:pPr marL="457200" lvl="1" indent="0">
              <a:spcBef>
                <a:spcPts val="600"/>
              </a:spcBef>
              <a:spcAft>
                <a:spcPts val="600"/>
              </a:spcAft>
              <a:buNone/>
            </a:pPr>
            <a:r>
              <a:rPr lang="en-AU" sz="2400" dirty="0">
                <a:solidFill>
                  <a:srgbClr val="002060"/>
                </a:solidFill>
                <a:cs typeface="Arial" charset="0"/>
              </a:rPr>
              <a:t>		</a:t>
            </a:r>
            <a:r>
              <a:rPr lang="en-AU" sz="2400" b="1" i="1" dirty="0">
                <a:solidFill>
                  <a:srgbClr val="FF0000"/>
                </a:solidFill>
                <a:cs typeface="Arial" charset="0"/>
              </a:rPr>
              <a:t>&lt;</a:t>
            </a:r>
            <a:r>
              <a:rPr lang="en-AU" sz="2400" b="1" i="1" dirty="0" err="1">
                <a:solidFill>
                  <a:srgbClr val="FF0000"/>
                </a:solidFill>
                <a:cs typeface="Arial" charset="0"/>
              </a:rPr>
              <a:t>biến</a:t>
            </a:r>
            <a:r>
              <a:rPr lang="en-AU" sz="2400" b="1" i="1" dirty="0">
                <a:solidFill>
                  <a:srgbClr val="FF0000"/>
                </a:solidFill>
                <a:cs typeface="Arial" charset="0"/>
              </a:rPr>
              <a:t>&gt; &lt;</a:t>
            </a:r>
            <a:r>
              <a:rPr lang="en-AU" sz="2400" b="1" i="1" dirty="0" err="1">
                <a:solidFill>
                  <a:srgbClr val="FF0000"/>
                </a:solidFill>
                <a:cs typeface="Arial" charset="0"/>
              </a:rPr>
              <a:t>phép</a:t>
            </a:r>
            <a:r>
              <a:rPr lang="en-AU" sz="2400" b="1" i="1" dirty="0">
                <a:solidFill>
                  <a:srgbClr val="FF0000"/>
                </a:solidFill>
                <a:cs typeface="Arial" charset="0"/>
              </a:rPr>
              <a:t> </a:t>
            </a:r>
            <a:r>
              <a:rPr lang="en-AU" sz="2400" b="1" i="1" dirty="0" err="1">
                <a:solidFill>
                  <a:srgbClr val="FF0000"/>
                </a:solidFill>
                <a:cs typeface="Arial" charset="0"/>
              </a:rPr>
              <a:t>toán</a:t>
            </a:r>
            <a:r>
              <a:rPr lang="en-AU" sz="2400" b="1" i="1" dirty="0">
                <a:solidFill>
                  <a:srgbClr val="FF0000"/>
                </a:solidFill>
                <a:cs typeface="Arial" charset="0"/>
              </a:rPr>
              <a:t>&gt; =  &lt;</a:t>
            </a:r>
            <a:r>
              <a:rPr lang="en-AU" sz="2400" b="1" i="1" dirty="0" err="1">
                <a:solidFill>
                  <a:srgbClr val="FF0000"/>
                </a:solidFill>
                <a:cs typeface="Arial" charset="0"/>
              </a:rPr>
              <a:t>biểu</a:t>
            </a:r>
            <a:r>
              <a:rPr lang="en-AU" sz="2400" b="1" i="1" dirty="0">
                <a:solidFill>
                  <a:srgbClr val="FF0000"/>
                </a:solidFill>
                <a:cs typeface="Arial" charset="0"/>
              </a:rPr>
              <a:t> </a:t>
            </a:r>
            <a:r>
              <a:rPr lang="en-AU" sz="2400" b="1" i="1" dirty="0" err="1">
                <a:solidFill>
                  <a:srgbClr val="FF0000"/>
                </a:solidFill>
                <a:cs typeface="Arial" charset="0"/>
              </a:rPr>
              <a:t>thức</a:t>
            </a:r>
            <a:r>
              <a:rPr lang="en-AU" sz="2400" b="1" i="1" dirty="0">
                <a:solidFill>
                  <a:srgbClr val="FF0000"/>
                </a:solidFill>
                <a:cs typeface="Arial" charset="0"/>
              </a:rPr>
              <a:t>&gt;;</a:t>
            </a:r>
          </a:p>
          <a:p>
            <a:pPr marL="457200" lvl="1" indent="0">
              <a:spcBef>
                <a:spcPts val="600"/>
              </a:spcBef>
              <a:spcAft>
                <a:spcPts val="600"/>
              </a:spcAft>
              <a:buNone/>
            </a:pPr>
            <a:r>
              <a:rPr lang="en-AU" sz="2400" dirty="0" err="1">
                <a:solidFill>
                  <a:srgbClr val="002060"/>
                </a:solidFill>
                <a:cs typeface="Arial" charset="0"/>
              </a:rPr>
              <a:t>Trong</a:t>
            </a:r>
            <a:r>
              <a:rPr lang="en-AU" sz="2400" dirty="0">
                <a:solidFill>
                  <a:srgbClr val="002060"/>
                </a:solidFill>
                <a:cs typeface="Arial" charset="0"/>
              </a:rPr>
              <a:t> </a:t>
            </a:r>
            <a:r>
              <a:rPr lang="en-AU" sz="2400" dirty="0" err="1">
                <a:solidFill>
                  <a:srgbClr val="002060"/>
                </a:solidFill>
                <a:cs typeface="Arial" charset="0"/>
              </a:rPr>
              <a:t>đó</a:t>
            </a:r>
            <a:r>
              <a:rPr lang="en-AU" sz="2400" dirty="0">
                <a:solidFill>
                  <a:srgbClr val="002060"/>
                </a:solidFill>
                <a:cs typeface="Arial" charset="0"/>
              </a:rPr>
              <a:t> &lt;</a:t>
            </a: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&gt; </a:t>
            </a:r>
            <a:r>
              <a:rPr lang="en-AU" sz="2400" dirty="0" err="1">
                <a:solidFill>
                  <a:srgbClr val="002060"/>
                </a:solidFill>
                <a:cs typeface="Arial" charset="0"/>
              </a:rPr>
              <a:t>là</a:t>
            </a:r>
            <a:r>
              <a:rPr lang="en-AU" sz="2400" dirty="0">
                <a:solidFill>
                  <a:srgbClr val="002060"/>
                </a:solidFill>
                <a:cs typeface="Arial" charset="0"/>
              </a:rPr>
              <a:t> </a:t>
            </a:r>
            <a:r>
              <a:rPr lang="en-AU" sz="2400" dirty="0" err="1">
                <a:solidFill>
                  <a:srgbClr val="002060"/>
                </a:solidFill>
                <a:cs typeface="Arial" charset="0"/>
              </a:rPr>
              <a:t>một</a:t>
            </a:r>
            <a:r>
              <a:rPr lang="en-AU" sz="2400" dirty="0">
                <a:solidFill>
                  <a:srgbClr val="002060"/>
                </a:solidFill>
                <a:cs typeface="Arial" charset="0"/>
              </a:rPr>
              <a:t> </a:t>
            </a: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a:t>
            </a:r>
            <a:r>
              <a:rPr lang="en-AU" sz="2400" dirty="0" err="1">
                <a:solidFill>
                  <a:srgbClr val="002060"/>
                </a:solidFill>
                <a:cs typeface="Arial" charset="0"/>
              </a:rPr>
              <a:t>hai</a:t>
            </a:r>
            <a:r>
              <a:rPr lang="en-AU" sz="2400" dirty="0">
                <a:solidFill>
                  <a:srgbClr val="002060"/>
                </a:solidFill>
                <a:cs typeface="Arial" charset="0"/>
              </a:rPr>
              <a:t> </a:t>
            </a:r>
            <a:r>
              <a:rPr lang="en-AU" sz="2400" dirty="0" err="1">
                <a:solidFill>
                  <a:srgbClr val="002060"/>
                </a:solidFill>
                <a:cs typeface="Arial" charset="0"/>
              </a:rPr>
              <a:t>ngôi</a:t>
            </a:r>
            <a:r>
              <a:rPr lang="en-AU" sz="2400" dirty="0">
                <a:solidFill>
                  <a:srgbClr val="002060"/>
                </a:solidFill>
                <a:cs typeface="Arial" charset="0"/>
              </a:rPr>
              <a:t>.</a:t>
            </a:r>
          </a:p>
          <a:p>
            <a:pPr marL="457200" lvl="1" indent="0">
              <a:spcBef>
                <a:spcPts val="600"/>
              </a:spcBef>
              <a:spcAft>
                <a:spcPts val="600"/>
              </a:spcAft>
              <a:buNone/>
            </a:pPr>
            <a:r>
              <a:rPr lang="en-AU" sz="2400" dirty="0" err="1">
                <a:solidFill>
                  <a:srgbClr val="002060"/>
                </a:solidFill>
                <a:cs typeface="Arial" charset="0"/>
              </a:rPr>
              <a:t>Ví</a:t>
            </a:r>
            <a:r>
              <a:rPr lang="en-AU" sz="2400" dirty="0">
                <a:solidFill>
                  <a:srgbClr val="002060"/>
                </a:solidFill>
                <a:cs typeface="Arial" charset="0"/>
              </a:rPr>
              <a:t> dụ </a:t>
            </a:r>
            <a:r>
              <a:rPr lang="en-AU" sz="2400" dirty="0" err="1">
                <a:solidFill>
                  <a:srgbClr val="002060"/>
                </a:solidFill>
                <a:cs typeface="Arial" charset="0"/>
              </a:rPr>
              <a:t>câu</a:t>
            </a:r>
            <a:r>
              <a:rPr lang="en-AU" sz="2400" dirty="0">
                <a:solidFill>
                  <a:srgbClr val="002060"/>
                </a:solidFill>
                <a:cs typeface="Arial" charset="0"/>
              </a:rPr>
              <a:t> </a:t>
            </a:r>
            <a:r>
              <a:rPr lang="en-AU" sz="2400" dirty="0" err="1">
                <a:solidFill>
                  <a:srgbClr val="002060"/>
                </a:solidFill>
                <a:cs typeface="Arial" charset="0"/>
              </a:rPr>
              <a:t>lệnh</a:t>
            </a:r>
            <a:r>
              <a:rPr lang="en-AU" sz="2400" dirty="0">
                <a:solidFill>
                  <a:srgbClr val="002060"/>
                </a:solidFill>
                <a:cs typeface="Arial" charset="0"/>
              </a:rPr>
              <a:t>:        </a:t>
            </a:r>
            <a:r>
              <a:rPr lang="en-AU" sz="2400" b="1" i="1" dirty="0">
                <a:solidFill>
                  <a:srgbClr val="FF0000"/>
                </a:solidFill>
                <a:cs typeface="Arial" charset="0"/>
              </a:rPr>
              <a:t>x = x*(y+3);</a:t>
            </a:r>
          </a:p>
          <a:p>
            <a:pPr marL="457200" lvl="1" indent="0">
              <a:spcBef>
                <a:spcPts val="600"/>
              </a:spcBef>
              <a:spcAft>
                <a:spcPts val="600"/>
              </a:spcAft>
              <a:buNone/>
            </a:pPr>
            <a:r>
              <a:rPr lang="en-AU" sz="2400" dirty="0" err="1">
                <a:solidFill>
                  <a:srgbClr val="002060"/>
                </a:solidFill>
                <a:cs typeface="Arial" charset="0"/>
              </a:rPr>
              <a:t>có</a:t>
            </a:r>
            <a:r>
              <a:rPr lang="en-AU" sz="2400" dirty="0">
                <a:solidFill>
                  <a:srgbClr val="002060"/>
                </a:solidFill>
                <a:cs typeface="Arial" charset="0"/>
              </a:rPr>
              <a:t> </a:t>
            </a:r>
            <a:r>
              <a:rPr lang="en-AU" sz="2400" dirty="0" err="1">
                <a:solidFill>
                  <a:srgbClr val="002060"/>
                </a:solidFill>
                <a:cs typeface="Arial" charset="0"/>
              </a:rPr>
              <a:t>thể</a:t>
            </a:r>
            <a:r>
              <a:rPr lang="en-AU" sz="2400" dirty="0">
                <a:solidFill>
                  <a:srgbClr val="002060"/>
                </a:solidFill>
                <a:cs typeface="Arial" charset="0"/>
              </a:rPr>
              <a:t> </a:t>
            </a:r>
            <a:r>
              <a:rPr lang="en-AU" sz="2400" dirty="0" err="1">
                <a:solidFill>
                  <a:srgbClr val="002060"/>
                </a:solidFill>
                <a:cs typeface="Arial" charset="0"/>
              </a:rPr>
              <a:t>viết</a:t>
            </a:r>
            <a:r>
              <a:rPr lang="en-AU" sz="2400" dirty="0">
                <a:solidFill>
                  <a:srgbClr val="002060"/>
                </a:solidFill>
                <a:cs typeface="Arial" charset="0"/>
              </a:rPr>
              <a:t> </a:t>
            </a:r>
            <a:r>
              <a:rPr lang="en-AU" sz="2400" dirty="0" err="1">
                <a:solidFill>
                  <a:srgbClr val="002060"/>
                </a:solidFill>
                <a:cs typeface="Arial" charset="0"/>
              </a:rPr>
              <a:t>thành</a:t>
            </a:r>
            <a:r>
              <a:rPr lang="en-AU" sz="2400" dirty="0">
                <a:solidFill>
                  <a:srgbClr val="002060"/>
                </a:solidFill>
                <a:cs typeface="Arial" charset="0"/>
              </a:rPr>
              <a:t>:     </a:t>
            </a:r>
            <a:r>
              <a:rPr lang="en-AU" sz="2400" b="1" i="1" dirty="0">
                <a:solidFill>
                  <a:srgbClr val="FF0000"/>
                </a:solidFill>
                <a:cs typeface="Arial" charset="0"/>
              </a:rPr>
              <a:t>x *= y+3;</a:t>
            </a: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a:p>
            <a:pPr marL="457200" lvl="1" indent="0">
              <a:spcBef>
                <a:spcPts val="600"/>
              </a:spcBef>
              <a:spcAft>
                <a:spcPts val="600"/>
              </a:spcAft>
              <a:buNone/>
            </a:pPr>
            <a:endParaRPr lang="en-AU" sz="20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28</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spTree>
    <p:extLst>
      <p:ext uri="{BB962C8B-B14F-4D97-AF65-F5344CB8AC3E}">
        <p14:creationId xmlns:p14="http://schemas.microsoft.com/office/powerpoint/2010/main" val="2608207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Chuyển</a:t>
            </a:r>
            <a:r>
              <a:rPr lang="en-AU" sz="2400" dirty="0">
                <a:solidFill>
                  <a:srgbClr val="002060"/>
                </a:solidFill>
                <a:cs typeface="Arial" charset="0"/>
              </a:rPr>
              <a:t> </a:t>
            </a:r>
            <a:r>
              <a:rPr lang="en-AU" sz="2400" dirty="0" err="1">
                <a:solidFill>
                  <a:srgbClr val="002060"/>
                </a:solidFill>
                <a:cs typeface="Arial" charset="0"/>
              </a:rPr>
              <a:t>kiểu</a:t>
            </a:r>
            <a:r>
              <a:rPr lang="en-AU" sz="2400" dirty="0">
                <a:solidFill>
                  <a:srgbClr val="002060"/>
                </a:solidFill>
                <a:cs typeface="Arial" charset="0"/>
              </a:rPr>
              <a:t>: </a:t>
            </a:r>
            <a:endParaRPr lang="en-AU" sz="2400" b="0" dirty="0">
              <a:solidFill>
                <a:srgbClr val="002060"/>
              </a:solidFill>
              <a:cs typeface="Arial" charset="0"/>
            </a:endParaRPr>
          </a:p>
          <a:p>
            <a:pPr lvl="1">
              <a:spcBef>
                <a:spcPts val="600"/>
              </a:spcBef>
              <a:spcAft>
                <a:spcPts val="600"/>
              </a:spcAft>
            </a:pPr>
            <a:r>
              <a:rPr lang="vi-VN" sz="2400" dirty="0">
                <a:solidFill>
                  <a:srgbClr val="002060"/>
                </a:solidFill>
                <a:cs typeface="Arial" charset="0"/>
              </a:rPr>
              <a:t>Việc chuyển đổi kiểu giá trị thường diễn ra một cách tự động trong hai trường hợp sau</a:t>
            </a:r>
            <a:r>
              <a:rPr lang="en-AU" sz="2400" dirty="0">
                <a:solidFill>
                  <a:srgbClr val="002060"/>
                </a:solidFill>
                <a:cs typeface="Arial" charset="0"/>
              </a:rPr>
              <a:t>:</a:t>
            </a:r>
          </a:p>
          <a:p>
            <a:pPr lvl="2">
              <a:spcBef>
                <a:spcPts val="600"/>
              </a:spcBef>
              <a:spcAft>
                <a:spcPts val="600"/>
              </a:spcAft>
              <a:buFont typeface="Courier New" panose="02070309020205020404" pitchFamily="49" charset="0"/>
              <a:buChar char="o"/>
            </a:pPr>
            <a:r>
              <a:rPr lang="en-AU" sz="2200" dirty="0">
                <a:solidFill>
                  <a:srgbClr val="002060"/>
                </a:solidFill>
                <a:cs typeface="Arial" charset="0"/>
              </a:rPr>
              <a:t>Khi </a:t>
            </a:r>
            <a:r>
              <a:rPr lang="en-AU" sz="2200" dirty="0" err="1">
                <a:solidFill>
                  <a:srgbClr val="002060"/>
                </a:solidFill>
                <a:cs typeface="Arial" charset="0"/>
              </a:rPr>
              <a:t>biểu</a:t>
            </a:r>
            <a:r>
              <a:rPr lang="en-AU" sz="2200" dirty="0">
                <a:solidFill>
                  <a:srgbClr val="002060"/>
                </a:solidFill>
                <a:cs typeface="Arial" charset="0"/>
              </a:rPr>
              <a:t> </a:t>
            </a:r>
            <a:r>
              <a:rPr lang="en-AU" sz="2200" dirty="0" err="1">
                <a:solidFill>
                  <a:srgbClr val="002060"/>
                </a:solidFill>
                <a:cs typeface="Arial" charset="0"/>
              </a:rPr>
              <a:t>thức</a:t>
            </a:r>
            <a:r>
              <a:rPr lang="en-AU" sz="2200" dirty="0">
                <a:solidFill>
                  <a:srgbClr val="002060"/>
                </a:solidFill>
                <a:cs typeface="Arial" charset="0"/>
              </a:rPr>
              <a:t> </a:t>
            </a:r>
            <a:r>
              <a:rPr lang="en-AU" sz="2200" dirty="0" err="1">
                <a:solidFill>
                  <a:srgbClr val="002060"/>
                </a:solidFill>
                <a:cs typeface="Arial" charset="0"/>
              </a:rPr>
              <a:t>gồm</a:t>
            </a:r>
            <a:r>
              <a:rPr lang="en-AU" sz="2200" dirty="0">
                <a:solidFill>
                  <a:srgbClr val="002060"/>
                </a:solidFill>
                <a:cs typeface="Arial" charset="0"/>
              </a:rPr>
              <a:t> </a:t>
            </a:r>
            <a:r>
              <a:rPr lang="en-AU" sz="2200" dirty="0" err="1">
                <a:solidFill>
                  <a:srgbClr val="002060"/>
                </a:solidFill>
                <a:cs typeface="Arial" charset="0"/>
              </a:rPr>
              <a:t>các</a:t>
            </a:r>
            <a:r>
              <a:rPr lang="en-AU" sz="2200" dirty="0">
                <a:solidFill>
                  <a:srgbClr val="002060"/>
                </a:solidFill>
                <a:cs typeface="Arial" charset="0"/>
              </a:rPr>
              <a:t> </a:t>
            </a:r>
            <a:r>
              <a:rPr lang="en-AU" sz="2200" dirty="0" err="1">
                <a:solidFill>
                  <a:srgbClr val="002060"/>
                </a:solidFill>
                <a:cs typeface="Arial" charset="0"/>
              </a:rPr>
              <a:t>toán</a:t>
            </a:r>
            <a:r>
              <a:rPr lang="en-AU" sz="2200" dirty="0">
                <a:solidFill>
                  <a:srgbClr val="002060"/>
                </a:solidFill>
                <a:cs typeface="Arial" charset="0"/>
              </a:rPr>
              <a:t> </a:t>
            </a:r>
            <a:r>
              <a:rPr lang="en-AU" sz="2200" dirty="0" err="1">
                <a:solidFill>
                  <a:srgbClr val="002060"/>
                </a:solidFill>
                <a:cs typeface="Arial" charset="0"/>
              </a:rPr>
              <a:t>hạng</a:t>
            </a:r>
            <a:r>
              <a:rPr lang="en-AU" sz="2200" dirty="0">
                <a:solidFill>
                  <a:srgbClr val="002060"/>
                </a:solidFill>
                <a:cs typeface="Arial" charset="0"/>
              </a:rPr>
              <a:t> </a:t>
            </a:r>
            <a:r>
              <a:rPr lang="en-AU" sz="2200" dirty="0" err="1">
                <a:solidFill>
                  <a:srgbClr val="002060"/>
                </a:solidFill>
                <a:cs typeface="Arial" charset="0"/>
              </a:rPr>
              <a:t>khác</a:t>
            </a:r>
            <a:r>
              <a:rPr lang="en-AU" sz="2200" dirty="0">
                <a:solidFill>
                  <a:srgbClr val="002060"/>
                </a:solidFill>
                <a:cs typeface="Arial" charset="0"/>
              </a:rPr>
              <a:t> </a:t>
            </a:r>
            <a:r>
              <a:rPr lang="en-AU" sz="2200" dirty="0" err="1">
                <a:solidFill>
                  <a:srgbClr val="002060"/>
                </a:solidFill>
                <a:cs typeface="Arial" charset="0"/>
              </a:rPr>
              <a:t>kiểu</a:t>
            </a:r>
            <a:endParaRPr lang="en-AU" sz="2200" dirty="0">
              <a:solidFill>
                <a:srgbClr val="002060"/>
              </a:solidFill>
              <a:cs typeface="Arial" charset="0"/>
            </a:endParaRPr>
          </a:p>
          <a:p>
            <a:pPr lvl="2">
              <a:spcBef>
                <a:spcPts val="600"/>
              </a:spcBef>
              <a:spcAft>
                <a:spcPts val="600"/>
              </a:spcAft>
              <a:buFont typeface="Courier New" panose="02070309020205020404" pitchFamily="49" charset="0"/>
              <a:buChar char="o"/>
            </a:pPr>
            <a:r>
              <a:rPr lang="vi-VN" sz="2200" dirty="0">
                <a:solidFill>
                  <a:srgbClr val="002060"/>
                </a:solidFill>
                <a:cs typeface="Arial" charset="0"/>
              </a:rPr>
              <a:t>Khi gán một giá trị kiểu này cho một biến (hoặc phần tử mảng) kiểu kia. Điều này xảy ra trong toán tử gán, trong việc truyền giá trị các tham số thực sự cho các đối, trong câu lệnh return</a:t>
            </a:r>
            <a:r>
              <a:rPr lang="en-AU" sz="2200" dirty="0">
                <a:solidFill>
                  <a:srgbClr val="002060"/>
                </a:solidFill>
                <a:cs typeface="Arial" charset="0"/>
              </a:rPr>
              <a:t> (</a:t>
            </a:r>
            <a:r>
              <a:rPr lang="en-AU" sz="2200" dirty="0" err="1">
                <a:solidFill>
                  <a:srgbClr val="002060"/>
                </a:solidFill>
                <a:cs typeface="Arial" charset="0"/>
              </a:rPr>
              <a:t>kiến</a:t>
            </a:r>
            <a:r>
              <a:rPr lang="en-AU" sz="2200" dirty="0">
                <a:solidFill>
                  <a:srgbClr val="002060"/>
                </a:solidFill>
                <a:cs typeface="Arial" charset="0"/>
              </a:rPr>
              <a:t> </a:t>
            </a:r>
            <a:r>
              <a:rPr lang="en-AU" sz="2200" dirty="0" err="1">
                <a:solidFill>
                  <a:srgbClr val="002060"/>
                </a:solidFill>
                <a:cs typeface="Arial" charset="0"/>
              </a:rPr>
              <a:t>thức</a:t>
            </a:r>
            <a:r>
              <a:rPr lang="en-AU" sz="2200" dirty="0">
                <a:solidFill>
                  <a:srgbClr val="002060"/>
                </a:solidFill>
                <a:cs typeface="Arial" charset="0"/>
              </a:rPr>
              <a:t> </a:t>
            </a:r>
            <a:r>
              <a:rPr lang="en-AU" sz="2200" dirty="0" err="1">
                <a:solidFill>
                  <a:srgbClr val="002060"/>
                </a:solidFill>
                <a:cs typeface="Arial" charset="0"/>
              </a:rPr>
              <a:t>chương</a:t>
            </a:r>
            <a:r>
              <a:rPr lang="en-AU" sz="2200" dirty="0">
                <a:solidFill>
                  <a:srgbClr val="002060"/>
                </a:solidFill>
                <a:cs typeface="Arial" charset="0"/>
              </a:rPr>
              <a:t> </a:t>
            </a:r>
            <a:r>
              <a:rPr lang="en-AU" sz="2200" dirty="0" err="1">
                <a:solidFill>
                  <a:srgbClr val="002060"/>
                </a:solidFill>
                <a:cs typeface="Arial" charset="0"/>
              </a:rPr>
              <a:t>sau</a:t>
            </a:r>
            <a:r>
              <a:rPr lang="en-AU" sz="2200" dirty="0">
                <a:solidFill>
                  <a:srgbClr val="002060"/>
                </a:solidFill>
                <a:cs typeface="Arial" charset="0"/>
              </a:rPr>
              <a:t>)</a:t>
            </a:r>
            <a:r>
              <a:rPr lang="vi-VN" sz="2200" dirty="0">
                <a:solidFill>
                  <a:srgbClr val="002060"/>
                </a:solidFill>
                <a:cs typeface="Arial" charset="0"/>
              </a:rPr>
              <a:t>.</a:t>
            </a:r>
            <a:endParaRPr lang="en-AU" sz="2200" dirty="0">
              <a:solidFill>
                <a:srgbClr val="002060"/>
              </a:solidFill>
              <a:cs typeface="Arial" charset="0"/>
            </a:endParaRPr>
          </a:p>
          <a:p>
            <a:pPr lvl="1">
              <a:spcBef>
                <a:spcPts val="600"/>
              </a:spcBef>
              <a:spcAft>
                <a:spcPts val="600"/>
              </a:spcAft>
            </a:pPr>
            <a:r>
              <a:rPr lang="en-AU" sz="2400" dirty="0">
                <a:solidFill>
                  <a:srgbClr val="002060"/>
                </a:solidFill>
                <a:cs typeface="Arial" charset="0"/>
              </a:rPr>
              <a:t>Ngoài </a:t>
            </a:r>
            <a:r>
              <a:rPr lang="en-AU" sz="2400" dirty="0" err="1">
                <a:solidFill>
                  <a:srgbClr val="002060"/>
                </a:solidFill>
                <a:cs typeface="Arial" charset="0"/>
              </a:rPr>
              <a:t>ra</a:t>
            </a:r>
            <a:r>
              <a:rPr lang="en-AU" sz="2400" dirty="0">
                <a:solidFill>
                  <a:srgbClr val="002060"/>
                </a:solidFill>
                <a:cs typeface="Arial" charset="0"/>
              </a:rPr>
              <a:t> ta </a:t>
            </a:r>
            <a:r>
              <a:rPr lang="en-AU" sz="2400" dirty="0" err="1">
                <a:solidFill>
                  <a:srgbClr val="002060"/>
                </a:solidFill>
                <a:cs typeface="Arial" charset="0"/>
              </a:rPr>
              <a:t>có</a:t>
            </a:r>
            <a:r>
              <a:rPr lang="en-AU" sz="2400" dirty="0">
                <a:solidFill>
                  <a:srgbClr val="002060"/>
                </a:solidFill>
                <a:cs typeface="Arial" charset="0"/>
              </a:rPr>
              <a:t> </a:t>
            </a:r>
            <a:r>
              <a:rPr lang="en-AU" sz="2400" dirty="0" err="1">
                <a:solidFill>
                  <a:srgbClr val="002060"/>
                </a:solidFill>
                <a:cs typeface="Arial" charset="0"/>
              </a:rPr>
              <a:t>thể</a:t>
            </a:r>
            <a:r>
              <a:rPr lang="en-AU" sz="2400" dirty="0">
                <a:solidFill>
                  <a:srgbClr val="002060"/>
                </a:solidFill>
                <a:cs typeface="Arial" charset="0"/>
              </a:rPr>
              <a:t> </a:t>
            </a:r>
            <a:r>
              <a:rPr lang="en-AU" sz="2400" dirty="0" err="1">
                <a:solidFill>
                  <a:srgbClr val="002060"/>
                </a:solidFill>
                <a:cs typeface="Arial" charset="0"/>
              </a:rPr>
              <a:t>chuyển</a:t>
            </a:r>
            <a:r>
              <a:rPr lang="en-AU" sz="2400" dirty="0">
                <a:solidFill>
                  <a:srgbClr val="002060"/>
                </a:solidFill>
                <a:cs typeface="Arial" charset="0"/>
              </a:rPr>
              <a:t> </a:t>
            </a:r>
            <a:r>
              <a:rPr lang="en-AU" sz="2400" dirty="0" err="1">
                <a:solidFill>
                  <a:srgbClr val="002060"/>
                </a:solidFill>
                <a:cs typeface="Arial" charset="0"/>
              </a:rPr>
              <a:t>từ</a:t>
            </a:r>
            <a:r>
              <a:rPr lang="en-AU" sz="2400" dirty="0">
                <a:solidFill>
                  <a:srgbClr val="002060"/>
                </a:solidFill>
                <a:cs typeface="Arial" charset="0"/>
              </a:rPr>
              <a:t> </a:t>
            </a:r>
            <a:r>
              <a:rPr lang="en-AU" sz="2400" dirty="0" err="1">
                <a:solidFill>
                  <a:srgbClr val="002060"/>
                </a:solidFill>
                <a:cs typeface="Arial" charset="0"/>
              </a:rPr>
              <a:t>một</a:t>
            </a:r>
            <a:r>
              <a:rPr lang="en-AU" sz="2400" dirty="0">
                <a:solidFill>
                  <a:srgbClr val="002060"/>
                </a:solidFill>
                <a:cs typeface="Arial" charset="0"/>
              </a:rPr>
              <a:t> </a:t>
            </a:r>
            <a:r>
              <a:rPr lang="en-AU" sz="2400" dirty="0" err="1">
                <a:solidFill>
                  <a:srgbClr val="002060"/>
                </a:solidFill>
                <a:cs typeface="Arial" charset="0"/>
              </a:rPr>
              <a:t>kiểu</a:t>
            </a:r>
            <a:r>
              <a:rPr lang="en-AU" sz="2400" dirty="0">
                <a:solidFill>
                  <a:srgbClr val="002060"/>
                </a:solidFill>
                <a:cs typeface="Arial" charset="0"/>
              </a:rPr>
              <a:t> </a:t>
            </a:r>
            <a:r>
              <a:rPr lang="en-AU" sz="2400" dirty="0" err="1">
                <a:solidFill>
                  <a:srgbClr val="002060"/>
                </a:solidFill>
                <a:cs typeface="Arial" charset="0"/>
              </a:rPr>
              <a:t>giá</a:t>
            </a:r>
            <a:r>
              <a:rPr lang="en-AU" sz="2400" dirty="0">
                <a:solidFill>
                  <a:srgbClr val="002060"/>
                </a:solidFill>
                <a:cs typeface="Arial" charset="0"/>
              </a:rPr>
              <a:t> </a:t>
            </a:r>
            <a:r>
              <a:rPr lang="en-AU" sz="2400" dirty="0" err="1">
                <a:solidFill>
                  <a:srgbClr val="002060"/>
                </a:solidFill>
                <a:cs typeface="Arial" charset="0"/>
              </a:rPr>
              <a:t>trị</a:t>
            </a:r>
            <a:r>
              <a:rPr lang="en-AU" sz="2400" dirty="0">
                <a:solidFill>
                  <a:srgbClr val="002060"/>
                </a:solidFill>
                <a:cs typeface="Arial" charset="0"/>
              </a:rPr>
              <a:t> sang </a:t>
            </a:r>
            <a:r>
              <a:rPr lang="en-AU" sz="2400" dirty="0" err="1">
                <a:solidFill>
                  <a:srgbClr val="002060"/>
                </a:solidFill>
                <a:cs typeface="Arial" charset="0"/>
              </a:rPr>
              <a:t>một</a:t>
            </a:r>
            <a:r>
              <a:rPr lang="en-AU" sz="2400" dirty="0">
                <a:solidFill>
                  <a:srgbClr val="002060"/>
                </a:solidFill>
                <a:cs typeface="Arial" charset="0"/>
              </a:rPr>
              <a:t> </a:t>
            </a:r>
            <a:r>
              <a:rPr lang="en-AU" sz="2400" dirty="0" err="1">
                <a:solidFill>
                  <a:srgbClr val="002060"/>
                </a:solidFill>
                <a:cs typeface="Arial" charset="0"/>
              </a:rPr>
              <a:t>kiểu</a:t>
            </a:r>
            <a:r>
              <a:rPr lang="en-AU" sz="2400" dirty="0">
                <a:solidFill>
                  <a:srgbClr val="002060"/>
                </a:solidFill>
                <a:cs typeface="Arial" charset="0"/>
              </a:rPr>
              <a:t> </a:t>
            </a:r>
            <a:r>
              <a:rPr lang="en-AU" sz="2400" dirty="0" err="1">
                <a:solidFill>
                  <a:srgbClr val="002060"/>
                </a:solidFill>
                <a:cs typeface="Arial" charset="0"/>
              </a:rPr>
              <a:t>bất</a:t>
            </a:r>
            <a:r>
              <a:rPr lang="en-AU" sz="2400" dirty="0">
                <a:solidFill>
                  <a:srgbClr val="002060"/>
                </a:solidFill>
                <a:cs typeface="Arial" charset="0"/>
              </a:rPr>
              <a:t> </a:t>
            </a:r>
            <a:r>
              <a:rPr lang="en-AU" sz="2400" dirty="0" err="1">
                <a:solidFill>
                  <a:srgbClr val="002060"/>
                </a:solidFill>
                <a:cs typeface="Arial" charset="0"/>
              </a:rPr>
              <a:t>kỳ</a:t>
            </a:r>
            <a:r>
              <a:rPr lang="en-AU" sz="2400" dirty="0">
                <a:solidFill>
                  <a:srgbClr val="002060"/>
                </a:solidFill>
                <a:cs typeface="Arial" charset="0"/>
              </a:rPr>
              <a:t> </a:t>
            </a:r>
            <a:r>
              <a:rPr lang="en-AU" sz="2400" dirty="0" err="1">
                <a:solidFill>
                  <a:srgbClr val="002060"/>
                </a:solidFill>
                <a:cs typeface="Arial" charset="0"/>
              </a:rPr>
              <a:t>mà</a:t>
            </a:r>
            <a:r>
              <a:rPr lang="en-AU" sz="2400" dirty="0">
                <a:solidFill>
                  <a:srgbClr val="002060"/>
                </a:solidFill>
                <a:cs typeface="Arial" charset="0"/>
              </a:rPr>
              <a:t> ta </a:t>
            </a:r>
            <a:r>
              <a:rPr lang="en-AU" sz="2400" dirty="0" err="1">
                <a:solidFill>
                  <a:srgbClr val="002060"/>
                </a:solidFill>
                <a:cs typeface="Arial" charset="0"/>
              </a:rPr>
              <a:t>muốn</a:t>
            </a:r>
            <a:r>
              <a:rPr lang="en-AU" sz="2400" dirty="0">
                <a:solidFill>
                  <a:srgbClr val="002060"/>
                </a:solidFill>
                <a:cs typeface="Arial" charset="0"/>
              </a:rPr>
              <a:t> </a:t>
            </a:r>
            <a:r>
              <a:rPr lang="en-AU" sz="2400" dirty="0" err="1">
                <a:solidFill>
                  <a:srgbClr val="002060"/>
                </a:solidFill>
                <a:cs typeface="Arial" charset="0"/>
              </a:rPr>
              <a:t>bằng</a:t>
            </a:r>
            <a:r>
              <a:rPr lang="en-AU" sz="2400" dirty="0">
                <a:solidFill>
                  <a:srgbClr val="002060"/>
                </a:solidFill>
                <a:cs typeface="Arial" charset="0"/>
              </a:rPr>
              <a:t> </a:t>
            </a: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ép</a:t>
            </a:r>
            <a:r>
              <a:rPr lang="en-AU" sz="2400" dirty="0">
                <a:solidFill>
                  <a:srgbClr val="002060"/>
                </a:solidFill>
                <a:cs typeface="Arial" charset="0"/>
              </a:rPr>
              <a:t> </a:t>
            </a:r>
            <a:r>
              <a:rPr lang="en-AU" sz="2400" dirty="0" err="1">
                <a:solidFill>
                  <a:srgbClr val="002060"/>
                </a:solidFill>
                <a:cs typeface="Arial" charset="0"/>
              </a:rPr>
              <a:t>kiểu</a:t>
            </a:r>
            <a:r>
              <a:rPr lang="en-AU" sz="2400" dirty="0">
                <a:solidFill>
                  <a:srgbClr val="002060"/>
                </a:solidFill>
                <a:cs typeface="Arial" charset="0"/>
              </a:rPr>
              <a:t>:</a:t>
            </a:r>
          </a:p>
          <a:p>
            <a:pPr marL="914400" lvl="2" indent="0">
              <a:spcBef>
                <a:spcPts val="600"/>
              </a:spcBef>
              <a:spcAft>
                <a:spcPts val="600"/>
              </a:spcAft>
              <a:buNone/>
            </a:pPr>
            <a:r>
              <a:rPr lang="en-AU" sz="2000" dirty="0">
                <a:solidFill>
                  <a:srgbClr val="002060"/>
                </a:solidFill>
                <a:cs typeface="Arial" charset="0"/>
              </a:rPr>
              <a:t>		</a:t>
            </a:r>
            <a:r>
              <a:rPr lang="en-AU" b="1" i="1" dirty="0">
                <a:solidFill>
                  <a:srgbClr val="FF0000"/>
                </a:solidFill>
                <a:cs typeface="Arial" charset="0"/>
              </a:rPr>
              <a:t>(&lt;</a:t>
            </a:r>
            <a:r>
              <a:rPr lang="en-AU" b="1" i="1" dirty="0" err="1">
                <a:solidFill>
                  <a:srgbClr val="FF0000"/>
                </a:solidFill>
                <a:cs typeface="Arial" charset="0"/>
              </a:rPr>
              <a:t>Kiểu</a:t>
            </a:r>
            <a:r>
              <a:rPr lang="en-AU" b="1" i="1" dirty="0">
                <a:solidFill>
                  <a:srgbClr val="FF0000"/>
                </a:solidFill>
                <a:cs typeface="Arial" charset="0"/>
              </a:rPr>
              <a:t> </a:t>
            </a:r>
            <a:r>
              <a:rPr lang="en-AU" b="1" i="1" dirty="0" err="1">
                <a:solidFill>
                  <a:srgbClr val="FF0000"/>
                </a:solidFill>
                <a:cs typeface="Arial" charset="0"/>
              </a:rPr>
              <a:t>dữ</a:t>
            </a:r>
            <a:r>
              <a:rPr lang="en-AU" b="1" i="1" dirty="0">
                <a:solidFill>
                  <a:srgbClr val="FF0000"/>
                </a:solidFill>
                <a:cs typeface="Arial" charset="0"/>
              </a:rPr>
              <a:t> </a:t>
            </a:r>
            <a:r>
              <a:rPr lang="en-AU" b="1" i="1" dirty="0" err="1">
                <a:solidFill>
                  <a:srgbClr val="FF0000"/>
                </a:solidFill>
                <a:cs typeface="Arial" charset="0"/>
              </a:rPr>
              <a:t>liệu</a:t>
            </a:r>
            <a:r>
              <a:rPr lang="en-AU" b="1" i="1" dirty="0">
                <a:solidFill>
                  <a:srgbClr val="FF0000"/>
                </a:solidFill>
                <a:cs typeface="Arial" charset="0"/>
              </a:rPr>
              <a:t>&gt;) (&lt;</a:t>
            </a:r>
            <a:r>
              <a:rPr lang="en-AU" b="1" i="1" dirty="0" err="1">
                <a:solidFill>
                  <a:srgbClr val="FF0000"/>
                </a:solidFill>
                <a:cs typeface="Arial" charset="0"/>
              </a:rPr>
              <a:t>biểu</a:t>
            </a:r>
            <a:r>
              <a:rPr lang="en-AU" b="1" i="1" dirty="0">
                <a:solidFill>
                  <a:srgbClr val="FF0000"/>
                </a:solidFill>
                <a:cs typeface="Arial" charset="0"/>
              </a:rPr>
              <a:t> </a:t>
            </a:r>
            <a:r>
              <a:rPr lang="en-AU" b="1" i="1" dirty="0" err="1">
                <a:solidFill>
                  <a:srgbClr val="FF0000"/>
                </a:solidFill>
                <a:cs typeface="Arial" charset="0"/>
              </a:rPr>
              <a:t>thức</a:t>
            </a:r>
            <a:r>
              <a:rPr lang="en-AU" b="1" i="1" dirty="0">
                <a:solidFill>
                  <a:srgbClr val="FF0000"/>
                </a:solidFill>
                <a:cs typeface="Arial" charset="0"/>
              </a:rPr>
              <a:t>&gt;)</a:t>
            </a:r>
          </a:p>
          <a:p>
            <a:pPr marL="914400" lvl="2" indent="0">
              <a:spcBef>
                <a:spcPts val="600"/>
              </a:spcBef>
              <a:spcAft>
                <a:spcPts val="600"/>
              </a:spcAft>
              <a:buNone/>
            </a:pPr>
            <a:r>
              <a:rPr lang="en-AU" sz="2000" dirty="0" err="1">
                <a:solidFill>
                  <a:srgbClr val="002060"/>
                </a:solidFill>
                <a:cs typeface="Arial" charset="0"/>
              </a:rPr>
              <a:t>Ví</a:t>
            </a:r>
            <a:r>
              <a:rPr lang="en-AU" sz="2000" dirty="0">
                <a:solidFill>
                  <a:srgbClr val="002060"/>
                </a:solidFill>
                <a:cs typeface="Arial" charset="0"/>
              </a:rPr>
              <a:t> dụ: 		</a:t>
            </a:r>
          </a:p>
          <a:p>
            <a:pPr marL="914400" lvl="2" indent="0">
              <a:spcBef>
                <a:spcPts val="600"/>
              </a:spcBef>
              <a:spcAft>
                <a:spcPts val="600"/>
              </a:spcAft>
              <a:buNone/>
            </a:pPr>
            <a:r>
              <a:rPr lang="en-AU" sz="2000" b="1" i="1" dirty="0">
                <a:solidFill>
                  <a:srgbClr val="002060"/>
                </a:solidFill>
                <a:cs typeface="Arial" charset="0"/>
              </a:rPr>
              <a:t>		</a:t>
            </a:r>
            <a:r>
              <a:rPr lang="en-AU" sz="2200" b="1" i="1" dirty="0">
                <a:solidFill>
                  <a:srgbClr val="FF0000"/>
                </a:solidFill>
                <a:cs typeface="Arial" charset="0"/>
              </a:rPr>
              <a:t>(float)(</a:t>
            </a:r>
            <a:r>
              <a:rPr lang="en-AU" sz="2200" b="1" i="1" dirty="0" err="1">
                <a:solidFill>
                  <a:srgbClr val="FF0000"/>
                </a:solidFill>
                <a:cs typeface="Arial" charset="0"/>
              </a:rPr>
              <a:t>a+b</a:t>
            </a:r>
            <a:r>
              <a:rPr lang="en-AU" sz="2200" b="1" i="1" dirty="0">
                <a:solidFill>
                  <a:srgbClr val="FF0000"/>
                </a:solidFill>
                <a:cs typeface="Arial" charset="0"/>
              </a:rPr>
              <a:t>)</a:t>
            </a: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29</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spTree>
    <p:extLst>
      <p:ext uri="{BB962C8B-B14F-4D97-AF65-F5344CB8AC3E}">
        <p14:creationId xmlns:p14="http://schemas.microsoft.com/office/powerpoint/2010/main" val="19070198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fontScale="92500" lnSpcReduction="10000"/>
          </a:bodyPr>
          <a:lstStyle/>
          <a:p>
            <a:pPr>
              <a:spcBef>
                <a:spcPts val="600"/>
              </a:spcBef>
              <a:spcAft>
                <a:spcPts val="600"/>
              </a:spcAft>
            </a:pPr>
            <a:r>
              <a:rPr lang="en-AU" sz="2400" dirty="0">
                <a:solidFill>
                  <a:srgbClr val="002060"/>
                </a:solidFill>
                <a:cs typeface="Arial" charset="0"/>
              </a:rPr>
              <a:t>Các </a:t>
            </a: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a:t>
            </a:r>
            <a:r>
              <a:rPr lang="en-AU" sz="2400" dirty="0" err="1">
                <a:solidFill>
                  <a:srgbClr val="002060"/>
                </a:solidFill>
                <a:cs typeface="Arial" charset="0"/>
              </a:rPr>
              <a:t>tăng</a:t>
            </a:r>
            <a:r>
              <a:rPr lang="en-AU" sz="2400" dirty="0">
                <a:solidFill>
                  <a:srgbClr val="002060"/>
                </a:solidFill>
                <a:cs typeface="Arial" charset="0"/>
              </a:rPr>
              <a:t> </a:t>
            </a:r>
            <a:r>
              <a:rPr lang="en-AU" sz="2400" dirty="0" err="1">
                <a:solidFill>
                  <a:srgbClr val="002060"/>
                </a:solidFill>
                <a:cs typeface="Arial" charset="0"/>
              </a:rPr>
              <a:t>giảm</a:t>
            </a:r>
            <a:r>
              <a:rPr lang="en-AU" sz="2400" dirty="0">
                <a:solidFill>
                  <a:srgbClr val="002060"/>
                </a:solidFill>
                <a:cs typeface="Arial" charset="0"/>
              </a:rPr>
              <a:t>: </a:t>
            </a:r>
            <a:endParaRPr lang="en-AU" sz="2400" b="0" dirty="0">
              <a:solidFill>
                <a:srgbClr val="002060"/>
              </a:solidFill>
              <a:cs typeface="Arial" charset="0"/>
            </a:endParaRPr>
          </a:p>
          <a:p>
            <a:pPr lvl="1">
              <a:spcBef>
                <a:spcPts val="600"/>
              </a:spcBef>
              <a:spcAft>
                <a:spcPts val="600"/>
              </a:spcAft>
            </a:pPr>
            <a:r>
              <a:rPr lang="vi-VN" sz="2600" dirty="0">
                <a:solidFill>
                  <a:srgbClr val="002060"/>
                </a:solidFill>
                <a:cs typeface="Arial" charset="0"/>
              </a:rPr>
              <a:t>C đưa ra hai phép toán một ngôi để tăng và giảm các biến (nguyên và thực). Toán tử tăng </a:t>
            </a:r>
            <a:r>
              <a:rPr lang="vi-VN" sz="2600" b="1" i="1" dirty="0">
                <a:solidFill>
                  <a:srgbClr val="FF0000"/>
                </a:solidFill>
                <a:cs typeface="Arial" charset="0"/>
              </a:rPr>
              <a:t>++</a:t>
            </a:r>
            <a:r>
              <a:rPr lang="vi-VN" sz="2600" dirty="0">
                <a:solidFill>
                  <a:srgbClr val="002060"/>
                </a:solidFill>
                <a:cs typeface="Arial" charset="0"/>
              </a:rPr>
              <a:t> sẽ cộng 1 vào toán hạng của nó, toán tử giảm </a:t>
            </a:r>
            <a:r>
              <a:rPr lang="vi-VN" sz="2600" b="1" i="1" dirty="0">
                <a:solidFill>
                  <a:srgbClr val="FF0000"/>
                </a:solidFill>
                <a:cs typeface="Arial" charset="0"/>
              </a:rPr>
              <a:t>--</a:t>
            </a:r>
            <a:r>
              <a:rPr lang="vi-VN" sz="2600" dirty="0">
                <a:solidFill>
                  <a:srgbClr val="002060"/>
                </a:solidFill>
                <a:cs typeface="Arial" charset="0"/>
              </a:rPr>
              <a:t> sẽ trừ đi 1. </a:t>
            </a:r>
            <a:endParaRPr lang="en-AU" sz="2600" dirty="0">
              <a:solidFill>
                <a:srgbClr val="002060"/>
              </a:solidFill>
              <a:cs typeface="Arial" charset="0"/>
            </a:endParaRPr>
          </a:p>
          <a:p>
            <a:pPr marL="457200" lvl="1" indent="0">
              <a:spcBef>
                <a:spcPts val="600"/>
              </a:spcBef>
              <a:spcAft>
                <a:spcPts val="600"/>
              </a:spcAft>
              <a:buNone/>
            </a:pPr>
            <a:r>
              <a:rPr lang="en-AU" sz="2600" dirty="0">
                <a:solidFill>
                  <a:srgbClr val="002060"/>
                </a:solidFill>
                <a:cs typeface="Arial" charset="0"/>
              </a:rPr>
              <a:t>	</a:t>
            </a:r>
            <a:r>
              <a:rPr lang="vi-VN" sz="2600" dirty="0">
                <a:solidFill>
                  <a:srgbClr val="002060"/>
                </a:solidFill>
                <a:cs typeface="Arial" charset="0"/>
              </a:rPr>
              <a:t>Ví dụ: nếu n đang có giá trị bằng 5 thì:</a:t>
            </a:r>
          </a:p>
          <a:p>
            <a:pPr marL="457200" lvl="1" indent="0">
              <a:spcBef>
                <a:spcPts val="600"/>
              </a:spcBef>
              <a:spcAft>
                <a:spcPts val="600"/>
              </a:spcAft>
              <a:buNone/>
            </a:pPr>
            <a:r>
              <a:rPr lang="vi-VN" sz="2600" dirty="0">
                <a:solidFill>
                  <a:srgbClr val="002060"/>
                </a:solidFill>
                <a:cs typeface="Arial" charset="0"/>
              </a:rPr>
              <a:t>  </a:t>
            </a:r>
            <a:r>
              <a:rPr lang="en-AU" sz="2600" dirty="0">
                <a:solidFill>
                  <a:srgbClr val="002060"/>
                </a:solidFill>
                <a:cs typeface="Arial" charset="0"/>
              </a:rPr>
              <a:t>	</a:t>
            </a:r>
            <a:r>
              <a:rPr lang="vi-VN" sz="2600" dirty="0">
                <a:solidFill>
                  <a:srgbClr val="002060"/>
                </a:solidFill>
                <a:cs typeface="Arial" charset="0"/>
              </a:rPr>
              <a:t>Sau phép tính </a:t>
            </a:r>
            <a:r>
              <a:rPr lang="vi-VN" sz="2600" b="1" i="1" dirty="0">
                <a:solidFill>
                  <a:srgbClr val="FF0000"/>
                </a:solidFill>
                <a:cs typeface="Arial" charset="0"/>
              </a:rPr>
              <a:t>++n</a:t>
            </a:r>
            <a:r>
              <a:rPr lang="vi-VN" sz="2600" dirty="0">
                <a:solidFill>
                  <a:srgbClr val="002060"/>
                </a:solidFill>
                <a:cs typeface="Arial" charset="0"/>
              </a:rPr>
              <a:t>, </a:t>
            </a:r>
            <a:r>
              <a:rPr lang="vi-VN" sz="2600" b="1" i="1" dirty="0">
                <a:solidFill>
                  <a:srgbClr val="FF0000"/>
                </a:solidFill>
                <a:cs typeface="Arial" charset="0"/>
              </a:rPr>
              <a:t>n</a:t>
            </a:r>
            <a:r>
              <a:rPr lang="vi-VN" sz="2600" dirty="0">
                <a:solidFill>
                  <a:srgbClr val="002060"/>
                </a:solidFill>
                <a:cs typeface="Arial" charset="0"/>
              </a:rPr>
              <a:t> có giá trị 6 </a:t>
            </a:r>
          </a:p>
          <a:p>
            <a:pPr marL="457200" lvl="1" indent="0">
              <a:spcBef>
                <a:spcPts val="600"/>
              </a:spcBef>
              <a:spcAft>
                <a:spcPts val="600"/>
              </a:spcAft>
              <a:buNone/>
            </a:pPr>
            <a:r>
              <a:rPr lang="vi-VN" sz="2600" dirty="0">
                <a:solidFill>
                  <a:srgbClr val="002060"/>
                </a:solidFill>
                <a:cs typeface="Arial" charset="0"/>
              </a:rPr>
              <a:t> </a:t>
            </a:r>
            <a:r>
              <a:rPr lang="en-AU" sz="2600" dirty="0">
                <a:solidFill>
                  <a:srgbClr val="002060"/>
                </a:solidFill>
                <a:cs typeface="Arial" charset="0"/>
              </a:rPr>
              <a:t>	</a:t>
            </a:r>
            <a:r>
              <a:rPr lang="vi-VN" sz="2600" dirty="0">
                <a:solidFill>
                  <a:srgbClr val="002060"/>
                </a:solidFill>
                <a:cs typeface="Arial" charset="0"/>
              </a:rPr>
              <a:t>Sau phép tính </a:t>
            </a:r>
            <a:r>
              <a:rPr lang="vi-VN" sz="2600" b="1" i="1" dirty="0">
                <a:solidFill>
                  <a:srgbClr val="FF0000"/>
                </a:solidFill>
                <a:cs typeface="Arial" charset="0"/>
              </a:rPr>
              <a:t>--n</a:t>
            </a:r>
            <a:r>
              <a:rPr lang="vi-VN" sz="2600" dirty="0">
                <a:solidFill>
                  <a:srgbClr val="002060"/>
                </a:solidFill>
                <a:cs typeface="Arial" charset="0"/>
              </a:rPr>
              <a:t>, </a:t>
            </a:r>
            <a:r>
              <a:rPr lang="vi-VN" sz="2600" b="1" i="1" dirty="0">
                <a:solidFill>
                  <a:srgbClr val="FF0000"/>
                </a:solidFill>
                <a:cs typeface="Arial" charset="0"/>
              </a:rPr>
              <a:t>n</a:t>
            </a:r>
            <a:r>
              <a:rPr lang="vi-VN" sz="2600" dirty="0">
                <a:solidFill>
                  <a:srgbClr val="002060"/>
                </a:solidFill>
                <a:cs typeface="Arial" charset="0"/>
              </a:rPr>
              <a:t> có giá trị 4</a:t>
            </a:r>
          </a:p>
          <a:p>
            <a:pPr lvl="1">
              <a:spcBef>
                <a:spcPts val="600"/>
              </a:spcBef>
              <a:spcAft>
                <a:spcPts val="600"/>
              </a:spcAft>
            </a:pPr>
            <a:r>
              <a:rPr lang="vi-VN" sz="2600" dirty="0">
                <a:solidFill>
                  <a:srgbClr val="002060"/>
                </a:solidFill>
                <a:cs typeface="Arial" charset="0"/>
              </a:rPr>
              <a:t>Dấu phép toán </a:t>
            </a:r>
            <a:r>
              <a:rPr lang="vi-VN" sz="2600" b="1" dirty="0">
                <a:solidFill>
                  <a:srgbClr val="FF0000"/>
                </a:solidFill>
                <a:cs typeface="Arial" charset="0"/>
              </a:rPr>
              <a:t>++</a:t>
            </a:r>
            <a:r>
              <a:rPr lang="vi-VN" sz="2600" dirty="0">
                <a:solidFill>
                  <a:srgbClr val="002060"/>
                </a:solidFill>
                <a:cs typeface="Arial" charset="0"/>
              </a:rPr>
              <a:t> và </a:t>
            </a:r>
            <a:r>
              <a:rPr lang="vi-VN" sz="2600" b="1" dirty="0">
                <a:solidFill>
                  <a:srgbClr val="FF0000"/>
                </a:solidFill>
                <a:cs typeface="Arial" charset="0"/>
              </a:rPr>
              <a:t>--</a:t>
            </a:r>
            <a:r>
              <a:rPr lang="vi-VN" sz="2600" dirty="0">
                <a:solidFill>
                  <a:srgbClr val="002060"/>
                </a:solidFill>
                <a:cs typeface="Arial" charset="0"/>
              </a:rPr>
              <a:t> có thể đứng trước hoặc sau toán hạng, như vậy có thể viết:</a:t>
            </a:r>
            <a:r>
              <a:rPr lang="en-AU" sz="2600" dirty="0">
                <a:solidFill>
                  <a:srgbClr val="002060"/>
                </a:solidFill>
                <a:cs typeface="Arial" charset="0"/>
              </a:rPr>
              <a:t>    </a:t>
            </a:r>
            <a:r>
              <a:rPr lang="vi-VN" sz="2600" b="1" i="1" dirty="0">
                <a:solidFill>
                  <a:srgbClr val="FF0000"/>
                </a:solidFill>
                <a:cs typeface="Arial" charset="0"/>
              </a:rPr>
              <a:t>++n     n++     --n     n</a:t>
            </a:r>
            <a:r>
              <a:rPr lang="en-AU" sz="2600" b="1" i="1" dirty="0">
                <a:solidFill>
                  <a:srgbClr val="FF0000"/>
                </a:solidFill>
                <a:cs typeface="Arial" charset="0"/>
              </a:rPr>
              <a:t>--</a:t>
            </a:r>
          </a:p>
          <a:p>
            <a:pPr marL="457200" lvl="1" indent="0">
              <a:spcBef>
                <a:spcPts val="600"/>
              </a:spcBef>
              <a:spcAft>
                <a:spcPts val="600"/>
              </a:spcAft>
              <a:buNone/>
            </a:pPr>
            <a:r>
              <a:rPr lang="en-AU" dirty="0">
                <a:solidFill>
                  <a:srgbClr val="002060"/>
                </a:solidFill>
                <a:cs typeface="Arial" charset="0"/>
              </a:rPr>
              <a:t>	</a:t>
            </a:r>
            <a:r>
              <a:rPr lang="vi-VN" sz="2600" dirty="0">
                <a:solidFill>
                  <a:srgbClr val="002060"/>
                </a:solidFill>
                <a:cs typeface="Arial" charset="0"/>
              </a:rPr>
              <a:t>Sự khác nhau của </a:t>
            </a:r>
            <a:r>
              <a:rPr lang="vi-VN" sz="2600" b="1" i="1" dirty="0">
                <a:solidFill>
                  <a:srgbClr val="FF0000"/>
                </a:solidFill>
                <a:cs typeface="Arial" charset="0"/>
              </a:rPr>
              <a:t>++n</a:t>
            </a:r>
            <a:r>
              <a:rPr lang="vi-VN" sz="2600" dirty="0">
                <a:solidFill>
                  <a:srgbClr val="002060"/>
                </a:solidFill>
                <a:cs typeface="Arial" charset="0"/>
              </a:rPr>
              <a:t> và </a:t>
            </a:r>
            <a:r>
              <a:rPr lang="vi-VN" sz="2600" b="1" i="1" dirty="0">
                <a:solidFill>
                  <a:srgbClr val="FF0000"/>
                </a:solidFill>
                <a:cs typeface="Arial" charset="0"/>
              </a:rPr>
              <a:t>n++ </a:t>
            </a:r>
            <a:r>
              <a:rPr lang="vi-VN" sz="2600" dirty="0">
                <a:solidFill>
                  <a:srgbClr val="002060"/>
                </a:solidFill>
                <a:cs typeface="Arial" charset="0"/>
              </a:rPr>
              <a:t>ở chỗ: Trong phép </a:t>
            </a:r>
            <a:r>
              <a:rPr lang="vi-VN" sz="2600" b="1" i="1" dirty="0">
                <a:solidFill>
                  <a:srgbClr val="FF0000"/>
                </a:solidFill>
                <a:cs typeface="Arial" charset="0"/>
              </a:rPr>
              <a:t>n++ </a:t>
            </a:r>
            <a:r>
              <a:rPr lang="vi-VN" sz="2600" dirty="0">
                <a:solidFill>
                  <a:srgbClr val="002060"/>
                </a:solidFill>
                <a:cs typeface="Arial" charset="0"/>
              </a:rPr>
              <a:t>thì </a:t>
            </a:r>
            <a:r>
              <a:rPr lang="vi-VN" sz="2600" b="1" i="1" dirty="0">
                <a:solidFill>
                  <a:srgbClr val="FF0000"/>
                </a:solidFill>
                <a:cs typeface="Arial" charset="0"/>
              </a:rPr>
              <a:t>n</a:t>
            </a:r>
            <a:r>
              <a:rPr lang="vi-VN" sz="2600" dirty="0">
                <a:solidFill>
                  <a:srgbClr val="002060"/>
                </a:solidFill>
                <a:cs typeface="Arial" charset="0"/>
              </a:rPr>
              <a:t> tăng sau khi giá trị của nó đã được sử dụng, còn trong phép </a:t>
            </a:r>
            <a:r>
              <a:rPr lang="vi-VN" sz="2600" b="1" i="1" dirty="0">
                <a:solidFill>
                  <a:srgbClr val="FF0000"/>
                </a:solidFill>
                <a:cs typeface="Arial" charset="0"/>
              </a:rPr>
              <a:t>++n</a:t>
            </a:r>
            <a:r>
              <a:rPr lang="vi-VN" sz="2600" dirty="0">
                <a:solidFill>
                  <a:srgbClr val="002060"/>
                </a:solidFill>
                <a:cs typeface="Arial" charset="0"/>
              </a:rPr>
              <a:t> thì </a:t>
            </a:r>
            <a:r>
              <a:rPr lang="vi-VN" sz="2600" b="1" i="1" dirty="0">
                <a:solidFill>
                  <a:srgbClr val="FF0000"/>
                </a:solidFill>
                <a:cs typeface="Arial" charset="0"/>
              </a:rPr>
              <a:t>n</a:t>
            </a:r>
            <a:r>
              <a:rPr lang="vi-VN" sz="2600" dirty="0">
                <a:solidFill>
                  <a:srgbClr val="002060"/>
                </a:solidFill>
                <a:cs typeface="Arial" charset="0"/>
              </a:rPr>
              <a:t> được tăng trước khi nó được sử dụng (</a:t>
            </a:r>
            <a:r>
              <a:rPr lang="vi-VN" sz="2600" b="1" dirty="0">
                <a:solidFill>
                  <a:srgbClr val="FF0000"/>
                </a:solidFill>
                <a:cs typeface="Arial" charset="0"/>
              </a:rPr>
              <a:t>--</a:t>
            </a:r>
            <a:r>
              <a:rPr lang="vi-VN" sz="2600" dirty="0">
                <a:solidFill>
                  <a:srgbClr val="002060"/>
                </a:solidFill>
                <a:cs typeface="Arial" charset="0"/>
              </a:rPr>
              <a:t> tương tự)</a:t>
            </a:r>
          </a:p>
          <a:p>
            <a:pPr marL="914400" lvl="2" indent="0">
              <a:spcBef>
                <a:spcPts val="600"/>
              </a:spcBef>
              <a:spcAft>
                <a:spcPts val="600"/>
              </a:spcAft>
              <a:buNone/>
            </a:pPr>
            <a:r>
              <a:rPr lang="en-AU" sz="2000" dirty="0">
                <a:solidFill>
                  <a:srgbClr val="002060"/>
                </a:solidFill>
                <a:cs typeface="Arial" charset="0"/>
              </a:rPr>
              <a:t>		</a:t>
            </a:r>
            <a:endParaRPr lang="en-AU" sz="2200" b="1" i="1"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30</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spTree>
    <p:extLst>
      <p:ext uri="{BB962C8B-B14F-4D97-AF65-F5344CB8AC3E}">
        <p14:creationId xmlns:p14="http://schemas.microsoft.com/office/powerpoint/2010/main" val="25311066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a:solidFill>
                  <a:srgbClr val="002060"/>
                </a:solidFill>
                <a:cs typeface="Arial" charset="0"/>
              </a:rPr>
              <a:t>Biểu </a:t>
            </a:r>
            <a:r>
              <a:rPr lang="en-AU" sz="2400" dirty="0" err="1">
                <a:solidFill>
                  <a:srgbClr val="002060"/>
                </a:solidFill>
                <a:cs typeface="Arial" charset="0"/>
              </a:rPr>
              <a:t>thức</a:t>
            </a:r>
            <a:r>
              <a:rPr lang="en-AU" sz="2400" dirty="0">
                <a:solidFill>
                  <a:srgbClr val="002060"/>
                </a:solidFill>
                <a:cs typeface="Arial" charset="0"/>
              </a:rPr>
              <a:t> </a:t>
            </a:r>
            <a:r>
              <a:rPr lang="en-AU" sz="2400" dirty="0" err="1">
                <a:solidFill>
                  <a:srgbClr val="002060"/>
                </a:solidFill>
                <a:cs typeface="Arial" charset="0"/>
              </a:rPr>
              <a:t>điều</a:t>
            </a:r>
            <a:r>
              <a:rPr lang="en-AU" sz="2400" dirty="0">
                <a:solidFill>
                  <a:srgbClr val="002060"/>
                </a:solidFill>
                <a:cs typeface="Arial" charset="0"/>
              </a:rPr>
              <a:t> </a:t>
            </a:r>
            <a:r>
              <a:rPr lang="en-AU" sz="2400" dirty="0" err="1">
                <a:solidFill>
                  <a:srgbClr val="002060"/>
                </a:solidFill>
                <a:cs typeface="Arial" charset="0"/>
              </a:rPr>
              <a:t>kiện</a:t>
            </a:r>
            <a:r>
              <a:rPr lang="en-AU" sz="2400" dirty="0">
                <a:solidFill>
                  <a:srgbClr val="002060"/>
                </a:solidFill>
                <a:cs typeface="Arial" charset="0"/>
              </a:rPr>
              <a:t>: </a:t>
            </a:r>
            <a:endParaRPr lang="en-AU" sz="2400" b="0" dirty="0">
              <a:solidFill>
                <a:srgbClr val="002060"/>
              </a:solidFill>
              <a:cs typeface="Arial" charset="0"/>
            </a:endParaRPr>
          </a:p>
          <a:p>
            <a:pPr lvl="1">
              <a:spcBef>
                <a:spcPts val="600"/>
              </a:spcBef>
              <a:spcAft>
                <a:spcPts val="600"/>
              </a:spcAft>
            </a:pPr>
            <a:r>
              <a:rPr lang="en-AU" sz="2600" dirty="0">
                <a:solidFill>
                  <a:srgbClr val="002060"/>
                </a:solidFill>
                <a:cs typeface="Arial" charset="0"/>
              </a:rPr>
              <a:t>Biểu </a:t>
            </a:r>
            <a:r>
              <a:rPr lang="en-AU" sz="2600" dirty="0" err="1">
                <a:solidFill>
                  <a:srgbClr val="002060"/>
                </a:solidFill>
                <a:cs typeface="Arial" charset="0"/>
              </a:rPr>
              <a:t>thức</a:t>
            </a:r>
            <a:r>
              <a:rPr lang="en-AU" sz="2600" dirty="0">
                <a:solidFill>
                  <a:srgbClr val="002060"/>
                </a:solidFill>
                <a:cs typeface="Arial" charset="0"/>
              </a:rPr>
              <a:t> </a:t>
            </a:r>
            <a:r>
              <a:rPr lang="en-AU" sz="2600" dirty="0" err="1">
                <a:solidFill>
                  <a:srgbClr val="002060"/>
                </a:solidFill>
                <a:cs typeface="Arial" charset="0"/>
              </a:rPr>
              <a:t>điều</a:t>
            </a:r>
            <a:r>
              <a:rPr lang="en-AU" sz="2600" dirty="0">
                <a:solidFill>
                  <a:srgbClr val="002060"/>
                </a:solidFill>
                <a:cs typeface="Arial" charset="0"/>
              </a:rPr>
              <a:t> </a:t>
            </a:r>
            <a:r>
              <a:rPr lang="en-AU" sz="2600" dirty="0" err="1">
                <a:solidFill>
                  <a:srgbClr val="002060"/>
                </a:solidFill>
                <a:cs typeface="Arial" charset="0"/>
              </a:rPr>
              <a:t>kiện</a:t>
            </a:r>
            <a:r>
              <a:rPr lang="en-AU" sz="2600" dirty="0">
                <a:solidFill>
                  <a:srgbClr val="002060"/>
                </a:solidFill>
                <a:cs typeface="Arial" charset="0"/>
              </a:rPr>
              <a:t> </a:t>
            </a:r>
            <a:r>
              <a:rPr lang="en-AU" sz="2600" dirty="0" err="1">
                <a:solidFill>
                  <a:srgbClr val="002060"/>
                </a:solidFill>
                <a:cs typeface="Arial" charset="0"/>
              </a:rPr>
              <a:t>là</a:t>
            </a:r>
            <a:r>
              <a:rPr lang="en-AU" sz="2600" dirty="0">
                <a:solidFill>
                  <a:srgbClr val="002060"/>
                </a:solidFill>
                <a:cs typeface="Arial" charset="0"/>
              </a:rPr>
              <a:t> </a:t>
            </a:r>
            <a:r>
              <a:rPr lang="en-AU" sz="2600" dirty="0" err="1">
                <a:solidFill>
                  <a:srgbClr val="002060"/>
                </a:solidFill>
                <a:cs typeface="Arial" charset="0"/>
              </a:rPr>
              <a:t>biểu</a:t>
            </a:r>
            <a:r>
              <a:rPr lang="en-AU" sz="2600" dirty="0">
                <a:solidFill>
                  <a:srgbClr val="002060"/>
                </a:solidFill>
                <a:cs typeface="Arial" charset="0"/>
              </a:rPr>
              <a:t> </a:t>
            </a:r>
            <a:r>
              <a:rPr lang="en-AU" sz="2600" dirty="0" err="1">
                <a:solidFill>
                  <a:srgbClr val="002060"/>
                </a:solidFill>
                <a:cs typeface="Arial" charset="0"/>
              </a:rPr>
              <a:t>thức</a:t>
            </a:r>
            <a:r>
              <a:rPr lang="en-AU" sz="2600" dirty="0">
                <a:solidFill>
                  <a:srgbClr val="002060"/>
                </a:solidFill>
                <a:cs typeface="Arial" charset="0"/>
              </a:rPr>
              <a:t> </a:t>
            </a:r>
            <a:r>
              <a:rPr lang="en-AU" sz="2600" dirty="0" err="1">
                <a:solidFill>
                  <a:srgbClr val="002060"/>
                </a:solidFill>
                <a:cs typeface="Arial" charset="0"/>
              </a:rPr>
              <a:t>có</a:t>
            </a:r>
            <a:r>
              <a:rPr lang="en-AU" sz="2600" dirty="0">
                <a:solidFill>
                  <a:srgbClr val="002060"/>
                </a:solidFill>
                <a:cs typeface="Arial" charset="0"/>
              </a:rPr>
              <a:t> </a:t>
            </a:r>
            <a:r>
              <a:rPr lang="en-AU" sz="2600" dirty="0" err="1">
                <a:solidFill>
                  <a:srgbClr val="002060"/>
                </a:solidFill>
                <a:cs typeface="Arial" charset="0"/>
              </a:rPr>
              <a:t>dạng</a:t>
            </a:r>
            <a:r>
              <a:rPr lang="en-AU" sz="2600" dirty="0">
                <a:solidFill>
                  <a:srgbClr val="002060"/>
                </a:solidFill>
                <a:cs typeface="Arial" charset="0"/>
              </a:rPr>
              <a:t>:</a:t>
            </a:r>
          </a:p>
          <a:p>
            <a:pPr marL="457200" lvl="1" indent="0">
              <a:spcBef>
                <a:spcPts val="600"/>
              </a:spcBef>
              <a:spcAft>
                <a:spcPts val="600"/>
              </a:spcAft>
              <a:buNone/>
            </a:pPr>
            <a:r>
              <a:rPr lang="vi-VN" sz="2600" dirty="0">
                <a:solidFill>
                  <a:srgbClr val="002060"/>
                </a:solidFill>
                <a:cs typeface="Arial" charset="0"/>
              </a:rPr>
              <a:t> </a:t>
            </a:r>
            <a:r>
              <a:rPr lang="en-AU" sz="2600" dirty="0">
                <a:solidFill>
                  <a:srgbClr val="002060"/>
                </a:solidFill>
                <a:cs typeface="Arial" charset="0"/>
              </a:rPr>
              <a:t>	      </a:t>
            </a:r>
            <a:r>
              <a:rPr lang="vi-VN" sz="2600" b="1" i="1" dirty="0">
                <a:solidFill>
                  <a:srgbClr val="FF0000"/>
                </a:solidFill>
                <a:cs typeface="Arial" charset="0"/>
              </a:rPr>
              <a:t>&lt;biểu thức kiểm tra&gt; ? &lt;biểu thức 1&gt; : &lt;biểu thức 2&gt;</a:t>
            </a:r>
          </a:p>
          <a:p>
            <a:pPr marL="457200" lvl="1" indent="0">
              <a:spcBef>
                <a:spcPts val="600"/>
              </a:spcBef>
              <a:spcAft>
                <a:spcPts val="600"/>
              </a:spcAft>
              <a:buNone/>
            </a:pPr>
            <a:r>
              <a:rPr lang="en-AU" sz="2600" dirty="0" err="1">
                <a:solidFill>
                  <a:srgbClr val="002060"/>
                </a:solidFill>
                <a:cs typeface="Arial" charset="0"/>
              </a:rPr>
              <a:t>Giá</a:t>
            </a:r>
            <a:r>
              <a:rPr lang="en-AU" sz="2600" dirty="0">
                <a:solidFill>
                  <a:srgbClr val="002060"/>
                </a:solidFill>
                <a:cs typeface="Arial" charset="0"/>
              </a:rPr>
              <a:t> </a:t>
            </a:r>
            <a:r>
              <a:rPr lang="en-AU" sz="2600" dirty="0" err="1">
                <a:solidFill>
                  <a:srgbClr val="002060"/>
                </a:solidFill>
                <a:cs typeface="Arial" charset="0"/>
              </a:rPr>
              <a:t>trị</a:t>
            </a:r>
            <a:r>
              <a:rPr lang="en-AU" sz="2600" dirty="0">
                <a:solidFill>
                  <a:srgbClr val="002060"/>
                </a:solidFill>
                <a:cs typeface="Arial" charset="0"/>
              </a:rPr>
              <a:t> </a:t>
            </a:r>
            <a:r>
              <a:rPr lang="en-AU" sz="2600" dirty="0" err="1">
                <a:solidFill>
                  <a:srgbClr val="002060"/>
                </a:solidFill>
                <a:cs typeface="Arial" charset="0"/>
              </a:rPr>
              <a:t>của</a:t>
            </a:r>
            <a:r>
              <a:rPr lang="en-AU" sz="2600" dirty="0">
                <a:solidFill>
                  <a:srgbClr val="002060"/>
                </a:solidFill>
                <a:cs typeface="Arial" charset="0"/>
              </a:rPr>
              <a:t> </a:t>
            </a:r>
            <a:r>
              <a:rPr lang="en-AU" sz="2600" dirty="0" err="1">
                <a:solidFill>
                  <a:srgbClr val="002060"/>
                </a:solidFill>
                <a:cs typeface="Arial" charset="0"/>
              </a:rPr>
              <a:t>biểu</a:t>
            </a:r>
            <a:r>
              <a:rPr lang="en-AU" sz="2600" dirty="0">
                <a:solidFill>
                  <a:srgbClr val="002060"/>
                </a:solidFill>
                <a:cs typeface="Arial" charset="0"/>
              </a:rPr>
              <a:t> </a:t>
            </a:r>
            <a:r>
              <a:rPr lang="en-AU" sz="2600" dirty="0" err="1">
                <a:solidFill>
                  <a:srgbClr val="002060"/>
                </a:solidFill>
                <a:cs typeface="Arial" charset="0"/>
              </a:rPr>
              <a:t>thức</a:t>
            </a:r>
            <a:r>
              <a:rPr lang="en-AU" sz="2600" dirty="0">
                <a:solidFill>
                  <a:srgbClr val="002060"/>
                </a:solidFill>
                <a:cs typeface="Arial" charset="0"/>
              </a:rPr>
              <a:t> </a:t>
            </a:r>
            <a:r>
              <a:rPr lang="en-AU" sz="2600" dirty="0" err="1">
                <a:solidFill>
                  <a:srgbClr val="002060"/>
                </a:solidFill>
                <a:cs typeface="Arial" charset="0"/>
              </a:rPr>
              <a:t>điều</a:t>
            </a:r>
            <a:r>
              <a:rPr lang="en-AU" sz="2600" dirty="0">
                <a:solidFill>
                  <a:srgbClr val="002060"/>
                </a:solidFill>
                <a:cs typeface="Arial" charset="0"/>
              </a:rPr>
              <a:t> </a:t>
            </a:r>
            <a:r>
              <a:rPr lang="en-AU" sz="2600" dirty="0" err="1">
                <a:solidFill>
                  <a:srgbClr val="002060"/>
                </a:solidFill>
                <a:cs typeface="Arial" charset="0"/>
              </a:rPr>
              <a:t>kiện</a:t>
            </a:r>
            <a:r>
              <a:rPr lang="en-AU" sz="2600" dirty="0">
                <a:solidFill>
                  <a:srgbClr val="002060"/>
                </a:solidFill>
                <a:cs typeface="Arial" charset="0"/>
              </a:rPr>
              <a:t> </a:t>
            </a:r>
            <a:r>
              <a:rPr lang="en-AU" sz="2600" dirty="0" err="1">
                <a:solidFill>
                  <a:srgbClr val="002060"/>
                </a:solidFill>
                <a:cs typeface="Arial" charset="0"/>
              </a:rPr>
              <a:t>bằng</a:t>
            </a:r>
            <a:r>
              <a:rPr lang="en-AU" sz="2600" dirty="0">
                <a:solidFill>
                  <a:srgbClr val="002060"/>
                </a:solidFill>
                <a:cs typeface="Arial" charset="0"/>
              </a:rPr>
              <a:t> </a:t>
            </a:r>
            <a:r>
              <a:rPr lang="en-AU" sz="2600" dirty="0" err="1">
                <a:solidFill>
                  <a:srgbClr val="002060"/>
                </a:solidFill>
                <a:cs typeface="Arial" charset="0"/>
              </a:rPr>
              <a:t>giá</a:t>
            </a:r>
            <a:r>
              <a:rPr lang="en-AU" sz="2600" dirty="0">
                <a:solidFill>
                  <a:srgbClr val="002060"/>
                </a:solidFill>
                <a:cs typeface="Arial" charset="0"/>
              </a:rPr>
              <a:t> </a:t>
            </a:r>
            <a:r>
              <a:rPr lang="en-AU" sz="2600" dirty="0" err="1">
                <a:solidFill>
                  <a:srgbClr val="002060"/>
                </a:solidFill>
                <a:cs typeface="Arial" charset="0"/>
              </a:rPr>
              <a:t>trị</a:t>
            </a:r>
            <a:r>
              <a:rPr lang="en-AU" sz="2600" dirty="0">
                <a:solidFill>
                  <a:srgbClr val="002060"/>
                </a:solidFill>
                <a:cs typeface="Arial" charset="0"/>
              </a:rPr>
              <a:t> </a:t>
            </a:r>
            <a:r>
              <a:rPr lang="en-AU" sz="2600" dirty="0" err="1">
                <a:solidFill>
                  <a:srgbClr val="002060"/>
                </a:solidFill>
                <a:cs typeface="Arial" charset="0"/>
              </a:rPr>
              <a:t>của</a:t>
            </a:r>
            <a:r>
              <a:rPr lang="en-AU" sz="2600" dirty="0">
                <a:solidFill>
                  <a:srgbClr val="002060"/>
                </a:solidFill>
                <a:cs typeface="Arial" charset="0"/>
              </a:rPr>
              <a:t> </a:t>
            </a:r>
            <a:r>
              <a:rPr lang="en-AU" sz="2600" dirty="0" err="1">
                <a:solidFill>
                  <a:srgbClr val="002060"/>
                </a:solidFill>
                <a:cs typeface="Arial" charset="0"/>
              </a:rPr>
              <a:t>biểu</a:t>
            </a:r>
            <a:r>
              <a:rPr lang="en-AU" sz="2600" dirty="0">
                <a:solidFill>
                  <a:srgbClr val="002060"/>
                </a:solidFill>
                <a:cs typeface="Arial" charset="0"/>
              </a:rPr>
              <a:t> </a:t>
            </a:r>
            <a:r>
              <a:rPr lang="en-AU" sz="2600" dirty="0" err="1">
                <a:solidFill>
                  <a:srgbClr val="002060"/>
                </a:solidFill>
                <a:cs typeface="Arial" charset="0"/>
              </a:rPr>
              <a:t>thức</a:t>
            </a:r>
            <a:r>
              <a:rPr lang="en-AU" sz="2600" dirty="0">
                <a:solidFill>
                  <a:srgbClr val="002060"/>
                </a:solidFill>
                <a:cs typeface="Arial" charset="0"/>
              </a:rPr>
              <a:t> 1 </a:t>
            </a:r>
            <a:r>
              <a:rPr lang="en-AU" sz="2600" dirty="0" err="1">
                <a:solidFill>
                  <a:srgbClr val="002060"/>
                </a:solidFill>
                <a:cs typeface="Arial" charset="0"/>
              </a:rPr>
              <a:t>nếu</a:t>
            </a:r>
            <a:r>
              <a:rPr lang="en-AU" sz="2600" dirty="0">
                <a:solidFill>
                  <a:srgbClr val="002060"/>
                </a:solidFill>
                <a:cs typeface="Arial" charset="0"/>
              </a:rPr>
              <a:t> </a:t>
            </a:r>
            <a:r>
              <a:rPr lang="en-AU" sz="2600" dirty="0" err="1">
                <a:solidFill>
                  <a:srgbClr val="002060"/>
                </a:solidFill>
                <a:cs typeface="Arial" charset="0"/>
              </a:rPr>
              <a:t>biểu</a:t>
            </a:r>
            <a:r>
              <a:rPr lang="en-AU" sz="2600" dirty="0">
                <a:solidFill>
                  <a:srgbClr val="002060"/>
                </a:solidFill>
                <a:cs typeface="Arial" charset="0"/>
              </a:rPr>
              <a:t> </a:t>
            </a:r>
            <a:r>
              <a:rPr lang="en-AU" sz="2600" dirty="0" err="1">
                <a:solidFill>
                  <a:srgbClr val="002060"/>
                </a:solidFill>
                <a:cs typeface="Arial" charset="0"/>
              </a:rPr>
              <a:t>thức</a:t>
            </a:r>
            <a:r>
              <a:rPr lang="en-AU" sz="2600" dirty="0">
                <a:solidFill>
                  <a:srgbClr val="002060"/>
                </a:solidFill>
                <a:cs typeface="Arial" charset="0"/>
              </a:rPr>
              <a:t> </a:t>
            </a:r>
            <a:r>
              <a:rPr lang="en-AU" sz="2600" dirty="0" err="1">
                <a:solidFill>
                  <a:srgbClr val="002060"/>
                </a:solidFill>
                <a:cs typeface="Arial" charset="0"/>
              </a:rPr>
              <a:t>kiểm</a:t>
            </a:r>
            <a:r>
              <a:rPr lang="en-AU" sz="2600" dirty="0">
                <a:solidFill>
                  <a:srgbClr val="002060"/>
                </a:solidFill>
                <a:cs typeface="Arial" charset="0"/>
              </a:rPr>
              <a:t> </a:t>
            </a:r>
            <a:r>
              <a:rPr lang="en-AU" sz="2600" dirty="0" err="1">
                <a:solidFill>
                  <a:srgbClr val="002060"/>
                </a:solidFill>
                <a:cs typeface="Arial" charset="0"/>
              </a:rPr>
              <a:t>tra</a:t>
            </a:r>
            <a:r>
              <a:rPr lang="en-AU" sz="2600" dirty="0">
                <a:solidFill>
                  <a:srgbClr val="002060"/>
                </a:solidFill>
                <a:cs typeface="Arial" charset="0"/>
              </a:rPr>
              <a:t> </a:t>
            </a:r>
            <a:r>
              <a:rPr lang="en-AU" sz="2600" dirty="0" err="1">
                <a:solidFill>
                  <a:srgbClr val="002060"/>
                </a:solidFill>
                <a:cs typeface="Arial" charset="0"/>
              </a:rPr>
              <a:t>đúng</a:t>
            </a:r>
            <a:r>
              <a:rPr lang="en-AU" sz="2600" dirty="0">
                <a:solidFill>
                  <a:srgbClr val="002060"/>
                </a:solidFill>
                <a:cs typeface="Arial" charset="0"/>
              </a:rPr>
              <a:t> (</a:t>
            </a:r>
            <a:r>
              <a:rPr lang="en-AU" sz="2600" dirty="0" err="1">
                <a:solidFill>
                  <a:srgbClr val="002060"/>
                </a:solidFill>
                <a:cs typeface="Arial" charset="0"/>
              </a:rPr>
              <a:t>khác</a:t>
            </a:r>
            <a:r>
              <a:rPr lang="en-AU" sz="2600" dirty="0">
                <a:solidFill>
                  <a:srgbClr val="002060"/>
                </a:solidFill>
                <a:cs typeface="Arial" charset="0"/>
              </a:rPr>
              <a:t> </a:t>
            </a:r>
            <a:r>
              <a:rPr lang="en-AU" sz="2600" dirty="0" err="1">
                <a:solidFill>
                  <a:srgbClr val="002060"/>
                </a:solidFill>
                <a:cs typeface="Arial" charset="0"/>
              </a:rPr>
              <a:t>không</a:t>
            </a:r>
            <a:r>
              <a:rPr lang="en-AU" sz="2600" dirty="0">
                <a:solidFill>
                  <a:srgbClr val="002060"/>
                </a:solidFill>
                <a:cs typeface="Arial" charset="0"/>
              </a:rPr>
              <a:t>) </a:t>
            </a:r>
            <a:r>
              <a:rPr lang="en-AU" sz="2600" dirty="0" err="1">
                <a:solidFill>
                  <a:srgbClr val="002060"/>
                </a:solidFill>
                <a:cs typeface="Arial" charset="0"/>
              </a:rPr>
              <a:t>và</a:t>
            </a:r>
            <a:r>
              <a:rPr lang="en-AU" sz="2600" dirty="0">
                <a:solidFill>
                  <a:srgbClr val="002060"/>
                </a:solidFill>
                <a:cs typeface="Arial" charset="0"/>
              </a:rPr>
              <a:t> </a:t>
            </a:r>
            <a:r>
              <a:rPr lang="en-AU" sz="2600" dirty="0" err="1">
                <a:solidFill>
                  <a:srgbClr val="002060"/>
                </a:solidFill>
                <a:cs typeface="Arial" charset="0"/>
              </a:rPr>
              <a:t>bằng</a:t>
            </a:r>
            <a:r>
              <a:rPr lang="en-AU" sz="2600" dirty="0">
                <a:solidFill>
                  <a:srgbClr val="002060"/>
                </a:solidFill>
                <a:cs typeface="Arial" charset="0"/>
              </a:rPr>
              <a:t> </a:t>
            </a:r>
            <a:r>
              <a:rPr lang="en-AU" sz="2600" dirty="0" err="1">
                <a:solidFill>
                  <a:srgbClr val="002060"/>
                </a:solidFill>
                <a:cs typeface="Arial" charset="0"/>
              </a:rPr>
              <a:t>giá</a:t>
            </a:r>
            <a:r>
              <a:rPr lang="en-AU" sz="2600" dirty="0">
                <a:solidFill>
                  <a:srgbClr val="002060"/>
                </a:solidFill>
                <a:cs typeface="Arial" charset="0"/>
              </a:rPr>
              <a:t> </a:t>
            </a:r>
            <a:r>
              <a:rPr lang="en-AU" sz="2600" dirty="0" err="1">
                <a:solidFill>
                  <a:srgbClr val="002060"/>
                </a:solidFill>
                <a:cs typeface="Arial" charset="0"/>
              </a:rPr>
              <a:t>trị</a:t>
            </a:r>
            <a:r>
              <a:rPr lang="en-AU" sz="2600" dirty="0">
                <a:solidFill>
                  <a:srgbClr val="002060"/>
                </a:solidFill>
                <a:cs typeface="Arial" charset="0"/>
              </a:rPr>
              <a:t> </a:t>
            </a:r>
            <a:r>
              <a:rPr lang="en-AU" sz="2600" dirty="0" err="1">
                <a:solidFill>
                  <a:srgbClr val="002060"/>
                </a:solidFill>
                <a:cs typeface="Arial" charset="0"/>
              </a:rPr>
              <a:t>của</a:t>
            </a:r>
            <a:r>
              <a:rPr lang="en-AU" sz="2600" dirty="0">
                <a:solidFill>
                  <a:srgbClr val="002060"/>
                </a:solidFill>
                <a:cs typeface="Arial" charset="0"/>
              </a:rPr>
              <a:t> </a:t>
            </a:r>
            <a:r>
              <a:rPr lang="en-AU" sz="2600" dirty="0" err="1">
                <a:solidFill>
                  <a:srgbClr val="002060"/>
                </a:solidFill>
                <a:cs typeface="Arial" charset="0"/>
              </a:rPr>
              <a:t>biểu</a:t>
            </a:r>
            <a:r>
              <a:rPr lang="en-AU" sz="2600" dirty="0">
                <a:solidFill>
                  <a:srgbClr val="002060"/>
                </a:solidFill>
                <a:cs typeface="Arial" charset="0"/>
              </a:rPr>
              <a:t> </a:t>
            </a:r>
            <a:r>
              <a:rPr lang="en-AU" sz="2600" dirty="0" err="1">
                <a:solidFill>
                  <a:srgbClr val="002060"/>
                </a:solidFill>
                <a:cs typeface="Arial" charset="0"/>
              </a:rPr>
              <a:t>thức</a:t>
            </a:r>
            <a:r>
              <a:rPr lang="en-AU" sz="2600" dirty="0">
                <a:solidFill>
                  <a:srgbClr val="002060"/>
                </a:solidFill>
                <a:cs typeface="Arial" charset="0"/>
              </a:rPr>
              <a:t> 2 </a:t>
            </a:r>
            <a:r>
              <a:rPr lang="en-AU" sz="2600" dirty="0" err="1">
                <a:solidFill>
                  <a:srgbClr val="002060"/>
                </a:solidFill>
                <a:cs typeface="Arial" charset="0"/>
              </a:rPr>
              <a:t>nếu</a:t>
            </a:r>
            <a:r>
              <a:rPr lang="en-AU" sz="2600" dirty="0">
                <a:solidFill>
                  <a:srgbClr val="002060"/>
                </a:solidFill>
                <a:cs typeface="Arial" charset="0"/>
              </a:rPr>
              <a:t> </a:t>
            </a:r>
            <a:r>
              <a:rPr lang="en-AU" sz="2600" dirty="0" err="1">
                <a:solidFill>
                  <a:srgbClr val="002060"/>
                </a:solidFill>
                <a:cs typeface="Arial" charset="0"/>
              </a:rPr>
              <a:t>biểu</a:t>
            </a:r>
            <a:r>
              <a:rPr lang="en-AU" sz="2600" dirty="0">
                <a:solidFill>
                  <a:srgbClr val="002060"/>
                </a:solidFill>
                <a:cs typeface="Arial" charset="0"/>
              </a:rPr>
              <a:t> </a:t>
            </a:r>
            <a:r>
              <a:rPr lang="en-AU" sz="2600" dirty="0" err="1">
                <a:solidFill>
                  <a:srgbClr val="002060"/>
                </a:solidFill>
                <a:cs typeface="Arial" charset="0"/>
              </a:rPr>
              <a:t>thức</a:t>
            </a:r>
            <a:r>
              <a:rPr lang="en-AU" sz="2600" dirty="0">
                <a:solidFill>
                  <a:srgbClr val="002060"/>
                </a:solidFill>
                <a:cs typeface="Arial" charset="0"/>
              </a:rPr>
              <a:t> </a:t>
            </a:r>
            <a:r>
              <a:rPr lang="en-AU" sz="2600" dirty="0" err="1">
                <a:solidFill>
                  <a:srgbClr val="002060"/>
                </a:solidFill>
                <a:cs typeface="Arial" charset="0"/>
              </a:rPr>
              <a:t>kiểm</a:t>
            </a:r>
            <a:r>
              <a:rPr lang="en-AU" sz="2600" dirty="0">
                <a:solidFill>
                  <a:srgbClr val="002060"/>
                </a:solidFill>
                <a:cs typeface="Arial" charset="0"/>
              </a:rPr>
              <a:t> </a:t>
            </a:r>
            <a:r>
              <a:rPr lang="en-AU" sz="2600" dirty="0" err="1">
                <a:solidFill>
                  <a:srgbClr val="002060"/>
                </a:solidFill>
                <a:cs typeface="Arial" charset="0"/>
              </a:rPr>
              <a:t>tra</a:t>
            </a:r>
            <a:r>
              <a:rPr lang="en-AU" sz="2600" dirty="0">
                <a:solidFill>
                  <a:srgbClr val="002060"/>
                </a:solidFill>
                <a:cs typeface="Arial" charset="0"/>
              </a:rPr>
              <a:t> </a:t>
            </a:r>
            <a:r>
              <a:rPr lang="en-AU" sz="2600" dirty="0" err="1">
                <a:solidFill>
                  <a:srgbClr val="002060"/>
                </a:solidFill>
                <a:cs typeface="Arial" charset="0"/>
              </a:rPr>
              <a:t>sai</a:t>
            </a:r>
            <a:r>
              <a:rPr lang="en-AU" sz="2600" dirty="0">
                <a:solidFill>
                  <a:srgbClr val="002060"/>
                </a:solidFill>
                <a:cs typeface="Arial" charset="0"/>
              </a:rPr>
              <a:t> (</a:t>
            </a:r>
            <a:r>
              <a:rPr lang="en-AU" sz="2600" dirty="0" err="1">
                <a:solidFill>
                  <a:srgbClr val="002060"/>
                </a:solidFill>
                <a:cs typeface="Arial" charset="0"/>
              </a:rPr>
              <a:t>bằng</a:t>
            </a:r>
            <a:r>
              <a:rPr lang="en-AU" sz="2600" dirty="0">
                <a:solidFill>
                  <a:srgbClr val="002060"/>
                </a:solidFill>
                <a:cs typeface="Arial" charset="0"/>
              </a:rPr>
              <a:t> </a:t>
            </a:r>
            <a:r>
              <a:rPr lang="en-AU" sz="2600" dirty="0" err="1">
                <a:solidFill>
                  <a:srgbClr val="002060"/>
                </a:solidFill>
                <a:cs typeface="Arial" charset="0"/>
              </a:rPr>
              <a:t>không</a:t>
            </a:r>
            <a:r>
              <a:rPr lang="en-AU" sz="2600" dirty="0">
                <a:solidFill>
                  <a:srgbClr val="002060"/>
                </a:solidFill>
                <a:cs typeface="Arial" charset="0"/>
              </a:rPr>
              <a:t>).</a:t>
            </a:r>
          </a:p>
          <a:p>
            <a:pPr marL="457200" lvl="1" indent="0">
              <a:spcBef>
                <a:spcPts val="600"/>
              </a:spcBef>
              <a:spcAft>
                <a:spcPts val="600"/>
              </a:spcAft>
              <a:buNone/>
            </a:pPr>
            <a:r>
              <a:rPr lang="pt-BR" sz="2600" dirty="0">
                <a:solidFill>
                  <a:srgbClr val="002060"/>
                </a:solidFill>
                <a:cs typeface="Arial" charset="0"/>
              </a:rPr>
              <a:t>Ví dụ:</a:t>
            </a:r>
          </a:p>
          <a:p>
            <a:pPr marL="457200" lvl="1" indent="0">
              <a:spcBef>
                <a:spcPts val="600"/>
              </a:spcBef>
              <a:spcAft>
                <a:spcPts val="600"/>
              </a:spcAft>
              <a:buNone/>
            </a:pPr>
            <a:r>
              <a:rPr lang="pt-BR" sz="2600" dirty="0">
                <a:solidFill>
                  <a:srgbClr val="002060"/>
                </a:solidFill>
                <a:cs typeface="Arial" charset="0"/>
              </a:rPr>
              <a:t>                   </a:t>
            </a:r>
            <a:r>
              <a:rPr lang="pt-BR" sz="2600" b="1" i="1" dirty="0">
                <a:solidFill>
                  <a:srgbClr val="FF0000"/>
                </a:solidFill>
                <a:cs typeface="Arial" charset="0"/>
              </a:rPr>
              <a:t>a &lt; b ? a+b : a-b</a:t>
            </a:r>
            <a:endParaRPr lang="en-AU" sz="2600" b="1" i="1" dirty="0">
              <a:solidFill>
                <a:srgbClr val="FF0000"/>
              </a:solidFill>
              <a:cs typeface="Arial" charset="0"/>
            </a:endParaRPr>
          </a:p>
          <a:p>
            <a:pPr marL="457200" lvl="1" indent="0">
              <a:spcBef>
                <a:spcPts val="600"/>
              </a:spcBef>
              <a:spcAft>
                <a:spcPts val="600"/>
              </a:spcAft>
              <a:buNone/>
            </a:pPr>
            <a:r>
              <a:rPr lang="en-AU" sz="2600" dirty="0">
                <a:solidFill>
                  <a:srgbClr val="002060"/>
                </a:solidFill>
                <a:cs typeface="Arial" charset="0"/>
              </a:rPr>
              <a:t>	</a:t>
            </a:r>
            <a:r>
              <a:rPr lang="en-AU" sz="2000" dirty="0">
                <a:solidFill>
                  <a:srgbClr val="002060"/>
                </a:solidFill>
                <a:cs typeface="Arial" charset="0"/>
              </a:rPr>
              <a:t>		</a:t>
            </a:r>
            <a:endParaRPr lang="en-AU" sz="2200" b="1" i="1"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31</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spTree>
    <p:extLst>
      <p:ext uri="{BB962C8B-B14F-4D97-AF65-F5344CB8AC3E}">
        <p14:creationId xmlns:p14="http://schemas.microsoft.com/office/powerpoint/2010/main" val="40277209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a:t>
            </a:r>
            <a:r>
              <a:rPr lang="en-AU" sz="2400" dirty="0" err="1">
                <a:solidFill>
                  <a:srgbClr val="002060"/>
                </a:solidFill>
                <a:cs typeface="Arial" charset="0"/>
              </a:rPr>
              <a:t>thao</a:t>
            </a:r>
            <a:r>
              <a:rPr lang="en-AU" sz="2400" dirty="0">
                <a:solidFill>
                  <a:srgbClr val="002060"/>
                </a:solidFill>
                <a:cs typeface="Arial" charset="0"/>
              </a:rPr>
              <a:t> </a:t>
            </a:r>
            <a:r>
              <a:rPr lang="en-AU" sz="2400" dirty="0" err="1">
                <a:solidFill>
                  <a:srgbClr val="002060"/>
                </a:solidFill>
                <a:cs typeface="Arial" charset="0"/>
              </a:rPr>
              <a:t>tác</a:t>
            </a:r>
            <a:r>
              <a:rPr lang="en-AU" sz="2400" dirty="0">
                <a:solidFill>
                  <a:srgbClr val="002060"/>
                </a:solidFill>
                <a:cs typeface="Arial" charset="0"/>
              </a:rPr>
              <a:t> bit: </a:t>
            </a:r>
            <a:endParaRPr lang="en-AU" sz="2400" b="0" dirty="0">
              <a:solidFill>
                <a:srgbClr val="002060"/>
              </a:solidFill>
              <a:cs typeface="Arial" charset="0"/>
            </a:endParaRPr>
          </a:p>
          <a:p>
            <a:pPr lvl="1">
              <a:spcBef>
                <a:spcPts val="600"/>
              </a:spcBef>
              <a:spcAft>
                <a:spcPts val="600"/>
              </a:spcAft>
            </a:pPr>
            <a:r>
              <a:rPr lang="en-AU" sz="2600" dirty="0" err="1">
                <a:solidFill>
                  <a:srgbClr val="002060"/>
                </a:solidFill>
                <a:cs typeface="Arial" charset="0"/>
              </a:rPr>
              <a:t>Đây</a:t>
            </a:r>
            <a:r>
              <a:rPr lang="en-AU" sz="2600" dirty="0">
                <a:solidFill>
                  <a:srgbClr val="002060"/>
                </a:solidFill>
                <a:cs typeface="Arial" charset="0"/>
              </a:rPr>
              <a:t> </a:t>
            </a:r>
            <a:r>
              <a:rPr lang="en-AU" sz="2600" dirty="0" err="1">
                <a:solidFill>
                  <a:srgbClr val="002060"/>
                </a:solidFill>
                <a:cs typeface="Arial" charset="0"/>
              </a:rPr>
              <a:t>là</a:t>
            </a:r>
            <a:r>
              <a:rPr lang="en-AU" sz="2600" dirty="0">
                <a:solidFill>
                  <a:srgbClr val="002060"/>
                </a:solidFill>
                <a:cs typeface="Arial" charset="0"/>
              </a:rPr>
              <a:t> </a:t>
            </a:r>
            <a:r>
              <a:rPr lang="en-AU" sz="2600" dirty="0" err="1">
                <a:solidFill>
                  <a:srgbClr val="002060"/>
                </a:solidFill>
                <a:cs typeface="Arial" charset="0"/>
              </a:rPr>
              <a:t>các</a:t>
            </a:r>
            <a:r>
              <a:rPr lang="en-AU" sz="2600" dirty="0">
                <a:solidFill>
                  <a:srgbClr val="002060"/>
                </a:solidFill>
                <a:cs typeface="Arial" charset="0"/>
              </a:rPr>
              <a:t> </a:t>
            </a:r>
            <a:r>
              <a:rPr lang="en-AU" sz="2600" dirty="0" err="1">
                <a:solidFill>
                  <a:srgbClr val="002060"/>
                </a:solidFill>
                <a:cs typeface="Arial" charset="0"/>
              </a:rPr>
              <a:t>toán</a:t>
            </a:r>
            <a:r>
              <a:rPr lang="en-AU" sz="2600" dirty="0">
                <a:solidFill>
                  <a:srgbClr val="002060"/>
                </a:solidFill>
                <a:cs typeface="Arial" charset="0"/>
              </a:rPr>
              <a:t> </a:t>
            </a:r>
            <a:r>
              <a:rPr lang="en-AU" sz="2600" dirty="0" err="1">
                <a:solidFill>
                  <a:srgbClr val="002060"/>
                </a:solidFill>
                <a:cs typeface="Arial" charset="0"/>
              </a:rPr>
              <a:t>tử</a:t>
            </a:r>
            <a:r>
              <a:rPr lang="en-AU" sz="2600" dirty="0">
                <a:solidFill>
                  <a:srgbClr val="002060"/>
                </a:solidFill>
                <a:cs typeface="Arial" charset="0"/>
              </a:rPr>
              <a:t> </a:t>
            </a:r>
            <a:r>
              <a:rPr lang="en-AU" sz="2600" dirty="0" err="1">
                <a:solidFill>
                  <a:srgbClr val="002060"/>
                </a:solidFill>
                <a:cs typeface="Arial" charset="0"/>
              </a:rPr>
              <a:t>làm</a:t>
            </a:r>
            <a:r>
              <a:rPr lang="en-AU" sz="2600" dirty="0">
                <a:solidFill>
                  <a:srgbClr val="002060"/>
                </a:solidFill>
                <a:cs typeface="Arial" charset="0"/>
              </a:rPr>
              <a:t> </a:t>
            </a:r>
            <a:r>
              <a:rPr lang="en-AU" sz="2600" dirty="0" err="1">
                <a:solidFill>
                  <a:srgbClr val="002060"/>
                </a:solidFill>
                <a:cs typeface="Arial" charset="0"/>
              </a:rPr>
              <a:t>việc</a:t>
            </a:r>
            <a:r>
              <a:rPr lang="en-AU" sz="2600" dirty="0">
                <a:solidFill>
                  <a:srgbClr val="002060"/>
                </a:solidFill>
                <a:cs typeface="Arial" charset="0"/>
              </a:rPr>
              <a:t> </a:t>
            </a:r>
            <a:r>
              <a:rPr lang="en-AU" sz="2600" dirty="0" err="1">
                <a:solidFill>
                  <a:srgbClr val="002060"/>
                </a:solidFill>
                <a:cs typeface="Arial" charset="0"/>
              </a:rPr>
              <a:t>trực</a:t>
            </a:r>
            <a:r>
              <a:rPr lang="en-AU" sz="2600" dirty="0">
                <a:solidFill>
                  <a:srgbClr val="002060"/>
                </a:solidFill>
                <a:cs typeface="Arial" charset="0"/>
              </a:rPr>
              <a:t> </a:t>
            </a:r>
            <a:r>
              <a:rPr lang="en-AU" sz="2600" dirty="0" err="1">
                <a:solidFill>
                  <a:srgbClr val="002060"/>
                </a:solidFill>
                <a:cs typeface="Arial" charset="0"/>
              </a:rPr>
              <a:t>tiếp</a:t>
            </a:r>
            <a:r>
              <a:rPr lang="en-AU" sz="2600" dirty="0">
                <a:solidFill>
                  <a:srgbClr val="002060"/>
                </a:solidFill>
                <a:cs typeface="Arial" charset="0"/>
              </a:rPr>
              <a:t> </a:t>
            </a:r>
            <a:r>
              <a:rPr lang="en-AU" sz="2600" dirty="0" err="1">
                <a:solidFill>
                  <a:srgbClr val="002060"/>
                </a:solidFill>
                <a:cs typeface="Arial" charset="0"/>
              </a:rPr>
              <a:t>trên</a:t>
            </a:r>
            <a:r>
              <a:rPr lang="en-AU" sz="2600" dirty="0">
                <a:solidFill>
                  <a:srgbClr val="002060"/>
                </a:solidFill>
                <a:cs typeface="Arial" charset="0"/>
              </a:rPr>
              <a:t> </a:t>
            </a:r>
            <a:r>
              <a:rPr lang="en-AU" sz="2600" dirty="0" err="1">
                <a:solidFill>
                  <a:srgbClr val="002060"/>
                </a:solidFill>
                <a:cs typeface="Arial" charset="0"/>
              </a:rPr>
              <a:t>dạng</a:t>
            </a:r>
            <a:r>
              <a:rPr lang="en-AU" sz="2600" dirty="0">
                <a:solidFill>
                  <a:srgbClr val="002060"/>
                </a:solidFill>
                <a:cs typeface="Arial" charset="0"/>
              </a:rPr>
              <a:t> </a:t>
            </a:r>
            <a:r>
              <a:rPr lang="en-AU" sz="2600" dirty="0" err="1">
                <a:solidFill>
                  <a:srgbClr val="002060"/>
                </a:solidFill>
                <a:cs typeface="Arial" charset="0"/>
              </a:rPr>
              <a:t>nhị</a:t>
            </a:r>
            <a:r>
              <a:rPr lang="en-AU" sz="2600" dirty="0">
                <a:solidFill>
                  <a:srgbClr val="002060"/>
                </a:solidFill>
                <a:cs typeface="Arial" charset="0"/>
              </a:rPr>
              <a:t> </a:t>
            </a:r>
            <a:r>
              <a:rPr lang="en-AU" sz="2600" dirty="0" err="1">
                <a:solidFill>
                  <a:srgbClr val="002060"/>
                </a:solidFill>
                <a:cs typeface="Arial" charset="0"/>
              </a:rPr>
              <a:t>phân</a:t>
            </a:r>
            <a:r>
              <a:rPr lang="en-AU" sz="2600" dirty="0">
                <a:solidFill>
                  <a:srgbClr val="002060"/>
                </a:solidFill>
                <a:cs typeface="Arial" charset="0"/>
              </a:rPr>
              <a:t> (bit) </a:t>
            </a:r>
            <a:r>
              <a:rPr lang="en-AU" sz="2600" dirty="0" err="1">
                <a:solidFill>
                  <a:srgbClr val="002060"/>
                </a:solidFill>
                <a:cs typeface="Arial" charset="0"/>
              </a:rPr>
              <a:t>của</a:t>
            </a:r>
            <a:r>
              <a:rPr lang="en-AU" sz="2600" dirty="0">
                <a:solidFill>
                  <a:srgbClr val="002060"/>
                </a:solidFill>
                <a:cs typeface="Arial" charset="0"/>
              </a:rPr>
              <a:t> </a:t>
            </a:r>
            <a:r>
              <a:rPr lang="en-AU" sz="2600" dirty="0" err="1">
                <a:solidFill>
                  <a:srgbClr val="002060"/>
                </a:solidFill>
                <a:cs typeface="Arial" charset="0"/>
              </a:rPr>
              <a:t>số</a:t>
            </a:r>
            <a:r>
              <a:rPr lang="en-AU" sz="2600" dirty="0">
                <a:solidFill>
                  <a:srgbClr val="002060"/>
                </a:solidFill>
                <a:cs typeface="Arial" charset="0"/>
              </a:rPr>
              <a:t> </a:t>
            </a:r>
            <a:r>
              <a:rPr lang="en-AU" sz="2600" dirty="0" err="1">
                <a:solidFill>
                  <a:srgbClr val="002060"/>
                </a:solidFill>
                <a:cs typeface="Arial" charset="0"/>
              </a:rPr>
              <a:t>nguyên</a:t>
            </a:r>
            <a:r>
              <a:rPr lang="en-AU" sz="2600" dirty="0">
                <a:solidFill>
                  <a:srgbClr val="002060"/>
                </a:solidFill>
                <a:cs typeface="Arial" charset="0"/>
              </a:rPr>
              <a:t>.</a:t>
            </a:r>
            <a:r>
              <a:rPr lang="vi-VN" sz="2600" dirty="0">
                <a:solidFill>
                  <a:srgbClr val="002060"/>
                </a:solidFill>
                <a:cs typeface="Arial" charset="0"/>
              </a:rPr>
              <a:t> </a:t>
            </a:r>
            <a:endParaRPr lang="en-AU" sz="2600" dirty="0">
              <a:solidFill>
                <a:srgbClr val="002060"/>
              </a:solidFill>
              <a:cs typeface="Arial" charset="0"/>
            </a:endParaRPr>
          </a:p>
          <a:p>
            <a:pPr lvl="2">
              <a:spcBef>
                <a:spcPts val="600"/>
              </a:spcBef>
              <a:spcAft>
                <a:spcPts val="600"/>
              </a:spcAft>
            </a:pPr>
            <a:r>
              <a:rPr lang="en-AU" sz="2200" dirty="0" err="1">
                <a:solidFill>
                  <a:srgbClr val="002060"/>
                </a:solidFill>
                <a:cs typeface="Arial" charset="0"/>
              </a:rPr>
              <a:t>Toán</a:t>
            </a:r>
            <a:r>
              <a:rPr lang="en-AU" sz="2200" dirty="0">
                <a:solidFill>
                  <a:srgbClr val="002060"/>
                </a:solidFill>
                <a:cs typeface="Arial" charset="0"/>
              </a:rPr>
              <a:t> </a:t>
            </a:r>
            <a:r>
              <a:rPr lang="en-AU" sz="2200" dirty="0" err="1">
                <a:solidFill>
                  <a:srgbClr val="002060"/>
                </a:solidFill>
                <a:cs typeface="Arial" charset="0"/>
              </a:rPr>
              <a:t>tử</a:t>
            </a:r>
            <a:r>
              <a:rPr lang="en-AU" sz="2200" dirty="0">
                <a:solidFill>
                  <a:srgbClr val="002060"/>
                </a:solidFill>
                <a:cs typeface="Arial" charset="0"/>
              </a:rPr>
              <a:t> AND(&amp;): </a:t>
            </a:r>
            <a:r>
              <a:rPr lang="en-AU" sz="2200" dirty="0" err="1">
                <a:solidFill>
                  <a:srgbClr val="002060"/>
                </a:solidFill>
                <a:cs typeface="Arial" charset="0"/>
              </a:rPr>
              <a:t>chỉ</a:t>
            </a:r>
            <a:r>
              <a:rPr lang="en-AU" sz="2200" dirty="0">
                <a:solidFill>
                  <a:srgbClr val="002060"/>
                </a:solidFill>
                <a:cs typeface="Arial" charset="0"/>
              </a:rPr>
              <a:t> </a:t>
            </a:r>
            <a:r>
              <a:rPr lang="en-AU" sz="2200" dirty="0" err="1">
                <a:solidFill>
                  <a:srgbClr val="002060"/>
                </a:solidFill>
                <a:cs typeface="Arial" charset="0"/>
              </a:rPr>
              <a:t>ra</a:t>
            </a:r>
            <a:r>
              <a:rPr lang="en-AU" sz="2200" dirty="0">
                <a:solidFill>
                  <a:srgbClr val="002060"/>
                </a:solidFill>
                <a:cs typeface="Arial" charset="0"/>
              </a:rPr>
              <a:t> 1 </a:t>
            </a:r>
            <a:r>
              <a:rPr lang="en-AU" sz="2200" dirty="0" err="1">
                <a:solidFill>
                  <a:srgbClr val="002060"/>
                </a:solidFill>
                <a:cs typeface="Arial" charset="0"/>
              </a:rPr>
              <a:t>nếu</a:t>
            </a:r>
            <a:r>
              <a:rPr lang="en-AU" sz="2200" dirty="0">
                <a:solidFill>
                  <a:srgbClr val="002060"/>
                </a:solidFill>
                <a:cs typeface="Arial" charset="0"/>
              </a:rPr>
              <a:t> </a:t>
            </a:r>
            <a:r>
              <a:rPr lang="en-AU" sz="2200" dirty="0" err="1">
                <a:solidFill>
                  <a:srgbClr val="002060"/>
                </a:solidFill>
                <a:cs typeface="Arial" charset="0"/>
              </a:rPr>
              <a:t>cả</a:t>
            </a:r>
            <a:r>
              <a:rPr lang="en-AU" sz="2200" dirty="0">
                <a:solidFill>
                  <a:srgbClr val="002060"/>
                </a:solidFill>
                <a:cs typeface="Arial" charset="0"/>
              </a:rPr>
              <a:t> </a:t>
            </a:r>
            <a:r>
              <a:rPr lang="en-AU" sz="2200" dirty="0" err="1">
                <a:solidFill>
                  <a:srgbClr val="002060"/>
                </a:solidFill>
                <a:cs typeface="Arial" charset="0"/>
              </a:rPr>
              <a:t>hai</a:t>
            </a:r>
            <a:r>
              <a:rPr lang="en-AU" sz="2200" dirty="0">
                <a:solidFill>
                  <a:srgbClr val="002060"/>
                </a:solidFill>
                <a:cs typeface="Arial" charset="0"/>
              </a:rPr>
              <a:t> bit </a:t>
            </a:r>
            <a:r>
              <a:rPr lang="en-AU" sz="2200" dirty="0" err="1">
                <a:solidFill>
                  <a:srgbClr val="002060"/>
                </a:solidFill>
                <a:cs typeface="Arial" charset="0"/>
              </a:rPr>
              <a:t>đều</a:t>
            </a:r>
            <a:r>
              <a:rPr lang="en-AU" sz="2200" dirty="0">
                <a:solidFill>
                  <a:srgbClr val="002060"/>
                </a:solidFill>
                <a:cs typeface="Arial" charset="0"/>
              </a:rPr>
              <a:t> </a:t>
            </a:r>
            <a:r>
              <a:rPr lang="en-AU" sz="2200" dirty="0" err="1">
                <a:solidFill>
                  <a:srgbClr val="002060"/>
                </a:solidFill>
                <a:cs typeface="Arial" charset="0"/>
              </a:rPr>
              <a:t>là</a:t>
            </a:r>
            <a:r>
              <a:rPr lang="en-AU" sz="2200" dirty="0">
                <a:solidFill>
                  <a:srgbClr val="002060"/>
                </a:solidFill>
                <a:cs typeface="Arial" charset="0"/>
              </a:rPr>
              <a:t> 1</a:t>
            </a:r>
          </a:p>
          <a:p>
            <a:pPr marL="1371600" lvl="3" indent="0">
              <a:spcBef>
                <a:spcPts val="600"/>
              </a:spcBef>
              <a:spcAft>
                <a:spcPts val="600"/>
              </a:spcAft>
              <a:buNone/>
            </a:pPr>
            <a:r>
              <a:rPr lang="en-AU" dirty="0">
                <a:solidFill>
                  <a:srgbClr val="FF0000"/>
                </a:solidFill>
                <a:cs typeface="Arial" charset="0"/>
              </a:rPr>
              <a:t>6 &amp; 3</a:t>
            </a:r>
            <a:r>
              <a:rPr lang="en-AU" dirty="0">
                <a:solidFill>
                  <a:srgbClr val="002060"/>
                </a:solidFill>
                <a:cs typeface="Arial" charset="0"/>
              </a:rPr>
              <a:t>   // 110 &amp; 011 = 010 (2)</a:t>
            </a:r>
          </a:p>
          <a:p>
            <a:pPr lvl="2">
              <a:spcBef>
                <a:spcPts val="600"/>
              </a:spcBef>
              <a:spcAft>
                <a:spcPts val="600"/>
              </a:spcAft>
            </a:pPr>
            <a:r>
              <a:rPr lang="en-AU" sz="2200" dirty="0" err="1">
                <a:solidFill>
                  <a:srgbClr val="002060"/>
                </a:solidFill>
                <a:cs typeface="Arial" charset="0"/>
              </a:rPr>
              <a:t>Toán</a:t>
            </a:r>
            <a:r>
              <a:rPr lang="en-AU" sz="2200" dirty="0">
                <a:solidFill>
                  <a:srgbClr val="002060"/>
                </a:solidFill>
                <a:cs typeface="Arial" charset="0"/>
              </a:rPr>
              <a:t> </a:t>
            </a:r>
            <a:r>
              <a:rPr lang="en-AU" sz="2200" dirty="0" err="1">
                <a:solidFill>
                  <a:srgbClr val="002060"/>
                </a:solidFill>
                <a:cs typeface="Arial" charset="0"/>
              </a:rPr>
              <a:t>tử</a:t>
            </a:r>
            <a:r>
              <a:rPr lang="en-AU" sz="2200" dirty="0">
                <a:solidFill>
                  <a:srgbClr val="002060"/>
                </a:solidFill>
                <a:cs typeface="Arial" charset="0"/>
              </a:rPr>
              <a:t> OR(|): </a:t>
            </a:r>
            <a:r>
              <a:rPr lang="en-AU" sz="2200" dirty="0" err="1">
                <a:solidFill>
                  <a:srgbClr val="002060"/>
                </a:solidFill>
                <a:cs typeface="Arial" charset="0"/>
              </a:rPr>
              <a:t>chỉ</a:t>
            </a:r>
            <a:r>
              <a:rPr lang="en-AU" sz="2200" dirty="0">
                <a:solidFill>
                  <a:srgbClr val="002060"/>
                </a:solidFill>
                <a:cs typeface="Arial" charset="0"/>
              </a:rPr>
              <a:t> </a:t>
            </a:r>
            <a:r>
              <a:rPr lang="en-AU" sz="2200" dirty="0" err="1">
                <a:solidFill>
                  <a:srgbClr val="002060"/>
                </a:solidFill>
                <a:cs typeface="Arial" charset="0"/>
              </a:rPr>
              <a:t>ra</a:t>
            </a:r>
            <a:r>
              <a:rPr lang="en-AU" sz="2200" dirty="0">
                <a:solidFill>
                  <a:srgbClr val="002060"/>
                </a:solidFill>
                <a:cs typeface="Arial" charset="0"/>
              </a:rPr>
              <a:t> 1 </a:t>
            </a:r>
            <a:r>
              <a:rPr lang="en-AU" sz="2200" dirty="0" err="1">
                <a:solidFill>
                  <a:srgbClr val="002060"/>
                </a:solidFill>
                <a:cs typeface="Arial" charset="0"/>
              </a:rPr>
              <a:t>nếu</a:t>
            </a:r>
            <a:r>
              <a:rPr lang="en-AU" sz="2200" dirty="0">
                <a:solidFill>
                  <a:srgbClr val="002060"/>
                </a:solidFill>
                <a:cs typeface="Arial" charset="0"/>
              </a:rPr>
              <a:t> </a:t>
            </a:r>
            <a:r>
              <a:rPr lang="en-AU" sz="2200" dirty="0" err="1">
                <a:solidFill>
                  <a:srgbClr val="002060"/>
                </a:solidFill>
                <a:cs typeface="Arial" charset="0"/>
              </a:rPr>
              <a:t>có</a:t>
            </a:r>
            <a:r>
              <a:rPr lang="en-AU" sz="2200" dirty="0">
                <a:solidFill>
                  <a:srgbClr val="002060"/>
                </a:solidFill>
                <a:cs typeface="Arial" charset="0"/>
              </a:rPr>
              <a:t> </a:t>
            </a:r>
            <a:r>
              <a:rPr lang="en-AU" sz="2200" dirty="0" err="1">
                <a:solidFill>
                  <a:srgbClr val="002060"/>
                </a:solidFill>
                <a:cs typeface="Arial" charset="0"/>
              </a:rPr>
              <a:t>ít</a:t>
            </a:r>
            <a:r>
              <a:rPr lang="en-AU" sz="2200" dirty="0">
                <a:solidFill>
                  <a:srgbClr val="002060"/>
                </a:solidFill>
                <a:cs typeface="Arial" charset="0"/>
              </a:rPr>
              <a:t> </a:t>
            </a:r>
            <a:r>
              <a:rPr lang="en-AU" sz="2200" dirty="0" err="1">
                <a:solidFill>
                  <a:srgbClr val="002060"/>
                </a:solidFill>
                <a:cs typeface="Arial" charset="0"/>
              </a:rPr>
              <a:t>nhất</a:t>
            </a:r>
            <a:r>
              <a:rPr lang="en-AU" sz="2200" dirty="0">
                <a:solidFill>
                  <a:srgbClr val="002060"/>
                </a:solidFill>
                <a:cs typeface="Arial" charset="0"/>
              </a:rPr>
              <a:t> </a:t>
            </a:r>
            <a:r>
              <a:rPr lang="en-AU" sz="2200" dirty="0" err="1">
                <a:solidFill>
                  <a:srgbClr val="002060"/>
                </a:solidFill>
                <a:cs typeface="Arial" charset="0"/>
              </a:rPr>
              <a:t>một</a:t>
            </a:r>
            <a:r>
              <a:rPr lang="en-AU" sz="2200" dirty="0">
                <a:solidFill>
                  <a:srgbClr val="002060"/>
                </a:solidFill>
                <a:cs typeface="Arial" charset="0"/>
              </a:rPr>
              <a:t> bit </a:t>
            </a:r>
            <a:r>
              <a:rPr lang="en-AU" sz="2200" dirty="0" err="1">
                <a:solidFill>
                  <a:srgbClr val="002060"/>
                </a:solidFill>
                <a:cs typeface="Arial" charset="0"/>
              </a:rPr>
              <a:t>là</a:t>
            </a:r>
            <a:r>
              <a:rPr lang="en-AU" sz="2200" dirty="0">
                <a:solidFill>
                  <a:srgbClr val="002060"/>
                </a:solidFill>
                <a:cs typeface="Arial" charset="0"/>
              </a:rPr>
              <a:t> 1</a:t>
            </a:r>
          </a:p>
          <a:p>
            <a:pPr marL="1371600" lvl="3" indent="0">
              <a:spcBef>
                <a:spcPts val="600"/>
              </a:spcBef>
              <a:spcAft>
                <a:spcPts val="600"/>
              </a:spcAft>
              <a:buNone/>
            </a:pPr>
            <a:r>
              <a:rPr lang="en-AU" dirty="0">
                <a:solidFill>
                  <a:srgbClr val="FF0000"/>
                </a:solidFill>
                <a:cs typeface="Arial" charset="0"/>
              </a:rPr>
              <a:t>6 | 2   </a:t>
            </a:r>
            <a:r>
              <a:rPr lang="en-AU" dirty="0">
                <a:solidFill>
                  <a:srgbClr val="002060"/>
                </a:solidFill>
                <a:cs typeface="Arial" charset="0"/>
              </a:rPr>
              <a:t>// 110 | 010 = 110 (6)</a:t>
            </a:r>
          </a:p>
          <a:p>
            <a:pPr lvl="2">
              <a:spcBef>
                <a:spcPts val="600"/>
              </a:spcBef>
              <a:spcAft>
                <a:spcPts val="600"/>
              </a:spcAft>
            </a:pPr>
            <a:r>
              <a:rPr lang="en-AU" sz="2200" dirty="0" err="1">
                <a:solidFill>
                  <a:srgbClr val="002060"/>
                </a:solidFill>
                <a:cs typeface="Arial" charset="0"/>
              </a:rPr>
              <a:t>Toán</a:t>
            </a:r>
            <a:r>
              <a:rPr lang="en-AU" sz="2200" dirty="0">
                <a:solidFill>
                  <a:srgbClr val="002060"/>
                </a:solidFill>
                <a:cs typeface="Arial" charset="0"/>
              </a:rPr>
              <a:t> </a:t>
            </a:r>
            <a:r>
              <a:rPr lang="en-AU" sz="2200" dirty="0" err="1">
                <a:solidFill>
                  <a:srgbClr val="002060"/>
                </a:solidFill>
                <a:cs typeface="Arial" charset="0"/>
              </a:rPr>
              <a:t>tử</a:t>
            </a:r>
            <a:r>
              <a:rPr lang="en-AU" sz="2200" dirty="0">
                <a:solidFill>
                  <a:srgbClr val="002060"/>
                </a:solidFill>
                <a:cs typeface="Arial" charset="0"/>
              </a:rPr>
              <a:t> XOR(^): </a:t>
            </a:r>
            <a:r>
              <a:rPr lang="en-AU" sz="2200" dirty="0" err="1">
                <a:solidFill>
                  <a:srgbClr val="002060"/>
                </a:solidFill>
                <a:cs typeface="Arial" charset="0"/>
              </a:rPr>
              <a:t>chỉ</a:t>
            </a:r>
            <a:r>
              <a:rPr lang="en-AU" sz="2200" dirty="0">
                <a:solidFill>
                  <a:srgbClr val="002060"/>
                </a:solidFill>
                <a:cs typeface="Arial" charset="0"/>
              </a:rPr>
              <a:t> </a:t>
            </a:r>
            <a:r>
              <a:rPr lang="en-AU" sz="2200" dirty="0" err="1">
                <a:solidFill>
                  <a:srgbClr val="002060"/>
                </a:solidFill>
                <a:cs typeface="Arial" charset="0"/>
              </a:rPr>
              <a:t>ra</a:t>
            </a:r>
            <a:r>
              <a:rPr lang="en-AU" sz="2200" dirty="0">
                <a:solidFill>
                  <a:srgbClr val="002060"/>
                </a:solidFill>
                <a:cs typeface="Arial" charset="0"/>
              </a:rPr>
              <a:t> 1 </a:t>
            </a:r>
            <a:r>
              <a:rPr lang="en-AU" sz="2200" dirty="0" err="1">
                <a:solidFill>
                  <a:srgbClr val="002060"/>
                </a:solidFill>
                <a:cs typeface="Arial" charset="0"/>
              </a:rPr>
              <a:t>nếu</a:t>
            </a:r>
            <a:r>
              <a:rPr lang="en-AU" sz="2200" dirty="0">
                <a:solidFill>
                  <a:srgbClr val="002060"/>
                </a:solidFill>
                <a:cs typeface="Arial" charset="0"/>
              </a:rPr>
              <a:t> 2 bit </a:t>
            </a:r>
            <a:r>
              <a:rPr lang="en-AU" sz="2200" dirty="0" err="1">
                <a:solidFill>
                  <a:srgbClr val="002060"/>
                </a:solidFill>
                <a:cs typeface="Arial" charset="0"/>
              </a:rPr>
              <a:t>khác</a:t>
            </a:r>
            <a:r>
              <a:rPr lang="en-AU" sz="2200" dirty="0">
                <a:solidFill>
                  <a:srgbClr val="002060"/>
                </a:solidFill>
                <a:cs typeface="Arial" charset="0"/>
              </a:rPr>
              <a:t> </a:t>
            </a:r>
            <a:r>
              <a:rPr lang="en-AU" sz="2200" dirty="0" err="1">
                <a:solidFill>
                  <a:srgbClr val="002060"/>
                </a:solidFill>
                <a:cs typeface="Arial" charset="0"/>
              </a:rPr>
              <a:t>nhau</a:t>
            </a:r>
            <a:endParaRPr lang="en-AU" sz="2200" dirty="0">
              <a:solidFill>
                <a:srgbClr val="002060"/>
              </a:solidFill>
              <a:cs typeface="Arial" charset="0"/>
            </a:endParaRPr>
          </a:p>
          <a:p>
            <a:pPr marL="1371600" lvl="3" indent="0">
              <a:spcBef>
                <a:spcPts val="600"/>
              </a:spcBef>
              <a:spcAft>
                <a:spcPts val="600"/>
              </a:spcAft>
              <a:buNone/>
            </a:pPr>
            <a:r>
              <a:rPr lang="en-AU" dirty="0">
                <a:solidFill>
                  <a:srgbClr val="FF0000"/>
                </a:solidFill>
                <a:cs typeface="Arial" charset="0"/>
              </a:rPr>
              <a:t>5 | 4</a:t>
            </a:r>
            <a:r>
              <a:rPr lang="en-AU" dirty="0">
                <a:solidFill>
                  <a:srgbClr val="002060"/>
                </a:solidFill>
                <a:cs typeface="Arial" charset="0"/>
              </a:rPr>
              <a:t>   // 101 ^ 100 = 001 (1)</a:t>
            </a:r>
          </a:p>
          <a:p>
            <a:pPr lvl="2">
              <a:spcBef>
                <a:spcPts val="600"/>
              </a:spcBef>
              <a:spcAft>
                <a:spcPts val="600"/>
              </a:spcAft>
            </a:pPr>
            <a:r>
              <a:rPr lang="en-AU" sz="2200" dirty="0" err="1">
                <a:solidFill>
                  <a:srgbClr val="002060"/>
                </a:solidFill>
                <a:cs typeface="Arial" charset="0"/>
              </a:rPr>
              <a:t>Toán</a:t>
            </a:r>
            <a:r>
              <a:rPr lang="en-AU" sz="2200" dirty="0">
                <a:solidFill>
                  <a:srgbClr val="002060"/>
                </a:solidFill>
                <a:cs typeface="Arial" charset="0"/>
              </a:rPr>
              <a:t> </a:t>
            </a:r>
            <a:r>
              <a:rPr lang="en-AU" sz="2200" dirty="0" err="1">
                <a:solidFill>
                  <a:srgbClr val="002060"/>
                </a:solidFill>
                <a:cs typeface="Arial" charset="0"/>
              </a:rPr>
              <a:t>tử</a:t>
            </a:r>
            <a:r>
              <a:rPr lang="en-AU" sz="2200" dirty="0">
                <a:solidFill>
                  <a:srgbClr val="002060"/>
                </a:solidFill>
                <a:cs typeface="Arial" charset="0"/>
              </a:rPr>
              <a:t> NOT(~): </a:t>
            </a:r>
            <a:r>
              <a:rPr lang="en-AU" sz="2200" dirty="0" err="1">
                <a:solidFill>
                  <a:srgbClr val="002060"/>
                </a:solidFill>
                <a:cs typeface="Arial" charset="0"/>
              </a:rPr>
              <a:t>đảo</a:t>
            </a:r>
            <a:r>
              <a:rPr lang="en-AU" sz="2200" dirty="0">
                <a:solidFill>
                  <a:srgbClr val="002060"/>
                </a:solidFill>
                <a:cs typeface="Arial" charset="0"/>
              </a:rPr>
              <a:t> bit (0 -&gt; 1, 1 -&gt; 0)</a:t>
            </a:r>
          </a:p>
          <a:p>
            <a:pPr marL="1371600" lvl="3" indent="0">
              <a:spcBef>
                <a:spcPts val="600"/>
              </a:spcBef>
              <a:spcAft>
                <a:spcPts val="600"/>
              </a:spcAft>
              <a:buNone/>
            </a:pPr>
            <a:r>
              <a:rPr lang="en-AU" dirty="0">
                <a:solidFill>
                  <a:srgbClr val="FF0000"/>
                </a:solidFill>
                <a:cs typeface="Arial" charset="0"/>
              </a:rPr>
              <a:t>~5</a:t>
            </a:r>
            <a:r>
              <a:rPr lang="en-AU" dirty="0">
                <a:solidFill>
                  <a:srgbClr val="002060"/>
                </a:solidFill>
                <a:cs typeface="Arial" charset="0"/>
              </a:rPr>
              <a:t>   //  </a:t>
            </a:r>
            <a:r>
              <a:rPr lang="en-AU" dirty="0" err="1">
                <a:solidFill>
                  <a:srgbClr val="002060"/>
                </a:solidFill>
                <a:cs typeface="Arial" charset="0"/>
              </a:rPr>
              <a:t>Nếu</a:t>
            </a:r>
            <a:r>
              <a:rPr lang="en-AU" dirty="0">
                <a:solidFill>
                  <a:srgbClr val="002060"/>
                </a:solidFill>
                <a:cs typeface="Arial" charset="0"/>
              </a:rPr>
              <a:t> 5 </a:t>
            </a:r>
            <a:r>
              <a:rPr lang="en-AU" dirty="0" err="1">
                <a:solidFill>
                  <a:srgbClr val="002060"/>
                </a:solidFill>
                <a:cs typeface="Arial" charset="0"/>
              </a:rPr>
              <a:t>là</a:t>
            </a:r>
            <a:r>
              <a:rPr lang="en-AU" dirty="0">
                <a:solidFill>
                  <a:srgbClr val="002060"/>
                </a:solidFill>
                <a:cs typeface="Arial" charset="0"/>
              </a:rPr>
              <a:t> </a:t>
            </a:r>
            <a:r>
              <a:rPr lang="en-AU" dirty="0" err="1">
                <a:solidFill>
                  <a:srgbClr val="002060"/>
                </a:solidFill>
                <a:cs typeface="Arial" charset="0"/>
              </a:rPr>
              <a:t>kiểu</a:t>
            </a:r>
            <a:r>
              <a:rPr lang="en-AU" dirty="0">
                <a:solidFill>
                  <a:srgbClr val="002060"/>
                </a:solidFill>
                <a:cs typeface="Arial" charset="0"/>
              </a:rPr>
              <a:t> int (2 byte): 000…0101 </a:t>
            </a:r>
            <a:r>
              <a:rPr lang="en-AU" dirty="0" err="1">
                <a:solidFill>
                  <a:srgbClr val="002060"/>
                </a:solidFill>
                <a:cs typeface="Arial" charset="0"/>
              </a:rPr>
              <a:t>thì</a:t>
            </a:r>
            <a:r>
              <a:rPr lang="en-AU" dirty="0">
                <a:solidFill>
                  <a:srgbClr val="002060"/>
                </a:solidFill>
                <a:cs typeface="Arial" charset="0"/>
              </a:rPr>
              <a:t> ~5 = 111…1010 (</a:t>
            </a:r>
            <a:r>
              <a:rPr lang="en-AU" dirty="0" err="1">
                <a:solidFill>
                  <a:srgbClr val="002060"/>
                </a:solidFill>
                <a:cs typeface="Arial" charset="0"/>
              </a:rPr>
              <a:t>giá</a:t>
            </a:r>
            <a:r>
              <a:rPr lang="en-AU" dirty="0">
                <a:solidFill>
                  <a:srgbClr val="002060"/>
                </a:solidFill>
                <a:cs typeface="Arial" charset="0"/>
              </a:rPr>
              <a:t> </a:t>
            </a:r>
            <a:r>
              <a:rPr lang="en-AU" dirty="0" err="1">
                <a:solidFill>
                  <a:srgbClr val="002060"/>
                </a:solidFill>
                <a:cs typeface="Arial" charset="0"/>
              </a:rPr>
              <a:t>trị</a:t>
            </a:r>
            <a:r>
              <a:rPr lang="en-AU" dirty="0">
                <a:solidFill>
                  <a:srgbClr val="002060"/>
                </a:solidFill>
                <a:cs typeface="Arial" charset="0"/>
              </a:rPr>
              <a:t> -6) </a:t>
            </a:r>
            <a:endParaRPr lang="vi-VN"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32</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spTree>
    <p:extLst>
      <p:ext uri="{BB962C8B-B14F-4D97-AF65-F5344CB8AC3E}">
        <p14:creationId xmlns:p14="http://schemas.microsoft.com/office/powerpoint/2010/main" val="1801737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Thứ</a:t>
            </a:r>
            <a:r>
              <a:rPr lang="en-AU" sz="2400" dirty="0">
                <a:solidFill>
                  <a:srgbClr val="002060"/>
                </a:solidFill>
                <a:cs typeface="Arial" charset="0"/>
              </a:rPr>
              <a:t> </a:t>
            </a:r>
            <a:r>
              <a:rPr lang="en-AU" sz="2400" dirty="0" err="1">
                <a:solidFill>
                  <a:srgbClr val="002060"/>
                </a:solidFill>
                <a:cs typeface="Arial" charset="0"/>
              </a:rPr>
              <a:t>tự</a:t>
            </a:r>
            <a:r>
              <a:rPr lang="en-AU" sz="2400" dirty="0">
                <a:solidFill>
                  <a:srgbClr val="002060"/>
                </a:solidFill>
                <a:cs typeface="Arial" charset="0"/>
              </a:rPr>
              <a:t> </a:t>
            </a:r>
            <a:r>
              <a:rPr lang="en-AU" sz="2400" dirty="0" err="1">
                <a:solidFill>
                  <a:srgbClr val="002060"/>
                </a:solidFill>
                <a:cs typeface="Arial" charset="0"/>
              </a:rPr>
              <a:t>ưu</a:t>
            </a:r>
            <a:r>
              <a:rPr lang="en-AU" sz="2400" dirty="0">
                <a:solidFill>
                  <a:srgbClr val="002060"/>
                </a:solidFill>
                <a:cs typeface="Arial" charset="0"/>
              </a:rPr>
              <a:t> </a:t>
            </a:r>
            <a:r>
              <a:rPr lang="en-AU" sz="2400" dirty="0" err="1">
                <a:solidFill>
                  <a:srgbClr val="002060"/>
                </a:solidFill>
                <a:cs typeface="Arial" charset="0"/>
              </a:rPr>
              <a:t>tiên</a:t>
            </a:r>
            <a:r>
              <a:rPr lang="en-AU" sz="2400" dirty="0">
                <a:solidFill>
                  <a:srgbClr val="002060"/>
                </a:solidFill>
                <a:cs typeface="Arial" charset="0"/>
              </a:rPr>
              <a:t> </a:t>
            </a:r>
            <a:r>
              <a:rPr lang="en-AU" sz="2400" dirty="0" err="1">
                <a:solidFill>
                  <a:srgbClr val="002060"/>
                </a:solidFill>
                <a:cs typeface="Arial" charset="0"/>
              </a:rPr>
              <a:t>của</a:t>
            </a:r>
            <a:r>
              <a:rPr lang="en-AU" sz="2400" dirty="0">
                <a:solidFill>
                  <a:srgbClr val="002060"/>
                </a:solidFill>
                <a:cs typeface="Arial" charset="0"/>
              </a:rPr>
              <a:t> </a:t>
            </a: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a:t>
            </a:r>
            <a:endParaRPr lang="en-AU" sz="2400" b="0" dirty="0">
              <a:solidFill>
                <a:srgbClr val="002060"/>
              </a:solidFill>
              <a:cs typeface="Arial" charset="0"/>
            </a:endParaRPr>
          </a:p>
          <a:p>
            <a:pPr marL="457200" lvl="1" indent="0">
              <a:spcBef>
                <a:spcPts val="600"/>
              </a:spcBef>
              <a:spcAft>
                <a:spcPts val="600"/>
              </a:spcAft>
              <a:buNone/>
            </a:pPr>
            <a:endParaRPr lang="vi-VN"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33</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pic>
        <p:nvPicPr>
          <p:cNvPr id="5" name="Picture 4">
            <a:extLst>
              <a:ext uri="{FF2B5EF4-FFF2-40B4-BE49-F238E27FC236}">
                <a16:creationId xmlns:a16="http://schemas.microsoft.com/office/drawing/2014/main" id="{620A193C-0FF3-7784-9F46-6FCC188F9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67787"/>
            <a:ext cx="9009329" cy="437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8235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Thứ</a:t>
            </a:r>
            <a:r>
              <a:rPr lang="en-AU" sz="2400" dirty="0">
                <a:solidFill>
                  <a:srgbClr val="002060"/>
                </a:solidFill>
                <a:cs typeface="Arial" charset="0"/>
              </a:rPr>
              <a:t> </a:t>
            </a:r>
            <a:r>
              <a:rPr lang="en-AU" sz="2400" dirty="0" err="1">
                <a:solidFill>
                  <a:srgbClr val="002060"/>
                </a:solidFill>
                <a:cs typeface="Arial" charset="0"/>
              </a:rPr>
              <a:t>tự</a:t>
            </a:r>
            <a:r>
              <a:rPr lang="en-AU" sz="2400" dirty="0">
                <a:solidFill>
                  <a:srgbClr val="002060"/>
                </a:solidFill>
                <a:cs typeface="Arial" charset="0"/>
              </a:rPr>
              <a:t> </a:t>
            </a:r>
            <a:r>
              <a:rPr lang="en-AU" sz="2400" dirty="0" err="1">
                <a:solidFill>
                  <a:srgbClr val="002060"/>
                </a:solidFill>
                <a:cs typeface="Arial" charset="0"/>
              </a:rPr>
              <a:t>ưu</a:t>
            </a:r>
            <a:r>
              <a:rPr lang="en-AU" sz="2400" dirty="0">
                <a:solidFill>
                  <a:srgbClr val="002060"/>
                </a:solidFill>
                <a:cs typeface="Arial" charset="0"/>
              </a:rPr>
              <a:t> </a:t>
            </a:r>
            <a:r>
              <a:rPr lang="en-AU" sz="2400" dirty="0" err="1">
                <a:solidFill>
                  <a:srgbClr val="002060"/>
                </a:solidFill>
                <a:cs typeface="Arial" charset="0"/>
              </a:rPr>
              <a:t>tiên</a:t>
            </a:r>
            <a:r>
              <a:rPr lang="en-AU" sz="2400" dirty="0">
                <a:solidFill>
                  <a:srgbClr val="002060"/>
                </a:solidFill>
                <a:cs typeface="Arial" charset="0"/>
              </a:rPr>
              <a:t> </a:t>
            </a:r>
            <a:r>
              <a:rPr lang="en-AU" sz="2400" dirty="0" err="1">
                <a:solidFill>
                  <a:srgbClr val="002060"/>
                </a:solidFill>
                <a:cs typeface="Arial" charset="0"/>
              </a:rPr>
              <a:t>của</a:t>
            </a:r>
            <a:r>
              <a:rPr lang="en-AU" sz="2400" dirty="0">
                <a:solidFill>
                  <a:srgbClr val="002060"/>
                </a:solidFill>
                <a:cs typeface="Arial" charset="0"/>
              </a:rPr>
              <a:t> </a:t>
            </a:r>
            <a:r>
              <a:rPr lang="en-AU" sz="2400" dirty="0" err="1">
                <a:solidFill>
                  <a:srgbClr val="002060"/>
                </a:solidFill>
                <a:cs typeface="Arial" charset="0"/>
              </a:rPr>
              <a:t>phép</a:t>
            </a:r>
            <a:r>
              <a:rPr lang="en-AU" sz="2400" dirty="0">
                <a:solidFill>
                  <a:srgbClr val="002060"/>
                </a:solidFill>
                <a:cs typeface="Arial" charset="0"/>
              </a:rPr>
              <a:t> </a:t>
            </a:r>
            <a:r>
              <a:rPr lang="en-AU" sz="2400" dirty="0" err="1">
                <a:solidFill>
                  <a:srgbClr val="002060"/>
                </a:solidFill>
                <a:cs typeface="Arial" charset="0"/>
              </a:rPr>
              <a:t>toán</a:t>
            </a:r>
            <a:r>
              <a:rPr lang="en-AU" sz="2400" dirty="0">
                <a:solidFill>
                  <a:srgbClr val="002060"/>
                </a:solidFill>
                <a:cs typeface="Arial" charset="0"/>
              </a:rPr>
              <a:t>: </a:t>
            </a:r>
          </a:p>
          <a:p>
            <a:pPr lvl="1">
              <a:spcBef>
                <a:spcPts val="600"/>
              </a:spcBef>
              <a:spcAft>
                <a:spcPts val="600"/>
              </a:spcAft>
            </a:pPr>
            <a:r>
              <a:rPr lang="vi-VN" sz="2400" b="0" dirty="0">
                <a:solidFill>
                  <a:srgbClr val="002060"/>
                </a:solidFill>
                <a:cs typeface="Arial" charset="0"/>
              </a:rPr>
              <a:t>Các phép toán trên một dòng có cùng thứ tự ưu tiên, các phép toán ở hàng trên có số ưu tiên cao hơn các phép toán ở hàng dưới.</a:t>
            </a:r>
          </a:p>
          <a:p>
            <a:pPr lvl="1">
              <a:spcBef>
                <a:spcPts val="600"/>
              </a:spcBef>
              <a:spcAft>
                <a:spcPts val="600"/>
              </a:spcAft>
            </a:pPr>
            <a:r>
              <a:rPr lang="vi-VN" sz="2400" b="0" dirty="0">
                <a:solidFill>
                  <a:srgbClr val="002060"/>
                </a:solidFill>
                <a:cs typeface="Arial" charset="0"/>
              </a:rPr>
              <a:t>Đối với các phép toán cùng mức ưu tiên thì trình tự tính toán có thể từ trái qua phải hay ngược lại. Điều này chỉ ra trong cột "Trình tự kết hợp". </a:t>
            </a:r>
          </a:p>
          <a:p>
            <a:pPr lvl="1">
              <a:spcBef>
                <a:spcPts val="600"/>
              </a:spcBef>
              <a:spcAft>
                <a:spcPts val="600"/>
              </a:spcAft>
            </a:pPr>
            <a:r>
              <a:rPr lang="vi-VN" sz="2400" b="0" dirty="0">
                <a:solidFill>
                  <a:srgbClr val="002060"/>
                </a:solidFill>
                <a:cs typeface="Arial" charset="0"/>
              </a:rPr>
              <a:t>Để viết biểu thức một cách chính xác nên sử dụng các dấu ngoặc tròn (ngoặc đơn). </a:t>
            </a:r>
            <a:endParaRPr lang="en-AU" sz="2400" b="0" dirty="0">
              <a:solidFill>
                <a:srgbClr val="002060"/>
              </a:solidFill>
              <a:cs typeface="Arial" charset="0"/>
            </a:endParaRPr>
          </a:p>
          <a:p>
            <a:pPr marL="457200" lvl="1" indent="0">
              <a:spcBef>
                <a:spcPts val="600"/>
              </a:spcBef>
              <a:spcAft>
                <a:spcPts val="600"/>
              </a:spcAft>
              <a:buNone/>
            </a:pPr>
            <a:endParaRPr lang="vi-VN"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34</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2.5. </a:t>
            </a:r>
            <a:r>
              <a:rPr lang="en-US" sz="3600" dirty="0" err="1"/>
              <a:t>Một</a:t>
            </a:r>
            <a:r>
              <a:rPr lang="en-US" sz="3600" dirty="0"/>
              <a:t> </a:t>
            </a:r>
            <a:r>
              <a:rPr lang="en-US" sz="3600" dirty="0" err="1"/>
              <a:t>số</a:t>
            </a:r>
            <a:r>
              <a:rPr lang="en-US" sz="3600" dirty="0"/>
              <a:t> </a:t>
            </a:r>
            <a:r>
              <a:rPr lang="en-US" sz="3600" dirty="0" err="1"/>
              <a:t>phép</a:t>
            </a:r>
            <a:r>
              <a:rPr lang="en-US" sz="3600" dirty="0"/>
              <a:t> </a:t>
            </a:r>
            <a:r>
              <a:rPr lang="en-US" sz="3600" dirty="0" err="1"/>
              <a:t>toán</a:t>
            </a:r>
            <a:r>
              <a:rPr lang="en-US" sz="3600" dirty="0"/>
              <a:t> </a:t>
            </a:r>
            <a:r>
              <a:rPr lang="en-US" sz="3600" dirty="0" err="1"/>
              <a:t>trên</a:t>
            </a:r>
            <a:r>
              <a:rPr lang="en-US" sz="3600" dirty="0"/>
              <a:t> </a:t>
            </a:r>
            <a:r>
              <a:rPr lang="en-US" sz="3600" dirty="0" err="1"/>
              <a:t>các</a:t>
            </a:r>
            <a:r>
              <a:rPr lang="en-US" sz="3600" dirty="0"/>
              <a:t> </a:t>
            </a:r>
            <a:r>
              <a:rPr lang="en-US" sz="3600" dirty="0" err="1"/>
              <a:t>kiểu</a:t>
            </a:r>
            <a:endParaRPr lang="en-US" sz="3600" dirty="0"/>
          </a:p>
        </p:txBody>
      </p:sp>
    </p:spTree>
    <p:extLst>
      <p:ext uri="{BB962C8B-B14F-4D97-AF65-F5344CB8AC3E}">
        <p14:creationId xmlns:p14="http://schemas.microsoft.com/office/powerpoint/2010/main" val="4820640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Xuất</a:t>
            </a:r>
            <a:r>
              <a:rPr lang="en-AU" sz="2400" dirty="0">
                <a:solidFill>
                  <a:srgbClr val="002060"/>
                </a:solidFill>
                <a:cs typeface="Arial" charset="0"/>
              </a:rPr>
              <a:t> (</a:t>
            </a:r>
            <a:r>
              <a:rPr lang="en-AU" sz="2400" dirty="0" err="1">
                <a:solidFill>
                  <a:srgbClr val="002060"/>
                </a:solidFill>
                <a:cs typeface="Arial" charset="0"/>
              </a:rPr>
              <a:t>Hiển</a:t>
            </a:r>
            <a:r>
              <a:rPr lang="en-AU" sz="2400" dirty="0">
                <a:solidFill>
                  <a:srgbClr val="002060"/>
                </a:solidFill>
                <a:cs typeface="Arial" charset="0"/>
              </a:rPr>
              <a:t> </a:t>
            </a:r>
            <a:r>
              <a:rPr lang="en-AU" sz="2400" dirty="0" err="1">
                <a:solidFill>
                  <a:srgbClr val="002060"/>
                </a:solidFill>
                <a:cs typeface="Arial" charset="0"/>
              </a:rPr>
              <a:t>thị</a:t>
            </a:r>
            <a:r>
              <a:rPr lang="en-AU" sz="2400" dirty="0">
                <a:solidFill>
                  <a:srgbClr val="002060"/>
                </a:solidFill>
                <a:cs typeface="Arial" charset="0"/>
              </a:rPr>
              <a:t>, In) </a:t>
            </a:r>
            <a:r>
              <a:rPr lang="en-AU" sz="2400" dirty="0" err="1">
                <a:solidFill>
                  <a:srgbClr val="002060"/>
                </a:solidFill>
                <a:cs typeface="Arial" charset="0"/>
              </a:rPr>
              <a:t>dữ</a:t>
            </a:r>
            <a:r>
              <a:rPr lang="en-AU" sz="2400" dirty="0">
                <a:solidFill>
                  <a:srgbClr val="002060"/>
                </a:solidFill>
                <a:cs typeface="Arial" charset="0"/>
              </a:rPr>
              <a:t> </a:t>
            </a:r>
            <a:r>
              <a:rPr lang="en-AU" sz="2400" dirty="0" err="1">
                <a:solidFill>
                  <a:srgbClr val="002060"/>
                </a:solidFill>
                <a:cs typeface="Arial" charset="0"/>
              </a:rPr>
              <a:t>liệu</a:t>
            </a:r>
            <a:r>
              <a:rPr lang="en-AU" sz="2400" dirty="0">
                <a:solidFill>
                  <a:srgbClr val="002060"/>
                </a:solidFill>
                <a:cs typeface="Arial" charset="0"/>
              </a:rPr>
              <a:t> </a:t>
            </a:r>
            <a:r>
              <a:rPr lang="en-AU" sz="2400" dirty="0" err="1">
                <a:solidFill>
                  <a:srgbClr val="002060"/>
                </a:solidFill>
                <a:cs typeface="Arial" charset="0"/>
              </a:rPr>
              <a:t>ra</a:t>
            </a:r>
            <a:r>
              <a:rPr lang="en-AU" sz="2400" dirty="0">
                <a:solidFill>
                  <a:srgbClr val="002060"/>
                </a:solidFill>
                <a:cs typeface="Arial" charset="0"/>
              </a:rPr>
              <a:t> </a:t>
            </a:r>
            <a:r>
              <a:rPr lang="en-AU" sz="2400" dirty="0" err="1">
                <a:solidFill>
                  <a:srgbClr val="002060"/>
                </a:solidFill>
                <a:cs typeface="Arial" charset="0"/>
              </a:rPr>
              <a:t>màn</a:t>
            </a:r>
            <a:r>
              <a:rPr lang="en-AU" sz="2400" dirty="0">
                <a:solidFill>
                  <a:srgbClr val="002060"/>
                </a:solidFill>
                <a:cs typeface="Arial" charset="0"/>
              </a:rPr>
              <a:t> </a:t>
            </a:r>
            <a:r>
              <a:rPr lang="en-AU" sz="2400" dirty="0" err="1">
                <a:solidFill>
                  <a:srgbClr val="002060"/>
                </a:solidFill>
                <a:cs typeface="Arial" charset="0"/>
              </a:rPr>
              <a:t>hình</a:t>
            </a:r>
            <a:r>
              <a:rPr lang="en-AU" sz="2400" dirty="0">
                <a:solidFill>
                  <a:srgbClr val="002060"/>
                </a:solidFill>
                <a:cs typeface="Arial" charset="0"/>
              </a:rPr>
              <a:t>: </a:t>
            </a:r>
          </a:p>
          <a:p>
            <a:pPr lvl="1">
              <a:spcBef>
                <a:spcPts val="600"/>
              </a:spcBef>
              <a:spcAft>
                <a:spcPts val="600"/>
              </a:spcAft>
            </a:pPr>
            <a:r>
              <a:rPr lang="vi-VN" sz="2400" b="0" dirty="0">
                <a:solidFill>
                  <a:srgbClr val="002060"/>
                </a:solidFill>
                <a:cs typeface="Arial" charset="0"/>
              </a:rPr>
              <a:t>Hàm </a:t>
            </a:r>
            <a:r>
              <a:rPr lang="vi-VN" sz="2400" b="1" i="1" dirty="0">
                <a:solidFill>
                  <a:srgbClr val="FF0000"/>
                </a:solidFill>
                <a:cs typeface="Arial" charset="0"/>
              </a:rPr>
              <a:t>printf</a:t>
            </a:r>
            <a:r>
              <a:rPr lang="vi-VN" sz="2400" b="0" dirty="0">
                <a:solidFill>
                  <a:srgbClr val="002060"/>
                </a:solidFill>
                <a:cs typeface="Arial" charset="0"/>
              </a:rPr>
              <a:t>  thuộc thư viện </a:t>
            </a:r>
            <a:r>
              <a:rPr lang="vi-VN" sz="2400" b="1" i="1" dirty="0">
                <a:solidFill>
                  <a:srgbClr val="FF0000"/>
                </a:solidFill>
                <a:cs typeface="Arial" charset="0"/>
              </a:rPr>
              <a:t>stdio.h</a:t>
            </a:r>
          </a:p>
          <a:p>
            <a:pPr lvl="1">
              <a:spcBef>
                <a:spcPts val="600"/>
              </a:spcBef>
              <a:spcAft>
                <a:spcPts val="600"/>
              </a:spcAft>
            </a:pPr>
            <a:r>
              <a:rPr lang="vi-VN" sz="2400" b="0" dirty="0">
                <a:solidFill>
                  <a:srgbClr val="002060"/>
                </a:solidFill>
                <a:cs typeface="Arial" charset="0"/>
              </a:rPr>
              <a:t>Cú pháp</a:t>
            </a:r>
          </a:p>
          <a:p>
            <a:pPr marL="457200" lvl="1" indent="0">
              <a:spcBef>
                <a:spcPts val="600"/>
              </a:spcBef>
              <a:spcAft>
                <a:spcPts val="600"/>
              </a:spcAft>
              <a:buNone/>
            </a:pPr>
            <a:r>
              <a:rPr lang="en-AU" sz="2400" b="0" dirty="0">
                <a:solidFill>
                  <a:srgbClr val="002060"/>
                </a:solidFill>
                <a:cs typeface="Arial" charset="0"/>
              </a:rPr>
              <a:t>		</a:t>
            </a:r>
            <a:r>
              <a:rPr lang="vi-VN" sz="2400" b="1" i="1" dirty="0">
                <a:solidFill>
                  <a:srgbClr val="FF0000"/>
                </a:solidFill>
                <a:cs typeface="Arial" charset="0"/>
              </a:rPr>
              <a:t>int printf (&lt;chuỗi điều khiển&gt;, bt1, bt2, ..., btn); </a:t>
            </a:r>
          </a:p>
          <a:p>
            <a:pPr marL="457200" lvl="1" indent="0">
              <a:spcBef>
                <a:spcPts val="600"/>
              </a:spcBef>
              <a:spcAft>
                <a:spcPts val="600"/>
              </a:spcAft>
              <a:buNone/>
            </a:pPr>
            <a:r>
              <a:rPr lang="en-AU" sz="2400" dirty="0">
                <a:solidFill>
                  <a:srgbClr val="002060"/>
                </a:solidFill>
                <a:cs typeface="Arial" charset="0"/>
              </a:rPr>
              <a:t>	</a:t>
            </a:r>
            <a:r>
              <a:rPr lang="vi-VN" sz="2400" b="0" dirty="0">
                <a:solidFill>
                  <a:srgbClr val="002060"/>
                </a:solidFill>
                <a:cs typeface="Arial" charset="0"/>
              </a:rPr>
              <a:t>* bt1, bt2,..., btn là các biểu thức mà giá trị của chúng cần được đưa ra màn hình. </a:t>
            </a:r>
          </a:p>
          <a:p>
            <a:pPr marL="457200" lvl="1" indent="0">
              <a:spcBef>
                <a:spcPts val="600"/>
              </a:spcBef>
              <a:spcAft>
                <a:spcPts val="600"/>
              </a:spcAft>
              <a:buNone/>
            </a:pPr>
            <a:r>
              <a:rPr lang="en-AU" sz="2400" dirty="0">
                <a:solidFill>
                  <a:srgbClr val="002060"/>
                </a:solidFill>
                <a:cs typeface="Arial" charset="0"/>
              </a:rPr>
              <a:t>	</a:t>
            </a:r>
            <a:r>
              <a:rPr lang="vi-VN" sz="2400" b="0" dirty="0">
                <a:solidFill>
                  <a:srgbClr val="002060"/>
                </a:solidFill>
                <a:cs typeface="Arial" charset="0"/>
              </a:rPr>
              <a:t>* trong chuỗi điều khiển, có thể chứa:</a:t>
            </a:r>
          </a:p>
          <a:p>
            <a:pPr marL="457200" lvl="1" indent="0">
              <a:spcBef>
                <a:spcPts val="600"/>
              </a:spcBef>
              <a:spcAft>
                <a:spcPts val="600"/>
              </a:spcAft>
              <a:buNone/>
            </a:pPr>
            <a:r>
              <a:rPr lang="en-AU" sz="2400" dirty="0">
                <a:solidFill>
                  <a:srgbClr val="002060"/>
                </a:solidFill>
                <a:cs typeface="Arial" charset="0"/>
              </a:rPr>
              <a:t>		</a:t>
            </a:r>
            <a:r>
              <a:rPr lang="vi-VN" sz="2400" b="0" dirty="0">
                <a:solidFill>
                  <a:srgbClr val="002060"/>
                </a:solidFill>
                <a:cs typeface="Arial" charset="0"/>
              </a:rPr>
              <a:t>+ Ký tự điều khiển.</a:t>
            </a:r>
          </a:p>
          <a:p>
            <a:pPr marL="457200" lvl="1" indent="0">
              <a:spcBef>
                <a:spcPts val="600"/>
              </a:spcBef>
              <a:spcAft>
                <a:spcPts val="600"/>
              </a:spcAft>
              <a:buNone/>
            </a:pPr>
            <a:r>
              <a:rPr lang="en-AU" sz="2400" b="0" dirty="0">
                <a:solidFill>
                  <a:srgbClr val="002060"/>
                </a:solidFill>
                <a:cs typeface="Arial" charset="0"/>
              </a:rPr>
              <a:t>		</a:t>
            </a:r>
            <a:r>
              <a:rPr lang="vi-VN" sz="2400" b="0" dirty="0">
                <a:solidFill>
                  <a:srgbClr val="002060"/>
                </a:solidFill>
                <a:cs typeface="Arial" charset="0"/>
              </a:rPr>
              <a:t>+ Các ký tự hiển thị.(Dòng chữ thông báo)</a:t>
            </a:r>
          </a:p>
          <a:p>
            <a:pPr marL="457200" lvl="1" indent="0">
              <a:spcBef>
                <a:spcPts val="600"/>
              </a:spcBef>
              <a:spcAft>
                <a:spcPts val="600"/>
              </a:spcAft>
              <a:buNone/>
            </a:pPr>
            <a:r>
              <a:rPr lang="en-AU" sz="2400" dirty="0">
                <a:solidFill>
                  <a:srgbClr val="002060"/>
                </a:solidFill>
                <a:cs typeface="Arial" charset="0"/>
              </a:rPr>
              <a:t>		</a:t>
            </a:r>
            <a:r>
              <a:rPr lang="vi-VN" sz="2400" b="0" dirty="0">
                <a:solidFill>
                  <a:srgbClr val="002060"/>
                </a:solidFill>
                <a:cs typeface="Arial" charset="0"/>
              </a:rPr>
              <a:t>+ Các </a:t>
            </a:r>
            <a:r>
              <a:rPr lang="vi-VN" sz="2400" b="0">
                <a:solidFill>
                  <a:srgbClr val="002060"/>
                </a:solidFill>
                <a:cs typeface="Arial" charset="0"/>
              </a:rPr>
              <a:t>đặc tả</a:t>
            </a:r>
            <a:r>
              <a:rPr lang="en-US" sz="2400" b="0">
                <a:solidFill>
                  <a:srgbClr val="002060"/>
                </a:solidFill>
                <a:cs typeface="Arial" charset="0"/>
              </a:rPr>
              <a:t> (định dạng kiểu dữ liệu in ra)</a:t>
            </a:r>
            <a:r>
              <a:rPr lang="vi-VN" sz="2400" b="0">
                <a:solidFill>
                  <a:srgbClr val="002060"/>
                </a:solidFill>
                <a:cs typeface="Arial" charset="0"/>
              </a:rPr>
              <a:t> </a:t>
            </a:r>
            <a:endParaRPr lang="vi-VN" sz="2400" b="0" dirty="0">
              <a:solidFill>
                <a:srgbClr val="002060"/>
              </a:solidFill>
              <a:cs typeface="Arial" charset="0"/>
            </a:endParaRPr>
          </a:p>
          <a:p>
            <a:pPr marL="457200" lvl="1" indent="0">
              <a:spcBef>
                <a:spcPts val="600"/>
              </a:spcBef>
              <a:spcAft>
                <a:spcPts val="600"/>
              </a:spcAft>
              <a:buNone/>
            </a:pPr>
            <a:endParaRPr lang="vi-VN"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35</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spTree>
    <p:extLst>
      <p:ext uri="{BB962C8B-B14F-4D97-AF65-F5344CB8AC3E}">
        <p14:creationId xmlns:p14="http://schemas.microsoft.com/office/powerpoint/2010/main" val="25229882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2491" name="Group 91"/>
          <p:cNvGraphicFramePr>
            <a:graphicFrameLocks noGrp="1"/>
          </p:cNvGraphicFramePr>
          <p:nvPr>
            <p:ph/>
            <p:extLst>
              <p:ext uri="{D42A27DB-BD31-4B8C-83A1-F6EECF244321}">
                <p14:modId xmlns:p14="http://schemas.microsoft.com/office/powerpoint/2010/main" val="3024325946"/>
              </p:ext>
            </p:extLst>
          </p:nvPr>
        </p:nvGraphicFramePr>
        <p:xfrm>
          <a:off x="1524000" y="1600200"/>
          <a:ext cx="8991600" cy="4510316"/>
        </p:xfrm>
        <a:graphic>
          <a:graphicData uri="http://schemas.openxmlformats.org/drawingml/2006/table">
            <a:tbl>
              <a:tblPr/>
              <a:tblGrid>
                <a:gridCol w="2997200">
                  <a:extLst>
                    <a:ext uri="{9D8B030D-6E8A-4147-A177-3AD203B41FA5}">
                      <a16:colId xmlns:a16="http://schemas.microsoft.com/office/drawing/2014/main" val="20000"/>
                    </a:ext>
                  </a:extLst>
                </a:gridCol>
                <a:gridCol w="2997200">
                  <a:extLst>
                    <a:ext uri="{9D8B030D-6E8A-4147-A177-3AD203B41FA5}">
                      <a16:colId xmlns:a16="http://schemas.microsoft.com/office/drawing/2014/main" val="20001"/>
                    </a:ext>
                  </a:extLst>
                </a:gridCol>
                <a:gridCol w="2997200">
                  <a:extLst>
                    <a:ext uri="{9D8B030D-6E8A-4147-A177-3AD203B41FA5}">
                      <a16:colId xmlns:a16="http://schemas.microsoft.com/office/drawing/2014/main" val="20002"/>
                    </a:ext>
                  </a:extLst>
                </a:gridCol>
              </a:tblGrid>
              <a:tr h="91123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dirty="0" err="1">
                          <a:ln>
                            <a:noFill/>
                          </a:ln>
                          <a:solidFill>
                            <a:schemeClr val="tx1"/>
                          </a:solidFill>
                          <a:effectLst/>
                          <a:latin typeface="Cambria" pitchFamily="18" charset="0"/>
                          <a:cs typeface="Arial" charset="0"/>
                        </a:rPr>
                        <a:t>Nhóm</a:t>
                      </a:r>
                      <a:r>
                        <a:rPr kumimoji="0" lang="en-US" sz="2400" b="1" i="0" u="none" strike="noStrike" cap="none" normalizeH="0" baseline="0" dirty="0">
                          <a:ln>
                            <a:noFill/>
                          </a:ln>
                          <a:solidFill>
                            <a:schemeClr val="tx1"/>
                          </a:solidFill>
                          <a:effectLst/>
                          <a:latin typeface="Cambria" pitchFamily="18" charset="0"/>
                          <a:cs typeface="Arial" charset="0"/>
                        </a:rPr>
                        <a:t> </a:t>
                      </a:r>
                      <a:r>
                        <a:rPr kumimoji="0" lang="en-US" sz="2400" b="1" i="0" u="none" strike="noStrike" cap="none" normalizeH="0" baseline="0" dirty="0" err="1">
                          <a:ln>
                            <a:noFill/>
                          </a:ln>
                          <a:solidFill>
                            <a:schemeClr val="tx1"/>
                          </a:solidFill>
                          <a:effectLst/>
                          <a:latin typeface="Cambria" pitchFamily="18" charset="0"/>
                          <a:cs typeface="Arial" charset="0"/>
                        </a:rPr>
                        <a:t>kí</a:t>
                      </a:r>
                      <a:r>
                        <a:rPr kumimoji="0" lang="en-US" sz="2400" b="1" i="0" u="none" strike="noStrike" cap="none" normalizeH="0" baseline="0" dirty="0">
                          <a:ln>
                            <a:noFill/>
                          </a:ln>
                          <a:solidFill>
                            <a:schemeClr val="tx1"/>
                          </a:solidFill>
                          <a:effectLst/>
                          <a:latin typeface="Cambria" pitchFamily="18" charset="0"/>
                          <a:cs typeface="Arial" charset="0"/>
                        </a:rPr>
                        <a:t> </a:t>
                      </a:r>
                      <a:r>
                        <a:rPr kumimoji="0" lang="en-US" sz="2400" b="1" i="0" u="none" strike="noStrike" cap="none" normalizeH="0" baseline="0" dirty="0" err="1">
                          <a:ln>
                            <a:noFill/>
                          </a:ln>
                          <a:solidFill>
                            <a:schemeClr val="tx1"/>
                          </a:solidFill>
                          <a:effectLst/>
                          <a:latin typeface="Cambria" pitchFamily="18" charset="0"/>
                          <a:cs typeface="Arial" charset="0"/>
                        </a:rPr>
                        <a:t>tự</a:t>
                      </a:r>
                      <a:r>
                        <a:rPr kumimoji="0" lang="en-US" sz="2400" b="1" i="0" u="none" strike="noStrike" cap="none" normalizeH="0" baseline="0" dirty="0">
                          <a:ln>
                            <a:noFill/>
                          </a:ln>
                          <a:solidFill>
                            <a:schemeClr val="tx1"/>
                          </a:solidFill>
                          <a:effectLst/>
                          <a:latin typeface="Cambria" pitchFamily="18" charset="0"/>
                          <a:cs typeface="Arial" charset="0"/>
                        </a:rPr>
                        <a:t>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dirty="0" err="1">
                          <a:ln>
                            <a:noFill/>
                          </a:ln>
                          <a:solidFill>
                            <a:schemeClr val="tx1"/>
                          </a:solidFill>
                          <a:effectLst/>
                          <a:latin typeface="Cambria" pitchFamily="18" charset="0"/>
                          <a:cs typeface="Arial" charset="0"/>
                        </a:rPr>
                        <a:t>định</a:t>
                      </a:r>
                      <a:r>
                        <a:rPr kumimoji="0" lang="en-US" sz="2400" b="1" i="0" u="none" strike="noStrike" cap="none" normalizeH="0" baseline="0" dirty="0">
                          <a:ln>
                            <a:noFill/>
                          </a:ln>
                          <a:solidFill>
                            <a:schemeClr val="tx1"/>
                          </a:solidFill>
                          <a:effectLst/>
                          <a:latin typeface="Cambria" pitchFamily="18" charset="0"/>
                          <a:cs typeface="Arial" charset="0"/>
                        </a:rPr>
                        <a:t> </a:t>
                      </a:r>
                      <a:r>
                        <a:rPr kumimoji="0" lang="en-US" sz="2400" b="1" i="0" u="none" strike="noStrike" cap="none" normalizeH="0" baseline="0" dirty="0" err="1">
                          <a:ln>
                            <a:noFill/>
                          </a:ln>
                          <a:solidFill>
                            <a:schemeClr val="tx1"/>
                          </a:solidFill>
                          <a:effectLst/>
                          <a:latin typeface="Cambria" pitchFamily="18" charset="0"/>
                          <a:cs typeface="Arial" charset="0"/>
                        </a:rPr>
                        <a:t>dạng</a:t>
                      </a:r>
                      <a:endParaRPr kumimoji="0" lang="en-US" sz="2400" b="1" i="0" u="none" strike="noStrike" cap="none" normalizeH="0" baseline="0" dirty="0">
                        <a:ln>
                          <a:noFill/>
                        </a:ln>
                        <a:solidFill>
                          <a:schemeClr val="tx1"/>
                        </a:solidFill>
                        <a:effectLst/>
                        <a:latin typeface="Cambria" pitchFamily="18" charset="0"/>
                        <a:cs typeface="Arial" charset="0"/>
                      </a:endParaRPr>
                    </a:p>
                  </a:txBody>
                  <a:tcPr marL="90000" marR="90000" marT="46802" marB="468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a:ln>
                            <a:noFill/>
                          </a:ln>
                          <a:solidFill>
                            <a:schemeClr val="tx1"/>
                          </a:solidFill>
                          <a:effectLst/>
                          <a:latin typeface="Cambria" pitchFamily="18" charset="0"/>
                          <a:cs typeface="Arial" charset="0"/>
                        </a:rPr>
                        <a:t>Kiểu dữ liệu</a:t>
                      </a: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a:ln>
                            <a:noFill/>
                          </a:ln>
                          <a:solidFill>
                            <a:schemeClr val="tx1"/>
                          </a:solidFill>
                          <a:effectLst/>
                          <a:latin typeface="Cambria" pitchFamily="18" charset="0"/>
                          <a:cs typeface="Arial" charset="0"/>
                        </a:rPr>
                        <a:t>Kết quả</a:t>
                      </a:r>
                    </a:p>
                  </a:txBody>
                  <a:tcPr marL="90000" marR="90000" marT="46802" marB="468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980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dirty="0">
                          <a:ln>
                            <a:noFill/>
                          </a:ln>
                          <a:solidFill>
                            <a:srgbClr val="C00000"/>
                          </a:solidFill>
                          <a:effectLst/>
                          <a:latin typeface="Cambria" pitchFamily="18" charset="0"/>
                          <a:cs typeface="Arial" charset="0"/>
                        </a:rPr>
                        <a:t>%c</a:t>
                      </a:r>
                    </a:p>
                  </a:txBody>
                  <a:tcPr marL="90000" marR="90000" marT="46802" marB="468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rgbClr val="C00000"/>
                          </a:solidFill>
                          <a:effectLst/>
                          <a:latin typeface="Cambria" pitchFamily="18" charset="0"/>
                          <a:cs typeface="Arial" charset="0"/>
                        </a:rPr>
                        <a:t>int, char</a:t>
                      </a: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rgbClr val="C00000"/>
                          </a:solidFill>
                          <a:effectLst/>
                          <a:latin typeface="Cambria" pitchFamily="18" charset="0"/>
                          <a:cs typeface="Arial" charset="0"/>
                        </a:rPr>
                        <a:t>Kí tự đơn lẻ</a:t>
                      </a:r>
                    </a:p>
                  </a:txBody>
                  <a:tcPr marL="90000" marR="90000" marT="46802" marB="468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2539">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dirty="0">
                          <a:ln>
                            <a:noFill/>
                          </a:ln>
                          <a:solidFill>
                            <a:srgbClr val="C00000"/>
                          </a:solidFill>
                          <a:effectLst/>
                          <a:latin typeface="Cambria" pitchFamily="18" charset="0"/>
                          <a:cs typeface="Arial" charset="0"/>
                        </a:rPr>
                        <a:t>%</a:t>
                      </a:r>
                      <a:r>
                        <a:rPr kumimoji="0" lang="en-US" sz="2400" b="0" i="0" u="none" strike="noStrike" cap="none" normalizeH="0" baseline="0" dirty="0" err="1">
                          <a:ln>
                            <a:noFill/>
                          </a:ln>
                          <a:solidFill>
                            <a:srgbClr val="C00000"/>
                          </a:solidFill>
                          <a:effectLst/>
                          <a:latin typeface="Cambria" pitchFamily="18" charset="0"/>
                          <a:cs typeface="Arial" charset="0"/>
                        </a:rPr>
                        <a:t>i</a:t>
                      </a:r>
                      <a:r>
                        <a:rPr kumimoji="0" lang="en-US" sz="2400" b="0" i="0" u="none" strike="noStrike" cap="none" normalizeH="0" baseline="0" dirty="0">
                          <a:ln>
                            <a:noFill/>
                          </a:ln>
                          <a:solidFill>
                            <a:srgbClr val="C00000"/>
                          </a:solidFill>
                          <a:effectLst/>
                          <a:latin typeface="Cambria" pitchFamily="18" charset="0"/>
                          <a:cs typeface="Arial" charset="0"/>
                        </a:rPr>
                        <a:t>, %d</a:t>
                      </a:r>
                    </a:p>
                  </a:txBody>
                  <a:tcPr marL="90000" marR="90000" marT="46802" marB="468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rgbClr val="C00000"/>
                          </a:solidFill>
                          <a:effectLst/>
                          <a:latin typeface="Cambria" pitchFamily="18" charset="0"/>
                          <a:cs typeface="Arial" charset="0"/>
                        </a:rPr>
                        <a:t>int, char</a:t>
                      </a: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rgbClr val="C00000"/>
                          </a:solidFill>
                          <a:effectLst/>
                          <a:latin typeface="Cambria" pitchFamily="18" charset="0"/>
                          <a:cs typeface="Arial" charset="0"/>
                        </a:rPr>
                        <a:t>Số thập phân</a:t>
                      </a:r>
                    </a:p>
                  </a:txBody>
                  <a:tcPr marL="90000" marR="90000" marT="46802" marB="468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216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dirty="0">
                          <a:ln>
                            <a:noFill/>
                          </a:ln>
                          <a:solidFill>
                            <a:schemeClr val="tx1"/>
                          </a:solidFill>
                          <a:effectLst/>
                          <a:latin typeface="Cambria" pitchFamily="18" charset="0"/>
                          <a:cs typeface="Arial" charset="0"/>
                        </a:rPr>
                        <a:t>%o</a:t>
                      </a:r>
                    </a:p>
                  </a:txBody>
                  <a:tcPr marL="90000" marR="90000" marT="46802" marB="468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int, char</a:t>
                      </a: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Số bát phân</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600" b="0" i="0" u="none" strike="noStrike" cap="none" normalizeH="0" baseline="0">
                          <a:ln>
                            <a:noFill/>
                          </a:ln>
                          <a:solidFill>
                            <a:schemeClr val="tx1"/>
                          </a:solidFill>
                          <a:effectLst/>
                          <a:latin typeface="Cambria" pitchFamily="18" charset="0"/>
                          <a:cs typeface="Arial" charset="0"/>
                        </a:rPr>
                        <a:t>(không có 0 đằng trước)</a:t>
                      </a:r>
                    </a:p>
                  </a:txBody>
                  <a:tcPr marL="90000" marR="90000" marT="46802" marB="468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368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dirty="0">
                          <a:ln>
                            <a:noFill/>
                          </a:ln>
                          <a:solidFill>
                            <a:schemeClr val="tx1"/>
                          </a:solidFill>
                          <a:effectLst/>
                          <a:latin typeface="Cambria" pitchFamily="18" charset="0"/>
                          <a:cs typeface="Arial" charset="0"/>
                        </a:rPr>
                        <a:t>%x, %X</a:t>
                      </a:r>
                    </a:p>
                  </a:txBody>
                  <a:tcPr marL="90000" marR="90000" marT="46802" marB="468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int, char</a:t>
                      </a: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Số hexa </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800" b="0" i="0" u="none" strike="noStrike" cap="none" normalizeH="0" baseline="0">
                          <a:ln>
                            <a:noFill/>
                          </a:ln>
                          <a:solidFill>
                            <a:schemeClr val="tx1"/>
                          </a:solidFill>
                          <a:effectLst/>
                          <a:latin typeface="Cambria" pitchFamily="18" charset="0"/>
                          <a:cs typeface="Arial" charset="0"/>
                        </a:rPr>
                        <a:t>(chữ thường/chữ hoa)</a:t>
                      </a:r>
                    </a:p>
                  </a:txBody>
                  <a:tcPr marL="90000" marR="90000" marT="46802" marB="468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1622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dirty="0">
                          <a:ln>
                            <a:noFill/>
                          </a:ln>
                          <a:solidFill>
                            <a:schemeClr val="tx1"/>
                          </a:solidFill>
                          <a:effectLst/>
                          <a:latin typeface="Cambria" pitchFamily="18" charset="0"/>
                          <a:cs typeface="Arial" charset="0"/>
                        </a:rPr>
                        <a:t>%u</a:t>
                      </a:r>
                    </a:p>
                  </a:txBody>
                  <a:tcPr marL="90000" marR="90000" marT="46802" marB="468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unsigned int/char</a:t>
                      </a:r>
                    </a:p>
                  </a:txBody>
                  <a:tcPr marL="90000" marR="90000" marT="46802" marB="468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Số thập phân</a:t>
                      </a:r>
                    </a:p>
                  </a:txBody>
                  <a:tcPr marL="90000" marR="90000" marT="46802" marB="468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7376"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972A3552-1D28-41B3-B1EC-4E555F3F7F77}" type="slidenum">
              <a:rPr lang="en-US" smtClean="0">
                <a:latin typeface="Cambria" pitchFamily="18" charset="0"/>
              </a:rPr>
              <a:pPr eaLnBrk="1" hangingPunct="1"/>
              <a:t>36</a:t>
            </a:fld>
            <a:endParaRPr lang="en-US">
              <a:latin typeface="Cambria" pitchFamily="18" charset="0"/>
            </a:endParaRPr>
          </a:p>
        </p:txBody>
      </p:sp>
      <p:sp>
        <p:nvSpPr>
          <p:cNvPr id="5" name="Title 3">
            <a:extLst>
              <a:ext uri="{FF2B5EF4-FFF2-40B4-BE49-F238E27FC236}">
                <a16:creationId xmlns:a16="http://schemas.microsoft.com/office/drawing/2014/main" id="{63E31AFC-C409-3445-5636-444C423F5197}"/>
              </a:ext>
            </a:extLst>
          </p:cNvPr>
          <p:cNvSpPr txBox="1">
            <a:spLocks/>
          </p:cNvSpPr>
          <p:nvPr/>
        </p:nvSpPr>
        <p:spPr>
          <a:xfrm>
            <a:off x="0" y="-26145"/>
            <a:ext cx="12100957" cy="68580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Myriad Pro"/>
                <a:ea typeface="+mn-ea"/>
                <a:cs typeface="Myriad Pr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yriad Pro"/>
                <a:ea typeface="+mn-ea"/>
                <a:cs typeface="Myriad Pr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yriad Pro"/>
                <a:ea typeface="+mn-ea"/>
                <a:cs typeface="Myriad Pr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a:solidFill>
                  <a:schemeClr val="bg1"/>
                </a:solidFill>
              </a:rPr>
              <a:t>2.6. Nhập xuất dữ liệu</a:t>
            </a:r>
            <a:endParaRPr lang="en-US" sz="3600" dirty="0">
              <a:solidFill>
                <a:schemeClr val="bg1"/>
              </a:solidFill>
            </a:endParaRPr>
          </a:p>
        </p:txBody>
      </p:sp>
      <p:sp>
        <p:nvSpPr>
          <p:cNvPr id="7" name="TextBox 6">
            <a:extLst>
              <a:ext uri="{FF2B5EF4-FFF2-40B4-BE49-F238E27FC236}">
                <a16:creationId xmlns:a16="http://schemas.microsoft.com/office/drawing/2014/main" id="{14CAC737-01D8-F736-D4EB-9EFD4735DEB7}"/>
              </a:ext>
            </a:extLst>
          </p:cNvPr>
          <p:cNvSpPr txBox="1"/>
          <p:nvPr/>
        </p:nvSpPr>
        <p:spPr>
          <a:xfrm>
            <a:off x="685800" y="791818"/>
            <a:ext cx="6112042" cy="523220"/>
          </a:xfrm>
          <a:prstGeom prst="rect">
            <a:avLst/>
          </a:prstGeom>
          <a:noFill/>
        </p:spPr>
        <p:txBody>
          <a:bodyPr wrap="square">
            <a:spAutoFit/>
          </a:bodyPr>
          <a:lstStyle/>
          <a:p>
            <a:pPr>
              <a:spcBef>
                <a:spcPts val="600"/>
              </a:spcBef>
              <a:spcAft>
                <a:spcPts val="600"/>
              </a:spcAft>
            </a:pPr>
            <a:r>
              <a:rPr lang="en-AU" sz="2800" b="1">
                <a:solidFill>
                  <a:srgbClr val="002060"/>
                </a:solidFill>
                <a:cs typeface="Arial" charset="0"/>
              </a:rPr>
              <a:t>Các định dạng kiểu dữ liệu in ra:</a:t>
            </a:r>
            <a:endParaRPr lang="en-AU" sz="2800" b="1" dirty="0">
              <a:solidFill>
                <a:srgbClr val="002060"/>
              </a:solidFill>
              <a:cs typeface="Arial"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5506" name="Group 34"/>
          <p:cNvGraphicFramePr>
            <a:graphicFrameLocks noGrp="1"/>
          </p:cNvGraphicFramePr>
          <p:nvPr>
            <p:ph/>
            <p:extLst>
              <p:ext uri="{D42A27DB-BD31-4B8C-83A1-F6EECF244321}">
                <p14:modId xmlns:p14="http://schemas.microsoft.com/office/powerpoint/2010/main" val="3512272493"/>
              </p:ext>
            </p:extLst>
          </p:nvPr>
        </p:nvGraphicFramePr>
        <p:xfrm>
          <a:off x="1752600" y="1752600"/>
          <a:ext cx="8904288" cy="4237039"/>
        </p:xfrm>
        <a:graphic>
          <a:graphicData uri="http://schemas.openxmlformats.org/drawingml/2006/table">
            <a:tbl>
              <a:tblPr/>
              <a:tblGrid>
                <a:gridCol w="2968096">
                  <a:extLst>
                    <a:ext uri="{9D8B030D-6E8A-4147-A177-3AD203B41FA5}">
                      <a16:colId xmlns:a16="http://schemas.microsoft.com/office/drawing/2014/main" val="20000"/>
                    </a:ext>
                  </a:extLst>
                </a:gridCol>
                <a:gridCol w="2968096">
                  <a:extLst>
                    <a:ext uri="{9D8B030D-6E8A-4147-A177-3AD203B41FA5}">
                      <a16:colId xmlns:a16="http://schemas.microsoft.com/office/drawing/2014/main" val="20001"/>
                    </a:ext>
                  </a:extLst>
                </a:gridCol>
                <a:gridCol w="2968096">
                  <a:extLst>
                    <a:ext uri="{9D8B030D-6E8A-4147-A177-3AD203B41FA5}">
                      <a16:colId xmlns:a16="http://schemas.microsoft.com/office/drawing/2014/main" val="20002"/>
                    </a:ext>
                  </a:extLst>
                </a:gridCol>
              </a:tblGrid>
              <a:tr h="105710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a:ln>
                            <a:noFill/>
                          </a:ln>
                          <a:solidFill>
                            <a:schemeClr val="tx1"/>
                          </a:solidFill>
                          <a:effectLst/>
                          <a:latin typeface="Cambria" pitchFamily="18" charset="0"/>
                          <a:cs typeface="Arial" charset="0"/>
                        </a:rPr>
                        <a:t>Nhóm kí tự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a:ln>
                            <a:noFill/>
                          </a:ln>
                          <a:solidFill>
                            <a:schemeClr val="tx1"/>
                          </a:solidFill>
                          <a:effectLst/>
                          <a:latin typeface="Cambria" pitchFamily="18" charset="0"/>
                          <a:cs typeface="Arial" charset="0"/>
                        </a:rPr>
                        <a:t>định dạng</a:t>
                      </a:r>
                    </a:p>
                  </a:txBody>
                  <a:tcPr marL="90000" marR="90000" marT="46792" marB="467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a:ln>
                            <a:noFill/>
                          </a:ln>
                          <a:solidFill>
                            <a:schemeClr val="tx1"/>
                          </a:solidFill>
                          <a:effectLst/>
                          <a:latin typeface="Cambria" pitchFamily="18" charset="0"/>
                          <a:cs typeface="Arial" charset="0"/>
                        </a:rPr>
                        <a:t>Kiểu dữ liệu</a:t>
                      </a:r>
                    </a:p>
                  </a:txBody>
                  <a:tcPr marL="90000" marR="90000" marT="46792" marB="467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a:ln>
                            <a:noFill/>
                          </a:ln>
                          <a:solidFill>
                            <a:schemeClr val="tx1"/>
                          </a:solidFill>
                          <a:effectLst/>
                          <a:latin typeface="Cambria" pitchFamily="18" charset="0"/>
                          <a:cs typeface="Arial" charset="0"/>
                        </a:rPr>
                        <a:t>Kết quả</a:t>
                      </a:r>
                    </a:p>
                  </a:txBody>
                  <a:tcPr marL="90000" marR="90000" marT="46792" marB="467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2196">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%ld, %li</a:t>
                      </a:r>
                    </a:p>
                  </a:txBody>
                  <a:tcPr marL="90000" marR="90000" marT="46792" marB="467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long</a:t>
                      </a:r>
                    </a:p>
                  </a:txBody>
                  <a:tcPr marL="90000" marR="90000" marT="46792" marB="467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Số thập phân</a:t>
                      </a:r>
                    </a:p>
                  </a:txBody>
                  <a:tcPr marL="90000" marR="90000" marT="46792" marB="467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4948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%lo</a:t>
                      </a:r>
                    </a:p>
                  </a:txBody>
                  <a:tcPr marL="90000" marR="90000" marT="46792" marB="467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long</a:t>
                      </a:r>
                    </a:p>
                  </a:txBody>
                  <a:tcPr marL="90000" marR="90000" marT="46792" marB="467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Số bát phân</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600" b="0" i="0" u="none" strike="noStrike" cap="none" normalizeH="0" baseline="0">
                          <a:ln>
                            <a:noFill/>
                          </a:ln>
                          <a:solidFill>
                            <a:schemeClr val="tx1"/>
                          </a:solidFill>
                          <a:effectLst/>
                          <a:latin typeface="Cambria" pitchFamily="18" charset="0"/>
                          <a:cs typeface="Arial" charset="0"/>
                        </a:rPr>
                        <a:t>(không có 0 đằng trước)</a:t>
                      </a:r>
                    </a:p>
                  </a:txBody>
                  <a:tcPr marL="90000" marR="90000" marT="46792" marB="467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8606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%lx, %LX</a:t>
                      </a:r>
                    </a:p>
                  </a:txBody>
                  <a:tcPr marL="90000" marR="90000" marT="46792" marB="467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long</a:t>
                      </a:r>
                    </a:p>
                  </a:txBody>
                  <a:tcPr marL="90000" marR="90000" marT="46792" marB="467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Số hexa </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800" b="0" i="0" u="none" strike="noStrike" cap="none" normalizeH="0" baseline="0">
                          <a:ln>
                            <a:noFill/>
                          </a:ln>
                          <a:solidFill>
                            <a:schemeClr val="tx1"/>
                          </a:solidFill>
                          <a:effectLst/>
                          <a:latin typeface="Cambria" pitchFamily="18" charset="0"/>
                          <a:cs typeface="Arial" charset="0"/>
                        </a:rPr>
                        <a:t>(chữ thường/chữ hoa)</a:t>
                      </a:r>
                    </a:p>
                  </a:txBody>
                  <a:tcPr marL="90000" marR="90000" marT="46792" marB="467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22196">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%lu</a:t>
                      </a:r>
                    </a:p>
                  </a:txBody>
                  <a:tcPr marL="90000" marR="90000" marT="46792" marB="467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unsigned long</a:t>
                      </a:r>
                    </a:p>
                  </a:txBody>
                  <a:tcPr marL="90000" marR="90000" marT="46792" marB="467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Số thập phân</a:t>
                      </a:r>
                    </a:p>
                  </a:txBody>
                  <a:tcPr marL="90000" marR="90000" marT="46792" marB="467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8396"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FFF783E4-6540-4B04-8F2C-1B333D53F2BC}" type="slidenum">
              <a:rPr lang="en-US" smtClean="0">
                <a:latin typeface="Cambria" pitchFamily="18" charset="0"/>
              </a:rPr>
              <a:pPr eaLnBrk="1" hangingPunct="1"/>
              <a:t>37</a:t>
            </a:fld>
            <a:endParaRPr lang="en-US">
              <a:latin typeface="Cambria" pitchFamily="18" charset="0"/>
            </a:endParaRPr>
          </a:p>
        </p:txBody>
      </p:sp>
      <p:sp>
        <p:nvSpPr>
          <p:cNvPr id="2" name="Title 3">
            <a:extLst>
              <a:ext uri="{FF2B5EF4-FFF2-40B4-BE49-F238E27FC236}">
                <a16:creationId xmlns:a16="http://schemas.microsoft.com/office/drawing/2014/main" id="{04247B11-F3C7-1F51-5CA4-F971FDD59DC8}"/>
              </a:ext>
            </a:extLst>
          </p:cNvPr>
          <p:cNvSpPr txBox="1">
            <a:spLocks/>
          </p:cNvSpPr>
          <p:nvPr/>
        </p:nvSpPr>
        <p:spPr>
          <a:xfrm>
            <a:off x="0" y="-26145"/>
            <a:ext cx="12100957" cy="68580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Myriad Pro"/>
                <a:ea typeface="+mn-ea"/>
                <a:cs typeface="Myriad Pr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yriad Pro"/>
                <a:ea typeface="+mn-ea"/>
                <a:cs typeface="Myriad Pr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yriad Pro"/>
                <a:ea typeface="+mn-ea"/>
                <a:cs typeface="Myriad Pr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a:solidFill>
                  <a:schemeClr val="bg1"/>
                </a:solidFill>
              </a:rPr>
              <a:t>2.6. Nhập xuất dữ liệu</a:t>
            </a:r>
            <a:endParaRPr lang="en-US" sz="3600" dirty="0">
              <a:solidFill>
                <a:schemeClr val="bg1"/>
              </a:solidFill>
            </a:endParaRPr>
          </a:p>
        </p:txBody>
      </p:sp>
      <p:sp>
        <p:nvSpPr>
          <p:cNvPr id="3" name="TextBox 2">
            <a:extLst>
              <a:ext uri="{FF2B5EF4-FFF2-40B4-BE49-F238E27FC236}">
                <a16:creationId xmlns:a16="http://schemas.microsoft.com/office/drawing/2014/main" id="{0C06A198-2BBA-5E04-6FB6-EE49FA503FBD}"/>
              </a:ext>
            </a:extLst>
          </p:cNvPr>
          <p:cNvSpPr txBox="1"/>
          <p:nvPr/>
        </p:nvSpPr>
        <p:spPr>
          <a:xfrm>
            <a:off x="685800" y="791818"/>
            <a:ext cx="6112042" cy="523220"/>
          </a:xfrm>
          <a:prstGeom prst="rect">
            <a:avLst/>
          </a:prstGeom>
          <a:noFill/>
        </p:spPr>
        <p:txBody>
          <a:bodyPr wrap="square">
            <a:spAutoFit/>
          </a:bodyPr>
          <a:lstStyle/>
          <a:p>
            <a:pPr>
              <a:spcBef>
                <a:spcPts val="600"/>
              </a:spcBef>
              <a:spcAft>
                <a:spcPts val="600"/>
              </a:spcAft>
            </a:pPr>
            <a:r>
              <a:rPr lang="en-AU" sz="2800" b="1">
                <a:solidFill>
                  <a:srgbClr val="002060"/>
                </a:solidFill>
                <a:cs typeface="Arial" charset="0"/>
              </a:rPr>
              <a:t>Các định dạng kiểu dữ liệu in ra:</a:t>
            </a:r>
            <a:endParaRPr lang="en-AU" sz="2800" b="1" dirty="0">
              <a:solidFill>
                <a:srgbClr val="002060"/>
              </a:solidFill>
              <a:cs typeface="Arial"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4489" name="Group 41"/>
          <p:cNvGraphicFramePr>
            <a:graphicFrameLocks noGrp="1"/>
          </p:cNvGraphicFramePr>
          <p:nvPr>
            <p:ph/>
            <p:extLst>
              <p:ext uri="{D42A27DB-BD31-4B8C-83A1-F6EECF244321}">
                <p14:modId xmlns:p14="http://schemas.microsoft.com/office/powerpoint/2010/main" val="3151757723"/>
              </p:ext>
            </p:extLst>
          </p:nvPr>
        </p:nvGraphicFramePr>
        <p:xfrm>
          <a:off x="1935678" y="1981200"/>
          <a:ext cx="9113322" cy="3898901"/>
        </p:xfrm>
        <a:graphic>
          <a:graphicData uri="http://schemas.openxmlformats.org/drawingml/2006/table">
            <a:tbl>
              <a:tblPr/>
              <a:tblGrid>
                <a:gridCol w="2331522">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105741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a:ln>
                            <a:noFill/>
                          </a:ln>
                          <a:solidFill>
                            <a:schemeClr val="tx1"/>
                          </a:solidFill>
                          <a:effectLst/>
                          <a:latin typeface="Cambria" pitchFamily="18" charset="0"/>
                          <a:cs typeface="Arial" charset="0"/>
                        </a:rPr>
                        <a:t>Nhóm kí tự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a:ln>
                            <a:noFill/>
                          </a:ln>
                          <a:solidFill>
                            <a:schemeClr val="tx1"/>
                          </a:solidFill>
                          <a:effectLst/>
                          <a:latin typeface="Cambria" pitchFamily="18" charset="0"/>
                          <a:cs typeface="Arial" charset="0"/>
                        </a:rPr>
                        <a:t>định dạng</a:t>
                      </a:r>
                    </a:p>
                  </a:txBody>
                  <a:tcPr marL="90000" marR="90000" marT="46806" marB="46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a:ln>
                            <a:noFill/>
                          </a:ln>
                          <a:solidFill>
                            <a:schemeClr val="tx1"/>
                          </a:solidFill>
                          <a:effectLst/>
                          <a:latin typeface="Cambria" pitchFamily="18" charset="0"/>
                          <a:cs typeface="Arial" charset="0"/>
                        </a:rPr>
                        <a:t>Kiểu dữ liệu</a:t>
                      </a:r>
                    </a:p>
                  </a:txBody>
                  <a:tcPr marL="90000" marR="90000" marT="46806" marB="46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a:ln>
                            <a:noFill/>
                          </a:ln>
                          <a:solidFill>
                            <a:schemeClr val="tx1"/>
                          </a:solidFill>
                          <a:effectLst/>
                          <a:latin typeface="Cambria" pitchFamily="18" charset="0"/>
                          <a:cs typeface="Arial" charset="0"/>
                        </a:rPr>
                        <a:t>Kết quả</a:t>
                      </a:r>
                    </a:p>
                  </a:txBody>
                  <a:tcPr marL="90000" marR="90000" marT="46806" marB="46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716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rgbClr val="C00000"/>
                          </a:solidFill>
                          <a:effectLst/>
                          <a:latin typeface="Cambria" pitchFamily="18" charset="0"/>
                          <a:cs typeface="Arial" charset="0"/>
                        </a:rPr>
                        <a:t>%s</a:t>
                      </a:r>
                    </a:p>
                  </a:txBody>
                  <a:tcPr marL="90000" marR="90000" marT="46806" marB="46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rgbClr val="C00000"/>
                          </a:solidFill>
                          <a:effectLst/>
                          <a:latin typeface="Cambria" pitchFamily="18" charset="0"/>
                          <a:cs typeface="Arial" charset="0"/>
                        </a:rPr>
                        <a:t>char []</a:t>
                      </a:r>
                    </a:p>
                  </a:txBody>
                  <a:tcPr marL="90000" marR="90000" marT="46806" marB="46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rgbClr val="C00000"/>
                          </a:solidFill>
                          <a:effectLst/>
                          <a:latin typeface="Cambria" pitchFamily="18" charset="0"/>
                          <a:cs typeface="Arial" charset="0"/>
                        </a:rPr>
                        <a:t>Hiển thị xâu kí tự kết thúc bởi ‘\0’</a:t>
                      </a:r>
                    </a:p>
                  </a:txBody>
                  <a:tcPr marL="90000" marR="90000" marT="46806" marB="46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716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rgbClr val="C00000"/>
                          </a:solidFill>
                          <a:effectLst/>
                          <a:latin typeface="Cambria" pitchFamily="18" charset="0"/>
                          <a:cs typeface="Arial" charset="0"/>
                        </a:rPr>
                        <a:t>%f</a:t>
                      </a:r>
                    </a:p>
                  </a:txBody>
                  <a:tcPr marL="90000" marR="90000" marT="46806" marB="46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rgbClr val="C00000"/>
                          </a:solidFill>
                          <a:effectLst/>
                          <a:latin typeface="Cambria" pitchFamily="18" charset="0"/>
                          <a:cs typeface="Arial" charset="0"/>
                        </a:rPr>
                        <a:t>float/double</a:t>
                      </a:r>
                    </a:p>
                  </a:txBody>
                  <a:tcPr marL="90000" marR="90000" marT="46806" marB="46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rgbClr val="C00000"/>
                          </a:solidFill>
                          <a:effectLst/>
                          <a:latin typeface="Cambria" pitchFamily="18" charset="0"/>
                          <a:cs typeface="Arial" charset="0"/>
                        </a:rPr>
                        <a:t>Số thực dấu phẩy tĩnh</a:t>
                      </a:r>
                    </a:p>
                  </a:txBody>
                  <a:tcPr marL="90000" marR="90000" marT="46806" marB="46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716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%e, %E</a:t>
                      </a:r>
                    </a:p>
                  </a:txBody>
                  <a:tcPr marL="90000" marR="90000" marT="46806" marB="46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float/double</a:t>
                      </a:r>
                    </a:p>
                  </a:txBody>
                  <a:tcPr marL="90000" marR="90000" marT="46806" marB="46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0" i="0" u="none" strike="noStrike" cap="none" normalizeH="0" baseline="0">
                          <a:ln>
                            <a:noFill/>
                          </a:ln>
                          <a:solidFill>
                            <a:schemeClr val="tx1"/>
                          </a:solidFill>
                          <a:effectLst/>
                          <a:latin typeface="Cambria" pitchFamily="18" charset="0"/>
                          <a:cs typeface="Arial" charset="0"/>
                        </a:rPr>
                        <a:t>Số thực dấu phẩy động</a:t>
                      </a:r>
                    </a:p>
                  </a:txBody>
                  <a:tcPr marL="90000" marR="90000" marT="46806" marB="46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9416"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635CDB8-7C20-4B54-9482-8D3CAEE5E33F}" type="slidenum">
              <a:rPr lang="en-US" smtClean="0">
                <a:latin typeface="Cambria" pitchFamily="18" charset="0"/>
              </a:rPr>
              <a:pPr eaLnBrk="1" hangingPunct="1"/>
              <a:t>38</a:t>
            </a:fld>
            <a:endParaRPr lang="en-US">
              <a:latin typeface="Cambria" pitchFamily="18" charset="0"/>
            </a:endParaRPr>
          </a:p>
        </p:txBody>
      </p:sp>
      <p:sp>
        <p:nvSpPr>
          <p:cNvPr id="2" name="Title 3">
            <a:extLst>
              <a:ext uri="{FF2B5EF4-FFF2-40B4-BE49-F238E27FC236}">
                <a16:creationId xmlns:a16="http://schemas.microsoft.com/office/drawing/2014/main" id="{510C22E8-36C1-E7D0-9C57-08A88AD34065}"/>
              </a:ext>
            </a:extLst>
          </p:cNvPr>
          <p:cNvSpPr txBox="1">
            <a:spLocks/>
          </p:cNvSpPr>
          <p:nvPr/>
        </p:nvSpPr>
        <p:spPr>
          <a:xfrm>
            <a:off x="0" y="-26145"/>
            <a:ext cx="12100957" cy="68580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Myriad Pro"/>
                <a:ea typeface="+mn-ea"/>
                <a:cs typeface="Myriad Pr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yriad Pro"/>
                <a:ea typeface="+mn-ea"/>
                <a:cs typeface="Myriad Pr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yriad Pro"/>
                <a:ea typeface="+mn-ea"/>
                <a:cs typeface="Myriad Pr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3600">
                <a:solidFill>
                  <a:schemeClr val="bg1"/>
                </a:solidFill>
              </a:rPr>
              <a:t>2.6. Nhập xuất dữ liệu</a:t>
            </a:r>
            <a:endParaRPr lang="en-US" sz="3600" dirty="0">
              <a:solidFill>
                <a:schemeClr val="bg1"/>
              </a:solidFill>
            </a:endParaRPr>
          </a:p>
        </p:txBody>
      </p:sp>
      <p:sp>
        <p:nvSpPr>
          <p:cNvPr id="3" name="TextBox 2">
            <a:extLst>
              <a:ext uri="{FF2B5EF4-FFF2-40B4-BE49-F238E27FC236}">
                <a16:creationId xmlns:a16="http://schemas.microsoft.com/office/drawing/2014/main" id="{1B6BAFAD-0F04-C352-BCE0-B295B8908193}"/>
              </a:ext>
            </a:extLst>
          </p:cNvPr>
          <p:cNvSpPr txBox="1"/>
          <p:nvPr/>
        </p:nvSpPr>
        <p:spPr>
          <a:xfrm>
            <a:off x="685800" y="791818"/>
            <a:ext cx="6112042" cy="523220"/>
          </a:xfrm>
          <a:prstGeom prst="rect">
            <a:avLst/>
          </a:prstGeom>
          <a:noFill/>
        </p:spPr>
        <p:txBody>
          <a:bodyPr wrap="square">
            <a:spAutoFit/>
          </a:bodyPr>
          <a:lstStyle/>
          <a:p>
            <a:pPr>
              <a:spcBef>
                <a:spcPts val="600"/>
              </a:spcBef>
              <a:spcAft>
                <a:spcPts val="600"/>
              </a:spcAft>
            </a:pPr>
            <a:r>
              <a:rPr lang="en-AU" sz="2800" b="1">
                <a:solidFill>
                  <a:srgbClr val="002060"/>
                </a:solidFill>
                <a:cs typeface="Arial" charset="0"/>
              </a:rPr>
              <a:t>Các định dạng kiểu dữ liệu in ra:</a:t>
            </a:r>
            <a:endParaRPr lang="en-AU" sz="2800" b="1" dirty="0">
              <a:solidFill>
                <a:srgbClr val="002060"/>
              </a:solidFill>
              <a:cs typeface="Arial"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Xuất</a:t>
            </a:r>
            <a:r>
              <a:rPr lang="en-AU" sz="2400" dirty="0">
                <a:solidFill>
                  <a:srgbClr val="002060"/>
                </a:solidFill>
                <a:cs typeface="Arial" charset="0"/>
              </a:rPr>
              <a:t> (</a:t>
            </a:r>
            <a:r>
              <a:rPr lang="en-AU" sz="2400" dirty="0" err="1">
                <a:solidFill>
                  <a:srgbClr val="002060"/>
                </a:solidFill>
                <a:cs typeface="Arial" charset="0"/>
              </a:rPr>
              <a:t>Hiển</a:t>
            </a:r>
            <a:r>
              <a:rPr lang="en-AU" sz="2400" dirty="0">
                <a:solidFill>
                  <a:srgbClr val="002060"/>
                </a:solidFill>
                <a:cs typeface="Arial" charset="0"/>
              </a:rPr>
              <a:t> </a:t>
            </a:r>
            <a:r>
              <a:rPr lang="en-AU" sz="2400" dirty="0" err="1">
                <a:solidFill>
                  <a:srgbClr val="002060"/>
                </a:solidFill>
                <a:cs typeface="Arial" charset="0"/>
              </a:rPr>
              <a:t>thị</a:t>
            </a:r>
            <a:r>
              <a:rPr lang="en-AU" sz="2400" dirty="0">
                <a:solidFill>
                  <a:srgbClr val="002060"/>
                </a:solidFill>
                <a:cs typeface="Arial" charset="0"/>
              </a:rPr>
              <a:t>, In) </a:t>
            </a:r>
            <a:r>
              <a:rPr lang="en-AU" sz="2400" dirty="0" err="1">
                <a:solidFill>
                  <a:srgbClr val="002060"/>
                </a:solidFill>
                <a:cs typeface="Arial" charset="0"/>
              </a:rPr>
              <a:t>dữ</a:t>
            </a:r>
            <a:r>
              <a:rPr lang="en-AU" sz="2400" dirty="0">
                <a:solidFill>
                  <a:srgbClr val="002060"/>
                </a:solidFill>
                <a:cs typeface="Arial" charset="0"/>
              </a:rPr>
              <a:t> </a:t>
            </a:r>
            <a:r>
              <a:rPr lang="en-AU" sz="2400" dirty="0" err="1">
                <a:solidFill>
                  <a:srgbClr val="002060"/>
                </a:solidFill>
                <a:cs typeface="Arial" charset="0"/>
              </a:rPr>
              <a:t>liệu</a:t>
            </a:r>
            <a:r>
              <a:rPr lang="en-AU" sz="2400" dirty="0">
                <a:solidFill>
                  <a:srgbClr val="002060"/>
                </a:solidFill>
                <a:cs typeface="Arial" charset="0"/>
              </a:rPr>
              <a:t> </a:t>
            </a:r>
            <a:r>
              <a:rPr lang="en-AU" sz="2400" dirty="0" err="1">
                <a:solidFill>
                  <a:srgbClr val="002060"/>
                </a:solidFill>
                <a:cs typeface="Arial" charset="0"/>
              </a:rPr>
              <a:t>ra</a:t>
            </a:r>
            <a:r>
              <a:rPr lang="en-AU" sz="2400" dirty="0">
                <a:solidFill>
                  <a:srgbClr val="002060"/>
                </a:solidFill>
                <a:cs typeface="Arial" charset="0"/>
              </a:rPr>
              <a:t> </a:t>
            </a:r>
            <a:r>
              <a:rPr lang="en-AU" sz="2400" dirty="0" err="1">
                <a:solidFill>
                  <a:srgbClr val="002060"/>
                </a:solidFill>
                <a:cs typeface="Arial" charset="0"/>
              </a:rPr>
              <a:t>màn</a:t>
            </a:r>
            <a:r>
              <a:rPr lang="en-AU" sz="2400" dirty="0">
                <a:solidFill>
                  <a:srgbClr val="002060"/>
                </a:solidFill>
                <a:cs typeface="Arial" charset="0"/>
              </a:rPr>
              <a:t> </a:t>
            </a:r>
            <a:r>
              <a:rPr lang="en-AU" sz="2400" dirty="0" err="1">
                <a:solidFill>
                  <a:srgbClr val="002060"/>
                </a:solidFill>
                <a:cs typeface="Arial" charset="0"/>
              </a:rPr>
              <a:t>hình</a:t>
            </a:r>
            <a:r>
              <a:rPr lang="en-AU" sz="2400" dirty="0">
                <a:solidFill>
                  <a:srgbClr val="002060"/>
                </a:solidFill>
                <a:cs typeface="Arial" charset="0"/>
              </a:rPr>
              <a:t>: </a:t>
            </a:r>
          </a:p>
          <a:p>
            <a:pPr marL="457200" lvl="1" indent="0">
              <a:spcBef>
                <a:spcPts val="600"/>
              </a:spcBef>
              <a:spcAft>
                <a:spcPts val="600"/>
              </a:spcAft>
              <a:buNone/>
            </a:pPr>
            <a:r>
              <a:rPr lang="vi-VN" sz="2400" b="1" dirty="0">
                <a:solidFill>
                  <a:srgbClr val="002060"/>
                </a:solidFill>
                <a:cs typeface="Arial" charset="0"/>
              </a:rPr>
              <a:t>Hàm </a:t>
            </a:r>
            <a:r>
              <a:rPr lang="vi-VN" sz="2400" b="1" i="1" dirty="0">
                <a:solidFill>
                  <a:srgbClr val="FF0000"/>
                </a:solidFill>
                <a:cs typeface="Arial" charset="0"/>
              </a:rPr>
              <a:t>printf</a:t>
            </a:r>
            <a:r>
              <a:rPr lang="en-AU" sz="2400" b="1" dirty="0">
                <a:solidFill>
                  <a:srgbClr val="002060"/>
                </a:solidFill>
                <a:cs typeface="Arial" charset="0"/>
              </a:rPr>
              <a:t> </a:t>
            </a:r>
            <a:r>
              <a:rPr lang="en-AU" sz="2400" b="1" dirty="0" err="1">
                <a:solidFill>
                  <a:srgbClr val="002060"/>
                </a:solidFill>
                <a:cs typeface="Arial" charset="0"/>
              </a:rPr>
              <a:t>đưa</a:t>
            </a:r>
            <a:r>
              <a:rPr lang="en-AU" sz="2400" b="1" dirty="0">
                <a:solidFill>
                  <a:srgbClr val="002060"/>
                </a:solidFill>
                <a:cs typeface="Arial" charset="0"/>
              </a:rPr>
              <a:t> </a:t>
            </a:r>
            <a:r>
              <a:rPr lang="en-AU" sz="2400" b="1" dirty="0" err="1">
                <a:solidFill>
                  <a:srgbClr val="002060"/>
                </a:solidFill>
                <a:cs typeface="Arial" charset="0"/>
              </a:rPr>
              <a:t>ra</a:t>
            </a:r>
            <a:r>
              <a:rPr lang="en-AU" sz="2400" b="1" dirty="0">
                <a:solidFill>
                  <a:srgbClr val="002060"/>
                </a:solidFill>
                <a:cs typeface="Arial" charset="0"/>
              </a:rPr>
              <a:t> </a:t>
            </a:r>
            <a:r>
              <a:rPr lang="en-AU" sz="2400" b="1" dirty="0" err="1">
                <a:solidFill>
                  <a:srgbClr val="002060"/>
                </a:solidFill>
                <a:cs typeface="Arial" charset="0"/>
              </a:rPr>
              <a:t>một</a:t>
            </a:r>
            <a:r>
              <a:rPr lang="en-AU" sz="2400" b="1" dirty="0">
                <a:solidFill>
                  <a:srgbClr val="002060"/>
                </a:solidFill>
                <a:cs typeface="Arial" charset="0"/>
              </a:rPr>
              <a:t> </a:t>
            </a:r>
            <a:r>
              <a:rPr lang="en-AU" sz="2400" b="1" dirty="0" err="1">
                <a:solidFill>
                  <a:srgbClr val="002060"/>
                </a:solidFill>
                <a:cs typeface="Arial" charset="0"/>
              </a:rPr>
              <a:t>thông</a:t>
            </a:r>
            <a:r>
              <a:rPr lang="en-AU" sz="2400" b="1" dirty="0">
                <a:solidFill>
                  <a:srgbClr val="002060"/>
                </a:solidFill>
                <a:cs typeface="Arial" charset="0"/>
              </a:rPr>
              <a:t> </a:t>
            </a:r>
            <a:r>
              <a:rPr lang="en-AU" sz="2400" b="1" dirty="0" err="1">
                <a:solidFill>
                  <a:srgbClr val="002060"/>
                </a:solidFill>
                <a:cs typeface="Arial" charset="0"/>
              </a:rPr>
              <a:t>báo</a:t>
            </a:r>
            <a:r>
              <a:rPr lang="en-AU" sz="2400" b="1" dirty="0">
                <a:solidFill>
                  <a:srgbClr val="002060"/>
                </a:solidFill>
                <a:cs typeface="Arial" charset="0"/>
              </a:rPr>
              <a:t>:</a:t>
            </a:r>
          </a:p>
          <a:p>
            <a:pPr marL="457200" lvl="1" indent="0">
              <a:spcBef>
                <a:spcPts val="600"/>
              </a:spcBef>
              <a:spcAft>
                <a:spcPts val="600"/>
              </a:spcAft>
              <a:buNone/>
            </a:pPr>
            <a:r>
              <a:rPr lang="vi-VN" sz="2400" dirty="0">
                <a:solidFill>
                  <a:srgbClr val="002060"/>
                </a:solidFill>
                <a:cs typeface="Arial" charset="0"/>
              </a:rPr>
              <a:t>Khi chúng ta chỉ muốn đưa ra một thông báo, một câu hướng dẫn, khi đó chỉ cần đưa vào chuỗi điều khiển không chứa các đặc tả. Nội dung của xâu sẽ được đưa ra màn hình.</a:t>
            </a:r>
          </a:p>
          <a:p>
            <a:pPr marL="457200" lvl="1" indent="0">
              <a:spcBef>
                <a:spcPts val="600"/>
              </a:spcBef>
              <a:spcAft>
                <a:spcPts val="600"/>
              </a:spcAft>
              <a:buNone/>
            </a:pPr>
            <a:r>
              <a:rPr lang="vi-VN" sz="2400" dirty="0">
                <a:solidFill>
                  <a:srgbClr val="002060"/>
                </a:solidFill>
                <a:cs typeface="Arial" charset="0"/>
              </a:rPr>
              <a:t>Ví dụ: để đưa ra một thông báo nhắc người dùng nhập vào hệ số của đa thức, có thể dùng lệnh:</a:t>
            </a:r>
          </a:p>
          <a:p>
            <a:pPr marL="457200" lvl="1" indent="0">
              <a:spcBef>
                <a:spcPts val="600"/>
              </a:spcBef>
              <a:spcAft>
                <a:spcPts val="600"/>
              </a:spcAft>
              <a:buNone/>
            </a:pPr>
            <a:r>
              <a:rPr lang="vi-VN" sz="2400" b="1" i="1" dirty="0">
                <a:solidFill>
                  <a:srgbClr val="FF0000"/>
                </a:solidFill>
                <a:cs typeface="Arial" charset="0"/>
              </a:rPr>
              <a:t>         printf(“ Nhap he so Da thuc: ”);</a:t>
            </a:r>
          </a:p>
          <a:p>
            <a:pPr marL="457200" lvl="1" indent="0">
              <a:spcBef>
                <a:spcPts val="600"/>
              </a:spcBef>
              <a:spcAft>
                <a:spcPts val="600"/>
              </a:spcAft>
              <a:buNone/>
            </a:pPr>
            <a:r>
              <a:rPr lang="vi-VN" sz="2400" dirty="0">
                <a:solidFill>
                  <a:srgbClr val="002060"/>
                </a:solidFill>
                <a:cs typeface="Arial" charset="0"/>
              </a:rPr>
              <a:t>Khi đó trên màn hình sẽ xuất hiện:</a:t>
            </a:r>
          </a:p>
          <a:p>
            <a:pPr marL="457200" lvl="1" indent="0">
              <a:spcBef>
                <a:spcPts val="600"/>
              </a:spcBef>
              <a:spcAft>
                <a:spcPts val="600"/>
              </a:spcAft>
              <a:buNone/>
            </a:pPr>
            <a:r>
              <a:rPr lang="vi-VN" sz="2400" dirty="0">
                <a:solidFill>
                  <a:srgbClr val="002060"/>
                </a:solidFill>
                <a:cs typeface="Arial" charset="0"/>
              </a:rPr>
              <a:t>                     </a:t>
            </a:r>
            <a:endParaRPr lang="vi-VN"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39</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pic>
        <p:nvPicPr>
          <p:cNvPr id="5" name="Picture 4">
            <a:extLst>
              <a:ext uri="{FF2B5EF4-FFF2-40B4-BE49-F238E27FC236}">
                <a16:creationId xmlns:a16="http://schemas.microsoft.com/office/drawing/2014/main" id="{13DF545C-26AF-F06C-C3C4-7898108B2B63}"/>
              </a:ext>
            </a:extLst>
          </p:cNvPr>
          <p:cNvPicPr>
            <a:picLocks noChangeAspect="1"/>
          </p:cNvPicPr>
          <p:nvPr/>
        </p:nvPicPr>
        <p:blipFill>
          <a:blip r:embed="rId2"/>
          <a:stretch>
            <a:fillRect/>
          </a:stretch>
        </p:blipFill>
        <p:spPr>
          <a:xfrm>
            <a:off x="6629400" y="4267200"/>
            <a:ext cx="4791744" cy="1257475"/>
          </a:xfrm>
          <a:prstGeom prst="rect">
            <a:avLst/>
          </a:prstGeom>
        </p:spPr>
      </p:pic>
    </p:spTree>
    <p:extLst>
      <p:ext uri="{BB962C8B-B14F-4D97-AF65-F5344CB8AC3E}">
        <p14:creationId xmlns:p14="http://schemas.microsoft.com/office/powerpoint/2010/main" val="41769207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lnSpcReduction="10000"/>
          </a:bodyPr>
          <a:lstStyle/>
          <a:p>
            <a:pPr>
              <a:spcBef>
                <a:spcPts val="600"/>
              </a:spcBef>
              <a:spcAft>
                <a:spcPts val="600"/>
              </a:spcAft>
            </a:pPr>
            <a:r>
              <a:rPr lang="en-AU" sz="2400" dirty="0" err="1">
                <a:solidFill>
                  <a:srgbClr val="002060"/>
                </a:solidFill>
                <a:cs typeface="Arial" charset="0"/>
              </a:rPr>
              <a:t>Xuất</a:t>
            </a:r>
            <a:r>
              <a:rPr lang="en-AU" sz="2400" dirty="0">
                <a:solidFill>
                  <a:srgbClr val="002060"/>
                </a:solidFill>
                <a:cs typeface="Arial" charset="0"/>
              </a:rPr>
              <a:t> (</a:t>
            </a:r>
            <a:r>
              <a:rPr lang="en-AU" sz="2400" dirty="0" err="1">
                <a:solidFill>
                  <a:srgbClr val="002060"/>
                </a:solidFill>
                <a:cs typeface="Arial" charset="0"/>
              </a:rPr>
              <a:t>Hiển</a:t>
            </a:r>
            <a:r>
              <a:rPr lang="en-AU" sz="2400" dirty="0">
                <a:solidFill>
                  <a:srgbClr val="002060"/>
                </a:solidFill>
                <a:cs typeface="Arial" charset="0"/>
              </a:rPr>
              <a:t> </a:t>
            </a:r>
            <a:r>
              <a:rPr lang="en-AU" sz="2400" dirty="0" err="1">
                <a:solidFill>
                  <a:srgbClr val="002060"/>
                </a:solidFill>
                <a:cs typeface="Arial" charset="0"/>
              </a:rPr>
              <a:t>thị</a:t>
            </a:r>
            <a:r>
              <a:rPr lang="en-AU" sz="2400" dirty="0">
                <a:solidFill>
                  <a:srgbClr val="002060"/>
                </a:solidFill>
                <a:cs typeface="Arial" charset="0"/>
              </a:rPr>
              <a:t>, In) </a:t>
            </a:r>
            <a:r>
              <a:rPr lang="en-AU" sz="2400" dirty="0" err="1">
                <a:solidFill>
                  <a:srgbClr val="002060"/>
                </a:solidFill>
                <a:cs typeface="Arial" charset="0"/>
              </a:rPr>
              <a:t>dữ</a:t>
            </a:r>
            <a:r>
              <a:rPr lang="en-AU" sz="2400" dirty="0">
                <a:solidFill>
                  <a:srgbClr val="002060"/>
                </a:solidFill>
                <a:cs typeface="Arial" charset="0"/>
              </a:rPr>
              <a:t> </a:t>
            </a:r>
            <a:r>
              <a:rPr lang="en-AU" sz="2400" dirty="0" err="1">
                <a:solidFill>
                  <a:srgbClr val="002060"/>
                </a:solidFill>
                <a:cs typeface="Arial" charset="0"/>
              </a:rPr>
              <a:t>liệu</a:t>
            </a:r>
            <a:r>
              <a:rPr lang="en-AU" sz="2400" dirty="0">
                <a:solidFill>
                  <a:srgbClr val="002060"/>
                </a:solidFill>
                <a:cs typeface="Arial" charset="0"/>
              </a:rPr>
              <a:t> </a:t>
            </a:r>
            <a:r>
              <a:rPr lang="en-AU" sz="2400" dirty="0" err="1">
                <a:solidFill>
                  <a:srgbClr val="002060"/>
                </a:solidFill>
                <a:cs typeface="Arial" charset="0"/>
              </a:rPr>
              <a:t>ra</a:t>
            </a:r>
            <a:r>
              <a:rPr lang="en-AU" sz="2400" dirty="0">
                <a:solidFill>
                  <a:srgbClr val="002060"/>
                </a:solidFill>
                <a:cs typeface="Arial" charset="0"/>
              </a:rPr>
              <a:t> </a:t>
            </a:r>
            <a:r>
              <a:rPr lang="en-AU" sz="2400" dirty="0" err="1">
                <a:solidFill>
                  <a:srgbClr val="002060"/>
                </a:solidFill>
                <a:cs typeface="Arial" charset="0"/>
              </a:rPr>
              <a:t>màn</a:t>
            </a:r>
            <a:r>
              <a:rPr lang="en-AU" sz="2400" dirty="0">
                <a:solidFill>
                  <a:srgbClr val="002060"/>
                </a:solidFill>
                <a:cs typeface="Arial" charset="0"/>
              </a:rPr>
              <a:t> </a:t>
            </a:r>
            <a:r>
              <a:rPr lang="en-AU" sz="2400" dirty="0" err="1">
                <a:solidFill>
                  <a:srgbClr val="002060"/>
                </a:solidFill>
                <a:cs typeface="Arial" charset="0"/>
              </a:rPr>
              <a:t>hình</a:t>
            </a:r>
            <a:r>
              <a:rPr lang="en-AU" sz="2400" dirty="0">
                <a:solidFill>
                  <a:srgbClr val="002060"/>
                </a:solidFill>
                <a:cs typeface="Arial" charset="0"/>
              </a:rPr>
              <a:t>: </a:t>
            </a:r>
          </a:p>
          <a:p>
            <a:pPr marL="457200" lvl="1" indent="0">
              <a:spcBef>
                <a:spcPts val="600"/>
              </a:spcBef>
              <a:spcAft>
                <a:spcPts val="600"/>
              </a:spcAft>
              <a:buNone/>
            </a:pPr>
            <a:r>
              <a:rPr lang="vi-VN" sz="2400" b="1" dirty="0">
                <a:solidFill>
                  <a:srgbClr val="002060"/>
                </a:solidFill>
                <a:cs typeface="Arial" charset="0"/>
              </a:rPr>
              <a:t>Hàm </a:t>
            </a:r>
            <a:r>
              <a:rPr lang="vi-VN" sz="2400" b="1" i="1" dirty="0">
                <a:solidFill>
                  <a:srgbClr val="FF0000"/>
                </a:solidFill>
                <a:cs typeface="Arial" charset="0"/>
              </a:rPr>
              <a:t>printf</a:t>
            </a:r>
            <a:r>
              <a:rPr lang="en-AU" sz="2400" b="1" dirty="0">
                <a:solidFill>
                  <a:srgbClr val="002060"/>
                </a:solidFill>
                <a:cs typeface="Arial" charset="0"/>
              </a:rPr>
              <a:t> </a:t>
            </a:r>
            <a:r>
              <a:rPr lang="en-AU" sz="2400" b="1" dirty="0" err="1">
                <a:solidFill>
                  <a:srgbClr val="002060"/>
                </a:solidFill>
                <a:cs typeface="Arial" charset="0"/>
              </a:rPr>
              <a:t>đưa</a:t>
            </a:r>
            <a:r>
              <a:rPr lang="en-AU" sz="2400" b="1" dirty="0">
                <a:solidFill>
                  <a:srgbClr val="002060"/>
                </a:solidFill>
                <a:cs typeface="Arial" charset="0"/>
              </a:rPr>
              <a:t> </a:t>
            </a:r>
            <a:r>
              <a:rPr lang="en-AU" sz="2400" b="1" dirty="0" err="1">
                <a:solidFill>
                  <a:srgbClr val="002060"/>
                </a:solidFill>
                <a:cs typeface="Arial" charset="0"/>
              </a:rPr>
              <a:t>ra</a:t>
            </a:r>
            <a:r>
              <a:rPr lang="en-AU" sz="2400" b="1" dirty="0">
                <a:solidFill>
                  <a:srgbClr val="002060"/>
                </a:solidFill>
                <a:cs typeface="Arial" charset="0"/>
              </a:rPr>
              <a:t> </a:t>
            </a:r>
            <a:r>
              <a:rPr lang="en-AU" sz="2400" b="1" dirty="0" err="1">
                <a:solidFill>
                  <a:srgbClr val="002060"/>
                </a:solidFill>
                <a:cs typeface="Arial" charset="0"/>
              </a:rPr>
              <a:t>các</a:t>
            </a:r>
            <a:r>
              <a:rPr lang="en-AU" sz="2400" b="1" dirty="0">
                <a:solidFill>
                  <a:srgbClr val="002060"/>
                </a:solidFill>
                <a:cs typeface="Arial" charset="0"/>
              </a:rPr>
              <a:t> </a:t>
            </a:r>
            <a:r>
              <a:rPr lang="en-AU" sz="2400" b="1" dirty="0" err="1">
                <a:solidFill>
                  <a:srgbClr val="002060"/>
                </a:solidFill>
                <a:cs typeface="Arial" charset="0"/>
              </a:rPr>
              <a:t>giá</a:t>
            </a:r>
            <a:r>
              <a:rPr lang="en-AU" sz="2400" b="1" dirty="0">
                <a:solidFill>
                  <a:srgbClr val="002060"/>
                </a:solidFill>
                <a:cs typeface="Arial" charset="0"/>
              </a:rPr>
              <a:t> </a:t>
            </a:r>
            <a:r>
              <a:rPr lang="en-AU" sz="2400" b="1" dirty="0" err="1">
                <a:solidFill>
                  <a:srgbClr val="002060"/>
                </a:solidFill>
                <a:cs typeface="Arial" charset="0"/>
              </a:rPr>
              <a:t>trị</a:t>
            </a:r>
            <a:r>
              <a:rPr lang="en-AU" sz="2400" b="1" dirty="0">
                <a:solidFill>
                  <a:srgbClr val="002060"/>
                </a:solidFill>
                <a:cs typeface="Arial" charset="0"/>
              </a:rPr>
              <a:t> </a:t>
            </a:r>
            <a:r>
              <a:rPr lang="en-AU" sz="2400" b="1" dirty="0" err="1">
                <a:solidFill>
                  <a:srgbClr val="002060"/>
                </a:solidFill>
                <a:cs typeface="Arial" charset="0"/>
              </a:rPr>
              <a:t>nguyên</a:t>
            </a:r>
            <a:r>
              <a:rPr lang="en-AU" sz="2400" b="1" dirty="0">
                <a:solidFill>
                  <a:srgbClr val="002060"/>
                </a:solidFill>
                <a:cs typeface="Arial" charset="0"/>
              </a:rPr>
              <a:t>:</a:t>
            </a:r>
          </a:p>
          <a:p>
            <a:pPr marL="457200" lvl="1" indent="0">
              <a:spcBef>
                <a:spcPts val="600"/>
              </a:spcBef>
              <a:spcAft>
                <a:spcPts val="600"/>
              </a:spcAft>
              <a:buNone/>
            </a:pPr>
            <a:r>
              <a:rPr lang="vi-VN" sz="2200" dirty="0">
                <a:solidFill>
                  <a:srgbClr val="002060"/>
                </a:solidFill>
                <a:cs typeface="Arial" charset="0"/>
              </a:rPr>
              <a:t>Khi muốn đưa ra các kết quả là các giá trị </a:t>
            </a:r>
            <a:r>
              <a:rPr lang="en-AU" sz="2200" dirty="0" err="1">
                <a:solidFill>
                  <a:srgbClr val="002060"/>
                </a:solidFill>
                <a:cs typeface="Arial" charset="0"/>
              </a:rPr>
              <a:t>nguyên</a:t>
            </a:r>
            <a:r>
              <a:rPr lang="vi-VN" sz="2200" dirty="0">
                <a:solidFill>
                  <a:srgbClr val="002060"/>
                </a:solidFill>
                <a:cs typeface="Arial" charset="0"/>
              </a:rPr>
              <a:t>, chúng ta dùng đặc tả </a:t>
            </a:r>
            <a:r>
              <a:rPr lang="vi-VN" sz="2200" dirty="0">
                <a:solidFill>
                  <a:srgbClr val="FF0000"/>
                </a:solidFill>
                <a:cs typeface="Arial" charset="0"/>
              </a:rPr>
              <a:t>%</a:t>
            </a:r>
            <a:r>
              <a:rPr lang="en-AU" sz="2200" dirty="0">
                <a:solidFill>
                  <a:srgbClr val="FF0000"/>
                </a:solidFill>
                <a:cs typeface="Arial" charset="0"/>
              </a:rPr>
              <a:t>d (%</a:t>
            </a:r>
            <a:r>
              <a:rPr lang="en-AU" sz="2200" dirty="0" err="1">
                <a:solidFill>
                  <a:srgbClr val="FF0000"/>
                </a:solidFill>
                <a:cs typeface="Arial" charset="0"/>
              </a:rPr>
              <a:t>ld</a:t>
            </a:r>
            <a:r>
              <a:rPr lang="en-AU" sz="2200" dirty="0">
                <a:solidFill>
                  <a:srgbClr val="FF0000"/>
                </a:solidFill>
                <a:cs typeface="Arial" charset="0"/>
              </a:rPr>
              <a:t>)</a:t>
            </a:r>
          </a:p>
          <a:p>
            <a:pPr marL="457200" lvl="1" indent="0">
              <a:spcBef>
                <a:spcPts val="600"/>
              </a:spcBef>
              <a:spcAft>
                <a:spcPts val="600"/>
              </a:spcAft>
              <a:buNone/>
            </a:pPr>
            <a:r>
              <a:rPr lang="vi-VN" sz="2000" dirty="0">
                <a:solidFill>
                  <a:srgbClr val="002060"/>
                </a:solidFill>
                <a:cs typeface="Arial" charset="0"/>
              </a:rPr>
              <a:t>Ví dụ: </a:t>
            </a:r>
          </a:p>
          <a:p>
            <a:pPr marL="457200" lvl="1" indent="0">
              <a:spcBef>
                <a:spcPts val="600"/>
              </a:spcBef>
              <a:spcAft>
                <a:spcPts val="600"/>
              </a:spcAft>
              <a:buNone/>
            </a:pPr>
            <a:r>
              <a:rPr lang="en-AU" sz="2000" dirty="0">
                <a:solidFill>
                  <a:srgbClr val="002060"/>
                </a:solidFill>
                <a:cs typeface="Arial" charset="0"/>
              </a:rPr>
              <a:t>	</a:t>
            </a:r>
            <a:r>
              <a:rPr lang="vi-VN" sz="2000" b="1" i="1" dirty="0">
                <a:solidFill>
                  <a:srgbClr val="FF0000"/>
                </a:solidFill>
                <a:cs typeface="Arial" charset="0"/>
              </a:rPr>
              <a:t>int a, b;</a:t>
            </a:r>
          </a:p>
          <a:p>
            <a:pPr marL="457200" lvl="1" indent="0">
              <a:spcBef>
                <a:spcPts val="600"/>
              </a:spcBef>
              <a:spcAft>
                <a:spcPts val="600"/>
              </a:spcAft>
              <a:buNone/>
            </a:pPr>
            <a:r>
              <a:rPr lang="en-AU" sz="2000" b="1" i="1" dirty="0">
                <a:solidFill>
                  <a:srgbClr val="FF0000"/>
                </a:solidFill>
                <a:cs typeface="Arial" charset="0"/>
              </a:rPr>
              <a:t>	</a:t>
            </a:r>
            <a:r>
              <a:rPr lang="vi-VN" sz="2000" b="1" i="1" dirty="0">
                <a:solidFill>
                  <a:srgbClr val="FF0000"/>
                </a:solidFill>
                <a:cs typeface="Arial" charset="0"/>
              </a:rPr>
              <a:t>a = 10;</a:t>
            </a:r>
          </a:p>
          <a:p>
            <a:pPr marL="457200" lvl="1" indent="0">
              <a:spcBef>
                <a:spcPts val="600"/>
              </a:spcBef>
              <a:spcAft>
                <a:spcPts val="600"/>
              </a:spcAft>
              <a:buNone/>
            </a:pPr>
            <a:r>
              <a:rPr lang="en-AU" sz="2000" b="1" i="1" dirty="0">
                <a:solidFill>
                  <a:srgbClr val="FF0000"/>
                </a:solidFill>
                <a:cs typeface="Arial" charset="0"/>
              </a:rPr>
              <a:t>	</a:t>
            </a:r>
            <a:r>
              <a:rPr lang="vi-VN" sz="2000" b="1" i="1" dirty="0">
                <a:solidFill>
                  <a:srgbClr val="FF0000"/>
                </a:solidFill>
                <a:cs typeface="Arial" charset="0"/>
              </a:rPr>
              <a:t>b = 25;</a:t>
            </a:r>
          </a:p>
          <a:p>
            <a:pPr marL="457200" lvl="1" indent="0">
              <a:spcBef>
                <a:spcPts val="600"/>
              </a:spcBef>
              <a:spcAft>
                <a:spcPts val="600"/>
              </a:spcAft>
              <a:buNone/>
            </a:pPr>
            <a:r>
              <a:rPr lang="en-AU" sz="2000" b="1" i="1" dirty="0">
                <a:solidFill>
                  <a:srgbClr val="FF0000"/>
                </a:solidFill>
                <a:cs typeface="Arial" charset="0"/>
              </a:rPr>
              <a:t>	</a:t>
            </a:r>
            <a:r>
              <a:rPr lang="vi-VN" sz="2000" b="1" i="1" dirty="0">
                <a:solidFill>
                  <a:srgbClr val="FF0000"/>
                </a:solidFill>
                <a:cs typeface="Arial" charset="0"/>
              </a:rPr>
              <a:t>printf(“Tong cua %d va %d la %d”, a, b,a + b); </a:t>
            </a:r>
          </a:p>
          <a:p>
            <a:pPr marL="457200" lvl="1" indent="0">
              <a:spcBef>
                <a:spcPts val="600"/>
              </a:spcBef>
              <a:spcAft>
                <a:spcPts val="600"/>
              </a:spcAft>
              <a:buNone/>
            </a:pPr>
            <a:r>
              <a:rPr lang="en-AU" sz="2000" dirty="0">
                <a:solidFill>
                  <a:srgbClr val="002060"/>
                </a:solidFill>
                <a:cs typeface="Arial" charset="0"/>
              </a:rPr>
              <a:t>K</a:t>
            </a:r>
            <a:r>
              <a:rPr lang="vi-VN" sz="2000" dirty="0">
                <a:solidFill>
                  <a:srgbClr val="002060"/>
                </a:solidFill>
                <a:cs typeface="Arial" charset="0"/>
              </a:rPr>
              <a:t>ết quả đưa ra màn hình như sau:</a:t>
            </a:r>
          </a:p>
          <a:p>
            <a:pPr marL="457200" lvl="1" indent="0">
              <a:spcBef>
                <a:spcPts val="600"/>
              </a:spcBef>
              <a:spcAft>
                <a:spcPts val="600"/>
              </a:spcAft>
              <a:buNone/>
            </a:pPr>
            <a:r>
              <a:rPr lang="vi-VN" sz="2000" dirty="0">
                <a:solidFill>
                  <a:srgbClr val="002060"/>
                </a:solidFill>
                <a:cs typeface="Arial" charset="0"/>
              </a:rPr>
              <a:t>                  </a:t>
            </a:r>
            <a:endParaRPr lang="en-AU" sz="2400" dirty="0">
              <a:solidFill>
                <a:srgbClr val="002060"/>
              </a:solidFill>
              <a:cs typeface="Arial" charset="0"/>
            </a:endParaRP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r>
              <a:rPr lang="vi-VN" sz="2400" dirty="0">
                <a:solidFill>
                  <a:srgbClr val="002060"/>
                </a:solidFill>
                <a:cs typeface="Arial" charset="0"/>
              </a:rPr>
              <a:t>  </a:t>
            </a:r>
            <a:endParaRPr lang="vi-VN" sz="2400"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40</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pic>
        <p:nvPicPr>
          <p:cNvPr id="8" name="Picture 7">
            <a:extLst>
              <a:ext uri="{FF2B5EF4-FFF2-40B4-BE49-F238E27FC236}">
                <a16:creationId xmlns:a16="http://schemas.microsoft.com/office/drawing/2014/main" id="{09327A5A-2D50-47E3-90CD-AEA8ABFA0D89}"/>
              </a:ext>
            </a:extLst>
          </p:cNvPr>
          <p:cNvPicPr>
            <a:picLocks noChangeAspect="1"/>
          </p:cNvPicPr>
          <p:nvPr/>
        </p:nvPicPr>
        <p:blipFill>
          <a:blip r:embed="rId3"/>
          <a:stretch>
            <a:fillRect/>
          </a:stretch>
        </p:blipFill>
        <p:spPr>
          <a:xfrm>
            <a:off x="1143000" y="4824297"/>
            <a:ext cx="5901247" cy="1532054"/>
          </a:xfrm>
          <a:prstGeom prst="rect">
            <a:avLst/>
          </a:prstGeom>
        </p:spPr>
      </p:pic>
    </p:spTree>
    <p:extLst>
      <p:ext uri="{BB962C8B-B14F-4D97-AF65-F5344CB8AC3E}">
        <p14:creationId xmlns:p14="http://schemas.microsoft.com/office/powerpoint/2010/main" val="26428967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Xuất</a:t>
            </a:r>
            <a:r>
              <a:rPr lang="en-AU" sz="2400" dirty="0">
                <a:solidFill>
                  <a:srgbClr val="002060"/>
                </a:solidFill>
                <a:cs typeface="Arial" charset="0"/>
              </a:rPr>
              <a:t> (</a:t>
            </a:r>
            <a:r>
              <a:rPr lang="en-AU" sz="2400" dirty="0" err="1">
                <a:solidFill>
                  <a:srgbClr val="002060"/>
                </a:solidFill>
                <a:cs typeface="Arial" charset="0"/>
              </a:rPr>
              <a:t>Hiển</a:t>
            </a:r>
            <a:r>
              <a:rPr lang="en-AU" sz="2400" dirty="0">
                <a:solidFill>
                  <a:srgbClr val="002060"/>
                </a:solidFill>
                <a:cs typeface="Arial" charset="0"/>
              </a:rPr>
              <a:t> </a:t>
            </a:r>
            <a:r>
              <a:rPr lang="en-AU" sz="2400" dirty="0" err="1">
                <a:solidFill>
                  <a:srgbClr val="002060"/>
                </a:solidFill>
                <a:cs typeface="Arial" charset="0"/>
              </a:rPr>
              <a:t>thị</a:t>
            </a:r>
            <a:r>
              <a:rPr lang="en-AU" sz="2400" dirty="0">
                <a:solidFill>
                  <a:srgbClr val="002060"/>
                </a:solidFill>
                <a:cs typeface="Arial" charset="0"/>
              </a:rPr>
              <a:t>, In) </a:t>
            </a:r>
            <a:r>
              <a:rPr lang="en-AU" sz="2400" dirty="0" err="1">
                <a:solidFill>
                  <a:srgbClr val="002060"/>
                </a:solidFill>
                <a:cs typeface="Arial" charset="0"/>
              </a:rPr>
              <a:t>dữ</a:t>
            </a:r>
            <a:r>
              <a:rPr lang="en-AU" sz="2400" dirty="0">
                <a:solidFill>
                  <a:srgbClr val="002060"/>
                </a:solidFill>
                <a:cs typeface="Arial" charset="0"/>
              </a:rPr>
              <a:t> </a:t>
            </a:r>
            <a:r>
              <a:rPr lang="en-AU" sz="2400" dirty="0" err="1">
                <a:solidFill>
                  <a:srgbClr val="002060"/>
                </a:solidFill>
                <a:cs typeface="Arial" charset="0"/>
              </a:rPr>
              <a:t>liệu</a:t>
            </a:r>
            <a:r>
              <a:rPr lang="en-AU" sz="2400" dirty="0">
                <a:solidFill>
                  <a:srgbClr val="002060"/>
                </a:solidFill>
                <a:cs typeface="Arial" charset="0"/>
              </a:rPr>
              <a:t> </a:t>
            </a:r>
            <a:r>
              <a:rPr lang="en-AU" sz="2400" dirty="0" err="1">
                <a:solidFill>
                  <a:srgbClr val="002060"/>
                </a:solidFill>
                <a:cs typeface="Arial" charset="0"/>
              </a:rPr>
              <a:t>ra</a:t>
            </a:r>
            <a:r>
              <a:rPr lang="en-AU" sz="2400" dirty="0">
                <a:solidFill>
                  <a:srgbClr val="002060"/>
                </a:solidFill>
                <a:cs typeface="Arial" charset="0"/>
              </a:rPr>
              <a:t> </a:t>
            </a:r>
            <a:r>
              <a:rPr lang="en-AU" sz="2400" dirty="0" err="1">
                <a:solidFill>
                  <a:srgbClr val="002060"/>
                </a:solidFill>
                <a:cs typeface="Arial" charset="0"/>
              </a:rPr>
              <a:t>màn</a:t>
            </a:r>
            <a:r>
              <a:rPr lang="en-AU" sz="2400" dirty="0">
                <a:solidFill>
                  <a:srgbClr val="002060"/>
                </a:solidFill>
                <a:cs typeface="Arial" charset="0"/>
              </a:rPr>
              <a:t> </a:t>
            </a:r>
            <a:r>
              <a:rPr lang="en-AU" sz="2400" dirty="0" err="1">
                <a:solidFill>
                  <a:srgbClr val="002060"/>
                </a:solidFill>
                <a:cs typeface="Arial" charset="0"/>
              </a:rPr>
              <a:t>hình</a:t>
            </a:r>
            <a:r>
              <a:rPr lang="en-AU" sz="2400" dirty="0">
                <a:solidFill>
                  <a:srgbClr val="002060"/>
                </a:solidFill>
                <a:cs typeface="Arial" charset="0"/>
              </a:rPr>
              <a:t>: </a:t>
            </a:r>
          </a:p>
          <a:p>
            <a:pPr marL="457200" lvl="1" indent="0">
              <a:spcBef>
                <a:spcPts val="600"/>
              </a:spcBef>
              <a:spcAft>
                <a:spcPts val="600"/>
              </a:spcAft>
              <a:buNone/>
            </a:pPr>
            <a:r>
              <a:rPr lang="vi-VN" sz="2400" b="1" dirty="0">
                <a:solidFill>
                  <a:srgbClr val="002060"/>
                </a:solidFill>
                <a:cs typeface="Arial" charset="0"/>
              </a:rPr>
              <a:t>Hàm </a:t>
            </a:r>
            <a:r>
              <a:rPr lang="vi-VN" sz="2400" b="1" i="1" dirty="0">
                <a:solidFill>
                  <a:srgbClr val="FF0000"/>
                </a:solidFill>
                <a:cs typeface="Arial" charset="0"/>
              </a:rPr>
              <a:t>printf</a:t>
            </a:r>
            <a:r>
              <a:rPr lang="en-AU" sz="2400" b="1" dirty="0">
                <a:solidFill>
                  <a:srgbClr val="002060"/>
                </a:solidFill>
                <a:cs typeface="Arial" charset="0"/>
              </a:rPr>
              <a:t> </a:t>
            </a:r>
            <a:r>
              <a:rPr lang="en-AU" sz="2400" b="1" dirty="0" err="1">
                <a:solidFill>
                  <a:srgbClr val="002060"/>
                </a:solidFill>
                <a:cs typeface="Arial" charset="0"/>
              </a:rPr>
              <a:t>đưa</a:t>
            </a:r>
            <a:r>
              <a:rPr lang="en-AU" sz="2400" b="1" dirty="0">
                <a:solidFill>
                  <a:srgbClr val="002060"/>
                </a:solidFill>
                <a:cs typeface="Arial" charset="0"/>
              </a:rPr>
              <a:t> </a:t>
            </a:r>
            <a:r>
              <a:rPr lang="en-AU" sz="2400" b="1" dirty="0" err="1">
                <a:solidFill>
                  <a:srgbClr val="002060"/>
                </a:solidFill>
                <a:cs typeface="Arial" charset="0"/>
              </a:rPr>
              <a:t>ra</a:t>
            </a:r>
            <a:r>
              <a:rPr lang="en-AU" sz="2400" b="1" dirty="0">
                <a:solidFill>
                  <a:srgbClr val="002060"/>
                </a:solidFill>
                <a:cs typeface="Arial" charset="0"/>
              </a:rPr>
              <a:t> </a:t>
            </a:r>
            <a:r>
              <a:rPr lang="en-AU" sz="2400" b="1" dirty="0" err="1">
                <a:solidFill>
                  <a:srgbClr val="002060"/>
                </a:solidFill>
                <a:cs typeface="Arial" charset="0"/>
              </a:rPr>
              <a:t>các</a:t>
            </a:r>
            <a:r>
              <a:rPr lang="en-AU" sz="2400" b="1" dirty="0">
                <a:solidFill>
                  <a:srgbClr val="002060"/>
                </a:solidFill>
                <a:cs typeface="Arial" charset="0"/>
              </a:rPr>
              <a:t> </a:t>
            </a:r>
            <a:r>
              <a:rPr lang="en-AU" sz="2400" b="1" dirty="0" err="1">
                <a:solidFill>
                  <a:srgbClr val="002060"/>
                </a:solidFill>
                <a:cs typeface="Arial" charset="0"/>
              </a:rPr>
              <a:t>giá</a:t>
            </a:r>
            <a:r>
              <a:rPr lang="en-AU" sz="2400" b="1" dirty="0">
                <a:solidFill>
                  <a:srgbClr val="002060"/>
                </a:solidFill>
                <a:cs typeface="Arial" charset="0"/>
              </a:rPr>
              <a:t> </a:t>
            </a:r>
            <a:r>
              <a:rPr lang="en-AU" sz="2400" b="1" dirty="0" err="1">
                <a:solidFill>
                  <a:srgbClr val="002060"/>
                </a:solidFill>
                <a:cs typeface="Arial" charset="0"/>
              </a:rPr>
              <a:t>trị</a:t>
            </a:r>
            <a:r>
              <a:rPr lang="en-AU" sz="2400" b="1" dirty="0">
                <a:solidFill>
                  <a:srgbClr val="002060"/>
                </a:solidFill>
                <a:cs typeface="Arial" charset="0"/>
              </a:rPr>
              <a:t> </a:t>
            </a:r>
            <a:r>
              <a:rPr lang="en-AU" sz="2400" b="1" dirty="0" err="1">
                <a:solidFill>
                  <a:srgbClr val="002060"/>
                </a:solidFill>
                <a:cs typeface="Arial" charset="0"/>
              </a:rPr>
              <a:t>thực</a:t>
            </a:r>
            <a:r>
              <a:rPr lang="en-AU" sz="2400" b="1" dirty="0">
                <a:solidFill>
                  <a:srgbClr val="002060"/>
                </a:solidFill>
                <a:cs typeface="Arial" charset="0"/>
              </a:rPr>
              <a:t>:</a:t>
            </a:r>
          </a:p>
          <a:p>
            <a:pPr marL="457200" lvl="1" indent="0">
              <a:spcBef>
                <a:spcPts val="600"/>
              </a:spcBef>
              <a:spcAft>
                <a:spcPts val="600"/>
              </a:spcAft>
              <a:buNone/>
            </a:pPr>
            <a:r>
              <a:rPr lang="vi-VN" sz="2200" dirty="0">
                <a:solidFill>
                  <a:srgbClr val="002060"/>
                </a:solidFill>
                <a:cs typeface="Arial" charset="0"/>
              </a:rPr>
              <a:t>Khi muốn đưa ra các kết quả là các giá trị </a:t>
            </a:r>
            <a:r>
              <a:rPr lang="en-AU" sz="2200" dirty="0" err="1">
                <a:solidFill>
                  <a:srgbClr val="002060"/>
                </a:solidFill>
                <a:cs typeface="Arial" charset="0"/>
              </a:rPr>
              <a:t>thực</a:t>
            </a:r>
            <a:r>
              <a:rPr lang="vi-VN" sz="2200" dirty="0">
                <a:solidFill>
                  <a:srgbClr val="002060"/>
                </a:solidFill>
                <a:cs typeface="Arial" charset="0"/>
              </a:rPr>
              <a:t>, chúng ta dùng đặc tả </a:t>
            </a:r>
            <a:r>
              <a:rPr lang="vi-VN" sz="2200" dirty="0">
                <a:solidFill>
                  <a:srgbClr val="FF0000"/>
                </a:solidFill>
                <a:cs typeface="Arial" charset="0"/>
              </a:rPr>
              <a:t>%</a:t>
            </a:r>
            <a:r>
              <a:rPr lang="en-AU" sz="2200" dirty="0">
                <a:solidFill>
                  <a:srgbClr val="FF0000"/>
                </a:solidFill>
                <a:cs typeface="Arial" charset="0"/>
              </a:rPr>
              <a:t>f</a:t>
            </a:r>
            <a:endParaRPr lang="en-AU" sz="2200" dirty="0">
              <a:solidFill>
                <a:srgbClr val="002060"/>
              </a:solidFill>
              <a:cs typeface="Arial" charset="0"/>
            </a:endParaRPr>
          </a:p>
          <a:p>
            <a:pPr marL="457200" lvl="1" indent="0">
              <a:spcBef>
                <a:spcPts val="600"/>
              </a:spcBef>
              <a:spcAft>
                <a:spcPts val="600"/>
              </a:spcAft>
              <a:buNone/>
            </a:pPr>
            <a:r>
              <a:rPr lang="vi-VN" sz="2000" dirty="0">
                <a:solidFill>
                  <a:srgbClr val="002060"/>
                </a:solidFill>
                <a:cs typeface="Arial" charset="0"/>
              </a:rPr>
              <a:t>Ví dụ: </a:t>
            </a:r>
          </a:p>
          <a:p>
            <a:pPr marL="457200" lvl="1" indent="0">
              <a:spcBef>
                <a:spcPts val="600"/>
              </a:spcBef>
              <a:spcAft>
                <a:spcPts val="600"/>
              </a:spcAft>
              <a:buNone/>
            </a:pPr>
            <a:r>
              <a:rPr lang="en-AU" sz="2000" dirty="0">
                <a:solidFill>
                  <a:srgbClr val="002060"/>
                </a:solidFill>
                <a:cs typeface="Arial" charset="0"/>
              </a:rPr>
              <a:t>	</a:t>
            </a:r>
            <a:r>
              <a:rPr lang="pt-BR" sz="2000" b="1" dirty="0">
                <a:solidFill>
                  <a:srgbClr val="FF0000"/>
                </a:solidFill>
                <a:latin typeface="Courier New" panose="02070309020205020404" pitchFamily="49" charset="0"/>
                <a:cs typeface="Courier New" panose="02070309020205020404" pitchFamily="49" charset="0"/>
              </a:rPr>
              <a:t>float r;</a:t>
            </a:r>
          </a:p>
          <a:p>
            <a:pPr marL="457200" lvl="1" indent="0">
              <a:spcBef>
                <a:spcPts val="600"/>
              </a:spcBef>
              <a:spcAft>
                <a:spcPts val="600"/>
              </a:spcAft>
              <a:buNone/>
            </a:pPr>
            <a:r>
              <a:rPr lang="pt-BR" sz="2000" b="1" dirty="0">
                <a:solidFill>
                  <a:srgbClr val="FF0000"/>
                </a:solidFill>
                <a:latin typeface="Courier New" panose="02070309020205020404" pitchFamily="49" charset="0"/>
                <a:cs typeface="Courier New" panose="02070309020205020404" pitchFamily="49" charset="0"/>
              </a:rPr>
              <a:t>	r = 2.34;</a:t>
            </a:r>
          </a:p>
          <a:p>
            <a:pPr marL="457200" lvl="1" indent="0">
              <a:spcBef>
                <a:spcPts val="600"/>
              </a:spcBef>
              <a:spcAft>
                <a:spcPts val="600"/>
              </a:spcAft>
              <a:buNone/>
            </a:pPr>
            <a:r>
              <a:rPr lang="pt-BR" sz="2000" b="1" dirty="0">
                <a:solidFill>
                  <a:srgbClr val="FF0000"/>
                </a:solidFill>
                <a:latin typeface="Courier New" panose="02070309020205020404" pitchFamily="49" charset="0"/>
                <a:cs typeface="Courier New" panose="02070309020205020404" pitchFamily="49" charset="0"/>
              </a:rPr>
              <a:t>	printf("Dien tich hinh tron ban kinh %f la %f\n", r, 3.14*r*r); </a:t>
            </a:r>
          </a:p>
          <a:p>
            <a:pPr marL="457200" lvl="1" indent="0">
              <a:spcBef>
                <a:spcPts val="600"/>
              </a:spcBef>
              <a:spcAft>
                <a:spcPts val="600"/>
              </a:spcAft>
              <a:buNone/>
            </a:pPr>
            <a:r>
              <a:rPr lang="en-AU" sz="2000" dirty="0">
                <a:solidFill>
                  <a:srgbClr val="002060"/>
                </a:solidFill>
                <a:cs typeface="Arial" charset="0"/>
              </a:rPr>
              <a:t>K</a:t>
            </a:r>
            <a:r>
              <a:rPr lang="vi-VN" sz="2000" dirty="0">
                <a:solidFill>
                  <a:srgbClr val="002060"/>
                </a:solidFill>
                <a:cs typeface="Arial" charset="0"/>
              </a:rPr>
              <a:t>ết quả đưa ra màn hình như sau:</a:t>
            </a:r>
          </a:p>
          <a:p>
            <a:pPr marL="457200" lvl="1" indent="0">
              <a:spcBef>
                <a:spcPts val="600"/>
              </a:spcBef>
              <a:spcAft>
                <a:spcPts val="600"/>
              </a:spcAft>
              <a:buNone/>
            </a:pPr>
            <a:r>
              <a:rPr lang="vi-VN" sz="2000" dirty="0">
                <a:solidFill>
                  <a:srgbClr val="002060"/>
                </a:solidFill>
                <a:cs typeface="Arial" charset="0"/>
              </a:rPr>
              <a:t>                  </a:t>
            </a:r>
            <a:endParaRPr lang="en-AU" sz="2400" dirty="0">
              <a:solidFill>
                <a:srgbClr val="002060"/>
              </a:solidFill>
              <a:cs typeface="Arial" charset="0"/>
            </a:endParaRP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r>
              <a:rPr lang="vi-VN" sz="2400" dirty="0">
                <a:solidFill>
                  <a:srgbClr val="002060"/>
                </a:solidFill>
                <a:cs typeface="Arial" charset="0"/>
              </a:rPr>
              <a:t>  </a:t>
            </a:r>
            <a:endParaRPr lang="vi-VN" sz="2400"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41</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pic>
        <p:nvPicPr>
          <p:cNvPr id="10" name="Picture 9">
            <a:extLst>
              <a:ext uri="{FF2B5EF4-FFF2-40B4-BE49-F238E27FC236}">
                <a16:creationId xmlns:a16="http://schemas.microsoft.com/office/drawing/2014/main" id="{3982B193-E0CF-EB19-E706-8BCB19207E6E}"/>
              </a:ext>
            </a:extLst>
          </p:cNvPr>
          <p:cNvPicPr>
            <a:picLocks noChangeAspect="1"/>
          </p:cNvPicPr>
          <p:nvPr/>
        </p:nvPicPr>
        <p:blipFill>
          <a:blip r:embed="rId3"/>
          <a:stretch>
            <a:fillRect/>
          </a:stretch>
        </p:blipFill>
        <p:spPr>
          <a:xfrm>
            <a:off x="1211103" y="4663131"/>
            <a:ext cx="5696394" cy="1693220"/>
          </a:xfrm>
          <a:prstGeom prst="rect">
            <a:avLst/>
          </a:prstGeom>
        </p:spPr>
      </p:pic>
    </p:spTree>
    <p:extLst>
      <p:ext uri="{BB962C8B-B14F-4D97-AF65-F5344CB8AC3E}">
        <p14:creationId xmlns:p14="http://schemas.microsoft.com/office/powerpoint/2010/main" val="36725093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Xuất</a:t>
            </a:r>
            <a:r>
              <a:rPr lang="en-AU" sz="2400" dirty="0">
                <a:solidFill>
                  <a:srgbClr val="002060"/>
                </a:solidFill>
                <a:cs typeface="Arial" charset="0"/>
              </a:rPr>
              <a:t> (</a:t>
            </a:r>
            <a:r>
              <a:rPr lang="en-AU" sz="2400" dirty="0" err="1">
                <a:solidFill>
                  <a:srgbClr val="002060"/>
                </a:solidFill>
                <a:cs typeface="Arial" charset="0"/>
              </a:rPr>
              <a:t>Hiển</a:t>
            </a:r>
            <a:r>
              <a:rPr lang="en-AU" sz="2400" dirty="0">
                <a:solidFill>
                  <a:srgbClr val="002060"/>
                </a:solidFill>
                <a:cs typeface="Arial" charset="0"/>
              </a:rPr>
              <a:t> </a:t>
            </a:r>
            <a:r>
              <a:rPr lang="en-AU" sz="2400" dirty="0" err="1">
                <a:solidFill>
                  <a:srgbClr val="002060"/>
                </a:solidFill>
                <a:cs typeface="Arial" charset="0"/>
              </a:rPr>
              <a:t>thị</a:t>
            </a:r>
            <a:r>
              <a:rPr lang="en-AU" sz="2400" dirty="0">
                <a:solidFill>
                  <a:srgbClr val="002060"/>
                </a:solidFill>
                <a:cs typeface="Arial" charset="0"/>
              </a:rPr>
              <a:t>, In) </a:t>
            </a:r>
            <a:r>
              <a:rPr lang="en-AU" sz="2400" dirty="0" err="1">
                <a:solidFill>
                  <a:srgbClr val="002060"/>
                </a:solidFill>
                <a:cs typeface="Arial" charset="0"/>
              </a:rPr>
              <a:t>dữ</a:t>
            </a:r>
            <a:r>
              <a:rPr lang="en-AU" sz="2400" dirty="0">
                <a:solidFill>
                  <a:srgbClr val="002060"/>
                </a:solidFill>
                <a:cs typeface="Arial" charset="0"/>
              </a:rPr>
              <a:t> </a:t>
            </a:r>
            <a:r>
              <a:rPr lang="en-AU" sz="2400" dirty="0" err="1">
                <a:solidFill>
                  <a:srgbClr val="002060"/>
                </a:solidFill>
                <a:cs typeface="Arial" charset="0"/>
              </a:rPr>
              <a:t>liệu</a:t>
            </a:r>
            <a:r>
              <a:rPr lang="en-AU" sz="2400" dirty="0">
                <a:solidFill>
                  <a:srgbClr val="002060"/>
                </a:solidFill>
                <a:cs typeface="Arial" charset="0"/>
              </a:rPr>
              <a:t> </a:t>
            </a:r>
            <a:r>
              <a:rPr lang="en-AU" sz="2400" dirty="0" err="1">
                <a:solidFill>
                  <a:srgbClr val="002060"/>
                </a:solidFill>
                <a:cs typeface="Arial" charset="0"/>
              </a:rPr>
              <a:t>ra</a:t>
            </a:r>
            <a:r>
              <a:rPr lang="en-AU" sz="2400" dirty="0">
                <a:solidFill>
                  <a:srgbClr val="002060"/>
                </a:solidFill>
                <a:cs typeface="Arial" charset="0"/>
              </a:rPr>
              <a:t> </a:t>
            </a:r>
            <a:r>
              <a:rPr lang="en-AU" sz="2400" dirty="0" err="1">
                <a:solidFill>
                  <a:srgbClr val="002060"/>
                </a:solidFill>
                <a:cs typeface="Arial" charset="0"/>
              </a:rPr>
              <a:t>màn</a:t>
            </a:r>
            <a:r>
              <a:rPr lang="en-AU" sz="2400" dirty="0">
                <a:solidFill>
                  <a:srgbClr val="002060"/>
                </a:solidFill>
                <a:cs typeface="Arial" charset="0"/>
              </a:rPr>
              <a:t> </a:t>
            </a:r>
            <a:r>
              <a:rPr lang="en-AU" sz="2400" dirty="0" err="1">
                <a:solidFill>
                  <a:srgbClr val="002060"/>
                </a:solidFill>
                <a:cs typeface="Arial" charset="0"/>
              </a:rPr>
              <a:t>hình</a:t>
            </a:r>
            <a:r>
              <a:rPr lang="en-AU" sz="2400" dirty="0">
                <a:solidFill>
                  <a:srgbClr val="002060"/>
                </a:solidFill>
                <a:cs typeface="Arial" charset="0"/>
              </a:rPr>
              <a:t>: </a:t>
            </a:r>
          </a:p>
          <a:p>
            <a:pPr marL="457200" lvl="1" indent="0">
              <a:spcBef>
                <a:spcPts val="600"/>
              </a:spcBef>
              <a:spcAft>
                <a:spcPts val="600"/>
              </a:spcAft>
              <a:buNone/>
            </a:pPr>
            <a:r>
              <a:rPr lang="vi-VN" sz="2400" b="1" dirty="0">
                <a:solidFill>
                  <a:srgbClr val="002060"/>
                </a:solidFill>
                <a:cs typeface="Arial" charset="0"/>
              </a:rPr>
              <a:t>Hàm </a:t>
            </a:r>
            <a:r>
              <a:rPr lang="vi-VN" sz="2400" b="1" i="1" dirty="0">
                <a:solidFill>
                  <a:srgbClr val="FF0000"/>
                </a:solidFill>
                <a:cs typeface="Arial" charset="0"/>
              </a:rPr>
              <a:t>printf</a:t>
            </a:r>
            <a:r>
              <a:rPr lang="en-AU" sz="2400" b="1" dirty="0">
                <a:solidFill>
                  <a:srgbClr val="002060"/>
                </a:solidFill>
                <a:cs typeface="Arial" charset="0"/>
              </a:rPr>
              <a:t> </a:t>
            </a:r>
            <a:r>
              <a:rPr lang="en-AU" sz="2400" b="1" dirty="0" err="1">
                <a:solidFill>
                  <a:srgbClr val="002060"/>
                </a:solidFill>
                <a:cs typeface="Arial" charset="0"/>
              </a:rPr>
              <a:t>đưa</a:t>
            </a:r>
            <a:r>
              <a:rPr lang="en-AU" sz="2400" b="1" dirty="0">
                <a:solidFill>
                  <a:srgbClr val="002060"/>
                </a:solidFill>
                <a:cs typeface="Arial" charset="0"/>
              </a:rPr>
              <a:t> </a:t>
            </a:r>
            <a:r>
              <a:rPr lang="en-AU" sz="2400" b="1" dirty="0" err="1">
                <a:solidFill>
                  <a:srgbClr val="002060"/>
                </a:solidFill>
                <a:cs typeface="Arial" charset="0"/>
              </a:rPr>
              <a:t>ra</a:t>
            </a:r>
            <a:r>
              <a:rPr lang="en-AU" sz="2400" b="1" dirty="0">
                <a:solidFill>
                  <a:srgbClr val="002060"/>
                </a:solidFill>
                <a:cs typeface="Arial" charset="0"/>
              </a:rPr>
              <a:t> </a:t>
            </a:r>
            <a:r>
              <a:rPr lang="en-AU" sz="2400" b="1" dirty="0" err="1">
                <a:solidFill>
                  <a:srgbClr val="002060"/>
                </a:solidFill>
                <a:cs typeface="Arial" charset="0"/>
              </a:rPr>
              <a:t>các</a:t>
            </a:r>
            <a:r>
              <a:rPr lang="en-AU" sz="2400" b="1" dirty="0">
                <a:solidFill>
                  <a:srgbClr val="002060"/>
                </a:solidFill>
                <a:cs typeface="Arial" charset="0"/>
              </a:rPr>
              <a:t> </a:t>
            </a:r>
            <a:r>
              <a:rPr lang="en-AU" sz="2400" b="1" dirty="0" err="1">
                <a:solidFill>
                  <a:srgbClr val="002060"/>
                </a:solidFill>
                <a:cs typeface="Arial" charset="0"/>
              </a:rPr>
              <a:t>ký</a:t>
            </a:r>
            <a:r>
              <a:rPr lang="en-AU" sz="2400" b="1" dirty="0">
                <a:solidFill>
                  <a:srgbClr val="002060"/>
                </a:solidFill>
                <a:cs typeface="Arial" charset="0"/>
              </a:rPr>
              <a:t> </a:t>
            </a:r>
            <a:r>
              <a:rPr lang="en-AU" sz="2400" b="1" err="1">
                <a:solidFill>
                  <a:srgbClr val="002060"/>
                </a:solidFill>
                <a:cs typeface="Arial" charset="0"/>
              </a:rPr>
              <a:t>tự</a:t>
            </a:r>
            <a:r>
              <a:rPr lang="en-AU" sz="2400" b="1">
                <a:solidFill>
                  <a:srgbClr val="002060"/>
                </a:solidFill>
                <a:cs typeface="Arial" charset="0"/>
              </a:rPr>
              <a:t>: </a:t>
            </a:r>
            <a:r>
              <a:rPr lang="vi-VN" sz="2200">
                <a:solidFill>
                  <a:srgbClr val="002060"/>
                </a:solidFill>
                <a:cs typeface="Arial" charset="0"/>
              </a:rPr>
              <a:t>Khi </a:t>
            </a:r>
            <a:r>
              <a:rPr lang="vi-VN" sz="2200" dirty="0">
                <a:solidFill>
                  <a:srgbClr val="002060"/>
                </a:solidFill>
                <a:cs typeface="Arial" charset="0"/>
              </a:rPr>
              <a:t>muốn đưa ra các ký tự, ta dùng đặc tả </a:t>
            </a:r>
            <a:r>
              <a:rPr lang="vi-VN" sz="2200" dirty="0">
                <a:solidFill>
                  <a:srgbClr val="FF0000"/>
                </a:solidFill>
                <a:cs typeface="Arial" charset="0"/>
              </a:rPr>
              <a:t>%c </a:t>
            </a:r>
          </a:p>
          <a:p>
            <a:pPr marL="457200" lvl="1" indent="0">
              <a:spcBef>
                <a:spcPts val="600"/>
              </a:spcBef>
              <a:spcAft>
                <a:spcPts val="600"/>
              </a:spcAft>
              <a:buNone/>
            </a:pPr>
            <a:r>
              <a:rPr lang="vi-VN" sz="2000" dirty="0">
                <a:solidFill>
                  <a:srgbClr val="002060"/>
                </a:solidFill>
                <a:cs typeface="Arial" charset="0"/>
              </a:rPr>
              <a:t>Ví dụ: </a:t>
            </a:r>
          </a:p>
          <a:p>
            <a:pPr marL="457200" lvl="1" indent="0">
              <a:spcBef>
                <a:spcPts val="600"/>
              </a:spcBef>
              <a:spcAft>
                <a:spcPts val="600"/>
              </a:spcAft>
              <a:buNone/>
            </a:pPr>
            <a:r>
              <a:rPr lang="en-AU" sz="2000" dirty="0">
                <a:solidFill>
                  <a:srgbClr val="002060"/>
                </a:solidFill>
                <a:cs typeface="Arial" charset="0"/>
              </a:rPr>
              <a:t>	</a:t>
            </a:r>
            <a:r>
              <a:rPr lang="it-IT" sz="2000" b="1" i="1" dirty="0">
                <a:solidFill>
                  <a:srgbClr val="FF0000"/>
                </a:solidFill>
                <a:cs typeface="Arial" charset="0"/>
              </a:rPr>
              <a:t>char  ch = 97;</a:t>
            </a:r>
          </a:p>
          <a:p>
            <a:pPr marL="457200" lvl="1" indent="0">
              <a:spcBef>
                <a:spcPts val="600"/>
              </a:spcBef>
              <a:spcAft>
                <a:spcPts val="600"/>
              </a:spcAft>
              <a:buNone/>
            </a:pPr>
            <a:r>
              <a:rPr lang="it-IT" sz="2000" b="1" i="1" dirty="0">
                <a:solidFill>
                  <a:srgbClr val="FF0000"/>
                </a:solidFill>
                <a:cs typeface="Arial" charset="0"/>
              </a:rPr>
              <a:t>   	printf(“Ky tu co ma 97 trong bang ma ASCII la %c", ch);</a:t>
            </a:r>
          </a:p>
          <a:p>
            <a:pPr marL="457200" lvl="1" indent="0">
              <a:spcBef>
                <a:spcPts val="600"/>
              </a:spcBef>
              <a:spcAft>
                <a:spcPts val="600"/>
              </a:spcAft>
              <a:buNone/>
            </a:pPr>
            <a:r>
              <a:rPr lang="en-AU" sz="2000" dirty="0">
                <a:solidFill>
                  <a:srgbClr val="002060"/>
                </a:solidFill>
                <a:cs typeface="Arial" charset="0"/>
              </a:rPr>
              <a:t>K</a:t>
            </a:r>
            <a:r>
              <a:rPr lang="vi-VN" sz="2000" dirty="0">
                <a:solidFill>
                  <a:srgbClr val="002060"/>
                </a:solidFill>
                <a:cs typeface="Arial" charset="0"/>
              </a:rPr>
              <a:t>ết quả đưa ra màn hình như sau:</a:t>
            </a:r>
          </a:p>
          <a:p>
            <a:pPr marL="457200" lvl="1" indent="0">
              <a:spcBef>
                <a:spcPts val="600"/>
              </a:spcBef>
              <a:spcAft>
                <a:spcPts val="600"/>
              </a:spcAft>
              <a:buNone/>
            </a:pPr>
            <a:r>
              <a:rPr lang="vi-VN" sz="2000" dirty="0">
                <a:solidFill>
                  <a:srgbClr val="002060"/>
                </a:solidFill>
                <a:cs typeface="Arial" charset="0"/>
              </a:rPr>
              <a:t>                  </a:t>
            </a:r>
            <a:endParaRPr lang="en-AU" sz="2400" dirty="0">
              <a:solidFill>
                <a:srgbClr val="002060"/>
              </a:solidFill>
              <a:cs typeface="Arial" charset="0"/>
            </a:endParaRP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r>
              <a:rPr lang="vi-VN" sz="2400" dirty="0">
                <a:solidFill>
                  <a:srgbClr val="002060"/>
                </a:solidFill>
                <a:cs typeface="Arial" charset="0"/>
              </a:rPr>
              <a:t>  </a:t>
            </a:r>
            <a:endParaRPr lang="vi-VN" sz="2400"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42</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pic>
        <p:nvPicPr>
          <p:cNvPr id="5" name="Picture 4">
            <a:extLst>
              <a:ext uri="{FF2B5EF4-FFF2-40B4-BE49-F238E27FC236}">
                <a16:creationId xmlns:a16="http://schemas.microsoft.com/office/drawing/2014/main" id="{8AC1384B-509F-1D1A-BFD3-C49BE595D242}"/>
              </a:ext>
            </a:extLst>
          </p:cNvPr>
          <p:cNvPicPr>
            <a:picLocks noChangeAspect="1"/>
          </p:cNvPicPr>
          <p:nvPr/>
        </p:nvPicPr>
        <p:blipFill>
          <a:blip r:embed="rId3"/>
          <a:stretch>
            <a:fillRect/>
          </a:stretch>
        </p:blipFill>
        <p:spPr>
          <a:xfrm>
            <a:off x="1219200" y="4267200"/>
            <a:ext cx="7633954" cy="1834407"/>
          </a:xfrm>
          <a:prstGeom prst="rect">
            <a:avLst/>
          </a:prstGeom>
        </p:spPr>
      </p:pic>
    </p:spTree>
    <p:extLst>
      <p:ext uri="{BB962C8B-B14F-4D97-AF65-F5344CB8AC3E}">
        <p14:creationId xmlns:p14="http://schemas.microsoft.com/office/powerpoint/2010/main" val="3276731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fontScale="92500" lnSpcReduction="20000"/>
          </a:bodyPr>
          <a:lstStyle/>
          <a:p>
            <a:pPr>
              <a:spcBef>
                <a:spcPts val="600"/>
              </a:spcBef>
              <a:spcAft>
                <a:spcPts val="600"/>
              </a:spcAft>
            </a:pPr>
            <a:r>
              <a:rPr lang="en-AU" sz="2400" dirty="0" err="1">
                <a:solidFill>
                  <a:srgbClr val="002060"/>
                </a:solidFill>
                <a:cs typeface="Arial" charset="0"/>
              </a:rPr>
              <a:t>Xuất</a:t>
            </a:r>
            <a:r>
              <a:rPr lang="en-AU" sz="2400" dirty="0">
                <a:solidFill>
                  <a:srgbClr val="002060"/>
                </a:solidFill>
                <a:cs typeface="Arial" charset="0"/>
              </a:rPr>
              <a:t> (</a:t>
            </a:r>
            <a:r>
              <a:rPr lang="en-AU" sz="2400" dirty="0" err="1">
                <a:solidFill>
                  <a:srgbClr val="002060"/>
                </a:solidFill>
                <a:cs typeface="Arial" charset="0"/>
              </a:rPr>
              <a:t>Hiển</a:t>
            </a:r>
            <a:r>
              <a:rPr lang="en-AU" sz="2400" dirty="0">
                <a:solidFill>
                  <a:srgbClr val="002060"/>
                </a:solidFill>
                <a:cs typeface="Arial" charset="0"/>
              </a:rPr>
              <a:t> </a:t>
            </a:r>
            <a:r>
              <a:rPr lang="en-AU" sz="2400" dirty="0" err="1">
                <a:solidFill>
                  <a:srgbClr val="002060"/>
                </a:solidFill>
                <a:cs typeface="Arial" charset="0"/>
              </a:rPr>
              <a:t>thị</a:t>
            </a:r>
            <a:r>
              <a:rPr lang="en-AU" sz="2400" dirty="0">
                <a:solidFill>
                  <a:srgbClr val="002060"/>
                </a:solidFill>
                <a:cs typeface="Arial" charset="0"/>
              </a:rPr>
              <a:t>, In) </a:t>
            </a:r>
            <a:r>
              <a:rPr lang="en-AU" sz="2400" dirty="0" err="1">
                <a:solidFill>
                  <a:srgbClr val="002060"/>
                </a:solidFill>
                <a:cs typeface="Arial" charset="0"/>
              </a:rPr>
              <a:t>dữ</a:t>
            </a:r>
            <a:r>
              <a:rPr lang="en-AU" sz="2400" dirty="0">
                <a:solidFill>
                  <a:srgbClr val="002060"/>
                </a:solidFill>
                <a:cs typeface="Arial" charset="0"/>
              </a:rPr>
              <a:t> </a:t>
            </a:r>
            <a:r>
              <a:rPr lang="en-AU" sz="2400" dirty="0" err="1">
                <a:solidFill>
                  <a:srgbClr val="002060"/>
                </a:solidFill>
                <a:cs typeface="Arial" charset="0"/>
              </a:rPr>
              <a:t>liệu</a:t>
            </a:r>
            <a:r>
              <a:rPr lang="en-AU" sz="2400" dirty="0">
                <a:solidFill>
                  <a:srgbClr val="002060"/>
                </a:solidFill>
                <a:cs typeface="Arial" charset="0"/>
              </a:rPr>
              <a:t> </a:t>
            </a:r>
            <a:r>
              <a:rPr lang="en-AU" sz="2400" dirty="0" err="1">
                <a:solidFill>
                  <a:srgbClr val="002060"/>
                </a:solidFill>
                <a:cs typeface="Arial" charset="0"/>
              </a:rPr>
              <a:t>ra</a:t>
            </a:r>
            <a:r>
              <a:rPr lang="en-AU" sz="2400" dirty="0">
                <a:solidFill>
                  <a:srgbClr val="002060"/>
                </a:solidFill>
                <a:cs typeface="Arial" charset="0"/>
              </a:rPr>
              <a:t> </a:t>
            </a:r>
            <a:r>
              <a:rPr lang="en-AU" sz="2400" dirty="0" err="1">
                <a:solidFill>
                  <a:srgbClr val="002060"/>
                </a:solidFill>
                <a:cs typeface="Arial" charset="0"/>
              </a:rPr>
              <a:t>màn</a:t>
            </a:r>
            <a:r>
              <a:rPr lang="en-AU" sz="2400" dirty="0">
                <a:solidFill>
                  <a:srgbClr val="002060"/>
                </a:solidFill>
                <a:cs typeface="Arial" charset="0"/>
              </a:rPr>
              <a:t> </a:t>
            </a:r>
            <a:r>
              <a:rPr lang="en-AU" sz="2400" dirty="0" err="1">
                <a:solidFill>
                  <a:srgbClr val="002060"/>
                </a:solidFill>
                <a:cs typeface="Arial" charset="0"/>
              </a:rPr>
              <a:t>hình</a:t>
            </a:r>
            <a:r>
              <a:rPr lang="en-AU" sz="2400" dirty="0">
                <a:solidFill>
                  <a:srgbClr val="002060"/>
                </a:solidFill>
                <a:cs typeface="Arial" charset="0"/>
              </a:rPr>
              <a:t>: </a:t>
            </a:r>
          </a:p>
          <a:p>
            <a:pPr marL="457200" lvl="1" indent="0">
              <a:spcBef>
                <a:spcPts val="600"/>
              </a:spcBef>
              <a:spcAft>
                <a:spcPts val="600"/>
              </a:spcAft>
              <a:buNone/>
            </a:pPr>
            <a:r>
              <a:rPr lang="vi-VN" sz="2400" b="1" dirty="0">
                <a:solidFill>
                  <a:srgbClr val="002060"/>
                </a:solidFill>
                <a:cs typeface="Arial" charset="0"/>
              </a:rPr>
              <a:t>Hàm </a:t>
            </a:r>
            <a:r>
              <a:rPr lang="vi-VN" sz="2400" b="1" i="1" dirty="0">
                <a:solidFill>
                  <a:srgbClr val="FF0000"/>
                </a:solidFill>
                <a:cs typeface="Arial" charset="0"/>
              </a:rPr>
              <a:t>printf</a:t>
            </a:r>
            <a:r>
              <a:rPr lang="en-AU" sz="2400" b="1" dirty="0">
                <a:solidFill>
                  <a:srgbClr val="002060"/>
                </a:solidFill>
                <a:cs typeface="Arial" charset="0"/>
              </a:rPr>
              <a:t> </a:t>
            </a:r>
            <a:r>
              <a:rPr lang="en-AU" sz="2400" b="1" dirty="0" err="1">
                <a:solidFill>
                  <a:srgbClr val="002060"/>
                </a:solidFill>
                <a:cs typeface="Arial" charset="0"/>
              </a:rPr>
              <a:t>đưa</a:t>
            </a:r>
            <a:r>
              <a:rPr lang="en-AU" sz="2400" b="1" dirty="0">
                <a:solidFill>
                  <a:srgbClr val="002060"/>
                </a:solidFill>
                <a:cs typeface="Arial" charset="0"/>
              </a:rPr>
              <a:t> </a:t>
            </a:r>
            <a:r>
              <a:rPr lang="en-AU" sz="2400" b="1" dirty="0" err="1">
                <a:solidFill>
                  <a:srgbClr val="002060"/>
                </a:solidFill>
                <a:cs typeface="Arial" charset="0"/>
              </a:rPr>
              <a:t>ra</a:t>
            </a:r>
            <a:r>
              <a:rPr lang="en-AU" sz="2400" b="1" dirty="0">
                <a:solidFill>
                  <a:srgbClr val="002060"/>
                </a:solidFill>
                <a:cs typeface="Arial" charset="0"/>
              </a:rPr>
              <a:t> </a:t>
            </a:r>
            <a:r>
              <a:rPr lang="en-AU" sz="2400" b="1" dirty="0" err="1">
                <a:solidFill>
                  <a:srgbClr val="002060"/>
                </a:solidFill>
                <a:cs typeface="Arial" charset="0"/>
              </a:rPr>
              <a:t>các</a:t>
            </a:r>
            <a:r>
              <a:rPr lang="en-AU" sz="2400" b="1" dirty="0">
                <a:solidFill>
                  <a:srgbClr val="002060"/>
                </a:solidFill>
                <a:cs typeface="Arial" charset="0"/>
              </a:rPr>
              <a:t> </a:t>
            </a:r>
            <a:r>
              <a:rPr lang="en-AU" sz="2400" b="1" dirty="0" err="1">
                <a:solidFill>
                  <a:srgbClr val="002060"/>
                </a:solidFill>
                <a:cs typeface="Arial" charset="0"/>
              </a:rPr>
              <a:t>xâu</a:t>
            </a:r>
            <a:r>
              <a:rPr lang="en-AU" sz="2400" b="1" dirty="0">
                <a:solidFill>
                  <a:srgbClr val="002060"/>
                </a:solidFill>
                <a:cs typeface="Arial" charset="0"/>
              </a:rPr>
              <a:t> </a:t>
            </a:r>
            <a:r>
              <a:rPr lang="en-AU" sz="2400" b="1" dirty="0" err="1">
                <a:solidFill>
                  <a:srgbClr val="002060"/>
                </a:solidFill>
                <a:cs typeface="Arial" charset="0"/>
              </a:rPr>
              <a:t>ký</a:t>
            </a:r>
            <a:r>
              <a:rPr lang="en-AU" sz="2400" b="1" dirty="0">
                <a:solidFill>
                  <a:srgbClr val="002060"/>
                </a:solidFill>
                <a:cs typeface="Arial" charset="0"/>
              </a:rPr>
              <a:t> </a:t>
            </a:r>
            <a:r>
              <a:rPr lang="en-AU" sz="2400" b="1" dirty="0" err="1">
                <a:solidFill>
                  <a:srgbClr val="002060"/>
                </a:solidFill>
                <a:cs typeface="Arial" charset="0"/>
              </a:rPr>
              <a:t>tự</a:t>
            </a:r>
            <a:r>
              <a:rPr lang="en-AU" sz="2400" b="1" dirty="0">
                <a:solidFill>
                  <a:srgbClr val="002060"/>
                </a:solidFill>
                <a:cs typeface="Arial" charset="0"/>
              </a:rPr>
              <a:t>:</a:t>
            </a:r>
          </a:p>
          <a:p>
            <a:pPr marL="457200" lvl="1" indent="0">
              <a:spcBef>
                <a:spcPts val="600"/>
              </a:spcBef>
              <a:spcAft>
                <a:spcPts val="600"/>
              </a:spcAft>
              <a:buNone/>
            </a:pPr>
            <a:r>
              <a:rPr lang="vi-VN" sz="2200" dirty="0">
                <a:solidFill>
                  <a:srgbClr val="002060"/>
                </a:solidFill>
                <a:cs typeface="Arial" charset="0"/>
              </a:rPr>
              <a:t>Khi muốn đưa ra các xâu ký tự, ta dùng đặc tả</a:t>
            </a:r>
            <a:r>
              <a:rPr lang="vi-VN" sz="2200" dirty="0">
                <a:solidFill>
                  <a:srgbClr val="FF0000"/>
                </a:solidFill>
                <a:cs typeface="Arial" charset="0"/>
              </a:rPr>
              <a:t> %s </a:t>
            </a:r>
          </a:p>
          <a:p>
            <a:pPr marL="457200" lvl="1" indent="0">
              <a:spcBef>
                <a:spcPts val="600"/>
              </a:spcBef>
              <a:spcAft>
                <a:spcPts val="600"/>
              </a:spcAft>
              <a:buNone/>
            </a:pPr>
            <a:r>
              <a:rPr lang="vi-VN" sz="2000" dirty="0">
                <a:solidFill>
                  <a:srgbClr val="002060"/>
                </a:solidFill>
                <a:cs typeface="Arial" charset="0"/>
              </a:rPr>
              <a:t>Ví dụ: </a:t>
            </a:r>
          </a:p>
          <a:p>
            <a:pPr marL="457200" lvl="1" indent="0">
              <a:spcBef>
                <a:spcPts val="600"/>
              </a:spcBef>
              <a:spcAft>
                <a:spcPts val="600"/>
              </a:spcAft>
              <a:buNone/>
            </a:pPr>
            <a:r>
              <a:rPr lang="en-AU" sz="2000" dirty="0">
                <a:solidFill>
                  <a:srgbClr val="002060"/>
                </a:solidFill>
                <a:cs typeface="Arial" charset="0"/>
              </a:rPr>
              <a:t>	</a:t>
            </a:r>
            <a:r>
              <a:rPr lang="it-IT" sz="2000" b="1" dirty="0">
                <a:solidFill>
                  <a:srgbClr val="FF0000"/>
                </a:solidFill>
                <a:latin typeface="Courier New" panose="02070309020205020404" pitchFamily="49" charset="0"/>
                <a:cs typeface="Courier New" panose="02070309020205020404" pitchFamily="49" charset="0"/>
              </a:rPr>
              <a:t>char  HoTen[100];</a:t>
            </a:r>
          </a:p>
          <a:p>
            <a:pPr marL="457200" lvl="1" indent="0">
              <a:spcBef>
                <a:spcPts val="600"/>
              </a:spcBef>
              <a:spcAft>
                <a:spcPts val="600"/>
              </a:spcAft>
              <a:buNone/>
            </a:pPr>
            <a:r>
              <a:rPr lang="it-IT" sz="2000" b="1" dirty="0">
                <a:solidFill>
                  <a:srgbClr val="FF0000"/>
                </a:solidFill>
                <a:latin typeface="Courier New" panose="02070309020205020404" pitchFamily="49" charset="0"/>
                <a:cs typeface="Courier New" panose="02070309020205020404" pitchFamily="49" charset="0"/>
              </a:rPr>
              <a:t>	printf("Nhap ten ban: ");</a:t>
            </a:r>
          </a:p>
          <a:p>
            <a:pPr marL="457200" lvl="1" indent="0">
              <a:spcBef>
                <a:spcPts val="600"/>
              </a:spcBef>
              <a:spcAft>
                <a:spcPts val="600"/>
              </a:spcAft>
              <a:buNone/>
            </a:pPr>
            <a:r>
              <a:rPr lang="it-IT" sz="2000" b="1" dirty="0">
                <a:solidFill>
                  <a:srgbClr val="FF0000"/>
                </a:solidFill>
                <a:latin typeface="Courier New" panose="02070309020205020404" pitchFamily="49" charset="0"/>
                <a:cs typeface="Courier New" panose="02070309020205020404" pitchFamily="49" charset="0"/>
              </a:rPr>
              <a:t>	fflush(stdin);</a:t>
            </a:r>
          </a:p>
          <a:p>
            <a:pPr marL="457200" lvl="1" indent="0">
              <a:spcBef>
                <a:spcPts val="600"/>
              </a:spcBef>
              <a:spcAft>
                <a:spcPts val="600"/>
              </a:spcAft>
              <a:buNone/>
            </a:pPr>
            <a:r>
              <a:rPr lang="it-IT" sz="2000" b="1" dirty="0">
                <a:solidFill>
                  <a:srgbClr val="FF0000"/>
                </a:solidFill>
                <a:latin typeface="Courier New" panose="02070309020205020404" pitchFamily="49" charset="0"/>
                <a:cs typeface="Courier New" panose="02070309020205020404" pitchFamily="49" charset="0"/>
              </a:rPr>
              <a:t>	gets(HoTen);</a:t>
            </a:r>
          </a:p>
          <a:p>
            <a:pPr marL="457200" lvl="1" indent="0">
              <a:spcBef>
                <a:spcPts val="600"/>
              </a:spcBef>
              <a:spcAft>
                <a:spcPts val="600"/>
              </a:spcAft>
              <a:buNone/>
            </a:pPr>
            <a:r>
              <a:rPr lang="it-IT" sz="2000" b="1" dirty="0">
                <a:solidFill>
                  <a:srgbClr val="FF0000"/>
                </a:solidFill>
                <a:latin typeface="Courier New" panose="02070309020205020404" pitchFamily="49" charset="0"/>
                <a:cs typeface="Courier New" panose="02070309020205020404" pitchFamily="49" charset="0"/>
              </a:rPr>
              <a:t>	printf("Xin chao %s", HoTen);</a:t>
            </a:r>
          </a:p>
          <a:p>
            <a:pPr marL="457200" lvl="1" indent="0">
              <a:spcBef>
                <a:spcPts val="600"/>
              </a:spcBef>
              <a:spcAft>
                <a:spcPts val="600"/>
              </a:spcAft>
              <a:buNone/>
            </a:pPr>
            <a:r>
              <a:rPr lang="en-AU" sz="2000" dirty="0">
                <a:solidFill>
                  <a:srgbClr val="002060"/>
                </a:solidFill>
                <a:cs typeface="Arial" charset="0"/>
              </a:rPr>
              <a:t>K</a:t>
            </a:r>
            <a:r>
              <a:rPr lang="vi-VN" sz="2000" dirty="0">
                <a:solidFill>
                  <a:srgbClr val="002060"/>
                </a:solidFill>
                <a:cs typeface="Arial" charset="0"/>
              </a:rPr>
              <a:t>ết quả đưa ra màn hình như sau:</a:t>
            </a:r>
          </a:p>
          <a:p>
            <a:pPr marL="457200" lvl="1" indent="0">
              <a:spcBef>
                <a:spcPts val="600"/>
              </a:spcBef>
              <a:spcAft>
                <a:spcPts val="600"/>
              </a:spcAft>
              <a:buNone/>
            </a:pPr>
            <a:r>
              <a:rPr lang="vi-VN" sz="2000" dirty="0">
                <a:solidFill>
                  <a:srgbClr val="002060"/>
                </a:solidFill>
                <a:cs typeface="Arial" charset="0"/>
              </a:rPr>
              <a:t>                  </a:t>
            </a:r>
            <a:endParaRPr lang="en-AU" sz="2400" dirty="0">
              <a:solidFill>
                <a:srgbClr val="002060"/>
              </a:solidFill>
              <a:cs typeface="Arial" charset="0"/>
            </a:endParaRP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r>
              <a:rPr lang="vi-VN" sz="2400" dirty="0">
                <a:solidFill>
                  <a:srgbClr val="002060"/>
                </a:solidFill>
                <a:cs typeface="Arial" charset="0"/>
              </a:rPr>
              <a:t>  </a:t>
            </a:r>
            <a:endParaRPr lang="vi-VN" sz="2400"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43</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pic>
        <p:nvPicPr>
          <p:cNvPr id="6" name="Picture 5">
            <a:extLst>
              <a:ext uri="{FF2B5EF4-FFF2-40B4-BE49-F238E27FC236}">
                <a16:creationId xmlns:a16="http://schemas.microsoft.com/office/drawing/2014/main" id="{6F9B9DBE-729B-3C1C-E374-4A69220DAEC6}"/>
              </a:ext>
            </a:extLst>
          </p:cNvPr>
          <p:cNvPicPr>
            <a:picLocks noChangeAspect="1"/>
          </p:cNvPicPr>
          <p:nvPr/>
        </p:nvPicPr>
        <p:blipFill>
          <a:blip r:embed="rId3"/>
          <a:stretch>
            <a:fillRect/>
          </a:stretch>
        </p:blipFill>
        <p:spPr>
          <a:xfrm>
            <a:off x="6324600" y="2669803"/>
            <a:ext cx="5488340" cy="1676400"/>
          </a:xfrm>
          <a:prstGeom prst="rect">
            <a:avLst/>
          </a:prstGeom>
        </p:spPr>
      </p:pic>
    </p:spTree>
    <p:extLst>
      <p:ext uri="{BB962C8B-B14F-4D97-AF65-F5344CB8AC3E}">
        <p14:creationId xmlns:p14="http://schemas.microsoft.com/office/powerpoint/2010/main" val="23974311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9B67E-7D7F-A8CB-E518-9271511CBEB1}"/>
            </a:ext>
          </a:extLst>
        </p:cNvPr>
        <p:cNvGrpSpPr/>
        <p:nvPr/>
      </p:nvGrpSpPr>
      <p:grpSpPr>
        <a:xfrm>
          <a:off x="0" y="0"/>
          <a:ext cx="0" cy="0"/>
          <a:chOff x="0" y="0"/>
          <a:chExt cx="0" cy="0"/>
        </a:xfrm>
      </p:grpSpPr>
      <p:sp>
        <p:nvSpPr>
          <p:cNvPr id="24579" name="Rectangle 3">
            <a:extLst>
              <a:ext uri="{FF2B5EF4-FFF2-40B4-BE49-F238E27FC236}">
                <a16:creationId xmlns:a16="http://schemas.microsoft.com/office/drawing/2014/main" id="{3E9DBA76-9605-CC8C-8ADC-6B62F8B62247}"/>
              </a:ext>
            </a:extLst>
          </p:cNvPr>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300" dirty="0" err="1">
                <a:solidFill>
                  <a:srgbClr val="002060"/>
                </a:solidFill>
                <a:latin typeface="Arial" panose="020B0604020202020204" pitchFamily="34" charset="0"/>
                <a:cs typeface="Arial" panose="020B0604020202020204" pitchFamily="34" charset="0"/>
              </a:rPr>
              <a:t>Xuất</a:t>
            </a:r>
            <a:r>
              <a:rPr lang="en-AU" sz="2300" dirty="0">
                <a:solidFill>
                  <a:srgbClr val="002060"/>
                </a:solidFill>
                <a:latin typeface="Arial" panose="020B0604020202020204" pitchFamily="34" charset="0"/>
                <a:cs typeface="Arial" panose="020B0604020202020204" pitchFamily="34" charset="0"/>
              </a:rPr>
              <a:t> (</a:t>
            </a:r>
            <a:r>
              <a:rPr lang="en-AU" sz="2300" dirty="0" err="1">
                <a:solidFill>
                  <a:srgbClr val="002060"/>
                </a:solidFill>
                <a:latin typeface="Arial" panose="020B0604020202020204" pitchFamily="34" charset="0"/>
                <a:cs typeface="Arial" panose="020B0604020202020204" pitchFamily="34" charset="0"/>
              </a:rPr>
              <a:t>Hiển</a:t>
            </a:r>
            <a:r>
              <a:rPr lang="en-AU" sz="2300" dirty="0">
                <a:solidFill>
                  <a:srgbClr val="002060"/>
                </a:solidFill>
                <a:latin typeface="Arial" panose="020B0604020202020204" pitchFamily="34" charset="0"/>
                <a:cs typeface="Arial" panose="020B0604020202020204" pitchFamily="34" charset="0"/>
              </a:rPr>
              <a:t> </a:t>
            </a:r>
            <a:r>
              <a:rPr lang="en-AU" sz="2300" dirty="0" err="1">
                <a:solidFill>
                  <a:srgbClr val="002060"/>
                </a:solidFill>
                <a:latin typeface="Arial" panose="020B0604020202020204" pitchFamily="34" charset="0"/>
                <a:cs typeface="Arial" panose="020B0604020202020204" pitchFamily="34" charset="0"/>
              </a:rPr>
              <a:t>thị</a:t>
            </a:r>
            <a:r>
              <a:rPr lang="en-AU" sz="2300" dirty="0">
                <a:solidFill>
                  <a:srgbClr val="002060"/>
                </a:solidFill>
                <a:latin typeface="Arial" panose="020B0604020202020204" pitchFamily="34" charset="0"/>
                <a:cs typeface="Arial" panose="020B0604020202020204" pitchFamily="34" charset="0"/>
              </a:rPr>
              <a:t>, In) </a:t>
            </a:r>
            <a:r>
              <a:rPr lang="en-AU" sz="2300" dirty="0" err="1">
                <a:solidFill>
                  <a:srgbClr val="002060"/>
                </a:solidFill>
                <a:latin typeface="Arial" panose="020B0604020202020204" pitchFamily="34" charset="0"/>
                <a:cs typeface="Arial" panose="020B0604020202020204" pitchFamily="34" charset="0"/>
              </a:rPr>
              <a:t>dữ</a:t>
            </a:r>
            <a:r>
              <a:rPr lang="en-AU" sz="2300" dirty="0">
                <a:solidFill>
                  <a:srgbClr val="002060"/>
                </a:solidFill>
                <a:latin typeface="Arial" panose="020B0604020202020204" pitchFamily="34" charset="0"/>
                <a:cs typeface="Arial" panose="020B0604020202020204" pitchFamily="34" charset="0"/>
              </a:rPr>
              <a:t> </a:t>
            </a:r>
            <a:r>
              <a:rPr lang="en-AU" sz="2300" dirty="0" err="1">
                <a:solidFill>
                  <a:srgbClr val="002060"/>
                </a:solidFill>
                <a:latin typeface="Arial" panose="020B0604020202020204" pitchFamily="34" charset="0"/>
                <a:cs typeface="Arial" panose="020B0604020202020204" pitchFamily="34" charset="0"/>
              </a:rPr>
              <a:t>liệu</a:t>
            </a:r>
            <a:r>
              <a:rPr lang="en-AU" sz="2300" dirty="0">
                <a:solidFill>
                  <a:srgbClr val="002060"/>
                </a:solidFill>
                <a:latin typeface="Arial" panose="020B0604020202020204" pitchFamily="34" charset="0"/>
                <a:cs typeface="Arial" panose="020B0604020202020204" pitchFamily="34" charset="0"/>
              </a:rPr>
              <a:t> </a:t>
            </a:r>
            <a:r>
              <a:rPr lang="en-AU" sz="2300" dirty="0" err="1">
                <a:solidFill>
                  <a:srgbClr val="002060"/>
                </a:solidFill>
                <a:latin typeface="Arial" panose="020B0604020202020204" pitchFamily="34" charset="0"/>
                <a:cs typeface="Arial" panose="020B0604020202020204" pitchFamily="34" charset="0"/>
              </a:rPr>
              <a:t>ra</a:t>
            </a:r>
            <a:r>
              <a:rPr lang="en-AU" sz="2300" dirty="0">
                <a:solidFill>
                  <a:srgbClr val="002060"/>
                </a:solidFill>
                <a:latin typeface="Arial" panose="020B0604020202020204" pitchFamily="34" charset="0"/>
                <a:cs typeface="Arial" panose="020B0604020202020204" pitchFamily="34" charset="0"/>
              </a:rPr>
              <a:t> </a:t>
            </a:r>
            <a:r>
              <a:rPr lang="en-AU" sz="2300" dirty="0" err="1">
                <a:solidFill>
                  <a:srgbClr val="002060"/>
                </a:solidFill>
                <a:latin typeface="Arial" panose="020B0604020202020204" pitchFamily="34" charset="0"/>
                <a:cs typeface="Arial" panose="020B0604020202020204" pitchFamily="34" charset="0"/>
              </a:rPr>
              <a:t>màn</a:t>
            </a:r>
            <a:r>
              <a:rPr lang="en-AU" sz="2300" dirty="0">
                <a:solidFill>
                  <a:srgbClr val="002060"/>
                </a:solidFill>
                <a:latin typeface="Arial" panose="020B0604020202020204" pitchFamily="34" charset="0"/>
                <a:cs typeface="Arial" panose="020B0604020202020204" pitchFamily="34" charset="0"/>
              </a:rPr>
              <a:t> </a:t>
            </a:r>
            <a:r>
              <a:rPr lang="en-AU" sz="2300" dirty="0" err="1">
                <a:solidFill>
                  <a:srgbClr val="002060"/>
                </a:solidFill>
                <a:latin typeface="Arial" panose="020B0604020202020204" pitchFamily="34" charset="0"/>
                <a:cs typeface="Arial" panose="020B0604020202020204" pitchFamily="34" charset="0"/>
              </a:rPr>
              <a:t>hình</a:t>
            </a:r>
            <a:r>
              <a:rPr lang="en-AU" sz="2300" dirty="0">
                <a:solidFill>
                  <a:srgbClr val="002060"/>
                </a:solidFill>
                <a:latin typeface="Arial" panose="020B0604020202020204" pitchFamily="34" charset="0"/>
                <a:cs typeface="Arial" panose="020B0604020202020204" pitchFamily="34" charset="0"/>
              </a:rPr>
              <a:t>: </a:t>
            </a:r>
          </a:p>
          <a:p>
            <a:pPr marL="457200" lvl="1" indent="0">
              <a:spcBef>
                <a:spcPts val="600"/>
              </a:spcBef>
              <a:spcAft>
                <a:spcPts val="600"/>
              </a:spcAft>
              <a:buNone/>
            </a:pPr>
            <a:r>
              <a:rPr lang="vi-VN" sz="2300" b="1">
                <a:solidFill>
                  <a:srgbClr val="002060"/>
                </a:solidFill>
                <a:latin typeface="Arial" panose="020B0604020202020204" pitchFamily="34" charset="0"/>
                <a:cs typeface="Arial" panose="020B0604020202020204" pitchFamily="34" charset="0"/>
              </a:rPr>
              <a:t>Hàm </a:t>
            </a:r>
            <a:r>
              <a:rPr lang="en-US" sz="2300" b="1" i="1">
                <a:solidFill>
                  <a:srgbClr val="C00000"/>
                </a:solidFill>
                <a:latin typeface="Arial" panose="020B0604020202020204" pitchFamily="34" charset="0"/>
                <a:cs typeface="Arial" panose="020B0604020202020204" pitchFamily="34" charset="0"/>
              </a:rPr>
              <a:t>puts</a:t>
            </a:r>
            <a:r>
              <a:rPr lang="en-AU" sz="2300" b="1">
                <a:solidFill>
                  <a:srgbClr val="002060"/>
                </a:solidFill>
                <a:latin typeface="Arial" panose="020B0604020202020204" pitchFamily="34" charset="0"/>
                <a:cs typeface="Arial" panose="020B0604020202020204" pitchFamily="34" charset="0"/>
              </a:rPr>
              <a:t> </a:t>
            </a:r>
            <a:r>
              <a:rPr lang="en-AU" sz="2300" b="1" err="1">
                <a:solidFill>
                  <a:srgbClr val="002060"/>
                </a:solidFill>
                <a:latin typeface="Arial" panose="020B0604020202020204" pitchFamily="34" charset="0"/>
                <a:cs typeface="Arial" panose="020B0604020202020204" pitchFamily="34" charset="0"/>
              </a:rPr>
              <a:t>đưa</a:t>
            </a:r>
            <a:r>
              <a:rPr lang="en-AU" sz="2300" b="1">
                <a:solidFill>
                  <a:srgbClr val="002060"/>
                </a:solidFill>
                <a:latin typeface="Arial" panose="020B0604020202020204" pitchFamily="34" charset="0"/>
                <a:cs typeface="Arial" panose="020B0604020202020204" pitchFamily="34" charset="0"/>
              </a:rPr>
              <a:t> đưa dữ liệu ra màn hình </a:t>
            </a:r>
            <a:r>
              <a:rPr lang="vi-VN" sz="2300" b="1">
                <a:solidFill>
                  <a:srgbClr val="002060"/>
                </a:solidFill>
                <a:latin typeface="Arial" panose="020B0604020202020204" pitchFamily="34" charset="0"/>
                <a:cs typeface="Arial" panose="020B0604020202020204" pitchFamily="34" charset="0"/>
              </a:rPr>
              <a:t>sau đó đưa con trỏ xuống dòng mới</a:t>
            </a:r>
            <a:r>
              <a:rPr lang="en-AU" sz="2300" b="1">
                <a:solidFill>
                  <a:srgbClr val="002060"/>
                </a:solidFill>
                <a:latin typeface="Arial" panose="020B0604020202020204" pitchFamily="34" charset="0"/>
                <a:cs typeface="Arial" panose="020B0604020202020204" pitchFamily="34" charset="0"/>
              </a:rPr>
              <a:t>.</a:t>
            </a:r>
            <a:endParaRPr lang="en-AU" sz="2300" b="1" dirty="0">
              <a:solidFill>
                <a:srgbClr val="002060"/>
              </a:solidFill>
              <a:latin typeface="Arial" panose="020B0604020202020204" pitchFamily="34" charset="0"/>
              <a:cs typeface="Arial" panose="020B0604020202020204" pitchFamily="34" charset="0"/>
            </a:endParaRPr>
          </a:p>
          <a:p>
            <a:pPr>
              <a:lnSpc>
                <a:spcPct val="90000"/>
              </a:lnSpc>
            </a:pPr>
            <a:r>
              <a:rPr lang="de-DE" sz="2300">
                <a:solidFill>
                  <a:srgbClr val="002060"/>
                </a:solidFill>
                <a:latin typeface="Arial" panose="020B0604020202020204" pitchFamily="34" charset="0"/>
                <a:cs typeface="Arial" panose="020B0604020202020204" pitchFamily="34" charset="0"/>
              </a:rPr>
              <a:t>Cú pháp:</a:t>
            </a:r>
            <a:r>
              <a:rPr lang="de-DE" sz="2300" i="1">
                <a:solidFill>
                  <a:srgbClr val="002060"/>
                </a:solidFill>
                <a:latin typeface="Arial" panose="020B0604020202020204" pitchFamily="34" charset="0"/>
                <a:cs typeface="Arial" panose="020B0604020202020204" pitchFamily="34" charset="0"/>
              </a:rPr>
              <a:t>	</a:t>
            </a:r>
          </a:p>
          <a:p>
            <a:pPr>
              <a:lnSpc>
                <a:spcPct val="90000"/>
              </a:lnSpc>
              <a:buNone/>
            </a:pPr>
            <a:r>
              <a:rPr lang="de-DE" sz="2300">
                <a:solidFill>
                  <a:srgbClr val="002060"/>
                </a:solidFill>
                <a:latin typeface="Arial" panose="020B0604020202020204" pitchFamily="34" charset="0"/>
                <a:cs typeface="Arial" panose="020B0604020202020204" pitchFamily="34" charset="0"/>
              </a:rPr>
              <a:t>			</a:t>
            </a:r>
            <a:r>
              <a:rPr lang="de-DE" sz="2800" i="1">
                <a:solidFill>
                  <a:srgbClr val="C00000"/>
                </a:solidFill>
                <a:latin typeface="Arial" panose="020B0604020202020204" pitchFamily="34" charset="0"/>
                <a:cs typeface="Arial" panose="020B0604020202020204" pitchFamily="34" charset="0"/>
              </a:rPr>
              <a:t>puts</a:t>
            </a:r>
            <a:r>
              <a:rPr lang="de-DE" sz="2800">
                <a:solidFill>
                  <a:srgbClr val="002060"/>
                </a:solidFill>
                <a:latin typeface="Arial" panose="020B0604020202020204" pitchFamily="34" charset="0"/>
                <a:cs typeface="Arial" panose="020B0604020202020204" pitchFamily="34" charset="0"/>
              </a:rPr>
              <a:t>(xâu_kí_tự);</a:t>
            </a:r>
            <a:endParaRPr lang="de-DE" sz="2300">
              <a:solidFill>
                <a:srgbClr val="002060"/>
              </a:solidFill>
              <a:latin typeface="Arial" panose="020B0604020202020204" pitchFamily="34" charset="0"/>
              <a:cs typeface="Arial" panose="020B0604020202020204" pitchFamily="34" charset="0"/>
            </a:endParaRPr>
          </a:p>
          <a:p>
            <a:pPr>
              <a:lnSpc>
                <a:spcPct val="90000"/>
              </a:lnSpc>
            </a:pPr>
            <a:r>
              <a:rPr lang="fr-FR" sz="2300">
                <a:solidFill>
                  <a:srgbClr val="002060"/>
                </a:solidFill>
                <a:latin typeface="Arial" panose="020B0604020202020204" pitchFamily="34" charset="0"/>
                <a:cs typeface="Arial" panose="020B0604020202020204" pitchFamily="34" charset="0"/>
              </a:rPr>
              <a:t>Ví dụ: </a:t>
            </a:r>
          </a:p>
          <a:p>
            <a:pPr marL="1539875">
              <a:lnSpc>
                <a:spcPct val="90000"/>
              </a:lnSpc>
              <a:buNone/>
            </a:pPr>
            <a:r>
              <a:rPr lang="fr-FR" sz="2300">
                <a:solidFill>
                  <a:srgbClr val="002060"/>
                </a:solidFill>
                <a:latin typeface="Arial" panose="020B0604020202020204" pitchFamily="34" charset="0"/>
                <a:cs typeface="Arial" panose="020B0604020202020204" pitchFamily="34" charset="0"/>
              </a:rPr>
              <a:t>	</a:t>
            </a:r>
            <a:r>
              <a:rPr lang="fr-FR" sz="2300" b="0">
                <a:solidFill>
                  <a:srgbClr val="002060"/>
                </a:solidFill>
                <a:latin typeface="Courier New" panose="02070309020205020404" pitchFamily="49" charset="0"/>
                <a:cs typeface="Courier New" panose="02070309020205020404" pitchFamily="49" charset="0"/>
              </a:rPr>
              <a:t>puts(“Ho ten:”); 	</a:t>
            </a:r>
          </a:p>
          <a:p>
            <a:pPr marL="1539875">
              <a:lnSpc>
                <a:spcPct val="90000"/>
              </a:lnSpc>
              <a:buNone/>
            </a:pPr>
            <a:r>
              <a:rPr lang="fr-FR" sz="2300" b="0">
                <a:solidFill>
                  <a:srgbClr val="002060"/>
                </a:solidFill>
                <a:latin typeface="Courier New" panose="02070309020205020404" pitchFamily="49" charset="0"/>
                <a:cs typeface="Courier New" panose="02070309020205020404" pitchFamily="49" charset="0"/>
              </a:rPr>
              <a:t>	puts(hoten);</a:t>
            </a:r>
            <a:endParaRPr lang="de-DE" sz="2300" b="0">
              <a:solidFill>
                <a:srgbClr val="002060"/>
              </a:solidFill>
              <a:latin typeface="Courier New" panose="02070309020205020404" pitchFamily="49" charset="0"/>
              <a:cs typeface="Courier New" panose="02070309020205020404" pitchFamily="49" charset="0"/>
            </a:endParaRPr>
          </a:p>
          <a:p>
            <a:pPr>
              <a:lnSpc>
                <a:spcPct val="90000"/>
              </a:lnSpc>
            </a:pPr>
            <a:r>
              <a:rPr lang="de-DE" sz="2300">
                <a:solidFill>
                  <a:srgbClr val="002060"/>
                </a:solidFill>
                <a:latin typeface="Arial" panose="020B0604020202020204" pitchFamily="34" charset="0"/>
                <a:cs typeface="Arial" panose="020B0604020202020204" pitchFamily="34" charset="0"/>
              </a:rPr>
              <a:t>Tương đương với: </a:t>
            </a:r>
          </a:p>
          <a:p>
            <a:pPr marL="1539875">
              <a:lnSpc>
                <a:spcPct val="90000"/>
              </a:lnSpc>
              <a:buNone/>
            </a:pPr>
            <a:r>
              <a:rPr lang="de-DE" sz="2300">
                <a:solidFill>
                  <a:srgbClr val="002060"/>
                </a:solidFill>
                <a:latin typeface="Arial" panose="020B0604020202020204" pitchFamily="34" charset="0"/>
                <a:cs typeface="Arial" panose="020B0604020202020204" pitchFamily="34" charset="0"/>
              </a:rPr>
              <a:t>	</a:t>
            </a:r>
            <a:r>
              <a:rPr lang="de-DE" sz="2300" b="0">
                <a:solidFill>
                  <a:srgbClr val="002060"/>
                </a:solidFill>
                <a:latin typeface="Courier New" panose="02070309020205020404" pitchFamily="49" charset="0"/>
                <a:cs typeface="Courier New" panose="02070309020205020404" pitchFamily="49" charset="0"/>
              </a:rPr>
              <a:t>printf(“Ho ten:\n”);</a:t>
            </a:r>
          </a:p>
          <a:p>
            <a:pPr marL="1539875">
              <a:lnSpc>
                <a:spcPct val="90000"/>
              </a:lnSpc>
              <a:buNone/>
            </a:pPr>
            <a:r>
              <a:rPr lang="de-DE" sz="2300" b="0">
                <a:solidFill>
                  <a:srgbClr val="002060"/>
                </a:solidFill>
                <a:latin typeface="Courier New" panose="02070309020205020404" pitchFamily="49" charset="0"/>
                <a:cs typeface="Courier New" panose="02070309020205020404" pitchFamily="49" charset="0"/>
              </a:rPr>
              <a:t>	printf(“%s”,hoten);</a:t>
            </a:r>
            <a:r>
              <a:rPr lang="vi-VN" sz="2300" b="0">
                <a:solidFill>
                  <a:srgbClr val="002060"/>
                </a:solidFill>
                <a:latin typeface="Courier New" panose="02070309020205020404" pitchFamily="49" charset="0"/>
                <a:cs typeface="Courier New" panose="02070309020205020404" pitchFamily="49" charset="0"/>
              </a:rPr>
              <a:t>                  </a:t>
            </a:r>
            <a:endParaRPr lang="en-AU" sz="2300" b="0" dirty="0">
              <a:solidFill>
                <a:srgbClr val="002060"/>
              </a:solidFill>
              <a:latin typeface="Courier New" panose="02070309020205020404" pitchFamily="49" charset="0"/>
              <a:cs typeface="Courier New" panose="02070309020205020404" pitchFamily="49" charset="0"/>
            </a:endParaRPr>
          </a:p>
          <a:p>
            <a:pPr marL="457200" lvl="1" indent="0">
              <a:spcBef>
                <a:spcPts val="600"/>
              </a:spcBef>
              <a:spcAft>
                <a:spcPts val="600"/>
              </a:spcAft>
              <a:buNone/>
            </a:pPr>
            <a:r>
              <a:rPr lang="vi-VN" sz="2300">
                <a:solidFill>
                  <a:srgbClr val="002060"/>
                </a:solidFill>
                <a:latin typeface="Arial" panose="020B0604020202020204" pitchFamily="34" charset="0"/>
                <a:cs typeface="Arial" panose="020B0604020202020204" pitchFamily="34" charset="0"/>
              </a:rPr>
              <a:t> </a:t>
            </a:r>
            <a:endParaRPr lang="vi-VN" sz="2300" dirty="0">
              <a:solidFill>
                <a:srgbClr val="002060"/>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1272535-52F8-D3A7-DD5F-5C63E457C8B3}"/>
              </a:ext>
            </a:extLst>
          </p:cNvPr>
          <p:cNvSpPr>
            <a:spLocks noGrp="1"/>
          </p:cNvSpPr>
          <p:nvPr>
            <p:ph type="sldNum" sz="quarter" idx="10"/>
          </p:nvPr>
        </p:nvSpPr>
        <p:spPr/>
        <p:txBody>
          <a:bodyPr/>
          <a:lstStyle/>
          <a:p>
            <a:pPr>
              <a:defRPr/>
            </a:pPr>
            <a:fld id="{7D3C0DDC-6957-467A-8AD1-64B65E3812E2}" type="slidenum">
              <a:rPr lang="en-US" smtClean="0"/>
              <a:pPr>
                <a:defRPr/>
              </a:pPr>
              <a:t>44</a:t>
            </a:fld>
            <a:endParaRPr lang="en-US" dirty="0"/>
          </a:p>
        </p:txBody>
      </p:sp>
      <p:sp>
        <p:nvSpPr>
          <p:cNvPr id="2" name="Title 3">
            <a:extLst>
              <a:ext uri="{FF2B5EF4-FFF2-40B4-BE49-F238E27FC236}">
                <a16:creationId xmlns:a16="http://schemas.microsoft.com/office/drawing/2014/main" id="{7A6F8C30-1C60-FE95-4590-0F2BB072A92C}"/>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spTree>
    <p:extLst>
      <p:ext uri="{BB962C8B-B14F-4D97-AF65-F5344CB8AC3E}">
        <p14:creationId xmlns:p14="http://schemas.microsoft.com/office/powerpoint/2010/main" val="22355332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441951"/>
          </a:xfrm>
        </p:spPr>
        <p:txBody>
          <a:bodyPr>
            <a:normAutofit/>
          </a:bodyPr>
          <a:lstStyle/>
          <a:p>
            <a:pPr>
              <a:spcBef>
                <a:spcPts val="600"/>
              </a:spcBef>
              <a:spcAft>
                <a:spcPts val="600"/>
              </a:spcAft>
            </a:pPr>
            <a:r>
              <a:rPr lang="en-AU" sz="2400" dirty="0" err="1">
                <a:solidFill>
                  <a:srgbClr val="002060"/>
                </a:solidFill>
                <a:cs typeface="Arial" charset="0"/>
              </a:rPr>
              <a:t>Nhập</a:t>
            </a:r>
            <a:r>
              <a:rPr lang="en-AU" sz="2400" dirty="0">
                <a:solidFill>
                  <a:srgbClr val="002060"/>
                </a:solidFill>
                <a:cs typeface="Arial" charset="0"/>
              </a:rPr>
              <a:t> </a:t>
            </a:r>
            <a:r>
              <a:rPr lang="en-AU" sz="2400" dirty="0" err="1">
                <a:solidFill>
                  <a:srgbClr val="002060"/>
                </a:solidFill>
                <a:cs typeface="Arial" charset="0"/>
              </a:rPr>
              <a:t>dữ</a:t>
            </a:r>
            <a:r>
              <a:rPr lang="en-AU" sz="2400" dirty="0">
                <a:solidFill>
                  <a:srgbClr val="002060"/>
                </a:solidFill>
                <a:cs typeface="Arial" charset="0"/>
              </a:rPr>
              <a:t> </a:t>
            </a:r>
            <a:r>
              <a:rPr lang="en-AU" sz="2400" dirty="0" err="1">
                <a:solidFill>
                  <a:srgbClr val="002060"/>
                </a:solidFill>
                <a:cs typeface="Arial" charset="0"/>
              </a:rPr>
              <a:t>liệu</a:t>
            </a:r>
            <a:r>
              <a:rPr lang="en-AU" sz="2400" dirty="0">
                <a:solidFill>
                  <a:srgbClr val="002060"/>
                </a:solidFill>
                <a:cs typeface="Arial" charset="0"/>
              </a:rPr>
              <a:t> </a:t>
            </a:r>
            <a:r>
              <a:rPr lang="en-AU" sz="2400" dirty="0" err="1">
                <a:solidFill>
                  <a:srgbClr val="002060"/>
                </a:solidFill>
                <a:cs typeface="Arial" charset="0"/>
              </a:rPr>
              <a:t>từ</a:t>
            </a:r>
            <a:r>
              <a:rPr lang="en-AU" sz="2400" dirty="0">
                <a:solidFill>
                  <a:srgbClr val="002060"/>
                </a:solidFill>
                <a:cs typeface="Arial" charset="0"/>
              </a:rPr>
              <a:t> </a:t>
            </a:r>
            <a:r>
              <a:rPr lang="en-AU" sz="2400" dirty="0" err="1">
                <a:solidFill>
                  <a:srgbClr val="002060"/>
                </a:solidFill>
                <a:cs typeface="Arial" charset="0"/>
              </a:rPr>
              <a:t>bàn</a:t>
            </a:r>
            <a:r>
              <a:rPr lang="en-AU" sz="2400" dirty="0">
                <a:solidFill>
                  <a:srgbClr val="002060"/>
                </a:solidFill>
                <a:cs typeface="Arial" charset="0"/>
              </a:rPr>
              <a:t> </a:t>
            </a:r>
            <a:r>
              <a:rPr lang="en-AU" sz="2400" dirty="0" err="1">
                <a:solidFill>
                  <a:srgbClr val="002060"/>
                </a:solidFill>
                <a:cs typeface="Arial" charset="0"/>
              </a:rPr>
              <a:t>phím</a:t>
            </a:r>
            <a:r>
              <a:rPr lang="en-AU" sz="2400" dirty="0">
                <a:solidFill>
                  <a:srgbClr val="002060"/>
                </a:solidFill>
                <a:cs typeface="Arial" charset="0"/>
              </a:rPr>
              <a:t>: </a:t>
            </a:r>
          </a:p>
          <a:p>
            <a:pPr marL="457200" lvl="1" indent="0">
              <a:spcBef>
                <a:spcPts val="600"/>
              </a:spcBef>
              <a:spcAft>
                <a:spcPts val="600"/>
              </a:spcAft>
              <a:buNone/>
            </a:pPr>
            <a:r>
              <a:rPr lang="vi-VN" sz="2400" dirty="0">
                <a:solidFill>
                  <a:srgbClr val="002060"/>
                </a:solidFill>
                <a:cs typeface="Arial" charset="0"/>
              </a:rPr>
              <a:t>Nhập dữ liệu từ bàn phím là một cách thông dụng để nạp giá trị cho các biến hoặc mảng </a:t>
            </a:r>
            <a:endParaRPr lang="en-AU" sz="2400" dirty="0">
              <a:solidFill>
                <a:srgbClr val="002060"/>
              </a:solidFill>
              <a:cs typeface="Arial" charset="0"/>
            </a:endParaRPr>
          </a:p>
          <a:p>
            <a:pPr lvl="1">
              <a:spcBef>
                <a:spcPts val="600"/>
              </a:spcBef>
              <a:spcAft>
                <a:spcPts val="600"/>
              </a:spcAft>
              <a:buFontTx/>
              <a:buChar char="-"/>
            </a:pPr>
            <a:r>
              <a:rPr lang="en-AU" sz="2400" dirty="0" err="1">
                <a:solidFill>
                  <a:srgbClr val="002060"/>
                </a:solidFill>
                <a:cs typeface="Arial" charset="0"/>
              </a:rPr>
              <a:t>Hàm</a:t>
            </a:r>
            <a:r>
              <a:rPr lang="en-AU" sz="2400" dirty="0">
                <a:solidFill>
                  <a:srgbClr val="002060"/>
                </a:solidFill>
                <a:cs typeface="Arial" charset="0"/>
              </a:rPr>
              <a:t> </a:t>
            </a:r>
            <a:r>
              <a:rPr lang="en-AU" sz="2400" b="1" dirty="0" err="1">
                <a:solidFill>
                  <a:srgbClr val="FF0000"/>
                </a:solidFill>
                <a:cs typeface="Arial" charset="0"/>
              </a:rPr>
              <a:t>scanf</a:t>
            </a:r>
            <a:r>
              <a:rPr lang="en-AU" sz="2400" dirty="0">
                <a:solidFill>
                  <a:srgbClr val="002060"/>
                </a:solidFill>
                <a:cs typeface="Arial" charset="0"/>
              </a:rPr>
              <a:t> </a:t>
            </a:r>
            <a:r>
              <a:rPr lang="en-AU" sz="2400" dirty="0" err="1">
                <a:solidFill>
                  <a:srgbClr val="002060"/>
                </a:solidFill>
                <a:cs typeface="Arial" charset="0"/>
              </a:rPr>
              <a:t>thuộc</a:t>
            </a:r>
            <a:r>
              <a:rPr lang="en-AU" sz="2400" dirty="0">
                <a:solidFill>
                  <a:srgbClr val="002060"/>
                </a:solidFill>
                <a:cs typeface="Arial" charset="0"/>
              </a:rPr>
              <a:t> </a:t>
            </a:r>
            <a:r>
              <a:rPr lang="en-AU" sz="2400" dirty="0" err="1">
                <a:solidFill>
                  <a:srgbClr val="002060"/>
                </a:solidFill>
                <a:cs typeface="Arial" charset="0"/>
              </a:rPr>
              <a:t>thư</a:t>
            </a:r>
            <a:r>
              <a:rPr lang="en-AU" sz="2400" dirty="0">
                <a:solidFill>
                  <a:srgbClr val="002060"/>
                </a:solidFill>
                <a:cs typeface="Arial" charset="0"/>
              </a:rPr>
              <a:t> </a:t>
            </a:r>
            <a:r>
              <a:rPr lang="en-AU" sz="2400" dirty="0" err="1">
                <a:solidFill>
                  <a:srgbClr val="002060"/>
                </a:solidFill>
                <a:cs typeface="Arial" charset="0"/>
              </a:rPr>
              <a:t>viện</a:t>
            </a:r>
            <a:r>
              <a:rPr lang="en-AU" sz="2400" dirty="0">
                <a:solidFill>
                  <a:srgbClr val="002060"/>
                </a:solidFill>
                <a:cs typeface="Arial" charset="0"/>
              </a:rPr>
              <a:t> </a:t>
            </a:r>
            <a:r>
              <a:rPr lang="en-AU" sz="2400" b="1" dirty="0" err="1">
                <a:solidFill>
                  <a:srgbClr val="FF0000"/>
                </a:solidFill>
                <a:cs typeface="Arial" charset="0"/>
              </a:rPr>
              <a:t>stdio.h</a:t>
            </a:r>
            <a:endParaRPr lang="en-AU" sz="2400" b="1" dirty="0">
              <a:solidFill>
                <a:srgbClr val="FF0000"/>
              </a:solidFill>
              <a:cs typeface="Arial" charset="0"/>
            </a:endParaRPr>
          </a:p>
          <a:p>
            <a:pPr lvl="1">
              <a:spcBef>
                <a:spcPts val="600"/>
              </a:spcBef>
              <a:spcAft>
                <a:spcPts val="600"/>
              </a:spcAft>
              <a:buFontTx/>
              <a:buChar char="-"/>
            </a:pPr>
            <a:r>
              <a:rPr lang="en-AU" sz="2400" dirty="0" err="1">
                <a:solidFill>
                  <a:srgbClr val="002060"/>
                </a:solidFill>
                <a:cs typeface="Arial" charset="0"/>
              </a:rPr>
              <a:t>Cú</a:t>
            </a:r>
            <a:r>
              <a:rPr lang="en-AU" sz="2400" dirty="0">
                <a:solidFill>
                  <a:srgbClr val="002060"/>
                </a:solidFill>
                <a:cs typeface="Arial" charset="0"/>
              </a:rPr>
              <a:t> </a:t>
            </a:r>
            <a:r>
              <a:rPr lang="en-AU" sz="2400" dirty="0" err="1">
                <a:solidFill>
                  <a:srgbClr val="002060"/>
                </a:solidFill>
                <a:cs typeface="Arial" charset="0"/>
              </a:rPr>
              <a:t>pháp</a:t>
            </a:r>
            <a:r>
              <a:rPr lang="en-AU" sz="2400" dirty="0">
                <a:solidFill>
                  <a:srgbClr val="002060"/>
                </a:solidFill>
                <a:cs typeface="Arial" charset="0"/>
              </a:rPr>
              <a:t>:</a:t>
            </a:r>
          </a:p>
          <a:p>
            <a:pPr marL="457200" lvl="1" indent="0">
              <a:spcBef>
                <a:spcPts val="600"/>
              </a:spcBef>
              <a:spcAft>
                <a:spcPts val="600"/>
              </a:spcAft>
              <a:buNone/>
            </a:pPr>
            <a:r>
              <a:rPr lang="en-AU" sz="2400" dirty="0">
                <a:solidFill>
                  <a:srgbClr val="002060"/>
                </a:solidFill>
                <a:cs typeface="Arial" charset="0"/>
              </a:rPr>
              <a:t>		</a:t>
            </a:r>
            <a:r>
              <a:rPr lang="vi-VN" sz="2400" b="1" i="1" dirty="0">
                <a:solidFill>
                  <a:srgbClr val="FF0000"/>
                </a:solidFill>
                <a:cs typeface="Arial" charset="0"/>
              </a:rPr>
              <a:t>int   scanf("t1t2...tk", &amp;b1,&amp;b2,...,&amp;bk);</a:t>
            </a:r>
          </a:p>
          <a:p>
            <a:pPr marL="457200" lvl="1" indent="0">
              <a:spcBef>
                <a:spcPts val="600"/>
              </a:spcBef>
              <a:spcAft>
                <a:spcPts val="600"/>
              </a:spcAft>
              <a:buNone/>
            </a:pPr>
            <a:r>
              <a:rPr lang="vi-VN" sz="2400" dirty="0">
                <a:solidFill>
                  <a:srgbClr val="002060"/>
                </a:solidFill>
                <a:cs typeface="Arial" charset="0"/>
              </a:rPr>
              <a:t>trong đó b1, b2,..., bk là các biến (kiểu int và kiểu float,...) còn t1, t2,..., tk là các đặc tả (giống như ở hàm printf) tương ứng </a:t>
            </a:r>
          </a:p>
          <a:p>
            <a:pPr marL="457200" lvl="1" indent="0">
              <a:spcBef>
                <a:spcPts val="600"/>
              </a:spcBef>
              <a:spcAft>
                <a:spcPts val="600"/>
              </a:spcAft>
              <a:buNone/>
            </a:pPr>
            <a:endParaRPr lang="vi-VN" sz="2200" dirty="0">
              <a:solidFill>
                <a:srgbClr val="002060"/>
              </a:solidFill>
              <a:cs typeface="Arial" charset="0"/>
            </a:endParaRP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r>
              <a:rPr lang="vi-VN" sz="2400" dirty="0">
                <a:solidFill>
                  <a:srgbClr val="002060"/>
                </a:solidFill>
                <a:cs typeface="Arial" charset="0"/>
              </a:rPr>
              <a:t>  </a:t>
            </a:r>
            <a:endParaRPr lang="vi-VN" sz="2400"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45</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spTree>
    <p:extLst>
      <p:ext uri="{BB962C8B-B14F-4D97-AF65-F5344CB8AC3E}">
        <p14:creationId xmlns:p14="http://schemas.microsoft.com/office/powerpoint/2010/main" val="14759149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4724400"/>
          </a:xfrm>
        </p:spPr>
        <p:txBody>
          <a:bodyPr>
            <a:normAutofit fontScale="92500" lnSpcReduction="10000"/>
          </a:bodyPr>
          <a:lstStyle/>
          <a:p>
            <a:pPr>
              <a:spcBef>
                <a:spcPts val="600"/>
              </a:spcBef>
              <a:spcAft>
                <a:spcPts val="600"/>
              </a:spcAft>
            </a:pPr>
            <a:r>
              <a:rPr lang="en-AU" sz="2400" dirty="0" err="1">
                <a:solidFill>
                  <a:srgbClr val="002060"/>
                </a:solidFill>
                <a:cs typeface="Arial" charset="0"/>
              </a:rPr>
              <a:t>Hàm</a:t>
            </a:r>
            <a:r>
              <a:rPr lang="en-AU" sz="2400" dirty="0">
                <a:solidFill>
                  <a:srgbClr val="002060"/>
                </a:solidFill>
                <a:cs typeface="Arial" charset="0"/>
              </a:rPr>
              <a:t> </a:t>
            </a:r>
            <a:r>
              <a:rPr lang="en-AU" sz="2400" dirty="0" err="1">
                <a:solidFill>
                  <a:srgbClr val="FF0000"/>
                </a:solidFill>
                <a:cs typeface="Arial" charset="0"/>
              </a:rPr>
              <a:t>scanf</a:t>
            </a:r>
            <a:r>
              <a:rPr lang="en-AU" sz="2400" dirty="0">
                <a:solidFill>
                  <a:srgbClr val="002060"/>
                </a:solidFill>
                <a:cs typeface="Arial" charset="0"/>
              </a:rPr>
              <a:t>: </a:t>
            </a:r>
          </a:p>
          <a:p>
            <a:pPr marL="457200" lvl="1" indent="0">
              <a:spcBef>
                <a:spcPts val="600"/>
              </a:spcBef>
              <a:spcAft>
                <a:spcPts val="600"/>
              </a:spcAft>
              <a:buNone/>
            </a:pPr>
            <a:r>
              <a:rPr lang="vi-VN" sz="2400" dirty="0">
                <a:solidFill>
                  <a:srgbClr val="002060"/>
                </a:solidFill>
                <a:cs typeface="Arial" charset="0"/>
              </a:rPr>
              <a:t>Ví dụ: để vào 3 giá trị: 25, -137, 45.3 cho hai biến nguyên m, n và một biến thực f, dùng lệnh:</a:t>
            </a:r>
          </a:p>
          <a:p>
            <a:pPr marL="457200" lvl="1" indent="0">
              <a:spcBef>
                <a:spcPts val="600"/>
              </a:spcBef>
              <a:spcAft>
                <a:spcPts val="600"/>
              </a:spcAft>
              <a:buNone/>
            </a:pPr>
            <a:r>
              <a:rPr lang="vi-VN" sz="2400" dirty="0">
                <a:solidFill>
                  <a:srgbClr val="002060"/>
                </a:solidFill>
                <a:cs typeface="Arial" charset="0"/>
              </a:rPr>
              <a:t>                       </a:t>
            </a:r>
            <a:r>
              <a:rPr lang="vi-VN" sz="2400" b="1" i="1" dirty="0">
                <a:solidFill>
                  <a:srgbClr val="FF0000"/>
                </a:solidFill>
                <a:cs typeface="Arial" charset="0"/>
              </a:rPr>
              <a:t>scanf(“%d%d%f”, &amp;n, &amp;m, &amp;f);</a:t>
            </a:r>
          </a:p>
          <a:p>
            <a:pPr marL="457200" lvl="1" indent="0">
              <a:spcBef>
                <a:spcPts val="600"/>
              </a:spcBef>
              <a:spcAft>
                <a:spcPts val="600"/>
              </a:spcAft>
              <a:buNone/>
            </a:pPr>
            <a:r>
              <a:rPr lang="vi-VN" sz="2400" dirty="0">
                <a:solidFill>
                  <a:srgbClr val="002060"/>
                </a:solidFill>
                <a:cs typeface="Arial" charset="0"/>
              </a:rPr>
              <a:t>Khi gặp câu lệnh này, máy sẽ dừng để đợi thao tác viên vào số liệu từ bàn phím. Các giá trị cần được phân cách nhau bởi một hoặc vài khoảng trắng (ở đây khoảng trắng được hiểu là dấu cách hoặc dấu xuống dòng). </a:t>
            </a:r>
            <a:endParaRPr lang="en-AU" sz="2400" dirty="0">
              <a:solidFill>
                <a:srgbClr val="002060"/>
              </a:solidFill>
              <a:cs typeface="Arial" charset="0"/>
            </a:endParaRPr>
          </a:p>
          <a:p>
            <a:pPr marL="457200" lvl="1" indent="0">
              <a:spcBef>
                <a:spcPts val="600"/>
              </a:spcBef>
              <a:spcAft>
                <a:spcPts val="600"/>
              </a:spcAft>
              <a:buNone/>
            </a:pPr>
            <a:r>
              <a:rPr lang="en-AU" sz="2400" dirty="0">
                <a:solidFill>
                  <a:srgbClr val="002060"/>
                </a:solidFill>
                <a:cs typeface="Arial" charset="0"/>
              </a:rPr>
              <a:t>Thao </a:t>
            </a:r>
            <a:r>
              <a:rPr lang="en-AU" sz="2400" dirty="0" err="1">
                <a:solidFill>
                  <a:srgbClr val="002060"/>
                </a:solidFill>
                <a:cs typeface="Arial" charset="0"/>
              </a:rPr>
              <a:t>tác</a:t>
            </a:r>
            <a:r>
              <a:rPr lang="en-AU" sz="2400" dirty="0">
                <a:solidFill>
                  <a:srgbClr val="002060"/>
                </a:solidFill>
                <a:cs typeface="Arial" charset="0"/>
              </a:rPr>
              <a:t> </a:t>
            </a:r>
            <a:r>
              <a:rPr lang="en-AU" sz="2400" dirty="0" err="1">
                <a:solidFill>
                  <a:srgbClr val="002060"/>
                </a:solidFill>
                <a:cs typeface="Arial" charset="0"/>
              </a:rPr>
              <a:t>viên</a:t>
            </a:r>
            <a:r>
              <a:rPr lang="en-AU" sz="2400" dirty="0">
                <a:solidFill>
                  <a:srgbClr val="002060"/>
                </a:solidFill>
                <a:cs typeface="Arial" charset="0"/>
              </a:rPr>
              <a:t> </a:t>
            </a:r>
            <a:r>
              <a:rPr lang="en-AU" sz="2400" dirty="0" err="1">
                <a:solidFill>
                  <a:srgbClr val="002060"/>
                </a:solidFill>
                <a:cs typeface="Arial" charset="0"/>
              </a:rPr>
              <a:t>có</a:t>
            </a:r>
            <a:r>
              <a:rPr lang="en-AU" sz="2400" dirty="0">
                <a:solidFill>
                  <a:srgbClr val="002060"/>
                </a:solidFill>
                <a:cs typeface="Arial" charset="0"/>
              </a:rPr>
              <a:t> </a:t>
            </a:r>
            <a:r>
              <a:rPr lang="en-AU" sz="2400" dirty="0" err="1">
                <a:solidFill>
                  <a:srgbClr val="002060"/>
                </a:solidFill>
                <a:cs typeface="Arial" charset="0"/>
              </a:rPr>
              <a:t>thể</a:t>
            </a:r>
            <a:r>
              <a:rPr lang="en-AU" sz="2400" dirty="0">
                <a:solidFill>
                  <a:srgbClr val="002060"/>
                </a:solidFill>
                <a:cs typeface="Arial" charset="0"/>
              </a:rPr>
              <a:t> </a:t>
            </a:r>
            <a:r>
              <a:rPr lang="en-AU" sz="2400" dirty="0" err="1">
                <a:solidFill>
                  <a:srgbClr val="002060"/>
                </a:solidFill>
                <a:cs typeface="Arial" charset="0"/>
              </a:rPr>
              <a:t>dùng</a:t>
            </a:r>
            <a:r>
              <a:rPr lang="en-AU" sz="2400" dirty="0">
                <a:solidFill>
                  <a:srgbClr val="002060"/>
                </a:solidFill>
                <a:cs typeface="Arial" charset="0"/>
              </a:rPr>
              <a:t> 1 </a:t>
            </a:r>
            <a:r>
              <a:rPr lang="en-AU" sz="2400" dirty="0" err="1">
                <a:solidFill>
                  <a:srgbClr val="002060"/>
                </a:solidFill>
                <a:cs typeface="Arial" charset="0"/>
              </a:rPr>
              <a:t>trong</a:t>
            </a:r>
            <a:r>
              <a:rPr lang="en-AU" sz="2400" dirty="0">
                <a:solidFill>
                  <a:srgbClr val="002060"/>
                </a:solidFill>
                <a:cs typeface="Arial" charset="0"/>
              </a:rPr>
              <a:t> </a:t>
            </a:r>
            <a:r>
              <a:rPr lang="en-AU" sz="2400" dirty="0" err="1">
                <a:solidFill>
                  <a:srgbClr val="002060"/>
                </a:solidFill>
                <a:cs typeface="Arial" charset="0"/>
              </a:rPr>
              <a:t>các</a:t>
            </a:r>
            <a:r>
              <a:rPr lang="en-AU" sz="2400" dirty="0">
                <a:solidFill>
                  <a:srgbClr val="002060"/>
                </a:solidFill>
                <a:cs typeface="Arial" charset="0"/>
              </a:rPr>
              <a:t> </a:t>
            </a:r>
            <a:r>
              <a:rPr lang="en-AU" sz="2400" dirty="0" err="1">
                <a:solidFill>
                  <a:srgbClr val="002060"/>
                </a:solidFill>
                <a:cs typeface="Arial" charset="0"/>
              </a:rPr>
              <a:t>cách</a:t>
            </a:r>
            <a:r>
              <a:rPr lang="en-AU" sz="2400" dirty="0">
                <a:solidFill>
                  <a:srgbClr val="002060"/>
                </a:solidFill>
                <a:cs typeface="Arial" charset="0"/>
              </a:rPr>
              <a:t> </a:t>
            </a:r>
            <a:r>
              <a:rPr lang="en-AU" sz="2400" dirty="0" err="1">
                <a:solidFill>
                  <a:srgbClr val="002060"/>
                </a:solidFill>
                <a:cs typeface="Arial" charset="0"/>
              </a:rPr>
              <a:t>sau</a:t>
            </a:r>
            <a:r>
              <a:rPr lang="en-AU" sz="2400" dirty="0">
                <a:solidFill>
                  <a:srgbClr val="002060"/>
                </a:solidFill>
                <a:cs typeface="Arial" charset="0"/>
              </a:rPr>
              <a:t>:</a:t>
            </a:r>
          </a:p>
          <a:p>
            <a:pPr marL="457200" lvl="1" indent="0">
              <a:spcBef>
                <a:spcPts val="600"/>
              </a:spcBef>
              <a:spcAft>
                <a:spcPts val="600"/>
              </a:spcAft>
              <a:buNone/>
            </a:pPr>
            <a:endParaRPr lang="vi-VN" sz="2200" dirty="0">
              <a:solidFill>
                <a:srgbClr val="002060"/>
              </a:solidFill>
              <a:cs typeface="Arial" charset="0"/>
            </a:endParaRP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r>
              <a:rPr lang="vi-VN" sz="2400" dirty="0">
                <a:solidFill>
                  <a:srgbClr val="002060"/>
                </a:solidFill>
                <a:cs typeface="Arial" charset="0"/>
              </a:rPr>
              <a:t>  </a:t>
            </a:r>
            <a:endParaRPr lang="vi-VN" sz="2400"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46</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graphicFrame>
        <p:nvGraphicFramePr>
          <p:cNvPr id="3" name="Table 4">
            <a:extLst>
              <a:ext uri="{FF2B5EF4-FFF2-40B4-BE49-F238E27FC236}">
                <a16:creationId xmlns:a16="http://schemas.microsoft.com/office/drawing/2014/main" id="{D5D5EB6A-3454-80EC-A296-45E0360D3EAC}"/>
              </a:ext>
            </a:extLst>
          </p:cNvPr>
          <p:cNvGraphicFramePr>
            <a:graphicFrameLocks noGrp="1"/>
          </p:cNvGraphicFramePr>
          <p:nvPr>
            <p:extLst>
              <p:ext uri="{D42A27DB-BD31-4B8C-83A1-F6EECF244321}">
                <p14:modId xmlns:p14="http://schemas.microsoft.com/office/powerpoint/2010/main" val="1576258897"/>
              </p:ext>
            </p:extLst>
          </p:nvPr>
        </p:nvGraphicFramePr>
        <p:xfrm>
          <a:off x="1066800" y="4070579"/>
          <a:ext cx="10515600" cy="2103120"/>
        </p:xfrm>
        <a:graphic>
          <a:graphicData uri="http://schemas.openxmlformats.org/drawingml/2006/table">
            <a:tbl>
              <a:tblPr firstRow="1" bandRow="1">
                <a:tableStyleId>{5C22544A-7EE6-4342-B048-85BDC9FD1C3A}</a:tableStyleId>
              </a:tblPr>
              <a:tblGrid>
                <a:gridCol w="5231604">
                  <a:extLst>
                    <a:ext uri="{9D8B030D-6E8A-4147-A177-3AD203B41FA5}">
                      <a16:colId xmlns:a16="http://schemas.microsoft.com/office/drawing/2014/main" val="1456965123"/>
                    </a:ext>
                  </a:extLst>
                </a:gridCol>
                <a:gridCol w="5283996">
                  <a:extLst>
                    <a:ext uri="{9D8B030D-6E8A-4147-A177-3AD203B41FA5}">
                      <a16:colId xmlns:a16="http://schemas.microsoft.com/office/drawing/2014/main" val="3720408727"/>
                    </a:ext>
                  </a:extLst>
                </a:gridCol>
              </a:tblGrid>
              <a:tr h="2089151">
                <a:tc>
                  <a:txBody>
                    <a:bodyPr/>
                    <a:lstStyle/>
                    <a:p>
                      <a:r>
                        <a:rPr lang="en-AU" sz="2200" b="1" dirty="0" err="1">
                          <a:solidFill>
                            <a:schemeClr val="accent1">
                              <a:lumMod val="50000"/>
                            </a:schemeClr>
                          </a:solidFill>
                          <a:latin typeface="Myriad Pro"/>
                        </a:rPr>
                        <a:t>Cách</a:t>
                      </a:r>
                      <a:r>
                        <a:rPr lang="en-AU" sz="2200" b="1" dirty="0">
                          <a:solidFill>
                            <a:schemeClr val="accent1">
                              <a:lumMod val="50000"/>
                            </a:schemeClr>
                          </a:solidFill>
                          <a:latin typeface="Myriad Pro"/>
                        </a:rPr>
                        <a:t> 1</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Mỗi</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giá</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trị</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trên</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một</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dòng</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bằng</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cách</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nhấn</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phím</a:t>
                      </a:r>
                      <a:r>
                        <a:rPr lang="en-AU" sz="2200" b="0" dirty="0">
                          <a:solidFill>
                            <a:schemeClr val="accent1">
                              <a:lumMod val="50000"/>
                            </a:schemeClr>
                          </a:solidFill>
                          <a:latin typeface="Myriad Pro"/>
                        </a:rPr>
                        <a:t> Enter </a:t>
                      </a:r>
                      <a:r>
                        <a:rPr lang="en-AU" sz="2200" b="0" dirty="0" err="1">
                          <a:solidFill>
                            <a:schemeClr val="accent1">
                              <a:lumMod val="50000"/>
                            </a:schemeClr>
                          </a:solidFill>
                          <a:latin typeface="Myriad Pro"/>
                        </a:rPr>
                        <a:t>sau</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mỗi</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số</a:t>
                      </a:r>
                      <a:r>
                        <a:rPr lang="en-AU" sz="2200" b="0" dirty="0">
                          <a:solidFill>
                            <a:schemeClr val="accent1">
                              <a:lumMod val="50000"/>
                            </a:schemeClr>
                          </a:solidFill>
                          <a:latin typeface="Myriad Pro"/>
                        </a:rPr>
                        <a:t>.</a:t>
                      </a:r>
                    </a:p>
                    <a:p>
                      <a:r>
                        <a:rPr lang="en-AU" sz="2200" b="0" dirty="0">
                          <a:solidFill>
                            <a:schemeClr val="accent1">
                              <a:lumMod val="50000"/>
                            </a:schemeClr>
                          </a:solidFill>
                          <a:latin typeface="Myriad Pro"/>
                        </a:rPr>
                        <a:t>25</a:t>
                      </a:r>
                    </a:p>
                    <a:p>
                      <a:r>
                        <a:rPr lang="en-AU" sz="2200" b="0" dirty="0">
                          <a:solidFill>
                            <a:schemeClr val="accent1">
                              <a:lumMod val="50000"/>
                            </a:schemeClr>
                          </a:solidFill>
                          <a:latin typeface="Myriad Pro"/>
                        </a:rPr>
                        <a:t>-137 </a:t>
                      </a:r>
                    </a:p>
                    <a:p>
                      <a:r>
                        <a:rPr lang="en-AU" sz="2200" b="0" dirty="0">
                          <a:solidFill>
                            <a:schemeClr val="accent1">
                              <a:lumMod val="50000"/>
                            </a:schemeClr>
                          </a:solidFill>
                          <a:latin typeface="Myriad Pro"/>
                        </a:rPr>
                        <a:t>45.3 </a:t>
                      </a:r>
                    </a:p>
                    <a:p>
                      <a:endParaRPr lang="en-AU" sz="2200" dirty="0">
                        <a:solidFill>
                          <a:schemeClr val="accent1">
                            <a:lumMod val="50000"/>
                          </a:schemeClr>
                        </a:solidFill>
                        <a:latin typeface="Myriad Pro"/>
                      </a:endParaRPr>
                    </a:p>
                  </a:txBody>
                  <a:tcPr>
                    <a:noFill/>
                  </a:tcPr>
                </a:tc>
                <a:tc>
                  <a:txBody>
                    <a:bodyPr/>
                    <a:lstStyle/>
                    <a:p>
                      <a:r>
                        <a:rPr lang="en-AU" sz="2200" b="1" dirty="0" err="1">
                          <a:solidFill>
                            <a:schemeClr val="accent1">
                              <a:lumMod val="50000"/>
                            </a:schemeClr>
                          </a:solidFill>
                          <a:latin typeface="Myriad Pro"/>
                        </a:rPr>
                        <a:t>Cách</a:t>
                      </a:r>
                      <a:r>
                        <a:rPr lang="en-AU" sz="2200" b="1" dirty="0">
                          <a:solidFill>
                            <a:schemeClr val="accent1">
                              <a:lumMod val="50000"/>
                            </a:schemeClr>
                          </a:solidFill>
                          <a:latin typeface="Myriad Pro"/>
                        </a:rPr>
                        <a:t> 2</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Đặt</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cả</a:t>
                      </a:r>
                      <a:r>
                        <a:rPr lang="en-AU" sz="2200" b="0" dirty="0">
                          <a:solidFill>
                            <a:schemeClr val="accent1">
                              <a:lumMod val="50000"/>
                            </a:schemeClr>
                          </a:solidFill>
                          <a:latin typeface="Myriad Pro"/>
                        </a:rPr>
                        <a:t> 3 </a:t>
                      </a:r>
                      <a:r>
                        <a:rPr lang="en-AU" sz="2200" b="0" dirty="0" err="1">
                          <a:solidFill>
                            <a:schemeClr val="accent1">
                              <a:lumMod val="50000"/>
                            </a:schemeClr>
                          </a:solidFill>
                          <a:latin typeface="Myriad Pro"/>
                        </a:rPr>
                        <a:t>giá</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trị</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trên</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một</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dòng</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cách</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nhau</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bằng</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các</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dấu</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cách</a:t>
                      </a:r>
                      <a:r>
                        <a:rPr lang="en-AU" sz="2200" b="0" dirty="0">
                          <a:solidFill>
                            <a:schemeClr val="accent1">
                              <a:lumMod val="50000"/>
                            </a:schemeClr>
                          </a:solidFill>
                          <a:latin typeface="Myriad Pro"/>
                        </a:rPr>
                        <a:t>.</a:t>
                      </a:r>
                    </a:p>
                    <a:p>
                      <a:r>
                        <a:rPr lang="en-AU" sz="2200" b="0" dirty="0">
                          <a:solidFill>
                            <a:schemeClr val="accent1">
                              <a:lumMod val="50000"/>
                            </a:schemeClr>
                          </a:solidFill>
                          <a:latin typeface="Myriad Pro"/>
                        </a:rPr>
                        <a:t>        25  -137  45.3  </a:t>
                      </a:r>
                    </a:p>
                    <a:p>
                      <a:r>
                        <a:rPr lang="en-AU" sz="2200" b="0" dirty="0">
                          <a:solidFill>
                            <a:schemeClr val="accent1">
                              <a:lumMod val="50000"/>
                            </a:schemeClr>
                          </a:solidFill>
                          <a:latin typeface="Myriad Pro"/>
                        </a:rPr>
                        <a:t>Sau </a:t>
                      </a:r>
                      <a:r>
                        <a:rPr lang="en-AU" sz="2200" b="0" dirty="0" err="1">
                          <a:solidFill>
                            <a:schemeClr val="accent1">
                              <a:lumMod val="50000"/>
                            </a:schemeClr>
                          </a:solidFill>
                          <a:latin typeface="Myriad Pro"/>
                        </a:rPr>
                        <a:t>khi</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nhập</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xong</a:t>
                      </a:r>
                      <a:r>
                        <a:rPr lang="en-AU" sz="2200" b="0" dirty="0">
                          <a:solidFill>
                            <a:schemeClr val="accent1">
                              <a:lumMod val="50000"/>
                            </a:schemeClr>
                          </a:solidFill>
                          <a:latin typeface="Myriad Pro"/>
                        </a:rPr>
                        <a:t>, n </a:t>
                      </a:r>
                      <a:r>
                        <a:rPr lang="en-AU" sz="2200" b="0" dirty="0" err="1">
                          <a:solidFill>
                            <a:schemeClr val="accent1">
                              <a:lumMod val="50000"/>
                            </a:schemeClr>
                          </a:solidFill>
                          <a:latin typeface="Myriad Pro"/>
                        </a:rPr>
                        <a:t>nhận</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giá</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trị</a:t>
                      </a:r>
                      <a:r>
                        <a:rPr lang="en-AU" sz="2200" b="0" dirty="0">
                          <a:solidFill>
                            <a:schemeClr val="accent1">
                              <a:lumMod val="50000"/>
                            </a:schemeClr>
                          </a:solidFill>
                          <a:latin typeface="Myriad Pro"/>
                        </a:rPr>
                        <a:t> 25, m </a:t>
                      </a:r>
                      <a:r>
                        <a:rPr lang="en-AU" sz="2200" b="0" dirty="0" err="1">
                          <a:solidFill>
                            <a:schemeClr val="accent1">
                              <a:lumMod val="50000"/>
                            </a:schemeClr>
                          </a:solidFill>
                          <a:latin typeface="Myriad Pro"/>
                        </a:rPr>
                        <a:t>nhận</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giá</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trị</a:t>
                      </a:r>
                      <a:r>
                        <a:rPr lang="en-AU" sz="2200" b="0" dirty="0">
                          <a:solidFill>
                            <a:schemeClr val="accent1">
                              <a:lumMod val="50000"/>
                            </a:schemeClr>
                          </a:solidFill>
                          <a:latin typeface="Myriad Pro"/>
                        </a:rPr>
                        <a:t> -137 </a:t>
                      </a:r>
                      <a:r>
                        <a:rPr lang="en-AU" sz="2200" b="0" dirty="0" err="1">
                          <a:solidFill>
                            <a:schemeClr val="accent1">
                              <a:lumMod val="50000"/>
                            </a:schemeClr>
                          </a:solidFill>
                          <a:latin typeface="Myriad Pro"/>
                        </a:rPr>
                        <a:t>và</a:t>
                      </a:r>
                      <a:r>
                        <a:rPr lang="en-AU" sz="2200" b="0" dirty="0">
                          <a:solidFill>
                            <a:schemeClr val="accent1">
                              <a:lumMod val="50000"/>
                            </a:schemeClr>
                          </a:solidFill>
                          <a:latin typeface="Myriad Pro"/>
                        </a:rPr>
                        <a:t> f </a:t>
                      </a:r>
                      <a:r>
                        <a:rPr lang="en-AU" sz="2200" b="0" dirty="0" err="1">
                          <a:solidFill>
                            <a:schemeClr val="accent1">
                              <a:lumMod val="50000"/>
                            </a:schemeClr>
                          </a:solidFill>
                          <a:latin typeface="Myriad Pro"/>
                        </a:rPr>
                        <a:t>nhận</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giá</a:t>
                      </a:r>
                      <a:r>
                        <a:rPr lang="en-AU" sz="2200" b="0" dirty="0">
                          <a:solidFill>
                            <a:schemeClr val="accent1">
                              <a:lumMod val="50000"/>
                            </a:schemeClr>
                          </a:solidFill>
                          <a:latin typeface="Myriad Pro"/>
                        </a:rPr>
                        <a:t> </a:t>
                      </a:r>
                      <a:r>
                        <a:rPr lang="en-AU" sz="2200" b="0" dirty="0" err="1">
                          <a:solidFill>
                            <a:schemeClr val="accent1">
                              <a:lumMod val="50000"/>
                            </a:schemeClr>
                          </a:solidFill>
                          <a:latin typeface="Myriad Pro"/>
                        </a:rPr>
                        <a:t>trị</a:t>
                      </a:r>
                      <a:r>
                        <a:rPr lang="en-AU" sz="2200" b="0" dirty="0">
                          <a:solidFill>
                            <a:schemeClr val="accent1">
                              <a:lumMod val="50000"/>
                            </a:schemeClr>
                          </a:solidFill>
                          <a:latin typeface="Myriad Pro"/>
                        </a:rPr>
                        <a:t> 45.3 </a:t>
                      </a:r>
                    </a:p>
                    <a:p>
                      <a:endParaRPr lang="en-AU" sz="2200" dirty="0">
                        <a:solidFill>
                          <a:schemeClr val="accent1">
                            <a:lumMod val="50000"/>
                          </a:schemeClr>
                        </a:solidFill>
                        <a:latin typeface="Myriad Pro"/>
                      </a:endParaRPr>
                    </a:p>
                  </a:txBody>
                  <a:tcPr>
                    <a:noFill/>
                  </a:tcPr>
                </a:tc>
                <a:extLst>
                  <a:ext uri="{0D108BD9-81ED-4DB2-BD59-A6C34878D82A}">
                    <a16:rowId xmlns:a16="http://schemas.microsoft.com/office/drawing/2014/main" val="601388664"/>
                  </a:ext>
                </a:extLst>
              </a:tr>
            </a:tbl>
          </a:graphicData>
        </a:graphic>
      </p:graphicFrame>
    </p:spTree>
    <p:extLst>
      <p:ext uri="{BB962C8B-B14F-4D97-AF65-F5344CB8AC3E}">
        <p14:creationId xmlns:p14="http://schemas.microsoft.com/office/powerpoint/2010/main" val="11828299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4724400"/>
          </a:xfrm>
        </p:spPr>
        <p:txBody>
          <a:bodyPr>
            <a:normAutofit/>
          </a:bodyPr>
          <a:lstStyle/>
          <a:p>
            <a:pPr>
              <a:spcBef>
                <a:spcPts val="600"/>
              </a:spcBef>
              <a:spcAft>
                <a:spcPts val="600"/>
              </a:spcAft>
            </a:pPr>
            <a:r>
              <a:rPr lang="en-AU" sz="2400" dirty="0" err="1">
                <a:solidFill>
                  <a:srgbClr val="002060"/>
                </a:solidFill>
                <a:cs typeface="Arial" charset="0"/>
              </a:rPr>
              <a:t>Hàm</a:t>
            </a:r>
            <a:r>
              <a:rPr lang="en-AU" sz="2400" dirty="0">
                <a:solidFill>
                  <a:srgbClr val="002060"/>
                </a:solidFill>
                <a:cs typeface="Arial" charset="0"/>
              </a:rPr>
              <a:t> </a:t>
            </a:r>
            <a:r>
              <a:rPr lang="en-AU" sz="2400" dirty="0" err="1">
                <a:solidFill>
                  <a:srgbClr val="FF0000"/>
                </a:solidFill>
                <a:cs typeface="Arial" charset="0"/>
              </a:rPr>
              <a:t>scanf</a:t>
            </a:r>
            <a:r>
              <a:rPr lang="en-AU" sz="2400" dirty="0">
                <a:solidFill>
                  <a:srgbClr val="002060"/>
                </a:solidFill>
                <a:cs typeface="Arial" charset="0"/>
              </a:rPr>
              <a:t>: </a:t>
            </a:r>
          </a:p>
          <a:p>
            <a:pPr marL="457200" lvl="1" indent="0">
              <a:spcBef>
                <a:spcPts val="600"/>
              </a:spcBef>
              <a:spcAft>
                <a:spcPts val="600"/>
              </a:spcAft>
              <a:buNone/>
            </a:pPr>
            <a:r>
              <a:rPr lang="en-AU" sz="2200" dirty="0" err="1">
                <a:solidFill>
                  <a:srgbClr val="002060"/>
                </a:solidFill>
                <a:cs typeface="Arial" charset="0"/>
              </a:rPr>
              <a:t>Ví</a:t>
            </a:r>
            <a:r>
              <a:rPr lang="en-AU" sz="2200" dirty="0">
                <a:solidFill>
                  <a:srgbClr val="002060"/>
                </a:solidFill>
                <a:cs typeface="Arial" charset="0"/>
              </a:rPr>
              <a:t> dụ </a:t>
            </a:r>
            <a:r>
              <a:rPr lang="en-AU" sz="2200" dirty="0" err="1">
                <a:solidFill>
                  <a:srgbClr val="002060"/>
                </a:solidFill>
                <a:cs typeface="Arial" charset="0"/>
              </a:rPr>
              <a:t>minh</a:t>
            </a:r>
            <a:r>
              <a:rPr lang="en-AU" sz="2200" dirty="0">
                <a:solidFill>
                  <a:srgbClr val="002060"/>
                </a:solidFill>
                <a:cs typeface="Arial" charset="0"/>
              </a:rPr>
              <a:t> </a:t>
            </a:r>
            <a:r>
              <a:rPr lang="en-AU" sz="2200" dirty="0" err="1">
                <a:solidFill>
                  <a:srgbClr val="002060"/>
                </a:solidFill>
                <a:cs typeface="Arial" charset="0"/>
              </a:rPr>
              <a:t>họa</a:t>
            </a:r>
            <a:endParaRPr lang="vi-VN" sz="2200" dirty="0">
              <a:solidFill>
                <a:srgbClr val="002060"/>
              </a:solidFill>
              <a:cs typeface="Arial" charset="0"/>
            </a:endParaRP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r>
              <a:rPr lang="vi-VN" sz="2400" dirty="0">
                <a:solidFill>
                  <a:srgbClr val="002060"/>
                </a:solidFill>
                <a:cs typeface="Arial" charset="0"/>
              </a:rPr>
              <a:t>  </a:t>
            </a:r>
            <a:endParaRPr lang="vi-VN" sz="2400"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47</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pic>
        <p:nvPicPr>
          <p:cNvPr id="6" name="Picture 5">
            <a:extLst>
              <a:ext uri="{FF2B5EF4-FFF2-40B4-BE49-F238E27FC236}">
                <a16:creationId xmlns:a16="http://schemas.microsoft.com/office/drawing/2014/main" id="{0AD0A222-6A77-954D-91FD-8AC7E422C331}"/>
              </a:ext>
            </a:extLst>
          </p:cNvPr>
          <p:cNvPicPr>
            <a:picLocks noChangeAspect="1"/>
          </p:cNvPicPr>
          <p:nvPr/>
        </p:nvPicPr>
        <p:blipFill>
          <a:blip r:embed="rId3"/>
          <a:stretch>
            <a:fillRect/>
          </a:stretch>
        </p:blipFill>
        <p:spPr>
          <a:xfrm>
            <a:off x="914400" y="1981200"/>
            <a:ext cx="5459026" cy="3581400"/>
          </a:xfrm>
          <a:prstGeom prst="rect">
            <a:avLst/>
          </a:prstGeom>
        </p:spPr>
      </p:pic>
      <p:pic>
        <p:nvPicPr>
          <p:cNvPr id="8" name="Picture 7">
            <a:extLst>
              <a:ext uri="{FF2B5EF4-FFF2-40B4-BE49-F238E27FC236}">
                <a16:creationId xmlns:a16="http://schemas.microsoft.com/office/drawing/2014/main" id="{01D957C3-B58C-5B56-EC78-6D1D2BE8C1FE}"/>
              </a:ext>
            </a:extLst>
          </p:cNvPr>
          <p:cNvPicPr>
            <a:picLocks noChangeAspect="1"/>
          </p:cNvPicPr>
          <p:nvPr/>
        </p:nvPicPr>
        <p:blipFill>
          <a:blip r:embed="rId4"/>
          <a:stretch>
            <a:fillRect/>
          </a:stretch>
        </p:blipFill>
        <p:spPr>
          <a:xfrm>
            <a:off x="6361232" y="1297898"/>
            <a:ext cx="4925112" cy="2429214"/>
          </a:xfrm>
          <a:prstGeom prst="rect">
            <a:avLst/>
          </a:prstGeom>
        </p:spPr>
      </p:pic>
      <p:pic>
        <p:nvPicPr>
          <p:cNvPr id="10" name="Picture 9">
            <a:extLst>
              <a:ext uri="{FF2B5EF4-FFF2-40B4-BE49-F238E27FC236}">
                <a16:creationId xmlns:a16="http://schemas.microsoft.com/office/drawing/2014/main" id="{97E05091-7065-E670-6086-0E7ACC10C4D3}"/>
              </a:ext>
            </a:extLst>
          </p:cNvPr>
          <p:cNvPicPr>
            <a:picLocks noChangeAspect="1"/>
          </p:cNvPicPr>
          <p:nvPr/>
        </p:nvPicPr>
        <p:blipFill>
          <a:blip r:embed="rId5"/>
          <a:stretch>
            <a:fillRect/>
          </a:stretch>
        </p:blipFill>
        <p:spPr>
          <a:xfrm>
            <a:off x="6361232" y="3672392"/>
            <a:ext cx="4925112" cy="2086266"/>
          </a:xfrm>
          <a:prstGeom prst="rect">
            <a:avLst/>
          </a:prstGeom>
        </p:spPr>
      </p:pic>
    </p:spTree>
    <p:extLst>
      <p:ext uri="{BB962C8B-B14F-4D97-AF65-F5344CB8AC3E}">
        <p14:creationId xmlns:p14="http://schemas.microsoft.com/office/powerpoint/2010/main" val="7791151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4724400"/>
          </a:xfrm>
        </p:spPr>
        <p:txBody>
          <a:bodyPr>
            <a:normAutofit lnSpcReduction="10000"/>
          </a:bodyPr>
          <a:lstStyle/>
          <a:p>
            <a:pPr>
              <a:spcBef>
                <a:spcPts val="600"/>
              </a:spcBef>
              <a:spcAft>
                <a:spcPts val="600"/>
              </a:spcAft>
            </a:pPr>
            <a:r>
              <a:rPr lang="en-AU" sz="2400" dirty="0" err="1">
                <a:solidFill>
                  <a:srgbClr val="002060"/>
                </a:solidFill>
                <a:cs typeface="Arial" charset="0"/>
              </a:rPr>
              <a:t>Hàm</a:t>
            </a:r>
            <a:r>
              <a:rPr lang="en-AU" sz="2400" dirty="0">
                <a:solidFill>
                  <a:srgbClr val="002060"/>
                </a:solidFill>
                <a:cs typeface="Arial" charset="0"/>
              </a:rPr>
              <a:t> </a:t>
            </a:r>
            <a:r>
              <a:rPr lang="en-AU" sz="2400" dirty="0" err="1">
                <a:solidFill>
                  <a:srgbClr val="FF0000"/>
                </a:solidFill>
                <a:cs typeface="Arial" charset="0"/>
              </a:rPr>
              <a:t>scanf</a:t>
            </a:r>
            <a:r>
              <a:rPr lang="en-AU" sz="2400" dirty="0">
                <a:solidFill>
                  <a:srgbClr val="002060"/>
                </a:solidFill>
                <a:cs typeface="Arial" charset="0"/>
              </a:rPr>
              <a:t>: </a:t>
            </a:r>
          </a:p>
          <a:p>
            <a:pPr marL="457200" lvl="1" indent="0">
              <a:spcBef>
                <a:spcPts val="600"/>
              </a:spcBef>
              <a:spcAft>
                <a:spcPts val="600"/>
              </a:spcAft>
              <a:buNone/>
            </a:pPr>
            <a:r>
              <a:rPr lang="vi-VN" sz="2400" dirty="0">
                <a:solidFill>
                  <a:srgbClr val="002060"/>
                </a:solidFill>
                <a:cs typeface="Arial" charset="0"/>
              </a:rPr>
              <a:t>Một vài chú ý:</a:t>
            </a:r>
          </a:p>
          <a:p>
            <a:pPr marL="457200" lvl="1" indent="0">
              <a:spcBef>
                <a:spcPts val="600"/>
              </a:spcBef>
              <a:spcAft>
                <a:spcPts val="600"/>
              </a:spcAft>
              <a:buNone/>
            </a:pPr>
            <a:r>
              <a:rPr lang="en-AU" sz="2400" dirty="0">
                <a:solidFill>
                  <a:srgbClr val="002060"/>
                </a:solidFill>
                <a:cs typeface="Arial" charset="0"/>
              </a:rPr>
              <a:t>- </a:t>
            </a:r>
            <a:r>
              <a:rPr lang="vi-VN" sz="2400" dirty="0">
                <a:solidFill>
                  <a:srgbClr val="002060"/>
                </a:solidFill>
                <a:cs typeface="Arial" charset="0"/>
              </a:rPr>
              <a:t>Trong câu lệnh scanf, không dùng tên biến như trong câu lệnh printf mà dùng địa chỉ của biến bằng cách đặt phép toán &amp; trước tên biến.</a:t>
            </a:r>
          </a:p>
          <a:p>
            <a:pPr marL="457200" lvl="1" indent="0">
              <a:spcBef>
                <a:spcPts val="600"/>
              </a:spcBef>
              <a:spcAft>
                <a:spcPts val="600"/>
              </a:spcAft>
              <a:buNone/>
            </a:pPr>
            <a:r>
              <a:rPr lang="en-AU" sz="2400" dirty="0">
                <a:solidFill>
                  <a:srgbClr val="002060"/>
                </a:solidFill>
                <a:cs typeface="Arial" charset="0"/>
              </a:rPr>
              <a:t>- </a:t>
            </a:r>
            <a:r>
              <a:rPr lang="vi-VN" sz="2400" dirty="0">
                <a:solidFill>
                  <a:srgbClr val="002060"/>
                </a:solidFill>
                <a:cs typeface="Arial" charset="0"/>
              </a:rPr>
              <a:t>Mỗi biến ứng với một đặc tả. Như vậy số đặc tả bằng số biến.</a:t>
            </a:r>
          </a:p>
          <a:p>
            <a:pPr marL="457200" lvl="1" indent="0">
              <a:spcBef>
                <a:spcPts val="600"/>
              </a:spcBef>
              <a:spcAft>
                <a:spcPts val="600"/>
              </a:spcAft>
              <a:buNone/>
            </a:pPr>
            <a:r>
              <a:rPr lang="en-AU" sz="2400" dirty="0">
                <a:solidFill>
                  <a:srgbClr val="002060"/>
                </a:solidFill>
                <a:cs typeface="Arial" charset="0"/>
              </a:rPr>
              <a:t>- </a:t>
            </a:r>
            <a:r>
              <a:rPr lang="vi-VN" sz="2400" dirty="0">
                <a:solidFill>
                  <a:srgbClr val="002060"/>
                </a:solidFill>
                <a:cs typeface="Arial" charset="0"/>
              </a:rPr>
              <a:t>Trong chuỗi điều khiển chỉ nên chứa các đặc tả và các đặc tả nên viết liền nhau </a:t>
            </a:r>
          </a:p>
          <a:p>
            <a:pPr marL="457200" lvl="1" indent="0">
              <a:spcBef>
                <a:spcPts val="600"/>
              </a:spcBef>
              <a:spcAft>
                <a:spcPts val="600"/>
              </a:spcAft>
              <a:buNone/>
            </a:pPr>
            <a:endParaRPr lang="vi-VN" sz="2200" dirty="0">
              <a:solidFill>
                <a:srgbClr val="002060"/>
              </a:solidFill>
              <a:cs typeface="Arial" charset="0"/>
            </a:endParaRP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r>
              <a:rPr lang="vi-VN" sz="2400" dirty="0">
                <a:solidFill>
                  <a:srgbClr val="002060"/>
                </a:solidFill>
                <a:cs typeface="Arial" charset="0"/>
              </a:rPr>
              <a:t>  </a:t>
            </a:r>
            <a:endParaRPr lang="vi-VN" sz="2400"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48</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spTree>
    <p:extLst>
      <p:ext uri="{BB962C8B-B14F-4D97-AF65-F5344CB8AC3E}">
        <p14:creationId xmlns:p14="http://schemas.microsoft.com/office/powerpoint/2010/main" val="20899621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4724400"/>
          </a:xfrm>
        </p:spPr>
        <p:txBody>
          <a:bodyPr>
            <a:normAutofit/>
          </a:bodyPr>
          <a:lstStyle/>
          <a:p>
            <a:pPr>
              <a:spcBef>
                <a:spcPts val="600"/>
              </a:spcBef>
              <a:spcAft>
                <a:spcPts val="600"/>
              </a:spcAft>
            </a:pPr>
            <a:r>
              <a:rPr lang="en-AU" sz="2400" err="1">
                <a:solidFill>
                  <a:srgbClr val="002060"/>
                </a:solidFill>
                <a:cs typeface="Arial" charset="0"/>
              </a:rPr>
              <a:t>Hàm</a:t>
            </a:r>
            <a:r>
              <a:rPr lang="en-AU" sz="2400">
                <a:solidFill>
                  <a:srgbClr val="002060"/>
                </a:solidFill>
                <a:cs typeface="Arial" charset="0"/>
              </a:rPr>
              <a:t> </a:t>
            </a:r>
            <a:r>
              <a:rPr lang="en-AU" sz="2400">
                <a:solidFill>
                  <a:srgbClr val="FF0000"/>
                </a:solidFill>
                <a:cs typeface="Arial" charset="0"/>
              </a:rPr>
              <a:t>gets</a:t>
            </a:r>
            <a:r>
              <a:rPr lang="en-AU" sz="2400">
                <a:solidFill>
                  <a:srgbClr val="002060"/>
                </a:solidFill>
                <a:cs typeface="Arial" charset="0"/>
              </a:rPr>
              <a:t>: </a:t>
            </a:r>
            <a:endParaRPr lang="en-AU" sz="2400" dirty="0">
              <a:solidFill>
                <a:srgbClr val="002060"/>
              </a:solidFill>
              <a:cs typeface="Arial" charset="0"/>
            </a:endParaRPr>
          </a:p>
          <a:p>
            <a:pPr marL="457200" lvl="1" indent="0">
              <a:spcBef>
                <a:spcPts val="600"/>
              </a:spcBef>
              <a:spcAft>
                <a:spcPts val="600"/>
              </a:spcAft>
              <a:buNone/>
            </a:pPr>
            <a:r>
              <a:rPr lang="vi-VN" sz="2400" dirty="0">
                <a:solidFill>
                  <a:srgbClr val="002060"/>
                </a:solidFill>
                <a:cs typeface="Arial" charset="0"/>
              </a:rPr>
              <a:t>- </a:t>
            </a:r>
            <a:r>
              <a:rPr lang="vi-VN" sz="2400" b="1" dirty="0">
                <a:solidFill>
                  <a:srgbClr val="002060"/>
                </a:solidFill>
                <a:cs typeface="Arial" charset="0"/>
              </a:rPr>
              <a:t>Nhập xâu ký tự bằng gets</a:t>
            </a:r>
          </a:p>
          <a:p>
            <a:pPr marL="457200" lvl="1" indent="0">
              <a:spcBef>
                <a:spcPts val="600"/>
              </a:spcBef>
              <a:spcAft>
                <a:spcPts val="600"/>
              </a:spcAft>
              <a:buNone/>
            </a:pPr>
            <a:r>
              <a:rPr lang="vi-VN" sz="2400" dirty="0">
                <a:solidFill>
                  <a:srgbClr val="002060"/>
                </a:solidFill>
                <a:cs typeface="Arial" charset="0"/>
              </a:rPr>
              <a:t>Để nhập xâu ký tự, có thể dùng lệnh gets. Lệnh gets có dạng:</a:t>
            </a:r>
          </a:p>
          <a:p>
            <a:pPr marL="457200" lvl="1" indent="0">
              <a:spcBef>
                <a:spcPts val="600"/>
              </a:spcBef>
              <a:spcAft>
                <a:spcPts val="600"/>
              </a:spcAft>
              <a:buNone/>
            </a:pPr>
            <a:r>
              <a:rPr lang="vi-VN" sz="2400" dirty="0">
                <a:solidFill>
                  <a:srgbClr val="002060"/>
                </a:solidFill>
                <a:cs typeface="Arial" charset="0"/>
              </a:rPr>
              <a:t>                 </a:t>
            </a:r>
            <a:r>
              <a:rPr lang="vi-VN" sz="2400" b="1" i="1" dirty="0">
                <a:solidFill>
                  <a:srgbClr val="FF0000"/>
                </a:solidFill>
                <a:cs typeface="Arial" charset="0"/>
              </a:rPr>
              <a:t>gets(&lt;xâu ký tự&gt;)</a:t>
            </a:r>
          </a:p>
          <a:p>
            <a:pPr marL="457200" lvl="1" indent="0">
              <a:spcBef>
                <a:spcPts val="600"/>
              </a:spcBef>
              <a:spcAft>
                <a:spcPts val="600"/>
              </a:spcAft>
              <a:buNone/>
            </a:pPr>
            <a:r>
              <a:rPr lang="vi-VN" sz="2400" dirty="0">
                <a:solidFill>
                  <a:srgbClr val="002060"/>
                </a:solidFill>
                <a:cs typeface="Arial" charset="0"/>
              </a:rPr>
              <a:t>Ở đây, xâu ký tự là một mảng kiểu char. </a:t>
            </a:r>
          </a:p>
          <a:p>
            <a:pPr marL="457200" lvl="1" indent="0">
              <a:spcBef>
                <a:spcPts val="600"/>
              </a:spcBef>
              <a:spcAft>
                <a:spcPts val="600"/>
              </a:spcAft>
              <a:buNone/>
            </a:pPr>
            <a:r>
              <a:rPr lang="vi-VN" sz="2400" dirty="0">
                <a:solidFill>
                  <a:srgbClr val="002060"/>
                </a:solidFill>
                <a:cs typeface="Arial" charset="0"/>
              </a:rPr>
              <a:t>- </a:t>
            </a:r>
            <a:r>
              <a:rPr lang="vi-VN" sz="2400" b="1" dirty="0">
                <a:solidFill>
                  <a:srgbClr val="002060"/>
                </a:solidFill>
                <a:cs typeface="Arial" charset="0"/>
              </a:rPr>
              <a:t>Chú ý</a:t>
            </a:r>
            <a:r>
              <a:rPr lang="vi-VN" sz="2400" dirty="0">
                <a:solidFill>
                  <a:srgbClr val="002060"/>
                </a:solidFill>
                <a:cs typeface="Arial" charset="0"/>
              </a:rPr>
              <a:t>: Nếu trước lệnh gets mà có các lệnh scanf, thì có thể không nhập được xâu do ký tự return (13) còn ở trong bộ đệm. Vì vậy để sử dụng đúng đắn câu lệnh gets, nên thêm lệnh </a:t>
            </a:r>
            <a:r>
              <a:rPr lang="vi-VN" sz="2400" dirty="0">
                <a:solidFill>
                  <a:srgbClr val="FF0000"/>
                </a:solidFill>
                <a:cs typeface="Arial" charset="0"/>
              </a:rPr>
              <a:t>fflush(stdin) </a:t>
            </a:r>
            <a:r>
              <a:rPr lang="vi-VN" sz="2400" dirty="0">
                <a:solidFill>
                  <a:srgbClr val="002060"/>
                </a:solidFill>
                <a:cs typeface="Arial" charset="0"/>
              </a:rPr>
              <a:t>trước lệnh gets trong mọi trường hợp, để làm sạch bộ đệm (xóa hết các ký tự còn trong đó) trước khi đưa (nhập) giá trị mới. </a:t>
            </a:r>
          </a:p>
          <a:p>
            <a:pPr marL="457200" lvl="1" indent="0">
              <a:spcBef>
                <a:spcPts val="600"/>
              </a:spcBef>
              <a:spcAft>
                <a:spcPts val="600"/>
              </a:spcAft>
              <a:buNone/>
            </a:pPr>
            <a:endParaRPr lang="vi-VN" sz="2200" dirty="0">
              <a:solidFill>
                <a:srgbClr val="002060"/>
              </a:solidFill>
              <a:cs typeface="Arial" charset="0"/>
            </a:endParaRP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endParaRPr lang="vi-VN" sz="2400"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49</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spTree>
    <p:extLst>
      <p:ext uri="{BB962C8B-B14F-4D97-AF65-F5344CB8AC3E}">
        <p14:creationId xmlns:p14="http://schemas.microsoft.com/office/powerpoint/2010/main" val="2977650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4724400"/>
          </a:xfrm>
        </p:spPr>
        <p:txBody>
          <a:bodyPr>
            <a:normAutofit/>
          </a:bodyPr>
          <a:lstStyle/>
          <a:p>
            <a:pPr>
              <a:spcBef>
                <a:spcPts val="600"/>
              </a:spcBef>
              <a:spcAft>
                <a:spcPts val="600"/>
              </a:spcAft>
            </a:pPr>
            <a:r>
              <a:rPr lang="en-AU" sz="2400" err="1">
                <a:solidFill>
                  <a:srgbClr val="002060"/>
                </a:solidFill>
                <a:cs typeface="Arial" charset="0"/>
              </a:rPr>
              <a:t>Hàm</a:t>
            </a:r>
            <a:r>
              <a:rPr lang="en-AU" sz="2400">
                <a:solidFill>
                  <a:srgbClr val="002060"/>
                </a:solidFill>
                <a:cs typeface="Arial" charset="0"/>
              </a:rPr>
              <a:t> </a:t>
            </a:r>
            <a:r>
              <a:rPr lang="en-AU" sz="2400">
                <a:solidFill>
                  <a:srgbClr val="FF0000"/>
                </a:solidFill>
                <a:cs typeface="Arial" charset="0"/>
              </a:rPr>
              <a:t>gets</a:t>
            </a:r>
            <a:r>
              <a:rPr lang="en-AU" sz="2400">
                <a:solidFill>
                  <a:srgbClr val="002060"/>
                </a:solidFill>
                <a:cs typeface="Arial" charset="0"/>
              </a:rPr>
              <a:t>: </a:t>
            </a:r>
            <a:endParaRPr lang="en-AU" sz="2400" dirty="0">
              <a:solidFill>
                <a:srgbClr val="002060"/>
              </a:solidFill>
              <a:cs typeface="Arial" charset="0"/>
            </a:endParaRPr>
          </a:p>
          <a:p>
            <a:pPr marL="457200" lvl="1" indent="0">
              <a:spcBef>
                <a:spcPts val="600"/>
              </a:spcBef>
              <a:spcAft>
                <a:spcPts val="600"/>
              </a:spcAft>
              <a:buNone/>
            </a:pPr>
            <a:r>
              <a:rPr lang="en-AU" sz="2200" dirty="0" err="1">
                <a:solidFill>
                  <a:srgbClr val="002060"/>
                </a:solidFill>
                <a:cs typeface="Arial" charset="0"/>
              </a:rPr>
              <a:t>Ví</a:t>
            </a:r>
            <a:r>
              <a:rPr lang="en-AU" sz="2200" dirty="0">
                <a:solidFill>
                  <a:srgbClr val="002060"/>
                </a:solidFill>
                <a:cs typeface="Arial" charset="0"/>
              </a:rPr>
              <a:t> dụ </a:t>
            </a:r>
            <a:r>
              <a:rPr lang="en-AU" sz="2200" dirty="0" err="1">
                <a:solidFill>
                  <a:srgbClr val="002060"/>
                </a:solidFill>
                <a:cs typeface="Arial" charset="0"/>
              </a:rPr>
              <a:t>minh</a:t>
            </a:r>
            <a:r>
              <a:rPr lang="en-AU" sz="2200" dirty="0">
                <a:solidFill>
                  <a:srgbClr val="002060"/>
                </a:solidFill>
                <a:cs typeface="Arial" charset="0"/>
              </a:rPr>
              <a:t> </a:t>
            </a:r>
            <a:r>
              <a:rPr lang="en-AU" sz="2200" dirty="0" err="1">
                <a:solidFill>
                  <a:srgbClr val="002060"/>
                </a:solidFill>
                <a:cs typeface="Arial" charset="0"/>
              </a:rPr>
              <a:t>họa</a:t>
            </a:r>
            <a:endParaRPr lang="vi-VN" sz="2200" dirty="0">
              <a:solidFill>
                <a:srgbClr val="002060"/>
              </a:solidFill>
              <a:cs typeface="Arial" charset="0"/>
            </a:endParaRPr>
          </a:p>
          <a:p>
            <a:pPr marL="457200" lvl="1" indent="0">
              <a:spcBef>
                <a:spcPts val="600"/>
              </a:spcBef>
              <a:spcAft>
                <a:spcPts val="600"/>
              </a:spcAft>
              <a:buNone/>
            </a:pPr>
            <a:endParaRPr lang="en-AU" sz="2400" dirty="0">
              <a:solidFill>
                <a:srgbClr val="002060"/>
              </a:solidFill>
              <a:cs typeface="Arial" charset="0"/>
            </a:endParaRPr>
          </a:p>
          <a:p>
            <a:pPr marL="457200" lvl="1" indent="0">
              <a:spcBef>
                <a:spcPts val="600"/>
              </a:spcBef>
              <a:spcAft>
                <a:spcPts val="600"/>
              </a:spcAft>
              <a:buNone/>
            </a:pPr>
            <a:r>
              <a:rPr lang="vi-VN" sz="2400" dirty="0">
                <a:solidFill>
                  <a:srgbClr val="002060"/>
                </a:solidFill>
                <a:cs typeface="Arial" charset="0"/>
              </a:rPr>
              <a:t>  </a:t>
            </a:r>
            <a:endParaRPr lang="vi-VN" sz="2400" dirty="0">
              <a:solidFill>
                <a:srgbClr val="FF000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50</a:t>
            </a:fld>
            <a:endParaRPr lang="en-US" dirty="0"/>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dirty="0"/>
              <a:t>2.6. </a:t>
            </a:r>
            <a:r>
              <a:rPr lang="en-US" sz="3600" dirty="0" err="1"/>
              <a:t>Nhập</a:t>
            </a:r>
            <a:r>
              <a:rPr lang="en-US" sz="3600" dirty="0"/>
              <a:t> </a:t>
            </a:r>
            <a:r>
              <a:rPr lang="en-US" sz="3600" dirty="0" err="1"/>
              <a:t>xuất</a:t>
            </a:r>
            <a:r>
              <a:rPr lang="en-US" sz="3600" dirty="0"/>
              <a:t> </a:t>
            </a:r>
            <a:r>
              <a:rPr lang="en-US" sz="3600" dirty="0" err="1"/>
              <a:t>dữ</a:t>
            </a:r>
            <a:r>
              <a:rPr lang="en-US" sz="3600" dirty="0"/>
              <a:t> </a:t>
            </a:r>
            <a:r>
              <a:rPr lang="en-US" sz="3600" dirty="0" err="1"/>
              <a:t>liệu</a:t>
            </a:r>
            <a:endParaRPr lang="en-US" sz="3600" dirty="0"/>
          </a:p>
        </p:txBody>
      </p:sp>
      <p:pic>
        <p:nvPicPr>
          <p:cNvPr id="5" name="Picture 4">
            <a:extLst>
              <a:ext uri="{FF2B5EF4-FFF2-40B4-BE49-F238E27FC236}">
                <a16:creationId xmlns:a16="http://schemas.microsoft.com/office/drawing/2014/main" id="{4C5FA028-71E5-0CF0-F6FF-5A0A1655A18A}"/>
              </a:ext>
            </a:extLst>
          </p:cNvPr>
          <p:cNvPicPr>
            <a:picLocks noChangeAspect="1"/>
          </p:cNvPicPr>
          <p:nvPr/>
        </p:nvPicPr>
        <p:blipFill>
          <a:blip r:embed="rId3"/>
          <a:stretch>
            <a:fillRect/>
          </a:stretch>
        </p:blipFill>
        <p:spPr>
          <a:xfrm>
            <a:off x="848911" y="2449334"/>
            <a:ext cx="5512321" cy="3047597"/>
          </a:xfrm>
          <a:prstGeom prst="rect">
            <a:avLst/>
          </a:prstGeom>
        </p:spPr>
      </p:pic>
      <p:pic>
        <p:nvPicPr>
          <p:cNvPr id="9" name="Picture 8">
            <a:extLst>
              <a:ext uri="{FF2B5EF4-FFF2-40B4-BE49-F238E27FC236}">
                <a16:creationId xmlns:a16="http://schemas.microsoft.com/office/drawing/2014/main" id="{05BFD729-C6D9-04A6-EE81-1093F4FA53D4}"/>
              </a:ext>
            </a:extLst>
          </p:cNvPr>
          <p:cNvPicPr>
            <a:picLocks noChangeAspect="1"/>
          </p:cNvPicPr>
          <p:nvPr/>
        </p:nvPicPr>
        <p:blipFill>
          <a:blip r:embed="rId4"/>
          <a:stretch>
            <a:fillRect/>
          </a:stretch>
        </p:blipFill>
        <p:spPr>
          <a:xfrm>
            <a:off x="6360430" y="1766337"/>
            <a:ext cx="5706970" cy="1741666"/>
          </a:xfrm>
          <a:prstGeom prst="rect">
            <a:avLst/>
          </a:prstGeom>
        </p:spPr>
      </p:pic>
    </p:spTree>
    <p:extLst>
      <p:ext uri="{BB962C8B-B14F-4D97-AF65-F5344CB8AC3E}">
        <p14:creationId xmlns:p14="http://schemas.microsoft.com/office/powerpoint/2010/main" val="39315940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6" name="TextBox 5">
            <a:extLst>
              <a:ext uri="{FF2B5EF4-FFF2-40B4-BE49-F238E27FC236}">
                <a16:creationId xmlns:a16="http://schemas.microsoft.com/office/drawing/2014/main" id="{8744FD24-FFC5-F1B1-6FCB-9ACD4BBA9401}"/>
              </a:ext>
            </a:extLst>
          </p:cNvPr>
          <p:cNvSpPr txBox="1"/>
          <p:nvPr/>
        </p:nvSpPr>
        <p:spPr>
          <a:xfrm>
            <a:off x="3657600" y="3398520"/>
            <a:ext cx="5334000" cy="830997"/>
          </a:xfrm>
          <a:prstGeom prst="rect">
            <a:avLst/>
          </a:prstGeom>
          <a:noFill/>
        </p:spPr>
        <p:txBody>
          <a:bodyPr wrap="square" rtlCol="0">
            <a:spAutoFit/>
          </a:bodyPr>
          <a:lstStyle/>
          <a:p>
            <a:r>
              <a:rPr lang="en-US" sz="4800" b="1" i="1" dirty="0" err="1">
                <a:solidFill>
                  <a:schemeClr val="tx2"/>
                </a:solidFill>
              </a:rPr>
              <a:t>Trân</a:t>
            </a:r>
            <a:r>
              <a:rPr lang="en-US" sz="4800" b="1" i="1" dirty="0">
                <a:solidFill>
                  <a:schemeClr val="tx2"/>
                </a:solidFill>
              </a:rPr>
              <a:t> </a:t>
            </a:r>
            <a:r>
              <a:rPr lang="en-US" sz="4800" b="1" i="1" dirty="0" err="1">
                <a:solidFill>
                  <a:schemeClr val="tx2"/>
                </a:solidFill>
              </a:rPr>
              <a:t>trọng</a:t>
            </a:r>
            <a:r>
              <a:rPr lang="en-US" sz="4800" b="1" i="1" dirty="0">
                <a:solidFill>
                  <a:schemeClr val="tx2"/>
                </a:solidFill>
              </a:rPr>
              <a:t> </a:t>
            </a:r>
            <a:r>
              <a:rPr lang="en-US" sz="4800" b="1" i="1" dirty="0" err="1">
                <a:solidFill>
                  <a:schemeClr val="tx2"/>
                </a:solidFill>
              </a:rPr>
              <a:t>cảm</a:t>
            </a:r>
            <a:r>
              <a:rPr lang="en-US" sz="4800" b="1" i="1" dirty="0">
                <a:solidFill>
                  <a:schemeClr val="tx2"/>
                </a:solidFill>
              </a:rPr>
              <a:t> </a:t>
            </a:r>
            <a:r>
              <a:rPr lang="en-US" sz="4800" b="1" i="1" dirty="0" err="1">
                <a:solidFill>
                  <a:schemeClr val="tx2"/>
                </a:solidFill>
              </a:rPr>
              <a:t>ơn</a:t>
            </a:r>
            <a:r>
              <a:rPr lang="en-US" sz="4800" b="1" i="1" dirty="0">
                <a:solidFill>
                  <a:schemeClr val="tx2"/>
                </a:solidFill>
              </a:rPr>
              <a:t>!</a:t>
            </a:r>
          </a:p>
        </p:txBody>
      </p:sp>
      <p:pic>
        <p:nvPicPr>
          <p:cNvPr id="7" name="Picture 6"/>
          <p:cNvPicPr>
            <a:picLocks noChangeAspect="1"/>
          </p:cNvPicPr>
          <p:nvPr/>
        </p:nvPicPr>
        <p:blipFill rotWithShape="1">
          <a:blip r:embed="rId3" cstate="print">
            <a:clrChange>
              <a:clrFrom>
                <a:srgbClr val="F6F6F8"/>
              </a:clrFrom>
              <a:clrTo>
                <a:srgbClr val="F6F6F8">
                  <a:alpha val="0"/>
                </a:srgbClr>
              </a:clrTo>
            </a:clrChange>
            <a:extLst>
              <a:ext uri="{28A0092B-C50C-407E-A947-70E740481C1C}">
                <a14:useLocalDpi xmlns:a14="http://schemas.microsoft.com/office/drawing/2010/main" val="0"/>
              </a:ext>
            </a:extLst>
          </a:blip>
          <a:srcRect t="4913" r="19167" b="79626"/>
          <a:stretch/>
        </p:blipFill>
        <p:spPr>
          <a:xfrm>
            <a:off x="152400" y="685800"/>
            <a:ext cx="7010400" cy="1040859"/>
          </a:xfrm>
          <a:prstGeom prst="rect">
            <a:avLst/>
          </a:prstGeom>
        </p:spPr>
      </p:pic>
    </p:spTree>
    <p:extLst>
      <p:ext uri="{BB962C8B-B14F-4D97-AF65-F5344CB8AC3E}">
        <p14:creationId xmlns:p14="http://schemas.microsoft.com/office/powerpoint/2010/main" val="20420320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marL="91440" marR="3573779" indent="182880" algn="just">
          <a:spcBef>
            <a:spcPts val="600"/>
          </a:spcBef>
          <a:buClr>
            <a:srgbClr val="FF0000"/>
          </a:buClr>
          <a:buSzPct val="54166"/>
          <a:buFont typeface="Wingdings"/>
          <a:buChar char="◼"/>
          <a:tabLst>
            <a:tab pos="286385" algn="l"/>
            <a:tab pos="756920" algn="l"/>
          </a:tabLst>
          <a:defRPr sz="2400" smtClean="0">
            <a:latin typeface="Abadi" panose="020B0604020104020204" pitchFamily="34" charset="0"/>
            <a:cs typeface="Times New Roman"/>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28411</TotalTime>
  <Words>4899</Words>
  <Application>Microsoft Office PowerPoint</Application>
  <PresentationFormat>Widescreen</PresentationFormat>
  <Paragraphs>502</Paragraphs>
  <Slides>51</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Calibri</vt:lpstr>
      <vt:lpstr>Cambria</vt:lpstr>
      <vt:lpstr>Courier New</vt:lpstr>
      <vt:lpstr>Myriad Pro</vt:lpstr>
      <vt:lpstr>Wingdings</vt:lpstr>
      <vt:lpstr>Office Theme</vt:lpstr>
      <vt:lpstr>PowerPoint Presentation</vt:lpstr>
      <vt:lpstr>CÁC KIỂU DỮ LIỆU 2.1. Các kiểu dữ liệu cơ bản 2.2. Hằng 2.3. Biến 2.4. Mảng 2.5. Các phép toán trên các kiểu 2.6. Nhập xuất dữ liệu   </vt:lpstr>
      <vt:lpstr>2.1 Các kiểu dữ liệu cơ bản</vt:lpstr>
      <vt:lpstr>2.1 Các kiểu dữ liệu cơ bản</vt:lpstr>
      <vt:lpstr>2.1 Các kiểu dữ liệu cơ bản</vt:lpstr>
      <vt:lpstr>2.1 Các kiểu dữ liệu cơ bản</vt:lpstr>
      <vt:lpstr>2.1 Các kiểu dữ liệu cơ bản</vt:lpstr>
      <vt:lpstr>2.1 Các kiểu dữ liệu cơ bản</vt:lpstr>
      <vt:lpstr>2.1 Các kiểu dữ liệu cơ bản</vt:lpstr>
      <vt:lpstr>2.1 Các kiểu dữ liệu cơ bản</vt:lpstr>
      <vt:lpstr>2.1 Các kiểu dữ liệu cơ bản</vt:lpstr>
      <vt:lpstr>2.4. Hằng</vt:lpstr>
      <vt:lpstr>2.2. Hằng</vt:lpstr>
      <vt:lpstr>2.2. Hằng</vt:lpstr>
      <vt:lpstr>2.2. Hằng</vt:lpstr>
      <vt:lpstr>2.3. Biến</vt:lpstr>
      <vt:lpstr>2.3. Biến</vt:lpstr>
      <vt:lpstr>2.3. Biến</vt:lpstr>
      <vt:lpstr>2.4. Mảng</vt:lpstr>
      <vt:lpstr>2.4. Mảng</vt:lpstr>
      <vt:lpstr>2.4. Mảng</vt:lpstr>
      <vt:lpstr>2.4. Mảng</vt:lpstr>
      <vt:lpstr>2.5. Một số phép toán trên các kiểu</vt:lpstr>
      <vt:lpstr>2.5. Một số phép toán trên các kiểu</vt:lpstr>
      <vt:lpstr>2.5. Một số phép toán trên các kiểu</vt:lpstr>
      <vt:lpstr>2.5. Một số phép toán trên các kiểu</vt:lpstr>
      <vt:lpstr>2.5. Một số phép toán trên các kiểu</vt:lpstr>
      <vt:lpstr>2.5. Một số phép toán trên các kiểu</vt:lpstr>
      <vt:lpstr>2.5. Một số phép toán trên các kiểu</vt:lpstr>
      <vt:lpstr>2.5. Một số phép toán trên các kiểu</vt:lpstr>
      <vt:lpstr>2.5. Một số phép toán trên các kiểu</vt:lpstr>
      <vt:lpstr>2.5. Một số phép toán trên các kiểu</vt:lpstr>
      <vt:lpstr>2.5. Một số phép toán trên các kiểu</vt:lpstr>
      <vt:lpstr>2.5. Một số phép toán trên các kiểu</vt:lpstr>
      <vt:lpstr>2.6. Nhập xuất dữ liệu</vt:lpstr>
      <vt:lpstr>PowerPoint Presentation</vt:lpstr>
      <vt:lpstr>PowerPoint Presentation</vt:lpstr>
      <vt:lpstr>PowerPoint Presentation</vt:lpstr>
      <vt:lpstr>2.6. Nhập xuất dữ liệu</vt:lpstr>
      <vt:lpstr>2.6. Nhập xuất dữ liệu</vt:lpstr>
      <vt:lpstr>2.6. Nhập xuất dữ liệu</vt:lpstr>
      <vt:lpstr>2.6. Nhập xuất dữ liệu</vt:lpstr>
      <vt:lpstr>2.6. Nhập xuất dữ liệu</vt:lpstr>
      <vt:lpstr>2.6. Nhập xuất dữ liệu</vt:lpstr>
      <vt:lpstr>2.6. Nhập xuất dữ liệu</vt:lpstr>
      <vt:lpstr>2.6. Nhập xuất dữ liệu</vt:lpstr>
      <vt:lpstr>2.6. Nhập xuất dữ liệu</vt:lpstr>
      <vt:lpstr>2.6. Nhập xuất dữ liệu</vt:lpstr>
      <vt:lpstr>2.6. Nhập xuất dữ liệu</vt:lpstr>
      <vt:lpstr>2.6. Nhập xuất dữ liệu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Bich hang</dc:creator>
  <cp:lastModifiedBy>Dao Thi Le Thuy (FE FPL HN)</cp:lastModifiedBy>
  <cp:revision>2535</cp:revision>
  <dcterms:created xsi:type="dcterms:W3CDTF">2013-02-19T03:52:16Z</dcterms:created>
  <dcterms:modified xsi:type="dcterms:W3CDTF">2025-09-23T03:54:47Z</dcterms:modified>
</cp:coreProperties>
</file>