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9"/>
  </p:notesMasterIdLst>
  <p:handoutMasterIdLst>
    <p:handoutMasterId r:id="rId40"/>
  </p:handoutMasterIdLst>
  <p:sldIdLst>
    <p:sldId id="256" r:id="rId2"/>
    <p:sldId id="740" r:id="rId3"/>
    <p:sldId id="321" r:id="rId4"/>
    <p:sldId id="739" r:id="rId5"/>
    <p:sldId id="752" r:id="rId6"/>
    <p:sldId id="741" r:id="rId7"/>
    <p:sldId id="297" r:id="rId8"/>
    <p:sldId id="298" r:id="rId9"/>
    <p:sldId id="299" r:id="rId10"/>
    <p:sldId id="302" r:id="rId11"/>
    <p:sldId id="301" r:id="rId12"/>
    <p:sldId id="304" r:id="rId13"/>
    <p:sldId id="309" r:id="rId14"/>
    <p:sldId id="753" r:id="rId15"/>
    <p:sldId id="742" r:id="rId16"/>
    <p:sldId id="322" r:id="rId17"/>
    <p:sldId id="354" r:id="rId18"/>
    <p:sldId id="754" r:id="rId19"/>
    <p:sldId id="323" r:id="rId20"/>
    <p:sldId id="391" r:id="rId21"/>
    <p:sldId id="356" r:id="rId22"/>
    <p:sldId id="357" r:id="rId23"/>
    <p:sldId id="743" r:id="rId24"/>
    <p:sldId id="755" r:id="rId25"/>
    <p:sldId id="756" r:id="rId26"/>
    <p:sldId id="744" r:id="rId27"/>
    <p:sldId id="745" r:id="rId28"/>
    <p:sldId id="341" r:id="rId29"/>
    <p:sldId id="370" r:id="rId30"/>
    <p:sldId id="389" r:id="rId31"/>
    <p:sldId id="746" r:id="rId32"/>
    <p:sldId id="747" r:id="rId33"/>
    <p:sldId id="748" r:id="rId34"/>
    <p:sldId id="749" r:id="rId35"/>
    <p:sldId id="750" r:id="rId36"/>
    <p:sldId id="751" r:id="rId37"/>
    <p:sldId id="700" r:id="rId38"/>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8C"/>
    <a:srgbClr val="0033CC"/>
    <a:srgbClr val="0000FF"/>
    <a:srgbClr val="0000CC"/>
    <a:srgbClr val="009900"/>
    <a:srgbClr val="333399"/>
    <a:srgbClr val="960000"/>
    <a:srgbClr val="CC00CC"/>
    <a:srgbClr val="CC0000"/>
    <a:srgbClr val="EFA5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26" autoAdjust="0"/>
    <p:restoredTop sz="94193" autoAdjust="0"/>
  </p:normalViewPr>
  <p:slideViewPr>
    <p:cSldViewPr>
      <p:cViewPr varScale="1">
        <p:scale>
          <a:sx n="64" d="100"/>
          <a:sy n="64" d="100"/>
        </p:scale>
        <p:origin x="960" y="78"/>
      </p:cViewPr>
      <p:guideLst>
        <p:guide orient="horz" pos="2160"/>
        <p:guide pos="3840"/>
      </p:guideLst>
    </p:cSldViewPr>
  </p:slideViewPr>
  <p:outlineViewPr>
    <p:cViewPr>
      <p:scale>
        <a:sx n="33" d="100"/>
        <a:sy n="33" d="100"/>
      </p:scale>
      <p:origin x="0" y="-27132"/>
    </p:cViewPr>
  </p:outlineViewPr>
  <p:notesTextViewPr>
    <p:cViewPr>
      <p:scale>
        <a:sx n="100" d="100"/>
        <a:sy n="100" d="100"/>
      </p:scale>
      <p:origin x="0" y="0"/>
    </p:cViewPr>
  </p:notesTextViewPr>
  <p:sorterViewPr>
    <p:cViewPr>
      <p:scale>
        <a:sx n="100" d="100"/>
        <a:sy n="100" d="100"/>
      </p:scale>
      <p:origin x="0" y="-1699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4018B264-9FA4-984F-84B6-9156EB5A2D23}" type="datetimeFigureOut">
              <a:rPr lang="en-US" smtClean="0"/>
              <a:pPr/>
              <a:t>9/23/2025</a:t>
            </a:fld>
            <a:endParaRPr lang="en-US"/>
          </a:p>
        </p:txBody>
      </p:sp>
      <p:sp>
        <p:nvSpPr>
          <p:cNvPr id="4" name="Footer Placeholder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C752D2C8-BDAA-C846-93DE-8024D750DFE1}" type="slidenum">
              <a:rPr lang="en-US" smtClean="0"/>
              <a:pPr/>
              <a:t>‹#›</a:t>
            </a:fld>
            <a:endParaRPr lang="en-US"/>
          </a:p>
        </p:txBody>
      </p:sp>
    </p:spTree>
    <p:extLst>
      <p:ext uri="{BB962C8B-B14F-4D97-AF65-F5344CB8AC3E}">
        <p14:creationId xmlns:p14="http://schemas.microsoft.com/office/powerpoint/2010/main" val="82852914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F2F6FC23-AB5D-4210-BEDE-333FE716D36E}" type="datetimeFigureOut">
              <a:rPr lang="en-US" smtClean="0"/>
              <a:pPr/>
              <a:t>9/23/2025</a:t>
            </a:fld>
            <a:endParaRPr lang="en-US"/>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8FEAD6D3-E3A6-4306-A906-2CB27FEAA95E}" type="slidenum">
              <a:rPr lang="en-US" smtClean="0"/>
              <a:pPr/>
              <a:t>‹#›</a:t>
            </a:fld>
            <a:endParaRPr lang="en-US"/>
          </a:p>
        </p:txBody>
      </p:sp>
    </p:spTree>
    <p:extLst>
      <p:ext uri="{BB962C8B-B14F-4D97-AF65-F5344CB8AC3E}">
        <p14:creationId xmlns:p14="http://schemas.microsoft.com/office/powerpoint/2010/main" val="315670075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B490163-FAFD-47D6-BE4F-B2E71F8CC245}" type="slidenum">
              <a:rPr lang="en-US" smtClean="0"/>
              <a:t>1</a:t>
            </a:fld>
            <a:endParaRPr lang="en-US"/>
          </a:p>
        </p:txBody>
      </p:sp>
    </p:spTree>
    <p:extLst>
      <p:ext uri="{BB962C8B-B14F-4D97-AF65-F5344CB8AC3E}">
        <p14:creationId xmlns:p14="http://schemas.microsoft.com/office/powerpoint/2010/main" val="1412073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F226FD3A-2726-4811-9B8C-C69831BF20BF}" type="slidenum">
              <a:rPr lang="en-US" smtClean="0"/>
              <a:pPr>
                <a:defRPr/>
              </a:pPr>
              <a:t>7</a:t>
            </a:fld>
            <a:endParaRPr lang="en-US"/>
          </a:p>
        </p:txBody>
      </p:sp>
    </p:spTree>
    <p:extLst>
      <p:ext uri="{BB962C8B-B14F-4D97-AF65-F5344CB8AC3E}">
        <p14:creationId xmlns:p14="http://schemas.microsoft.com/office/powerpoint/2010/main" val="41198885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A7FCB0AC-A70F-493E-B5B4-3A4E28B7DB5E}" type="slidenum">
              <a:rPr lang="en-US" smtClean="0"/>
              <a:pPr>
                <a:defRPr/>
              </a:pPr>
              <a:t>8</a:t>
            </a:fld>
            <a:endParaRPr lang="en-US"/>
          </a:p>
        </p:txBody>
      </p:sp>
    </p:spTree>
    <p:extLst>
      <p:ext uri="{BB962C8B-B14F-4D97-AF65-F5344CB8AC3E}">
        <p14:creationId xmlns:p14="http://schemas.microsoft.com/office/powerpoint/2010/main" val="9276129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4B935E1F-CB6B-407D-A538-D5D6660BEBFD}" type="slidenum">
              <a:rPr lang="en-US" smtClean="0"/>
              <a:pPr>
                <a:defRPr/>
              </a:pPr>
              <a:t>9</a:t>
            </a:fld>
            <a:endParaRPr lang="en-US"/>
          </a:p>
        </p:txBody>
      </p:sp>
    </p:spTree>
    <p:extLst>
      <p:ext uri="{BB962C8B-B14F-4D97-AF65-F5344CB8AC3E}">
        <p14:creationId xmlns:p14="http://schemas.microsoft.com/office/powerpoint/2010/main" val="1208978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a:p>
            <a:endParaRPr lang="en-US"/>
          </a:p>
        </p:txBody>
      </p:sp>
    </p:spTree>
    <p:extLst>
      <p:ext uri="{BB962C8B-B14F-4D97-AF65-F5344CB8AC3E}">
        <p14:creationId xmlns:p14="http://schemas.microsoft.com/office/powerpoint/2010/main" val="1688480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Ví</a:t>
            </a:r>
            <a:r>
              <a:rPr lang="en-US" baseline="0" dirty="0"/>
              <a:t> </a:t>
            </a:r>
            <a:r>
              <a:rPr lang="en-US" baseline="0" dirty="0" err="1"/>
              <a:t>dụ</a:t>
            </a:r>
            <a:r>
              <a:rPr lang="en-US" baseline="0" dirty="0"/>
              <a:t> </a:t>
            </a:r>
            <a:r>
              <a:rPr lang="en-US" baseline="0" dirty="0" err="1"/>
              <a:t>bằng</a:t>
            </a:r>
            <a:r>
              <a:rPr lang="en-US" baseline="0" dirty="0"/>
              <a:t> CODE</a:t>
            </a:r>
            <a:endParaRPr lang="en-US" dirty="0"/>
          </a:p>
        </p:txBody>
      </p:sp>
      <p:sp>
        <p:nvSpPr>
          <p:cNvPr id="4" name="Slide Number Placeholder 3"/>
          <p:cNvSpPr>
            <a:spLocks noGrp="1"/>
          </p:cNvSpPr>
          <p:nvPr>
            <p:ph type="sldNum" sz="quarter" idx="10"/>
          </p:nvPr>
        </p:nvSpPr>
        <p:spPr/>
        <p:txBody>
          <a:bodyPr/>
          <a:lstStyle/>
          <a:p>
            <a:pPr>
              <a:defRPr/>
            </a:pPr>
            <a:fld id="{A7FCB0AC-A70F-493E-B5B4-3A4E28B7DB5E}" type="slidenum">
              <a:rPr lang="en-US" smtClean="0"/>
              <a:pPr>
                <a:defRPr/>
              </a:pPr>
              <a:t>17</a:t>
            </a:fld>
            <a:endParaRPr lang="en-US"/>
          </a:p>
        </p:txBody>
      </p:sp>
    </p:spTree>
    <p:extLst>
      <p:ext uri="{BB962C8B-B14F-4D97-AF65-F5344CB8AC3E}">
        <p14:creationId xmlns:p14="http://schemas.microsoft.com/office/powerpoint/2010/main" val="34624252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A4A1C-5A1C-B064-1FE8-4489E2B41F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139422-9D43-67AA-9EF9-89C7C1B3F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49C367-77D0-9736-5268-2592BFFB0204}"/>
              </a:ext>
            </a:extLst>
          </p:cNvPr>
          <p:cNvSpPr>
            <a:spLocks noGrp="1"/>
          </p:cNvSpPr>
          <p:nvPr>
            <p:ph type="body" idx="1"/>
          </p:nvPr>
        </p:nvSpPr>
        <p:spPr/>
        <p:txBody>
          <a:bodyPr/>
          <a:lstStyle/>
          <a:p>
            <a:r>
              <a:rPr lang="en-US" dirty="0" err="1"/>
              <a:t>Ví</a:t>
            </a:r>
            <a:r>
              <a:rPr lang="en-US" baseline="0" dirty="0"/>
              <a:t> </a:t>
            </a:r>
            <a:r>
              <a:rPr lang="en-US" baseline="0" dirty="0" err="1"/>
              <a:t>dụ</a:t>
            </a:r>
            <a:r>
              <a:rPr lang="en-US" baseline="0" dirty="0"/>
              <a:t> </a:t>
            </a:r>
            <a:r>
              <a:rPr lang="en-US" baseline="0" dirty="0" err="1"/>
              <a:t>bằng</a:t>
            </a:r>
            <a:r>
              <a:rPr lang="en-US" baseline="0" dirty="0"/>
              <a:t> CODE</a:t>
            </a:r>
            <a:endParaRPr lang="en-US" dirty="0"/>
          </a:p>
        </p:txBody>
      </p:sp>
      <p:sp>
        <p:nvSpPr>
          <p:cNvPr id="4" name="Slide Number Placeholder 3">
            <a:extLst>
              <a:ext uri="{FF2B5EF4-FFF2-40B4-BE49-F238E27FC236}">
                <a16:creationId xmlns:a16="http://schemas.microsoft.com/office/drawing/2014/main" id="{1B3B759D-8B61-857F-5502-60226AA50761}"/>
              </a:ext>
            </a:extLst>
          </p:cNvPr>
          <p:cNvSpPr>
            <a:spLocks noGrp="1"/>
          </p:cNvSpPr>
          <p:nvPr>
            <p:ph type="sldNum" sz="quarter" idx="10"/>
          </p:nvPr>
        </p:nvSpPr>
        <p:spPr/>
        <p:txBody>
          <a:bodyPr/>
          <a:lstStyle/>
          <a:p>
            <a:pPr>
              <a:defRPr/>
            </a:pPr>
            <a:fld id="{A7FCB0AC-A70F-493E-B5B4-3A4E28B7DB5E}" type="slidenum">
              <a:rPr lang="en-US" smtClean="0"/>
              <a:pPr>
                <a:defRPr/>
              </a:pPr>
              <a:t>18</a:t>
            </a:fld>
            <a:endParaRPr lang="en-US"/>
          </a:p>
        </p:txBody>
      </p:sp>
    </p:spTree>
    <p:extLst>
      <p:ext uri="{BB962C8B-B14F-4D97-AF65-F5344CB8AC3E}">
        <p14:creationId xmlns:p14="http://schemas.microsoft.com/office/powerpoint/2010/main" val="6708868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a:buFontTx/>
              <a:buNone/>
            </a:pPr>
            <a:endParaRPr lang="en-US" dirty="0"/>
          </a:p>
          <a:p>
            <a:endParaRPr lang="en-US" dirty="0"/>
          </a:p>
          <a:p>
            <a:r>
              <a:rPr lang="en-US" dirty="0"/>
              <a:t>- </a:t>
            </a:r>
            <a:r>
              <a:rPr lang="en-US" dirty="0" err="1"/>
              <a:t>Kiểm</a:t>
            </a:r>
            <a:r>
              <a:rPr lang="en-US" baseline="0" dirty="0"/>
              <a:t> </a:t>
            </a:r>
            <a:r>
              <a:rPr lang="en-US" baseline="0" dirty="0" err="1"/>
              <a:t>tra</a:t>
            </a:r>
            <a:r>
              <a:rPr lang="en-US" baseline="0" dirty="0"/>
              <a:t> </a:t>
            </a:r>
            <a:r>
              <a:rPr lang="en-US" baseline="0" dirty="0" err="1"/>
              <a:t>cuối</a:t>
            </a:r>
            <a:r>
              <a:rPr lang="en-US" baseline="0" dirty="0"/>
              <a:t> </a:t>
            </a:r>
            <a:r>
              <a:rPr lang="en-US" baseline="0" dirty="0" err="1"/>
              <a:t>kỳ</a:t>
            </a:r>
            <a:r>
              <a:rPr lang="en-US" baseline="0" dirty="0"/>
              <a:t>: </a:t>
            </a:r>
            <a:r>
              <a:rPr lang="en-US" baseline="0" dirty="0" err="1"/>
              <a:t>nếu</a:t>
            </a:r>
            <a:r>
              <a:rPr lang="en-US" baseline="0" dirty="0"/>
              <a:t> </a:t>
            </a:r>
            <a:r>
              <a:rPr lang="en-US" baseline="0" dirty="0" err="1"/>
              <a:t>viết</a:t>
            </a:r>
            <a:r>
              <a:rPr lang="en-US" baseline="0" dirty="0"/>
              <a:t> code </a:t>
            </a:r>
            <a:r>
              <a:rPr lang="en-US" baseline="0" dirty="0" err="1"/>
              <a:t>sai</a:t>
            </a:r>
            <a:r>
              <a:rPr lang="en-US" baseline="0" dirty="0"/>
              <a:t>, </a:t>
            </a:r>
            <a:r>
              <a:rPr lang="en-US" baseline="0" dirty="0" err="1"/>
              <a:t>có</a:t>
            </a:r>
            <a:r>
              <a:rPr lang="en-US" baseline="0" dirty="0"/>
              <a:t> </a:t>
            </a:r>
            <a:r>
              <a:rPr lang="en-US" baseline="0" dirty="0" err="1"/>
              <a:t>thể</a:t>
            </a:r>
            <a:r>
              <a:rPr lang="en-US" baseline="0" dirty="0"/>
              <a:t> </a:t>
            </a:r>
            <a:r>
              <a:rPr lang="en-US" baseline="0" dirty="0" err="1"/>
              <a:t>dùng</a:t>
            </a:r>
            <a:r>
              <a:rPr lang="en-US" baseline="0" dirty="0"/>
              <a:t> </a:t>
            </a:r>
            <a:r>
              <a:rPr lang="en-US" baseline="0" dirty="0" err="1"/>
              <a:t>chú</a:t>
            </a:r>
            <a:r>
              <a:rPr lang="en-US" baseline="0" dirty="0"/>
              <a:t> </a:t>
            </a:r>
            <a:r>
              <a:rPr lang="en-US" baseline="0" dirty="0" err="1"/>
              <a:t>thích</a:t>
            </a:r>
            <a:r>
              <a:rPr lang="en-US" baseline="0" dirty="0"/>
              <a:t> </a:t>
            </a:r>
            <a:r>
              <a:rPr lang="en-US" baseline="0" dirty="0" err="1"/>
              <a:t>để</a:t>
            </a:r>
            <a:r>
              <a:rPr lang="en-US" baseline="0" dirty="0"/>
              <a:t> </a:t>
            </a:r>
            <a:r>
              <a:rPr lang="en-US" baseline="0" dirty="0" err="1"/>
              <a:t>loại</a:t>
            </a:r>
            <a:r>
              <a:rPr lang="en-US" baseline="0" dirty="0"/>
              <a:t> </a:t>
            </a:r>
            <a:r>
              <a:rPr lang="en-US" baseline="0" dirty="0" err="1"/>
              <a:t>bỏ</a:t>
            </a:r>
            <a:r>
              <a:rPr lang="en-US" baseline="0" dirty="0"/>
              <a:t>, </a:t>
            </a:r>
            <a:r>
              <a:rPr lang="en-US" baseline="0" dirty="0" err="1"/>
              <a:t>không</a:t>
            </a:r>
            <a:r>
              <a:rPr lang="en-US" baseline="0" dirty="0"/>
              <a:t> </a:t>
            </a:r>
            <a:r>
              <a:rPr lang="en-US" baseline="0" dirty="0" err="1"/>
              <a:t>phải</a:t>
            </a:r>
            <a:r>
              <a:rPr lang="en-US" baseline="0" dirty="0"/>
              <a:t> </a:t>
            </a:r>
            <a:r>
              <a:rPr lang="en-US" baseline="0" dirty="0" err="1"/>
              <a:t>gạch</a:t>
            </a:r>
            <a:r>
              <a:rPr lang="en-US" baseline="0" dirty="0"/>
              <a:t> </a:t>
            </a:r>
            <a:r>
              <a:rPr lang="en-US" baseline="0" dirty="0" err="1"/>
              <a:t>xóa</a:t>
            </a:r>
            <a:endParaRPr lang="en-US" dirty="0"/>
          </a:p>
          <a:p>
            <a:endParaRPr lang="en-US" dirty="0"/>
          </a:p>
          <a:p>
            <a:r>
              <a:rPr lang="en-US" dirty="0" err="1"/>
              <a:t>Ví</a:t>
            </a:r>
            <a:r>
              <a:rPr lang="en-US" baseline="0" dirty="0"/>
              <a:t> </a:t>
            </a:r>
            <a:r>
              <a:rPr lang="en-US" baseline="0" dirty="0" err="1"/>
              <a:t>dụ</a:t>
            </a:r>
            <a:r>
              <a:rPr lang="en-US" baseline="0" dirty="0"/>
              <a:t> </a:t>
            </a:r>
            <a:r>
              <a:rPr lang="en-US" baseline="0" dirty="0" err="1"/>
              <a:t>bằng</a:t>
            </a:r>
            <a:r>
              <a:rPr lang="en-US" baseline="0" dirty="0"/>
              <a:t> CODE</a:t>
            </a:r>
            <a:endParaRPr lang="en-US" dirty="0"/>
          </a:p>
        </p:txBody>
      </p:sp>
    </p:spTree>
    <p:extLst>
      <p:ext uri="{BB962C8B-B14F-4D97-AF65-F5344CB8AC3E}">
        <p14:creationId xmlns:p14="http://schemas.microsoft.com/office/powerpoint/2010/main" val="2180998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2:notes"/>
          <p:cNvSpPr txBox="1">
            <a:spLocks noGrp="1"/>
          </p:cNvSpPr>
          <p:nvPr>
            <p:ph type="body" idx="1"/>
          </p:nvPr>
        </p:nvSpPr>
        <p:spPr>
          <a:xfrm>
            <a:off x="708661" y="4445953"/>
            <a:ext cx="5669280" cy="4211955"/>
          </a:xfrm>
          <a:prstGeom prst="rect">
            <a:avLst/>
          </a:prstGeom>
        </p:spPr>
        <p:txBody>
          <a:bodyPr spcFirstLastPara="1" wrap="square" lIns="95050" tIns="47525" rIns="95050" bIns="47525" anchor="t" anchorCtr="0">
            <a:noAutofit/>
          </a:bodyPr>
          <a:lstStyle/>
          <a:p>
            <a:pPr marL="0" lvl="0" indent="0" algn="l" rtl="0">
              <a:spcBef>
                <a:spcPts val="0"/>
              </a:spcBef>
              <a:spcAft>
                <a:spcPts val="0"/>
              </a:spcAft>
              <a:buNone/>
            </a:pPr>
            <a:endParaRPr dirty="0"/>
          </a:p>
        </p:txBody>
      </p:sp>
      <p:sp>
        <p:nvSpPr>
          <p:cNvPr id="119" name="Google Shape;119;p2:notes"/>
          <p:cNvSpPr>
            <a:spLocks noGrp="1" noRot="1" noChangeAspect="1"/>
          </p:cNvSpPr>
          <p:nvPr>
            <p:ph type="sldImg" idx="2"/>
          </p:nvPr>
        </p:nvSpPr>
        <p:spPr>
          <a:xfrm>
            <a:off x="422275" y="701675"/>
            <a:ext cx="6242050" cy="35115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48073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lvl1pPr>
              <a:defRPr>
                <a:solidFill>
                  <a:schemeClr val="tx2"/>
                </a:solidFill>
              </a:defRPr>
            </a:lvl1p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38770A1-C9A9-9B4F-823C-AD76C6100878}" type="datetime1">
              <a:rPr lang="en-US" smtClean="0"/>
              <a:pPr/>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3379D-D487-4446-85FC-E9ED5B8B80F6}" type="slidenum">
              <a:rPr lang="en-US" smtClean="0"/>
              <a:pPr/>
              <a:t>‹#›</a:t>
            </a:fld>
            <a:endParaRPr lang="en-US"/>
          </a:p>
        </p:txBody>
      </p:sp>
      <p:pic>
        <p:nvPicPr>
          <p:cNvPr id="7" name="Picture 6">
            <a:extLst>
              <a:ext uri="{FF2B5EF4-FFF2-40B4-BE49-F238E27FC236}">
                <a16:creationId xmlns:a16="http://schemas.microsoft.com/office/drawing/2014/main" id="{72457841-1793-8926-AE58-11C5CDC2A94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38906" y="5938"/>
            <a:ext cx="685800" cy="6858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749" y="5937"/>
            <a:ext cx="12100957" cy="685801"/>
          </a:xfrm>
        </p:spPr>
        <p:txBody>
          <a:bodyPr>
            <a:normAutofit/>
          </a:bodyPr>
          <a:lstStyle>
            <a:lvl1pPr>
              <a:defRPr sz="3200" b="1">
                <a:solidFill>
                  <a:schemeClr val="bg1"/>
                </a:solidFill>
              </a:defRPr>
            </a:lvl1pPr>
          </a:lstStyle>
          <a:p>
            <a:r>
              <a:rPr lang="en-US"/>
              <a:t>Click to edit Master title style</a:t>
            </a:r>
          </a:p>
        </p:txBody>
      </p:sp>
      <p:sp>
        <p:nvSpPr>
          <p:cNvPr id="3" name="Content Placeholder 2"/>
          <p:cNvSpPr>
            <a:spLocks noGrp="1"/>
          </p:cNvSpPr>
          <p:nvPr>
            <p:ph idx="1"/>
          </p:nvPr>
        </p:nvSpPr>
        <p:spPr>
          <a:xfrm>
            <a:off x="304800" y="850077"/>
            <a:ext cx="11582400" cy="5276088"/>
          </a:xfrm>
        </p:spPr>
        <p:txBody>
          <a:bodyPr/>
          <a:lstStyle>
            <a:lvl1pPr>
              <a:defRPr>
                <a:solidFill>
                  <a:schemeClr val="tx2"/>
                </a:solidFill>
                <a:latin typeface="Arial" panose="020B0604020202020204" pitchFamily="34" charset="0"/>
                <a:cs typeface="Arial" panose="020B0604020202020204" pitchFamily="34" charset="0"/>
              </a:defRPr>
            </a:lvl1pPr>
            <a:lvl2pPr>
              <a:defRPr b="1" i="0">
                <a:solidFill>
                  <a:schemeClr val="tx2"/>
                </a:solidFill>
                <a:latin typeface="Arial" panose="020B0604020202020204" pitchFamily="34" charset="0"/>
                <a:cs typeface="Arial" panose="020B0604020202020204" pitchFamily="34" charset="0"/>
              </a:defRPr>
            </a:lvl2pPr>
            <a:lvl3pPr>
              <a:defRPr i="0">
                <a:solidFill>
                  <a:schemeClr val="tx2"/>
                </a:solidFill>
                <a:latin typeface="Arial" panose="020B0604020202020204" pitchFamily="34" charset="0"/>
                <a:cs typeface="Arial" panose="020B0604020202020204" pitchFamily="34" charset="0"/>
              </a:defRPr>
            </a:lvl3pPr>
            <a:lvl4pPr>
              <a:defRPr>
                <a:solidFill>
                  <a:schemeClr val="tx2"/>
                </a:solidFill>
                <a:latin typeface="Arial" panose="020B0604020202020204" pitchFamily="34" charset="0"/>
                <a:cs typeface="Arial" panose="020B0604020202020204" pitchFamily="34" charset="0"/>
              </a:defRPr>
            </a:lvl4pPr>
            <a:lvl5pPr>
              <a:defRPr>
                <a:solidFill>
                  <a:schemeClr val="tx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4070C66-0A23-5A4D-B4A8-E46FF5C73983}" type="datetime1">
              <a:rPr lang="en-US" smtClean="0"/>
              <a:pPr/>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144000" y="6492074"/>
            <a:ext cx="2844800" cy="365125"/>
          </a:xfrm>
        </p:spPr>
        <p:txBody>
          <a:bodyPr/>
          <a:lstStyle>
            <a:lvl1pPr>
              <a:defRPr sz="1800" b="1">
                <a:solidFill>
                  <a:schemeClr val="tx1"/>
                </a:solidFill>
              </a:defRPr>
            </a:lvl1pPr>
          </a:lstStyle>
          <a:p>
            <a:fld id="{8C13379D-D487-4446-85FC-E9ED5B8B80F6}" type="slidenum">
              <a:rPr lang="en-US" smtClean="0"/>
              <a:pPr/>
              <a:t>‹#›</a:t>
            </a:fld>
            <a:r>
              <a:rPr lang="en-US"/>
              <a:t>/</a:t>
            </a:r>
          </a:p>
        </p:txBody>
      </p:sp>
      <p:pic>
        <p:nvPicPr>
          <p:cNvPr id="7" name="Picture 6">
            <a:extLst>
              <a:ext uri="{FF2B5EF4-FFF2-40B4-BE49-F238E27FC236}">
                <a16:creationId xmlns:a16="http://schemas.microsoft.com/office/drawing/2014/main" id="{B615DFF6-97AA-985B-6B41-16E83E28411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38906" y="5938"/>
            <a:ext cx="685800" cy="685800"/>
          </a:xfrm>
          <a:prstGeom prst="rect">
            <a:avLst/>
          </a:prstGeom>
        </p:spPr>
      </p:pic>
      <p:pic>
        <p:nvPicPr>
          <p:cNvPr id="8" name="Picture 7">
            <a:extLst>
              <a:ext uri="{FF2B5EF4-FFF2-40B4-BE49-F238E27FC236}">
                <a16:creationId xmlns:a16="http://schemas.microsoft.com/office/drawing/2014/main" id="{0897A6F5-BE09-624F-C35B-F66ABE8B6F3D}"/>
              </a:ext>
            </a:extLst>
          </p:cNvPr>
          <p:cNvPicPr>
            <a:picLocks noChangeAspect="1"/>
          </p:cNvPicPr>
          <p:nvPr userDrawn="1"/>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562600"/>
            <a:ext cx="12192000" cy="1295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75706" y="2901147"/>
            <a:ext cx="10363200" cy="1362075"/>
          </a:xfrm>
        </p:spPr>
        <p:txBody>
          <a:bodyPr anchor="t"/>
          <a:lstStyle>
            <a:lvl1pPr algn="l">
              <a:defRPr sz="4000" b="1" cap="all">
                <a:solidFill>
                  <a:schemeClr val="tx2"/>
                </a:solidFill>
              </a:defRPr>
            </a:lvl1pPr>
          </a:lstStyle>
          <a:p>
            <a:r>
              <a:rPr lang="en-US"/>
              <a:t>Click to edit Master title style</a:t>
            </a:r>
          </a:p>
        </p:txBody>
      </p:sp>
      <p:sp>
        <p:nvSpPr>
          <p:cNvPr id="3" name="Text Placeholder 2"/>
          <p:cNvSpPr>
            <a:spLocks noGrp="1"/>
          </p:cNvSpPr>
          <p:nvPr>
            <p:ph type="body" idx="1"/>
          </p:nvPr>
        </p:nvSpPr>
        <p:spPr>
          <a:xfrm>
            <a:off x="1075706" y="1288247"/>
            <a:ext cx="10363200" cy="1500187"/>
          </a:xfrm>
        </p:spPr>
        <p:txBody>
          <a:bodyPr anchor="b"/>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966216-CB93-3A4A-8490-3C593237FAC7}" type="datetime1">
              <a:rPr lang="en-US" smtClean="0"/>
              <a:pPr/>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3379D-D487-4446-85FC-E9ED5B8B80F6}" type="slidenum">
              <a:rPr lang="en-US" smtClean="0"/>
              <a:pPr/>
              <a:t>‹#›</a:t>
            </a:fld>
            <a:endParaRPr lang="en-US"/>
          </a:p>
        </p:txBody>
      </p:sp>
      <p:pic>
        <p:nvPicPr>
          <p:cNvPr id="7" name="Picture 6">
            <a:extLst>
              <a:ext uri="{FF2B5EF4-FFF2-40B4-BE49-F238E27FC236}">
                <a16:creationId xmlns:a16="http://schemas.microsoft.com/office/drawing/2014/main" id="{37304306-937C-CDBE-4A3E-E97DEDED3B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38906" y="5938"/>
            <a:ext cx="685800" cy="685800"/>
          </a:xfrm>
          <a:prstGeom prst="rect">
            <a:avLst/>
          </a:prstGeom>
        </p:spPr>
      </p:pic>
      <p:pic>
        <p:nvPicPr>
          <p:cNvPr id="8" name="Picture 7">
            <a:extLst>
              <a:ext uri="{FF2B5EF4-FFF2-40B4-BE49-F238E27FC236}">
                <a16:creationId xmlns:a16="http://schemas.microsoft.com/office/drawing/2014/main" id="{99275999-5996-491A-6AF8-9CC3D04320FA}"/>
              </a:ext>
            </a:extLst>
          </p:cNvPr>
          <p:cNvPicPr>
            <a:picLocks noChangeAspect="1"/>
          </p:cNvPicPr>
          <p:nvPr userDrawn="1"/>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562600"/>
            <a:ext cx="12192000" cy="1295400"/>
          </a:xfrm>
          <a:prstGeom prst="rect">
            <a:avLst/>
          </a:prstGeom>
        </p:spPr>
      </p:pic>
      <p:sp>
        <p:nvSpPr>
          <p:cNvPr id="9" name="Title 1">
            <a:extLst>
              <a:ext uri="{FF2B5EF4-FFF2-40B4-BE49-F238E27FC236}">
                <a16:creationId xmlns:a16="http://schemas.microsoft.com/office/drawing/2014/main" id="{18E13D47-CF53-443A-E499-F3ED12C2CDE8}"/>
              </a:ext>
            </a:extLst>
          </p:cNvPr>
          <p:cNvSpPr txBox="1">
            <a:spLocks/>
          </p:cNvSpPr>
          <p:nvPr userDrawn="1"/>
        </p:nvSpPr>
        <p:spPr>
          <a:xfrm>
            <a:off x="23749" y="5937"/>
            <a:ext cx="12100957" cy="6858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200" b="1" kern="1200">
                <a:solidFill>
                  <a:schemeClr val="bg1"/>
                </a:solidFill>
                <a:latin typeface="Myriad Pro"/>
                <a:ea typeface="+mj-ea"/>
                <a:cs typeface="Myriad Pro"/>
              </a:defRPr>
            </a:lvl1pPr>
          </a:lstStyle>
          <a:p>
            <a:r>
              <a:rPr lang="en-US"/>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94" y="0"/>
            <a:ext cx="11515106" cy="691737"/>
          </a:xfrm>
        </p:spPr>
        <p:txBody>
          <a:bodyPr>
            <a:noAutofit/>
          </a:bodyPr>
          <a:lstStyle>
            <a:lvl1pPr>
              <a:defRPr sz="3600" b="1">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609600" y="990601"/>
            <a:ext cx="5384800" cy="5135564"/>
          </a:xfrm>
        </p:spPr>
        <p:txBody>
          <a:bodyPr/>
          <a:lstStyle>
            <a:lvl1pPr>
              <a:defRPr sz="2800">
                <a:solidFill>
                  <a:schemeClr val="tx2"/>
                </a:solidFill>
              </a:defRPr>
            </a:lvl1pPr>
            <a:lvl2pPr>
              <a:defRPr sz="2400">
                <a:solidFill>
                  <a:schemeClr val="tx2"/>
                </a:solidFill>
              </a:defRPr>
            </a:lvl2pPr>
            <a:lvl3pPr>
              <a:defRPr sz="2000">
                <a:solidFill>
                  <a:schemeClr val="tx2"/>
                </a:solidFill>
              </a:defRPr>
            </a:lvl3pPr>
            <a:lvl4pPr>
              <a:defRPr sz="1800">
                <a:solidFill>
                  <a:schemeClr val="tx2"/>
                </a:solidFill>
              </a:defRPr>
            </a:lvl4pPr>
            <a:lvl5pPr>
              <a:defRPr sz="1800">
                <a:solidFill>
                  <a:schemeClr val="tx2"/>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90601"/>
            <a:ext cx="5384800" cy="5135564"/>
          </a:xfrm>
        </p:spPr>
        <p:txBody>
          <a:bodyPr/>
          <a:lstStyle>
            <a:lvl1pPr>
              <a:defRPr sz="2800">
                <a:solidFill>
                  <a:schemeClr val="tx2"/>
                </a:solidFill>
              </a:defRPr>
            </a:lvl1pPr>
            <a:lvl2pPr>
              <a:defRPr sz="2400">
                <a:solidFill>
                  <a:schemeClr val="tx2"/>
                </a:solidFill>
              </a:defRPr>
            </a:lvl2pPr>
            <a:lvl3pPr>
              <a:defRPr sz="2000">
                <a:solidFill>
                  <a:schemeClr val="tx2"/>
                </a:solidFill>
              </a:defRPr>
            </a:lvl3pPr>
            <a:lvl4pPr>
              <a:defRPr sz="1800">
                <a:solidFill>
                  <a:schemeClr val="tx2"/>
                </a:solidFill>
              </a:defRPr>
            </a:lvl4pPr>
            <a:lvl5pPr>
              <a:defRPr sz="1800">
                <a:solidFill>
                  <a:schemeClr val="tx2"/>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4E0CD7D-5104-8342-8709-D45F5E8213B2}" type="datetime1">
              <a:rPr lang="en-US" smtClean="0"/>
              <a:pPr/>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13379D-D487-4446-85FC-E9ED5B8B80F6}" type="slidenum">
              <a:rPr lang="en-US" smtClean="0"/>
              <a:pPr/>
              <a:t>‹#›</a:t>
            </a:fld>
            <a:endParaRPr lang="en-US"/>
          </a:p>
        </p:txBody>
      </p:sp>
      <p:pic>
        <p:nvPicPr>
          <p:cNvPr id="8" name="Picture 7">
            <a:extLst>
              <a:ext uri="{FF2B5EF4-FFF2-40B4-BE49-F238E27FC236}">
                <a16:creationId xmlns:a16="http://schemas.microsoft.com/office/drawing/2014/main" id="{AE8C2819-0ADB-8EAA-2C28-B0887A662CD7}"/>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562600"/>
            <a:ext cx="12192000" cy="1295400"/>
          </a:xfrm>
          <a:prstGeom prst="rect">
            <a:avLst/>
          </a:prstGeom>
        </p:spPr>
      </p:pic>
      <p:pic>
        <p:nvPicPr>
          <p:cNvPr id="9" name="Picture 8">
            <a:extLst>
              <a:ext uri="{FF2B5EF4-FFF2-40B4-BE49-F238E27FC236}">
                <a16:creationId xmlns:a16="http://schemas.microsoft.com/office/drawing/2014/main" id="{36C86A1F-F7BD-8EE4-588D-4072062EC3D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438906" y="5938"/>
            <a:ext cx="685800" cy="6858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12039600" cy="609600"/>
          </a:xfrm>
        </p:spPr>
        <p:txBody>
          <a:bodyPr>
            <a:noAutofit/>
          </a:bodyPr>
          <a:lstStyle>
            <a:lvl1pPr>
              <a:defRPr sz="3600" b="1">
                <a:solidFill>
                  <a:schemeClr val="bg1"/>
                </a:solidFill>
              </a:defRPr>
            </a:lvl1pPr>
          </a:lstStyle>
          <a:p>
            <a:r>
              <a:rPr lang="en-US"/>
              <a:t>Click to edit Master title style</a:t>
            </a:r>
          </a:p>
        </p:txBody>
      </p:sp>
      <p:sp>
        <p:nvSpPr>
          <p:cNvPr id="3" name="Text Placeholder 2"/>
          <p:cNvSpPr>
            <a:spLocks noGrp="1"/>
          </p:cNvSpPr>
          <p:nvPr>
            <p:ph type="body" idx="1"/>
          </p:nvPr>
        </p:nvSpPr>
        <p:spPr>
          <a:xfrm>
            <a:off x="609600" y="942708"/>
            <a:ext cx="5389033"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1" y="1676400"/>
            <a:ext cx="5389032" cy="4449763"/>
          </a:xfrm>
        </p:spPr>
        <p:txBody>
          <a:bodyPr/>
          <a:lstStyle>
            <a:lvl1pPr>
              <a:defRPr sz="2400">
                <a:solidFill>
                  <a:schemeClr val="tx2"/>
                </a:solidFill>
              </a:defRPr>
            </a:lvl1pPr>
            <a:lvl2pPr>
              <a:defRPr sz="2000">
                <a:solidFill>
                  <a:schemeClr val="tx2"/>
                </a:solidFill>
              </a:defRPr>
            </a:lvl2pPr>
            <a:lvl3pPr>
              <a:defRPr sz="1800">
                <a:solidFill>
                  <a:schemeClr val="tx2"/>
                </a:solidFill>
              </a:defRPr>
            </a:lvl3pPr>
            <a:lvl4pPr>
              <a:defRPr sz="1600">
                <a:solidFill>
                  <a:schemeClr val="tx2"/>
                </a:solidFill>
              </a:defRPr>
            </a:lvl4pPr>
            <a:lvl5pPr>
              <a:defRPr sz="1600">
                <a:solidFill>
                  <a:schemeClr val="tx2"/>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942708"/>
            <a:ext cx="5389033"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1676400"/>
            <a:ext cx="5389033" cy="4449763"/>
          </a:xfrm>
        </p:spPr>
        <p:txBody>
          <a:bodyPr/>
          <a:lstStyle>
            <a:lvl1pPr>
              <a:defRPr sz="2400">
                <a:solidFill>
                  <a:schemeClr val="tx2"/>
                </a:solidFill>
              </a:defRPr>
            </a:lvl1pPr>
            <a:lvl2pPr>
              <a:defRPr sz="2000">
                <a:solidFill>
                  <a:schemeClr val="tx2"/>
                </a:solidFill>
              </a:defRPr>
            </a:lvl2pPr>
            <a:lvl3pPr>
              <a:defRPr sz="1800">
                <a:solidFill>
                  <a:schemeClr val="tx2"/>
                </a:solidFill>
              </a:defRPr>
            </a:lvl3pPr>
            <a:lvl4pPr>
              <a:defRPr sz="1600">
                <a:solidFill>
                  <a:schemeClr val="tx2"/>
                </a:solidFill>
              </a:defRPr>
            </a:lvl4pPr>
            <a:lvl5pPr>
              <a:defRPr sz="1600">
                <a:solidFill>
                  <a:schemeClr val="tx2"/>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1EA64B0-EADB-ED4D-937B-09694FC290C8}" type="datetime1">
              <a:rPr lang="en-US" smtClean="0"/>
              <a:pPr/>
              <a:t>9/23/2025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13379D-D487-4446-85FC-E9ED5B8B80F6}" type="slidenum">
              <a:rPr lang="en-US" smtClean="0"/>
              <a:pPr/>
              <a:t>‹#›</a:t>
            </a:fld>
            <a:endParaRPr lang="en-US"/>
          </a:p>
        </p:txBody>
      </p:sp>
      <p:pic>
        <p:nvPicPr>
          <p:cNvPr id="10" name="Picture 9">
            <a:extLst>
              <a:ext uri="{FF2B5EF4-FFF2-40B4-BE49-F238E27FC236}">
                <a16:creationId xmlns:a16="http://schemas.microsoft.com/office/drawing/2014/main" id="{45B9545A-B942-C442-2082-4EB4FC4A9C2B}"/>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562600"/>
            <a:ext cx="12192000" cy="1295400"/>
          </a:xfrm>
          <a:prstGeom prst="rect">
            <a:avLst/>
          </a:prstGeom>
        </p:spPr>
      </p:pic>
      <p:pic>
        <p:nvPicPr>
          <p:cNvPr id="11" name="Picture 10">
            <a:extLst>
              <a:ext uri="{FF2B5EF4-FFF2-40B4-BE49-F238E27FC236}">
                <a16:creationId xmlns:a16="http://schemas.microsoft.com/office/drawing/2014/main" id="{C47222FE-74D1-2E73-6677-FC0E8BB8730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438906" y="5938"/>
            <a:ext cx="685800" cy="6858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04800" y="1"/>
            <a:ext cx="10972800" cy="685800"/>
          </a:xfrm>
        </p:spPr>
        <p:txBody>
          <a:bodyPr>
            <a:normAutofit/>
          </a:bodyPr>
          <a:lstStyle>
            <a:lvl1pPr>
              <a:defRPr sz="3600" b="1">
                <a:solidFill>
                  <a:schemeClr val="bg1"/>
                </a:solidFill>
              </a:defRPr>
            </a:lvl1pPr>
          </a:lstStyle>
          <a:p>
            <a:r>
              <a:rPr lang="en-US"/>
              <a:t>Click to edit Master title style</a:t>
            </a:r>
          </a:p>
        </p:txBody>
      </p:sp>
      <p:sp>
        <p:nvSpPr>
          <p:cNvPr id="3" name="Date Placeholder 2"/>
          <p:cNvSpPr>
            <a:spLocks noGrp="1"/>
          </p:cNvSpPr>
          <p:nvPr>
            <p:ph type="dt" sz="half" idx="10"/>
          </p:nvPr>
        </p:nvSpPr>
        <p:spPr/>
        <p:txBody>
          <a:bodyPr/>
          <a:lstStyle/>
          <a:p>
            <a:fld id="{5843DD4B-3EBB-4F42-BA02-0A9B473B300D}" type="datetime1">
              <a:rPr lang="en-US" smtClean="0"/>
              <a:pPr/>
              <a:t>9/23/2025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13379D-D487-4446-85FC-E9ED5B8B80F6}" type="slidenum">
              <a:rPr lang="en-US" smtClean="0"/>
              <a:pPr/>
              <a:t>‹#›</a:t>
            </a:fld>
            <a:endParaRPr lang="en-US"/>
          </a:p>
        </p:txBody>
      </p:sp>
      <p:pic>
        <p:nvPicPr>
          <p:cNvPr id="6" name="Picture 5">
            <a:extLst>
              <a:ext uri="{FF2B5EF4-FFF2-40B4-BE49-F238E27FC236}">
                <a16:creationId xmlns:a16="http://schemas.microsoft.com/office/drawing/2014/main" id="{98DD5D40-6CE1-33A0-38AE-D2640E9C2623}"/>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562600"/>
            <a:ext cx="12192000" cy="1295400"/>
          </a:xfrm>
          <a:prstGeom prst="rect">
            <a:avLst/>
          </a:prstGeom>
        </p:spPr>
      </p:pic>
      <p:pic>
        <p:nvPicPr>
          <p:cNvPr id="7" name="Picture 6">
            <a:extLst>
              <a:ext uri="{FF2B5EF4-FFF2-40B4-BE49-F238E27FC236}">
                <a16:creationId xmlns:a16="http://schemas.microsoft.com/office/drawing/2014/main" id="{2D192FCD-7384-07E9-F417-782B46CD3A3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438906" y="5938"/>
            <a:ext cx="685800" cy="6858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96234A-DA53-0240-940C-12D888539DF1}" type="datetime1">
              <a:rPr lang="en-US" smtClean="0"/>
              <a:pPr/>
              <a:t>9/23/2025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13379D-D487-4446-85FC-E9ED5B8B80F6}" type="slidenum">
              <a:rPr lang="en-US" smtClean="0"/>
              <a:pPr/>
              <a:t>‹#›</a:t>
            </a:fld>
            <a:endParaRPr lang="en-US"/>
          </a:p>
        </p:txBody>
      </p:sp>
      <p:sp>
        <p:nvSpPr>
          <p:cNvPr id="5" name="Title 1">
            <a:extLst>
              <a:ext uri="{FF2B5EF4-FFF2-40B4-BE49-F238E27FC236}">
                <a16:creationId xmlns:a16="http://schemas.microsoft.com/office/drawing/2014/main" id="{AF847286-57A1-4637-9C68-88F40CF1D658}"/>
              </a:ext>
            </a:extLst>
          </p:cNvPr>
          <p:cNvSpPr>
            <a:spLocks noGrp="1"/>
          </p:cNvSpPr>
          <p:nvPr>
            <p:ph type="title"/>
          </p:nvPr>
        </p:nvSpPr>
        <p:spPr>
          <a:xfrm>
            <a:off x="304800" y="168275"/>
            <a:ext cx="10972800" cy="365125"/>
          </a:xfrm>
        </p:spPr>
        <p:txBody>
          <a:bodyPr>
            <a:normAutofit/>
          </a:bodyPr>
          <a:lstStyle>
            <a:lvl1pPr>
              <a:defRPr sz="3600" b="1">
                <a:solidFill>
                  <a:schemeClr val="bg1"/>
                </a:solidFill>
              </a:defRPr>
            </a:lvl1pPr>
          </a:lstStyle>
          <a:p>
            <a:r>
              <a:rPr lang="en-US"/>
              <a:t>Click to edit Master title style</a:t>
            </a:r>
          </a:p>
        </p:txBody>
      </p:sp>
      <p:pic>
        <p:nvPicPr>
          <p:cNvPr id="6" name="Picture 5">
            <a:extLst>
              <a:ext uri="{FF2B5EF4-FFF2-40B4-BE49-F238E27FC236}">
                <a16:creationId xmlns:a16="http://schemas.microsoft.com/office/drawing/2014/main" id="{56E1A6AE-216A-F9D8-7BD5-45A50D7CD76F}"/>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562600"/>
            <a:ext cx="12192000" cy="12954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7717" y="-19050"/>
            <a:ext cx="3807884" cy="781050"/>
          </a:xfrm>
        </p:spPr>
        <p:txBody>
          <a:bodyPr anchor="b"/>
          <a:lstStyle>
            <a:lvl1pPr algn="l">
              <a:defRPr sz="2000" b="1">
                <a:solidFill>
                  <a:srgbClr val="FFFFFF"/>
                </a:solidFill>
              </a:defRPr>
            </a:lvl1pPr>
          </a:lstStyle>
          <a:p>
            <a:r>
              <a:rPr lang="en-US"/>
              <a:t>Click to edit Master title style</a:t>
            </a:r>
          </a:p>
        </p:txBody>
      </p:sp>
      <p:sp>
        <p:nvSpPr>
          <p:cNvPr id="3" name="Content Placeholder 2"/>
          <p:cNvSpPr>
            <a:spLocks noGrp="1"/>
          </p:cNvSpPr>
          <p:nvPr>
            <p:ph idx="1"/>
          </p:nvPr>
        </p:nvSpPr>
        <p:spPr>
          <a:xfrm>
            <a:off x="5376333" y="1143001"/>
            <a:ext cx="6510867" cy="50149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8002D3-A8E9-AD45-B480-859393D80B9E}" type="datetime1">
              <a:rPr lang="en-US" smtClean="0"/>
              <a:pPr/>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13379D-D487-4446-85FC-E9ED5B8B80F6}" type="slidenum">
              <a:rPr lang="en-US" smtClean="0"/>
              <a:pPr/>
              <a:t>‹#›</a:t>
            </a:fld>
            <a:endParaRPr lang="en-US"/>
          </a:p>
        </p:txBody>
      </p:sp>
      <p:pic>
        <p:nvPicPr>
          <p:cNvPr id="8" name="Picture 7">
            <a:extLst>
              <a:ext uri="{FF2B5EF4-FFF2-40B4-BE49-F238E27FC236}">
                <a16:creationId xmlns:a16="http://schemas.microsoft.com/office/drawing/2014/main" id="{F92E0CD8-719D-62DF-3BEA-FCD7889DD4A9}"/>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562600"/>
            <a:ext cx="12192000" cy="129540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1295399"/>
            <a:ext cx="7059083" cy="34321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814692-4249-2841-83F7-5909CC5ABB91}" type="datetime1">
              <a:rPr lang="en-US" smtClean="0"/>
              <a:pPr/>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13379D-D487-4446-85FC-E9ED5B8B80F6}" type="slidenum">
              <a:rPr lang="en-US" smtClean="0"/>
              <a:pPr/>
              <a:t>‹#›</a:t>
            </a:fld>
            <a:endParaRPr lang="en-US"/>
          </a:p>
        </p:txBody>
      </p:sp>
      <p:pic>
        <p:nvPicPr>
          <p:cNvPr id="8" name="Picture 7">
            <a:extLst>
              <a:ext uri="{FF2B5EF4-FFF2-40B4-BE49-F238E27FC236}">
                <a16:creationId xmlns:a16="http://schemas.microsoft.com/office/drawing/2014/main" id="{22A99756-0068-5AC9-BAC5-AB380CEC2071}"/>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562600"/>
            <a:ext cx="12192000" cy="1295400"/>
          </a:xfrm>
          <a:prstGeom prst="rect">
            <a:avLst/>
          </a:prstGeom>
        </p:spPr>
      </p:pic>
      <p:sp>
        <p:nvSpPr>
          <p:cNvPr id="9" name="Title 1">
            <a:extLst>
              <a:ext uri="{FF2B5EF4-FFF2-40B4-BE49-F238E27FC236}">
                <a16:creationId xmlns:a16="http://schemas.microsoft.com/office/drawing/2014/main" id="{FEA48330-2A23-F191-1DEC-EDAB3D15743C}"/>
              </a:ext>
            </a:extLst>
          </p:cNvPr>
          <p:cNvSpPr txBox="1">
            <a:spLocks/>
          </p:cNvSpPr>
          <p:nvPr userDrawn="1"/>
        </p:nvSpPr>
        <p:spPr>
          <a:xfrm>
            <a:off x="23749" y="5937"/>
            <a:ext cx="12100957" cy="6858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200" b="1" kern="1200">
                <a:solidFill>
                  <a:schemeClr val="bg1"/>
                </a:solidFill>
                <a:latin typeface="Myriad Pro"/>
                <a:ea typeface="+mj-ea"/>
                <a:cs typeface="Myriad Pro"/>
              </a:defRPr>
            </a:lvl1pPr>
          </a:lstStyle>
          <a:p>
            <a:r>
              <a:rPr lang="en-US"/>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E2FEB9-758D-5141-9EF9-9346F27AA244}" type="datetime1">
              <a:rPr lang="en-US" smtClean="0"/>
              <a:pPr/>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3379D-D487-4446-85FC-E9ED5B8B80F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702D4ED-77D9-3A4F-9990-24065D9BCD74}" type="datetime1">
              <a:rPr lang="en-US" smtClean="0"/>
              <a:pPr/>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3379D-D487-4446-85FC-E9ED5B8B80F6}"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Content">
  <p:cSld name="Content">
    <p:spTree>
      <p:nvGrpSpPr>
        <p:cNvPr id="1" name="Shape 37"/>
        <p:cNvGrpSpPr/>
        <p:nvPr/>
      </p:nvGrpSpPr>
      <p:grpSpPr>
        <a:xfrm>
          <a:off x="0" y="0"/>
          <a:ext cx="0" cy="0"/>
          <a:chOff x="0" y="0"/>
          <a:chExt cx="0" cy="0"/>
        </a:xfrm>
      </p:grpSpPr>
      <p:sp>
        <p:nvSpPr>
          <p:cNvPr id="38" name="Google Shape;38;p3"/>
          <p:cNvSpPr txBox="1">
            <a:spLocks noGrp="1"/>
          </p:cNvSpPr>
          <p:nvPr>
            <p:ph type="body" idx="1"/>
          </p:nvPr>
        </p:nvSpPr>
        <p:spPr>
          <a:xfrm>
            <a:off x="413004" y="1371602"/>
            <a:ext cx="11365992" cy="1479379"/>
          </a:xfrm>
          <a:prstGeom prst="rect">
            <a:avLst/>
          </a:prstGeom>
          <a:noFill/>
          <a:ln>
            <a:noFill/>
          </a:ln>
        </p:spPr>
        <p:txBody>
          <a:bodyPr spcFirstLastPara="1" wrap="square" lIns="0" tIns="0" rIns="0" bIns="0" anchor="t" anchorCtr="0">
            <a:noAutofit/>
          </a:bodyPr>
          <a:lstStyle>
            <a:lvl1pPr marL="342900" lvl="0" indent="-285750" algn="l">
              <a:lnSpc>
                <a:spcPct val="90000"/>
              </a:lnSpc>
              <a:spcBef>
                <a:spcPts val="900"/>
              </a:spcBef>
              <a:spcAft>
                <a:spcPts val="0"/>
              </a:spcAft>
              <a:buSzPts val="2400"/>
              <a:buChar char="•"/>
              <a:defRPr sz="1800"/>
            </a:lvl1pPr>
            <a:lvl2pPr marL="685800" lvl="1" indent="-266700" algn="l">
              <a:lnSpc>
                <a:spcPct val="90000"/>
              </a:lnSpc>
              <a:spcBef>
                <a:spcPts val="300"/>
              </a:spcBef>
              <a:spcAft>
                <a:spcPts val="0"/>
              </a:spcAft>
              <a:buSzPts val="2000"/>
              <a:buFont typeface="Arial"/>
              <a:buChar char="–"/>
              <a:defRPr/>
            </a:lvl2pPr>
            <a:lvl3pPr marL="1028700" lvl="2" indent="-257175" algn="l">
              <a:lnSpc>
                <a:spcPct val="90000"/>
              </a:lnSpc>
              <a:spcBef>
                <a:spcPts val="300"/>
              </a:spcBef>
              <a:spcAft>
                <a:spcPts val="0"/>
              </a:spcAft>
              <a:buSzPts val="1800"/>
              <a:buFont typeface="Arial"/>
              <a:buChar char="–"/>
              <a:defRPr sz="1350"/>
            </a:lvl3pPr>
            <a:lvl4pPr marL="1371600" lvl="3" indent="-247650" algn="l">
              <a:lnSpc>
                <a:spcPct val="90000"/>
              </a:lnSpc>
              <a:spcBef>
                <a:spcPts val="300"/>
              </a:spcBef>
              <a:spcAft>
                <a:spcPts val="0"/>
              </a:spcAft>
              <a:buSzPts val="1600"/>
              <a:buFont typeface="Arial"/>
              <a:buChar char="–"/>
              <a:defRPr/>
            </a:lvl4pPr>
            <a:lvl5pPr marL="1714500" lvl="4" indent="-238125" algn="l">
              <a:lnSpc>
                <a:spcPct val="90000"/>
              </a:lnSpc>
              <a:spcBef>
                <a:spcPts val="300"/>
              </a:spcBef>
              <a:spcAft>
                <a:spcPts val="0"/>
              </a:spcAft>
              <a:buSzPts val="1400"/>
              <a:buFont typeface="Arial"/>
              <a:buChar char="–"/>
              <a:defRPr sz="1050"/>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39" name="Google Shape;39;p3"/>
          <p:cNvSpPr txBox="1">
            <a:spLocks noGrp="1"/>
          </p:cNvSpPr>
          <p:nvPr>
            <p:ph type="title"/>
          </p:nvPr>
        </p:nvSpPr>
        <p:spPr>
          <a:xfrm>
            <a:off x="413004" y="551311"/>
            <a:ext cx="11365992" cy="366254"/>
          </a:xfrm>
          <a:prstGeom prst="rect">
            <a:avLst/>
          </a:prstGeom>
          <a:noFill/>
          <a:ln>
            <a:noFill/>
          </a:ln>
        </p:spPr>
        <p:txBody>
          <a:bodyPr spcFirstLastPara="1" wrap="square" lIns="0" tIns="0" rIns="0" bIns="0" anchor="ctr" anchorCtr="0">
            <a:noAutofit/>
          </a:bodyPr>
          <a:lstStyle>
            <a:lvl1pPr lvl="0" algn="l">
              <a:lnSpc>
                <a:spcPct val="8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2437486295"/>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C890E4-3AFD-2D45-9C35-1BAFAEA880FF}" type="datetime1">
              <a:rPr lang="en-US" smtClean="0"/>
              <a:pPr/>
              <a:t>9/23/2025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13379D-D487-4446-85FC-E9ED5B8B80F6}" type="slidenum">
              <a:rPr lang="en-US" smtClean="0"/>
              <a:pPr/>
              <a:t>‹#›</a:t>
            </a:fld>
            <a:endParaRPr lang="en-US"/>
          </a:p>
        </p:txBody>
      </p:sp>
      <p:sp>
        <p:nvSpPr>
          <p:cNvPr id="7" name="Rectangle 6">
            <a:extLst>
              <a:ext uri="{FF2B5EF4-FFF2-40B4-BE49-F238E27FC236}">
                <a16:creationId xmlns:a16="http://schemas.microsoft.com/office/drawing/2014/main" id="{915718B3-4096-46AB-8E69-5C7933D2B704}"/>
              </a:ext>
            </a:extLst>
          </p:cNvPr>
          <p:cNvSpPr/>
          <p:nvPr userDrawn="1"/>
        </p:nvSpPr>
        <p:spPr>
          <a:xfrm>
            <a:off x="0" y="0"/>
            <a:ext cx="12192000" cy="6858000"/>
          </a:xfrm>
          <a:prstGeom prst="rect">
            <a:avLst/>
          </a:prstGeom>
          <a:ln>
            <a:solidFill>
              <a:srgbClr val="333399"/>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800" dirty="0"/>
          </a:p>
        </p:txBody>
      </p:sp>
      <p:sp>
        <p:nvSpPr>
          <p:cNvPr id="9" name="Rectangle 8">
            <a:extLst>
              <a:ext uri="{FF2B5EF4-FFF2-40B4-BE49-F238E27FC236}">
                <a16:creationId xmlns:a16="http://schemas.microsoft.com/office/drawing/2014/main" id="{B6EA90B6-F572-4F61-B9AC-390CD1761434}"/>
              </a:ext>
            </a:extLst>
          </p:cNvPr>
          <p:cNvSpPr/>
          <p:nvPr userDrawn="1"/>
        </p:nvSpPr>
        <p:spPr>
          <a:xfrm>
            <a:off x="0" y="0"/>
            <a:ext cx="12192000" cy="6858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4" r:id="rId12"/>
  </p:sldLayoutIdLst>
  <p:hf hdr="0" ftr="0" dt="0"/>
  <p:txStyles>
    <p:titleStyle>
      <a:lvl1pPr algn="ctr" defTabSz="914400" rtl="0" eaLnBrk="1" latinLnBrk="0" hangingPunct="1">
        <a:spcBef>
          <a:spcPct val="0"/>
        </a:spcBef>
        <a:buNone/>
        <a:defRPr sz="4400" kern="1200">
          <a:solidFill>
            <a:schemeClr val="tx1"/>
          </a:solidFill>
          <a:latin typeface="Myriad Pro"/>
          <a:ea typeface="+mj-ea"/>
          <a:cs typeface="Myriad Pro"/>
        </a:defRPr>
      </a:lvl1pPr>
    </p:titleStyle>
    <p:bodyStyle>
      <a:lvl1pPr marL="342900" indent="-342900" algn="l" defTabSz="914400" rtl="0" eaLnBrk="1" latinLnBrk="0" hangingPunct="1">
        <a:spcBef>
          <a:spcPct val="20000"/>
        </a:spcBef>
        <a:buFont typeface="Arial" pitchFamily="34" charset="0"/>
        <a:buChar char="•"/>
        <a:defRPr sz="3200" b="1" kern="1200">
          <a:solidFill>
            <a:schemeClr val="tx1"/>
          </a:solidFill>
          <a:latin typeface="Myriad Pro"/>
          <a:ea typeface="+mn-ea"/>
          <a:cs typeface="Myriad Pro"/>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yriad Pro"/>
          <a:ea typeface="+mn-ea"/>
          <a:cs typeface="Myriad Pro"/>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yriad Pro"/>
          <a:ea typeface="+mn-ea"/>
          <a:cs typeface="Myriad Pro"/>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tutorialspoint.com/compilers/online-c-compiler.htm" TargetMode="External"/><Relationship Id="rId2" Type="http://schemas.openxmlformats.org/officeDocument/2006/relationships/hyperlink" Target="https://www.onlinegdb.com/online_c_compiler"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onlinegdb.com/online_c_compiler"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www.tutorialspoint.com/compile_c_online.php"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t="4023" r="685" b="43134"/>
          <a:stretch/>
        </p:blipFill>
        <p:spPr>
          <a:xfrm>
            <a:off x="0" y="0"/>
            <a:ext cx="12192000" cy="3657600"/>
          </a:xfrm>
          <a:prstGeom prst="rect">
            <a:avLst/>
          </a:prstGeom>
        </p:spPr>
      </p:pic>
      <p:sp>
        <p:nvSpPr>
          <p:cNvPr id="5" name="TextBox 4"/>
          <p:cNvSpPr txBox="1"/>
          <p:nvPr/>
        </p:nvSpPr>
        <p:spPr>
          <a:xfrm>
            <a:off x="457200" y="3687278"/>
            <a:ext cx="9144000" cy="2062103"/>
          </a:xfrm>
          <a:prstGeom prst="rect">
            <a:avLst/>
          </a:prstGeom>
          <a:noFill/>
        </p:spPr>
        <p:txBody>
          <a:bodyPr wrap="square" rtlCol="0">
            <a:spAutoFit/>
          </a:bodyPr>
          <a:lstStyle/>
          <a:p>
            <a:r>
              <a:rPr lang="en-US" sz="3200" b="1" dirty="0">
                <a:solidFill>
                  <a:srgbClr val="161B46"/>
                </a:solidFill>
                <a:latin typeface="Arial" panose="020B0604020202020204" pitchFamily="34" charset="0"/>
                <a:cs typeface="Arial" panose="020B0604020202020204" pitchFamily="34" charset="0"/>
              </a:rPr>
              <a:t>TIN HỌC ĐẠI CƯƠNG</a:t>
            </a:r>
          </a:p>
          <a:p>
            <a:r>
              <a:rPr lang="en-US" sz="3200" b="1" dirty="0" err="1">
                <a:solidFill>
                  <a:schemeClr val="accent2"/>
                </a:solidFill>
                <a:latin typeface="Arial" panose="020B0604020202020204" pitchFamily="34" charset="0"/>
                <a:cs typeface="Arial" panose="020B0604020202020204" pitchFamily="34" charset="0"/>
              </a:rPr>
              <a:t>Chương</a:t>
            </a:r>
            <a:r>
              <a:rPr lang="en-US" sz="3200" b="1" dirty="0">
                <a:solidFill>
                  <a:schemeClr val="accent2"/>
                </a:solidFill>
                <a:latin typeface="Arial" panose="020B0604020202020204" pitchFamily="34" charset="0"/>
                <a:cs typeface="Arial" panose="020B0604020202020204" pitchFamily="34" charset="0"/>
              </a:rPr>
              <a:t> 1. </a:t>
            </a:r>
            <a:r>
              <a:rPr lang="vi-VN" sz="3200" b="1" dirty="0">
                <a:solidFill>
                  <a:schemeClr val="accent2"/>
                </a:solidFill>
                <a:latin typeface="Arial" panose="020B0604020202020204" pitchFamily="34" charset="0"/>
                <a:cs typeface="Arial" panose="020B0604020202020204" pitchFamily="34" charset="0"/>
              </a:rPr>
              <a:t>Cơ bản về ngôn ngữ lập trình C</a:t>
            </a:r>
            <a:br>
              <a:rPr lang="vi-VN" sz="3200" b="1" dirty="0">
                <a:solidFill>
                  <a:schemeClr val="accent2"/>
                </a:solidFill>
                <a:latin typeface="Arial" panose="020B0604020202020204" pitchFamily="34" charset="0"/>
                <a:cs typeface="Arial" panose="020B0604020202020204" pitchFamily="34" charset="0"/>
              </a:rPr>
            </a:br>
            <a:endParaRPr lang="en-US" sz="3200" b="1" dirty="0">
              <a:solidFill>
                <a:schemeClr val="accent2"/>
              </a:solidFill>
              <a:latin typeface="Arial" panose="020B0604020202020204" pitchFamily="34" charset="0"/>
              <a:cs typeface="Arial" panose="020B0604020202020204" pitchFamily="34" charset="0"/>
            </a:endParaRPr>
          </a:p>
          <a:p>
            <a:endParaRPr lang="en-US" sz="3200" b="1" dirty="0">
              <a:solidFill>
                <a:srgbClr val="161B46"/>
              </a:solidFill>
              <a:latin typeface="Arial" panose="020B0604020202020204" pitchFamily="34" charset="0"/>
              <a:cs typeface="Arial" panose="020B0604020202020204" pitchFamily="34" charset="0"/>
            </a:endParaRPr>
          </a:p>
        </p:txBody>
      </p:sp>
      <p:sp>
        <p:nvSpPr>
          <p:cNvPr id="6" name="TextBox 5"/>
          <p:cNvSpPr txBox="1"/>
          <p:nvPr/>
        </p:nvSpPr>
        <p:spPr>
          <a:xfrm>
            <a:off x="5181600" y="5287716"/>
            <a:ext cx="6781800" cy="461665"/>
          </a:xfrm>
          <a:prstGeom prst="rect">
            <a:avLst/>
          </a:prstGeom>
          <a:noFill/>
        </p:spPr>
        <p:txBody>
          <a:bodyPr wrap="square" rtlCol="0">
            <a:spAutoFit/>
          </a:bodyPr>
          <a:lstStyle/>
          <a:p>
            <a:r>
              <a:rPr lang="en-US" sz="2400" dirty="0" err="1">
                <a:latin typeface="Arial" panose="020B0604020202020204" pitchFamily="34" charset="0"/>
                <a:cs typeface="Arial" panose="020B0604020202020204" pitchFamily="34" charset="0"/>
              </a:rPr>
              <a:t>Người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bày</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Khoa </a:t>
            </a:r>
            <a:r>
              <a:rPr lang="en-US" sz="2400" b="1" dirty="0" err="1">
                <a:latin typeface="Arial" panose="020B0604020202020204" pitchFamily="34" charset="0"/>
                <a:cs typeface="Arial" panose="020B0604020202020204" pitchFamily="34" charset="0"/>
              </a:rPr>
              <a:t>Công</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Nghệ</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Thông</a:t>
            </a:r>
            <a:r>
              <a:rPr lang="en-US" sz="2400" b="1" dirty="0">
                <a:latin typeface="Arial" panose="020B0604020202020204" pitchFamily="34" charset="0"/>
                <a:cs typeface="Arial" panose="020B0604020202020204" pitchFamily="34" charset="0"/>
              </a:rPr>
              <a:t> Tin</a:t>
            </a:r>
          </a:p>
        </p:txBody>
      </p:sp>
      <p:sp>
        <p:nvSpPr>
          <p:cNvPr id="2" name="Slide Number Placeholder 1"/>
          <p:cNvSpPr>
            <a:spLocks noGrp="1"/>
          </p:cNvSpPr>
          <p:nvPr>
            <p:ph type="sldNum" sz="quarter" idx="12"/>
          </p:nvPr>
        </p:nvSpPr>
        <p:spPr/>
        <p:txBody>
          <a:bodyPr/>
          <a:lstStyle/>
          <a:p>
            <a:fld id="{A3A973BD-8CE5-47C4-B8E5-573200B24DAB}" type="slidenum">
              <a:rPr lang="en-US" smtClean="0"/>
              <a:t>1</a:t>
            </a:fld>
            <a:endParaRPr lang="en-US"/>
          </a:p>
        </p:txBody>
      </p:sp>
    </p:spTree>
    <p:extLst>
      <p:ext uri="{BB962C8B-B14F-4D97-AF65-F5344CB8AC3E}">
        <p14:creationId xmlns:p14="http://schemas.microsoft.com/office/powerpoint/2010/main" val="850661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4F362-4D66-36FD-8559-A5ADDBB2FC2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15F7547-4DE3-0D0A-4EA3-1D895E6E8256}"/>
              </a:ext>
            </a:extLst>
          </p:cNvPr>
          <p:cNvSpPr>
            <a:spLocks noGrp="1"/>
          </p:cNvSpPr>
          <p:nvPr>
            <p:ph type="title"/>
          </p:nvPr>
        </p:nvSpPr>
        <p:spPr>
          <a:xfrm>
            <a:off x="0" y="-26145"/>
            <a:ext cx="12100957" cy="685801"/>
          </a:xfrm>
        </p:spPr>
        <p:txBody>
          <a:bodyPr>
            <a:normAutofit/>
          </a:bodyPr>
          <a:lstStyle/>
          <a:p>
            <a:r>
              <a:rPr lang="en-US"/>
              <a:t>GIỚI THIỆU HỌC PHẦN</a:t>
            </a:r>
          </a:p>
        </p:txBody>
      </p:sp>
      <p:sp>
        <p:nvSpPr>
          <p:cNvPr id="2" name="Rectangle 4">
            <a:extLst>
              <a:ext uri="{FF2B5EF4-FFF2-40B4-BE49-F238E27FC236}">
                <a16:creationId xmlns:a16="http://schemas.microsoft.com/office/drawing/2014/main" id="{CB8FFBA6-1AEF-19E9-004D-29666C2D3911}"/>
              </a:ext>
            </a:extLst>
          </p:cNvPr>
          <p:cNvSpPr>
            <a:spLocks noChangeArrowheads="1"/>
          </p:cNvSpPr>
          <p:nvPr/>
        </p:nvSpPr>
        <p:spPr bwMode="auto">
          <a:xfrm>
            <a:off x="838200" y="901121"/>
            <a:ext cx="10210800" cy="3455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indent="0" algn="just">
              <a:lnSpc>
                <a:spcPct val="120000"/>
              </a:lnSpc>
              <a:spcAft>
                <a:spcPts val="600"/>
              </a:spcAft>
              <a:buNone/>
            </a:pPr>
            <a:r>
              <a:rPr lang="en-US" sz="2400" b="1" kern="100">
                <a:solidFill>
                  <a:srgbClr val="10338C"/>
                </a:solidFill>
                <a:ea typeface="Century" panose="02040604050505020304" pitchFamily="18" charset="0"/>
                <a:cs typeface="Arial" panose="020B0604020202020204" pitchFamily="34" charset="0"/>
              </a:rPr>
              <a:t>MỤC TIÊU:</a:t>
            </a:r>
          </a:p>
          <a:p>
            <a:pPr marL="685800" algn="just">
              <a:lnSpc>
                <a:spcPct val="120000"/>
              </a:lnSpc>
              <a:spcAft>
                <a:spcPts val="600"/>
              </a:spcAft>
              <a:buFont typeface="+mj-lt"/>
              <a:buAutoNum type="arabicPeriod"/>
            </a:pPr>
            <a:r>
              <a:rPr lang="vi-VN" sz="2400" kern="100">
                <a:solidFill>
                  <a:srgbClr val="10338C"/>
                </a:solidFill>
                <a:ea typeface="Century" panose="02040604050505020304" pitchFamily="18" charset="0"/>
                <a:cs typeface="Arial" panose="020B0604020202020204" pitchFamily="34" charset="0"/>
              </a:rPr>
              <a:t>Nắm được kiến thức căn bản về lập trình và ngôn ngữ lập trình C để tổ chức dữ liệu trong máy tính và cài đặt được các thuật toán căn bản bằng tựa ngôn ngữ C</a:t>
            </a:r>
            <a:endParaRPr lang="en-US" sz="2400" kern="100">
              <a:solidFill>
                <a:srgbClr val="10338C"/>
              </a:solidFill>
              <a:ea typeface="Century" panose="02040604050505020304" pitchFamily="18" charset="0"/>
              <a:cs typeface="Arial" panose="020B0604020202020204" pitchFamily="34" charset="0"/>
            </a:endParaRPr>
          </a:p>
          <a:p>
            <a:pPr marL="685800" algn="just">
              <a:lnSpc>
                <a:spcPct val="120000"/>
              </a:lnSpc>
              <a:spcAft>
                <a:spcPts val="600"/>
              </a:spcAft>
              <a:buFont typeface="+mj-lt"/>
              <a:buAutoNum type="arabicPeriod"/>
            </a:pPr>
            <a:r>
              <a:rPr lang="vi-VN" sz="2400" kern="100">
                <a:solidFill>
                  <a:srgbClr val="10338C"/>
                </a:solidFill>
                <a:ea typeface="Century" panose="02040604050505020304" pitchFamily="18" charset="0"/>
                <a:cs typeface="Arial" panose="020B0604020202020204" pitchFamily="34" charset="0"/>
              </a:rPr>
              <a:t>Nắm bắt được các cấu trúc lập trình cơ bản và có khả năng chương trình hóa các thuật toán, các bài toán cơ bản bằng ngôn ngữ lập trình C</a:t>
            </a:r>
            <a:r>
              <a:rPr lang="en-US" sz="2400" kern="100">
                <a:solidFill>
                  <a:srgbClr val="10338C"/>
                </a:solidFill>
                <a:ea typeface="Century" panose="02040604050505020304" pitchFamily="18" charset="0"/>
                <a:cs typeface="Arial" panose="020B0604020202020204" pitchFamily="34" charset="0"/>
              </a:rPr>
              <a:t>.</a:t>
            </a:r>
          </a:p>
        </p:txBody>
      </p:sp>
    </p:spTree>
    <p:extLst>
      <p:ext uri="{BB962C8B-B14F-4D97-AF65-F5344CB8AC3E}">
        <p14:creationId xmlns:p14="http://schemas.microsoft.com/office/powerpoint/2010/main" val="134662887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EEE5CAEB-AD41-4A5B-B53E-CF95927691D2}"/>
              </a:ext>
            </a:extLst>
          </p:cNvPr>
          <p:cNvSpPr>
            <a:spLocks noGrp="1" noChangeArrowheads="1"/>
          </p:cNvSpPr>
          <p:nvPr>
            <p:ph type="title"/>
          </p:nvPr>
        </p:nvSpPr>
        <p:spPr>
          <a:xfrm>
            <a:off x="838200" y="1143000"/>
            <a:ext cx="10363199" cy="4495800"/>
          </a:xfrm>
        </p:spPr>
        <p:txBody>
          <a:bodyPr>
            <a:noAutofit/>
          </a:bodyPr>
          <a:lstStyle/>
          <a:p>
            <a:pPr algn="l">
              <a:lnSpc>
                <a:spcPct val="130000"/>
              </a:lnSpc>
              <a:spcBef>
                <a:spcPts val="600"/>
              </a:spcBef>
            </a:pPr>
            <a:r>
              <a:rPr lang="en-US" sz="2400" u="sng" kern="100">
                <a:solidFill>
                  <a:srgbClr val="10338C"/>
                </a:solidFill>
                <a:latin typeface="Arial" panose="020B0604020202020204" pitchFamily="34" charset="0"/>
                <a:cs typeface="Arial" panose="020B0604020202020204" pitchFamily="34" charset="0"/>
              </a:rPr>
              <a:t>NỘI DUNG:</a:t>
            </a:r>
            <a:br>
              <a:rPr lang="en-US" sz="2400" u="sng" kern="100">
                <a:solidFill>
                  <a:srgbClr val="10338C"/>
                </a:solidFill>
                <a:latin typeface="Arial" panose="020B0604020202020204" pitchFamily="34" charset="0"/>
                <a:cs typeface="Arial" panose="020B0604020202020204" pitchFamily="34" charset="0"/>
              </a:rPr>
            </a:br>
            <a:r>
              <a:rPr lang="en-US" sz="2400" kern="100">
                <a:solidFill>
                  <a:srgbClr val="10338C"/>
                </a:solidFill>
                <a:latin typeface="Arial" panose="020B0604020202020204" pitchFamily="34" charset="0"/>
                <a:cs typeface="Arial" panose="020B0604020202020204" pitchFamily="34" charset="0"/>
              </a:rPr>
              <a:t>Chương 1. </a:t>
            </a:r>
            <a:r>
              <a:rPr lang="vi-VN" sz="2400" kern="100">
                <a:solidFill>
                  <a:srgbClr val="10338C"/>
                </a:solidFill>
                <a:latin typeface="Arial" panose="020B0604020202020204" pitchFamily="34" charset="0"/>
                <a:cs typeface="Arial" panose="020B0604020202020204" pitchFamily="34" charset="0"/>
              </a:rPr>
              <a:t>Cơ bản về ngôn ngữ lập trình C</a:t>
            </a:r>
            <a:br>
              <a:rPr lang="en-US" sz="2400" kern="100">
                <a:solidFill>
                  <a:srgbClr val="10338C"/>
                </a:solidFill>
                <a:latin typeface="Arial" panose="020B0604020202020204" pitchFamily="34" charset="0"/>
                <a:cs typeface="Arial" panose="020B0604020202020204" pitchFamily="34" charset="0"/>
              </a:rPr>
            </a:br>
            <a:r>
              <a:rPr lang="en-US" sz="2400" kern="100">
                <a:solidFill>
                  <a:srgbClr val="10338C"/>
                </a:solidFill>
                <a:latin typeface="Arial" panose="020B0604020202020204" pitchFamily="34" charset="0"/>
                <a:cs typeface="Arial" panose="020B0604020202020204" pitchFamily="34" charset="0"/>
              </a:rPr>
              <a:t>Chương 2. Các kiểu dữ liệu</a:t>
            </a:r>
            <a:br>
              <a:rPr lang="en-US" sz="2400" kern="100">
                <a:solidFill>
                  <a:srgbClr val="10338C"/>
                </a:solidFill>
                <a:latin typeface="Arial" panose="020B0604020202020204" pitchFamily="34" charset="0"/>
                <a:cs typeface="Arial" panose="020B0604020202020204" pitchFamily="34" charset="0"/>
              </a:rPr>
            </a:br>
            <a:r>
              <a:rPr lang="en-US" sz="2400" kern="100">
                <a:solidFill>
                  <a:srgbClr val="10338C"/>
                </a:solidFill>
                <a:latin typeface="Arial" panose="020B0604020202020204" pitchFamily="34" charset="0"/>
                <a:cs typeface="Arial" panose="020B0604020202020204" pitchFamily="34" charset="0"/>
              </a:rPr>
              <a:t>Chương 3. Các lệnh điều khiển</a:t>
            </a:r>
            <a:br>
              <a:rPr lang="en-US" sz="2400" kern="100">
                <a:solidFill>
                  <a:srgbClr val="10338C"/>
                </a:solidFill>
                <a:latin typeface="Arial" panose="020B0604020202020204" pitchFamily="34" charset="0"/>
                <a:cs typeface="Arial" panose="020B0604020202020204" pitchFamily="34" charset="0"/>
              </a:rPr>
            </a:br>
            <a:r>
              <a:rPr lang="en-US" sz="2400" kern="100">
                <a:solidFill>
                  <a:srgbClr val="10338C"/>
                </a:solidFill>
                <a:latin typeface="Arial" panose="020B0604020202020204" pitchFamily="34" charset="0"/>
                <a:cs typeface="Arial" panose="020B0604020202020204" pitchFamily="34" charset="0"/>
              </a:rPr>
              <a:t>Chương 4. </a:t>
            </a:r>
            <a:r>
              <a:rPr lang="vi-VN" sz="2400" kern="100">
                <a:solidFill>
                  <a:srgbClr val="10338C"/>
                </a:solidFill>
                <a:latin typeface="Arial" panose="020B0604020202020204" pitchFamily="34" charset="0"/>
                <a:cs typeface="Arial" panose="020B0604020202020204" pitchFamily="34" charset="0"/>
              </a:rPr>
              <a:t>Hàm và tổ chức chương trình</a:t>
            </a:r>
            <a:br>
              <a:rPr lang="en-US" sz="2400" kern="100">
                <a:solidFill>
                  <a:srgbClr val="10338C"/>
                </a:solidFill>
                <a:latin typeface="Arial" panose="020B0604020202020204" pitchFamily="34" charset="0"/>
                <a:cs typeface="Arial" panose="020B0604020202020204" pitchFamily="34" charset="0"/>
              </a:rPr>
            </a:br>
            <a:r>
              <a:rPr lang="en-US" sz="2400" kern="100">
                <a:solidFill>
                  <a:srgbClr val="10338C"/>
                </a:solidFill>
                <a:latin typeface="Arial" panose="020B0604020202020204" pitchFamily="34" charset="0"/>
                <a:cs typeface="Arial" panose="020B0604020202020204" pitchFamily="34" charset="0"/>
              </a:rPr>
              <a:t>Chương 5. Cấu trúc</a:t>
            </a:r>
            <a:br>
              <a:rPr lang="en-US" sz="2400" kern="100">
                <a:solidFill>
                  <a:srgbClr val="10338C"/>
                </a:solidFill>
                <a:latin typeface="Arial" panose="020B0604020202020204" pitchFamily="34" charset="0"/>
                <a:cs typeface="Arial" panose="020B0604020202020204" pitchFamily="34" charset="0"/>
              </a:rPr>
            </a:br>
            <a:r>
              <a:rPr lang="en-US" sz="2400" kern="100">
                <a:solidFill>
                  <a:srgbClr val="10338C"/>
                </a:solidFill>
                <a:latin typeface="Arial" panose="020B0604020202020204" pitchFamily="34" charset="0"/>
                <a:cs typeface="Arial" panose="020B0604020202020204" pitchFamily="34" charset="0"/>
              </a:rPr>
              <a:t>Chương 6. Nhập xuất dữ liệu trên tệp</a:t>
            </a:r>
            <a:br>
              <a:rPr lang="en-US" sz="2400" kern="100">
                <a:solidFill>
                  <a:srgbClr val="10338C"/>
                </a:solidFill>
                <a:latin typeface="Arial" panose="020B0604020202020204" pitchFamily="34" charset="0"/>
                <a:cs typeface="Arial" panose="020B0604020202020204" pitchFamily="34" charset="0"/>
              </a:rPr>
            </a:br>
            <a:br>
              <a:rPr lang="en-US" sz="2400" kern="100">
                <a:solidFill>
                  <a:srgbClr val="10338C"/>
                </a:solidFill>
                <a:latin typeface="Arial" panose="020B0604020202020204" pitchFamily="34" charset="0"/>
                <a:cs typeface="Arial" panose="020B0604020202020204" pitchFamily="34" charset="0"/>
              </a:rPr>
            </a:br>
            <a:endParaRPr lang="en-US" sz="2400" kern="100">
              <a:solidFill>
                <a:srgbClr val="10338C"/>
              </a:solidFill>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E345B981-3E01-C5DB-BF32-DCCE917B26FA}"/>
              </a:ext>
            </a:extLst>
          </p:cNvPr>
          <p:cNvSpPr txBox="1">
            <a:spLocks/>
          </p:cNvSpPr>
          <p:nvPr/>
        </p:nvSpPr>
        <p:spPr>
          <a:xfrm>
            <a:off x="0" y="-26145"/>
            <a:ext cx="12100957" cy="6858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200" b="1" kern="1200">
                <a:solidFill>
                  <a:schemeClr val="bg1"/>
                </a:solidFill>
                <a:latin typeface="Myriad Pro"/>
                <a:ea typeface="+mj-ea"/>
                <a:cs typeface="Myriad Pro"/>
              </a:defRPr>
            </a:lvl1pPr>
          </a:lstStyle>
          <a:p>
            <a:r>
              <a:rPr lang="en-US"/>
              <a:t>GIỚI THIỆU HỌC PHẦN</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C13A5-FB36-CACF-6BBB-CF0CA7E60F4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38F8B7B-370C-7E61-23F3-C848E8F8ABA8}"/>
              </a:ext>
            </a:extLst>
          </p:cNvPr>
          <p:cNvSpPr>
            <a:spLocks noGrp="1"/>
          </p:cNvSpPr>
          <p:nvPr>
            <p:ph type="title"/>
          </p:nvPr>
        </p:nvSpPr>
        <p:spPr>
          <a:xfrm>
            <a:off x="0" y="-26145"/>
            <a:ext cx="12100957" cy="685801"/>
          </a:xfrm>
        </p:spPr>
        <p:txBody>
          <a:bodyPr>
            <a:normAutofit/>
          </a:bodyPr>
          <a:lstStyle/>
          <a:p>
            <a:r>
              <a:rPr lang="en-US"/>
              <a:t>GIỚI THIỆU HỌC PHẦN</a:t>
            </a:r>
          </a:p>
        </p:txBody>
      </p:sp>
      <p:sp>
        <p:nvSpPr>
          <p:cNvPr id="5" name="Rectangle 3">
            <a:extLst>
              <a:ext uri="{FF2B5EF4-FFF2-40B4-BE49-F238E27FC236}">
                <a16:creationId xmlns:a16="http://schemas.microsoft.com/office/drawing/2014/main" id="{6C6350DC-6B12-6996-10E7-B2B467BE9B0C}"/>
              </a:ext>
            </a:extLst>
          </p:cNvPr>
          <p:cNvSpPr txBox="1">
            <a:spLocks noChangeArrowheads="1"/>
          </p:cNvSpPr>
          <p:nvPr/>
        </p:nvSpPr>
        <p:spPr>
          <a:xfrm>
            <a:off x="685800" y="897555"/>
            <a:ext cx="9372600" cy="77587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b="1" i="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i="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buFont typeface="Wingdings" panose="05000000000000000000" pitchFamily="2" charset="2"/>
              <a:buChar char="§"/>
            </a:pPr>
            <a:r>
              <a:rPr lang="en-US" altLang="en-US" sz="2000" kern="100">
                <a:solidFill>
                  <a:srgbClr val="10338C"/>
                </a:solidFill>
              </a:rPr>
              <a:t>Số tín chỉ: 2</a:t>
            </a:r>
          </a:p>
          <a:p>
            <a:pPr>
              <a:lnSpc>
                <a:spcPct val="90000"/>
              </a:lnSpc>
              <a:buFont typeface="Wingdings" panose="05000000000000000000" pitchFamily="2" charset="2"/>
              <a:buChar char="§"/>
            </a:pPr>
            <a:r>
              <a:rPr lang="en-US" altLang="en-US" sz="2000" kern="100">
                <a:solidFill>
                  <a:srgbClr val="10338C"/>
                </a:solidFill>
              </a:rPr>
              <a:t>Đánh giá kết quả học tập:</a:t>
            </a:r>
            <a:r>
              <a:rPr lang="en-US" altLang="en-US" sz="2000" b="0"/>
              <a:t>	</a:t>
            </a:r>
          </a:p>
        </p:txBody>
      </p:sp>
      <p:graphicFrame>
        <p:nvGraphicFramePr>
          <p:cNvPr id="2" name="Table 1">
            <a:extLst>
              <a:ext uri="{FF2B5EF4-FFF2-40B4-BE49-F238E27FC236}">
                <a16:creationId xmlns:a16="http://schemas.microsoft.com/office/drawing/2014/main" id="{641417C3-34A8-ED5C-A1CF-A3434D44D984}"/>
              </a:ext>
            </a:extLst>
          </p:cNvPr>
          <p:cNvGraphicFramePr>
            <a:graphicFrameLocks noGrp="1"/>
          </p:cNvGraphicFramePr>
          <p:nvPr>
            <p:extLst>
              <p:ext uri="{D42A27DB-BD31-4B8C-83A1-F6EECF244321}">
                <p14:modId xmlns:p14="http://schemas.microsoft.com/office/powerpoint/2010/main" val="284954190"/>
              </p:ext>
            </p:extLst>
          </p:nvPr>
        </p:nvGraphicFramePr>
        <p:xfrm>
          <a:off x="990600" y="1738726"/>
          <a:ext cx="9906000" cy="4503396"/>
        </p:xfrm>
        <a:graphic>
          <a:graphicData uri="http://schemas.openxmlformats.org/drawingml/2006/table">
            <a:tbl>
              <a:tblPr firstRow="1" firstCol="1" lastRow="1" lastCol="1" bandRow="1" bandCol="1">
                <a:tableStyleId>{5940675A-B579-460E-94D1-54222C63F5DA}</a:tableStyleId>
              </a:tblPr>
              <a:tblGrid>
                <a:gridCol w="1727664">
                  <a:extLst>
                    <a:ext uri="{9D8B030D-6E8A-4147-A177-3AD203B41FA5}">
                      <a16:colId xmlns:a16="http://schemas.microsoft.com/office/drawing/2014/main" val="1933285603"/>
                    </a:ext>
                  </a:extLst>
                </a:gridCol>
                <a:gridCol w="2424907">
                  <a:extLst>
                    <a:ext uri="{9D8B030D-6E8A-4147-A177-3AD203B41FA5}">
                      <a16:colId xmlns:a16="http://schemas.microsoft.com/office/drawing/2014/main" val="234786727"/>
                    </a:ext>
                  </a:extLst>
                </a:gridCol>
                <a:gridCol w="4762829">
                  <a:extLst>
                    <a:ext uri="{9D8B030D-6E8A-4147-A177-3AD203B41FA5}">
                      <a16:colId xmlns:a16="http://schemas.microsoft.com/office/drawing/2014/main" val="1424847260"/>
                    </a:ext>
                  </a:extLst>
                </a:gridCol>
                <a:gridCol w="990600">
                  <a:extLst>
                    <a:ext uri="{9D8B030D-6E8A-4147-A177-3AD203B41FA5}">
                      <a16:colId xmlns:a16="http://schemas.microsoft.com/office/drawing/2014/main" val="3854461409"/>
                    </a:ext>
                  </a:extLst>
                </a:gridCol>
              </a:tblGrid>
              <a:tr h="762000">
                <a:tc>
                  <a:txBody>
                    <a:bodyPr/>
                    <a:lstStyle/>
                    <a:p>
                      <a:pPr algn="ctr">
                        <a:lnSpc>
                          <a:spcPct val="107000"/>
                        </a:lnSpc>
                        <a:buNone/>
                        <a:tabLst>
                          <a:tab pos="2743200" algn="ctr"/>
                          <a:tab pos="5486400" algn="r"/>
                        </a:tabLst>
                      </a:pPr>
                      <a:r>
                        <a:rPr lang="en-US" sz="1600" b="1">
                          <a:solidFill>
                            <a:schemeClr val="tx2"/>
                          </a:solidFill>
                          <a:effectLst/>
                          <a:latin typeface="Arial" panose="020B0604020202020204" pitchFamily="34" charset="0"/>
                          <a:cs typeface="Arial" panose="020B0604020202020204" pitchFamily="34" charset="0"/>
                        </a:rPr>
                        <a:t>Thành phần đánh giá </a:t>
                      </a:r>
                      <a:endParaRPr lang="en-US" sz="1600" b="1">
                        <a:solidFill>
                          <a:schemeClr val="tx2"/>
                        </a:solidFill>
                        <a:effectLst/>
                        <a:latin typeface="Arial" panose="020B0604020202020204" pitchFamily="34" charset="0"/>
                        <a:ea typeface="Century" panose="02040604050505020304" pitchFamily="18" charset="0"/>
                        <a:cs typeface="Arial" panose="020B0604020202020204" pitchFamily="34" charset="0"/>
                      </a:endParaRPr>
                    </a:p>
                  </a:txBody>
                  <a:tcPr marL="33852" marR="33852" marT="0" marB="0" anchor="ctr"/>
                </a:tc>
                <a:tc>
                  <a:txBody>
                    <a:bodyPr/>
                    <a:lstStyle/>
                    <a:p>
                      <a:pPr algn="just">
                        <a:lnSpc>
                          <a:spcPct val="107000"/>
                        </a:lnSpc>
                        <a:buNone/>
                        <a:tabLst>
                          <a:tab pos="2743200" algn="ctr"/>
                          <a:tab pos="5486400" algn="r"/>
                        </a:tabLst>
                      </a:pPr>
                      <a:r>
                        <a:rPr lang="en-US" sz="1600" b="1">
                          <a:solidFill>
                            <a:schemeClr val="tx2"/>
                          </a:solidFill>
                          <a:effectLst/>
                          <a:latin typeface="Arial" panose="020B0604020202020204" pitchFamily="34" charset="0"/>
                          <a:cs typeface="Arial" panose="020B0604020202020204" pitchFamily="34" charset="0"/>
                        </a:rPr>
                        <a:t>Hình thức đánh giá</a:t>
                      </a:r>
                      <a:endParaRPr lang="en-US" sz="1600" b="1">
                        <a:solidFill>
                          <a:schemeClr val="tx2"/>
                        </a:solidFill>
                        <a:effectLst/>
                        <a:latin typeface="Arial" panose="020B0604020202020204" pitchFamily="34" charset="0"/>
                        <a:ea typeface="Century" panose="02040604050505020304" pitchFamily="18" charset="0"/>
                        <a:cs typeface="Arial" panose="020B0604020202020204" pitchFamily="34" charset="0"/>
                      </a:endParaRPr>
                    </a:p>
                  </a:txBody>
                  <a:tcPr marL="33852" marR="33852" marT="0" marB="0" anchor="ctr"/>
                </a:tc>
                <a:tc>
                  <a:txBody>
                    <a:bodyPr/>
                    <a:lstStyle/>
                    <a:p>
                      <a:pPr algn="ctr">
                        <a:lnSpc>
                          <a:spcPct val="107000"/>
                        </a:lnSpc>
                        <a:buNone/>
                        <a:tabLst>
                          <a:tab pos="2971800" algn="ctr"/>
                          <a:tab pos="5943600" algn="r"/>
                        </a:tabLst>
                      </a:pPr>
                      <a:r>
                        <a:rPr lang="en-US" sz="1600" b="1" kern="100">
                          <a:solidFill>
                            <a:schemeClr val="tx2"/>
                          </a:solidFill>
                          <a:effectLst/>
                          <a:latin typeface="Arial" panose="020B0604020202020204" pitchFamily="34" charset="0"/>
                          <a:cs typeface="Arial" panose="020B0604020202020204" pitchFamily="34" charset="0"/>
                        </a:rPr>
                        <a:t>Tiêu chí</a:t>
                      </a:r>
                    </a:p>
                    <a:p>
                      <a:pPr algn="ctr">
                        <a:lnSpc>
                          <a:spcPct val="107000"/>
                        </a:lnSpc>
                        <a:buNone/>
                        <a:tabLst>
                          <a:tab pos="2971800" algn="ctr"/>
                          <a:tab pos="5943600" algn="r"/>
                        </a:tabLst>
                      </a:pPr>
                      <a:r>
                        <a:rPr lang="en-US" sz="1600" b="1" kern="100">
                          <a:solidFill>
                            <a:schemeClr val="tx2"/>
                          </a:solidFill>
                          <a:effectLst/>
                          <a:latin typeface="Arial" panose="020B0604020202020204" pitchFamily="34" charset="0"/>
                          <a:cs typeface="Arial" panose="020B0604020202020204" pitchFamily="34" charset="0"/>
                        </a:rPr>
                        <a:t>đánh giá</a:t>
                      </a:r>
                      <a:endParaRPr lang="en-US" sz="1600" b="1" kern="100">
                        <a:solidFill>
                          <a:schemeClr val="tx2"/>
                        </a:solidFill>
                        <a:effectLst/>
                        <a:latin typeface="Arial" panose="020B0604020202020204" pitchFamily="34" charset="0"/>
                        <a:ea typeface="Century" panose="02040604050505020304" pitchFamily="18" charset="0"/>
                        <a:cs typeface="Arial" panose="020B0604020202020204" pitchFamily="34" charset="0"/>
                      </a:endParaRPr>
                    </a:p>
                  </a:txBody>
                  <a:tcPr marL="33852" marR="33852" marT="0" marB="0" anchor="ctr"/>
                </a:tc>
                <a:tc>
                  <a:txBody>
                    <a:bodyPr/>
                    <a:lstStyle/>
                    <a:p>
                      <a:pPr algn="ctr">
                        <a:lnSpc>
                          <a:spcPct val="107000"/>
                        </a:lnSpc>
                        <a:buNone/>
                        <a:tabLst>
                          <a:tab pos="2743200" algn="ctr"/>
                          <a:tab pos="5486400" algn="r"/>
                        </a:tabLst>
                      </a:pPr>
                      <a:r>
                        <a:rPr lang="en-US" sz="1600" b="1">
                          <a:solidFill>
                            <a:schemeClr val="tx2"/>
                          </a:solidFill>
                          <a:effectLst/>
                          <a:latin typeface="Arial" panose="020B0604020202020204" pitchFamily="34" charset="0"/>
                          <a:cs typeface="Arial" panose="020B0604020202020204" pitchFamily="34" charset="0"/>
                        </a:rPr>
                        <a:t>Tỷ lệ (%)</a:t>
                      </a:r>
                      <a:endParaRPr lang="en-US" sz="1600" b="1">
                        <a:solidFill>
                          <a:schemeClr val="tx2"/>
                        </a:solidFill>
                        <a:effectLst/>
                        <a:latin typeface="Arial" panose="020B0604020202020204" pitchFamily="34" charset="0"/>
                        <a:ea typeface="Century" panose="02040604050505020304" pitchFamily="18" charset="0"/>
                        <a:cs typeface="Arial" panose="020B0604020202020204" pitchFamily="34" charset="0"/>
                      </a:endParaRPr>
                    </a:p>
                  </a:txBody>
                  <a:tcPr marL="33852" marR="33852" marT="0" marB="0" anchor="ctr"/>
                </a:tc>
                <a:extLst>
                  <a:ext uri="{0D108BD9-81ED-4DB2-BD59-A6C34878D82A}">
                    <a16:rowId xmlns:a16="http://schemas.microsoft.com/office/drawing/2014/main" val="4102907194"/>
                  </a:ext>
                </a:extLst>
              </a:tr>
              <a:tr h="1115958">
                <a:tc rowSpan="2">
                  <a:txBody>
                    <a:bodyPr/>
                    <a:lstStyle/>
                    <a:p>
                      <a:pPr>
                        <a:lnSpc>
                          <a:spcPct val="107000"/>
                        </a:lnSpc>
                        <a:buNone/>
                        <a:tabLst>
                          <a:tab pos="2743200" algn="ctr"/>
                          <a:tab pos="5486400" algn="r"/>
                        </a:tabLst>
                      </a:pPr>
                      <a:r>
                        <a:rPr lang="pt-BR" sz="1600" b="1">
                          <a:solidFill>
                            <a:schemeClr val="tx2"/>
                          </a:solidFill>
                          <a:effectLst/>
                          <a:latin typeface="Arial" panose="020B0604020202020204" pitchFamily="34" charset="0"/>
                          <a:cs typeface="Arial" panose="020B0604020202020204" pitchFamily="34" charset="0"/>
                        </a:rPr>
                        <a:t>A1. Đánh giá quá trình</a:t>
                      </a:r>
                      <a:endParaRPr lang="en-US" sz="1600" b="1">
                        <a:solidFill>
                          <a:schemeClr val="tx2"/>
                        </a:solidFill>
                        <a:effectLst/>
                        <a:latin typeface="Arial" panose="020B0604020202020204" pitchFamily="34" charset="0"/>
                        <a:ea typeface="Century" panose="02040604050505020304" pitchFamily="18" charset="0"/>
                        <a:cs typeface="Arial" panose="020B0604020202020204" pitchFamily="34" charset="0"/>
                      </a:endParaRPr>
                    </a:p>
                  </a:txBody>
                  <a:tcPr marL="33852" marR="33852" marT="0" marB="0" anchor="ctr"/>
                </a:tc>
                <a:tc>
                  <a:txBody>
                    <a:bodyPr/>
                    <a:lstStyle/>
                    <a:p>
                      <a:pPr algn="just">
                        <a:lnSpc>
                          <a:spcPct val="107000"/>
                        </a:lnSpc>
                        <a:buNone/>
                        <a:tabLst>
                          <a:tab pos="2743200" algn="ctr"/>
                          <a:tab pos="5486400" algn="r"/>
                        </a:tabLst>
                      </a:pPr>
                      <a:r>
                        <a:rPr lang="pt-BR" sz="1600">
                          <a:solidFill>
                            <a:schemeClr val="tx2"/>
                          </a:solidFill>
                          <a:effectLst/>
                          <a:latin typeface="Arial" panose="020B0604020202020204" pitchFamily="34" charset="0"/>
                          <a:cs typeface="Arial" panose="020B0604020202020204" pitchFamily="34" charset="0"/>
                        </a:rPr>
                        <a:t>A1.1. Kiểm bài tập trên lớp và ở nhà</a:t>
                      </a:r>
                      <a:endParaRPr lang="en-US" sz="1600">
                        <a:solidFill>
                          <a:schemeClr val="tx2"/>
                        </a:solidFill>
                        <a:effectLst/>
                        <a:latin typeface="Arial" panose="020B0604020202020204" pitchFamily="34" charset="0"/>
                        <a:ea typeface="Century" panose="02040604050505020304" pitchFamily="18" charset="0"/>
                        <a:cs typeface="Arial" panose="020B0604020202020204" pitchFamily="34" charset="0"/>
                      </a:endParaRPr>
                    </a:p>
                  </a:txBody>
                  <a:tcPr marL="33852" marR="33852" marT="0" marB="0" anchor="ctr"/>
                </a:tc>
                <a:tc>
                  <a:txBody>
                    <a:bodyPr/>
                    <a:lstStyle/>
                    <a:p>
                      <a:pPr algn="just">
                        <a:lnSpc>
                          <a:spcPct val="107000"/>
                        </a:lnSpc>
                        <a:buNone/>
                        <a:tabLst>
                          <a:tab pos="2743200" algn="ctr"/>
                          <a:tab pos="5486400" algn="r"/>
                        </a:tabLst>
                      </a:pPr>
                      <a:r>
                        <a:rPr lang="en-US" sz="1600">
                          <a:solidFill>
                            <a:schemeClr val="tx2"/>
                          </a:solidFill>
                          <a:effectLst/>
                          <a:latin typeface="Arial" panose="020B0604020202020204" pitchFamily="34" charset="0"/>
                          <a:cs typeface="Arial" panose="020B0604020202020204" pitchFamily="34" charset="0"/>
                        </a:rPr>
                        <a:t>- Chuyên cần (5%)</a:t>
                      </a:r>
                    </a:p>
                    <a:p>
                      <a:pPr algn="just">
                        <a:lnSpc>
                          <a:spcPct val="107000"/>
                        </a:lnSpc>
                        <a:buNone/>
                        <a:tabLst>
                          <a:tab pos="2743200" algn="ctr"/>
                          <a:tab pos="5486400" algn="r"/>
                        </a:tabLst>
                      </a:pPr>
                      <a:r>
                        <a:rPr lang="en-US" sz="1600">
                          <a:solidFill>
                            <a:schemeClr val="tx2"/>
                          </a:solidFill>
                          <a:effectLst/>
                          <a:latin typeface="Arial" panose="020B0604020202020204" pitchFamily="34" charset="0"/>
                          <a:cs typeface="Arial" panose="020B0604020202020204" pitchFamily="34" charset="0"/>
                        </a:rPr>
                        <a:t>- Làm đầy đủ các bài tập ở lớp và ở nhà đáp ứng yêu cầu đã đặt ra(10%).</a:t>
                      </a:r>
                    </a:p>
                    <a:p>
                      <a:pPr algn="just">
                        <a:lnSpc>
                          <a:spcPct val="107000"/>
                        </a:lnSpc>
                        <a:buNone/>
                        <a:tabLst>
                          <a:tab pos="2743200" algn="ctr"/>
                          <a:tab pos="5486400" algn="r"/>
                        </a:tabLst>
                      </a:pPr>
                      <a:r>
                        <a:rPr lang="vi-VN" sz="1600">
                          <a:solidFill>
                            <a:schemeClr val="tx2"/>
                          </a:solidFill>
                          <a:effectLst/>
                          <a:latin typeface="Arial" panose="020B0604020202020204" pitchFamily="34" charset="0"/>
                          <a:cs typeface="Arial" panose="020B0604020202020204" pitchFamily="34" charset="0"/>
                        </a:rPr>
                        <a:t>- Điểm trung bình các bài </a:t>
                      </a:r>
                      <a:r>
                        <a:rPr lang="en-US" sz="1600">
                          <a:solidFill>
                            <a:schemeClr val="tx2"/>
                          </a:solidFill>
                          <a:effectLst/>
                          <a:latin typeface="Arial" panose="020B0604020202020204" pitchFamily="34" charset="0"/>
                          <a:cs typeface="Arial" panose="020B0604020202020204" pitchFamily="34" charset="0"/>
                        </a:rPr>
                        <a:t>trắc nghiệm (10%)</a:t>
                      </a:r>
                      <a:endParaRPr lang="en-US" sz="1600">
                        <a:solidFill>
                          <a:schemeClr val="tx2"/>
                        </a:solidFill>
                        <a:effectLst/>
                        <a:latin typeface="Arial" panose="020B0604020202020204" pitchFamily="34" charset="0"/>
                        <a:ea typeface="Century" panose="02040604050505020304" pitchFamily="18" charset="0"/>
                        <a:cs typeface="Arial" panose="020B0604020202020204" pitchFamily="34" charset="0"/>
                      </a:endParaRPr>
                    </a:p>
                  </a:txBody>
                  <a:tcPr marL="33852" marR="33852" marT="0" marB="0" anchor="ctr"/>
                </a:tc>
                <a:tc>
                  <a:txBody>
                    <a:bodyPr/>
                    <a:lstStyle/>
                    <a:p>
                      <a:pPr algn="ctr">
                        <a:lnSpc>
                          <a:spcPct val="107000"/>
                        </a:lnSpc>
                        <a:buNone/>
                        <a:tabLst>
                          <a:tab pos="2743200" algn="ctr"/>
                          <a:tab pos="5486400" algn="r"/>
                        </a:tabLst>
                      </a:pPr>
                      <a:r>
                        <a:rPr lang="en-US" sz="1600" b="1">
                          <a:solidFill>
                            <a:schemeClr val="tx2"/>
                          </a:solidFill>
                          <a:effectLst/>
                          <a:latin typeface="Arial" panose="020B0604020202020204" pitchFamily="34" charset="0"/>
                          <a:cs typeface="Arial" panose="020B0604020202020204" pitchFamily="34" charset="0"/>
                        </a:rPr>
                        <a:t>25%</a:t>
                      </a:r>
                      <a:endParaRPr lang="en-US" sz="1600" b="1">
                        <a:solidFill>
                          <a:schemeClr val="tx2"/>
                        </a:solidFill>
                        <a:effectLst/>
                        <a:latin typeface="Arial" panose="020B0604020202020204" pitchFamily="34" charset="0"/>
                        <a:ea typeface="Century" panose="02040604050505020304" pitchFamily="18" charset="0"/>
                        <a:cs typeface="Arial" panose="020B0604020202020204" pitchFamily="34" charset="0"/>
                      </a:endParaRPr>
                    </a:p>
                  </a:txBody>
                  <a:tcPr marL="33852" marR="33852" marT="0" marB="0" anchor="ctr"/>
                </a:tc>
                <a:extLst>
                  <a:ext uri="{0D108BD9-81ED-4DB2-BD59-A6C34878D82A}">
                    <a16:rowId xmlns:a16="http://schemas.microsoft.com/office/drawing/2014/main" val="2569520088"/>
                  </a:ext>
                </a:extLst>
              </a:tr>
              <a:tr h="817974">
                <a:tc vMerge="1">
                  <a:txBody>
                    <a:bodyPr/>
                    <a:lstStyle/>
                    <a:p>
                      <a:endParaRPr lang="en-US"/>
                    </a:p>
                  </a:txBody>
                  <a:tcPr/>
                </a:tc>
                <a:tc>
                  <a:txBody>
                    <a:bodyPr/>
                    <a:lstStyle/>
                    <a:p>
                      <a:pPr algn="just">
                        <a:lnSpc>
                          <a:spcPct val="107000"/>
                        </a:lnSpc>
                        <a:buNone/>
                      </a:pPr>
                      <a:r>
                        <a:rPr lang="en-US" sz="1600" kern="100">
                          <a:solidFill>
                            <a:schemeClr val="tx2"/>
                          </a:solidFill>
                          <a:effectLst/>
                          <a:latin typeface="Arial" panose="020B0604020202020204" pitchFamily="34" charset="0"/>
                          <a:cs typeface="Arial" panose="020B0604020202020204" pitchFamily="34" charset="0"/>
                        </a:rPr>
                        <a:t>A1.2. Kiểm tra thực hành trên máy tính.</a:t>
                      </a:r>
                      <a:endParaRPr lang="en-US" sz="1600" kern="100">
                        <a:solidFill>
                          <a:schemeClr val="tx2"/>
                        </a:solidFill>
                        <a:effectLst/>
                        <a:latin typeface="Arial" panose="020B0604020202020204" pitchFamily="34" charset="0"/>
                        <a:ea typeface="Century" panose="02040604050505020304" pitchFamily="18" charset="0"/>
                        <a:cs typeface="Arial" panose="020B0604020202020204" pitchFamily="34" charset="0"/>
                      </a:endParaRPr>
                    </a:p>
                  </a:txBody>
                  <a:tcPr marL="33852" marR="33852" marT="0" marB="0" anchor="ctr"/>
                </a:tc>
                <a:tc>
                  <a:txBody>
                    <a:bodyPr/>
                    <a:lstStyle/>
                    <a:p>
                      <a:pPr>
                        <a:lnSpc>
                          <a:spcPct val="107000"/>
                        </a:lnSpc>
                        <a:buNone/>
                        <a:tabLst>
                          <a:tab pos="2743200" algn="ctr"/>
                          <a:tab pos="5486400" algn="r"/>
                        </a:tabLst>
                      </a:pPr>
                      <a:r>
                        <a:rPr lang="en-US" sz="1600">
                          <a:solidFill>
                            <a:schemeClr val="tx2"/>
                          </a:solidFill>
                          <a:effectLst/>
                          <a:latin typeface="Arial" panose="020B0604020202020204" pitchFamily="34" charset="0"/>
                          <a:cs typeface="Arial" panose="020B0604020202020204" pitchFamily="34" charset="0"/>
                        </a:rPr>
                        <a:t>- </a:t>
                      </a:r>
                      <a:r>
                        <a:rPr lang="vi-VN" sz="1600">
                          <a:solidFill>
                            <a:schemeClr val="tx2"/>
                          </a:solidFill>
                          <a:effectLst/>
                          <a:latin typeface="Arial" panose="020B0604020202020204" pitchFamily="34" charset="0"/>
                          <a:cs typeface="Arial" panose="020B0604020202020204" pitchFamily="34" charset="0"/>
                        </a:rPr>
                        <a:t>Chương trình máy tính hoạt động đúng đắn.</a:t>
                      </a:r>
                      <a:endParaRPr lang="en-US" sz="1600">
                        <a:solidFill>
                          <a:schemeClr val="tx2"/>
                        </a:solidFill>
                        <a:effectLst/>
                        <a:latin typeface="Arial" panose="020B0604020202020204" pitchFamily="34" charset="0"/>
                        <a:cs typeface="Arial" panose="020B0604020202020204" pitchFamily="34" charset="0"/>
                      </a:endParaRPr>
                    </a:p>
                    <a:p>
                      <a:pPr>
                        <a:lnSpc>
                          <a:spcPct val="107000"/>
                        </a:lnSpc>
                        <a:buNone/>
                        <a:tabLst>
                          <a:tab pos="2743200" algn="ctr"/>
                          <a:tab pos="5486400" algn="r"/>
                        </a:tabLst>
                      </a:pPr>
                      <a:r>
                        <a:rPr lang="vi-VN" sz="1600">
                          <a:solidFill>
                            <a:schemeClr val="tx2"/>
                          </a:solidFill>
                          <a:effectLst/>
                          <a:latin typeface="Arial" panose="020B0604020202020204" pitchFamily="34" charset="0"/>
                          <a:cs typeface="Arial" panose="020B0604020202020204" pitchFamily="34" charset="0"/>
                        </a:rPr>
                        <a:t>- Biện luận được các trường hợp xảy ra</a:t>
                      </a:r>
                      <a:endParaRPr lang="en-US" sz="1600">
                        <a:solidFill>
                          <a:schemeClr val="tx2"/>
                        </a:solidFill>
                        <a:effectLst/>
                        <a:latin typeface="Arial" panose="020B0604020202020204" pitchFamily="34" charset="0"/>
                        <a:ea typeface="Century" panose="02040604050505020304" pitchFamily="18" charset="0"/>
                        <a:cs typeface="Arial" panose="020B0604020202020204" pitchFamily="34" charset="0"/>
                      </a:endParaRPr>
                    </a:p>
                  </a:txBody>
                  <a:tcPr marL="33852" marR="33852" marT="0" marB="0" anchor="ctr"/>
                </a:tc>
                <a:tc>
                  <a:txBody>
                    <a:bodyPr/>
                    <a:lstStyle/>
                    <a:p>
                      <a:pPr algn="ctr">
                        <a:lnSpc>
                          <a:spcPct val="107000"/>
                        </a:lnSpc>
                        <a:buNone/>
                        <a:tabLst>
                          <a:tab pos="2743200" algn="ctr"/>
                          <a:tab pos="5486400" algn="r"/>
                        </a:tabLst>
                      </a:pPr>
                      <a:r>
                        <a:rPr lang="en-US" sz="1600" b="1">
                          <a:solidFill>
                            <a:schemeClr val="tx2"/>
                          </a:solidFill>
                          <a:effectLst/>
                          <a:latin typeface="Arial" panose="020B0604020202020204" pitchFamily="34" charset="0"/>
                          <a:cs typeface="Arial" panose="020B0604020202020204" pitchFamily="34" charset="0"/>
                        </a:rPr>
                        <a:t>25%</a:t>
                      </a:r>
                      <a:endParaRPr lang="en-US" sz="1600" b="1">
                        <a:solidFill>
                          <a:schemeClr val="tx2"/>
                        </a:solidFill>
                        <a:effectLst/>
                        <a:latin typeface="Arial" panose="020B0604020202020204" pitchFamily="34" charset="0"/>
                        <a:ea typeface="Century" panose="02040604050505020304" pitchFamily="18" charset="0"/>
                        <a:cs typeface="Arial" panose="020B0604020202020204" pitchFamily="34" charset="0"/>
                      </a:endParaRPr>
                    </a:p>
                  </a:txBody>
                  <a:tcPr marL="33852" marR="33852" marT="0" marB="0" anchor="ctr"/>
                </a:tc>
                <a:extLst>
                  <a:ext uri="{0D108BD9-81ED-4DB2-BD59-A6C34878D82A}">
                    <a16:rowId xmlns:a16="http://schemas.microsoft.com/office/drawing/2014/main" val="339162789"/>
                  </a:ext>
                </a:extLst>
              </a:tr>
              <a:tr h="1040762">
                <a:tc>
                  <a:txBody>
                    <a:bodyPr/>
                    <a:lstStyle/>
                    <a:p>
                      <a:pPr algn="l">
                        <a:lnSpc>
                          <a:spcPct val="107000"/>
                        </a:lnSpc>
                        <a:buNone/>
                      </a:pPr>
                      <a:r>
                        <a:rPr lang="en-US" sz="1600" b="1" kern="100">
                          <a:solidFill>
                            <a:schemeClr val="tx2"/>
                          </a:solidFill>
                          <a:effectLst/>
                          <a:latin typeface="Arial" panose="020B0604020202020204" pitchFamily="34" charset="0"/>
                          <a:cs typeface="Arial" panose="020B0604020202020204" pitchFamily="34" charset="0"/>
                        </a:rPr>
                        <a:t>A2. Đánh giá</a:t>
                      </a:r>
                      <a:r>
                        <a:rPr lang="vi-VN" sz="1600" b="1" kern="100">
                          <a:solidFill>
                            <a:schemeClr val="tx2"/>
                          </a:solidFill>
                          <a:effectLst/>
                          <a:latin typeface="Arial" panose="020B0604020202020204" pitchFamily="34" charset="0"/>
                          <a:cs typeface="Arial" panose="020B0604020202020204" pitchFamily="34" charset="0"/>
                        </a:rPr>
                        <a:t> kết thúc học phần </a:t>
                      </a:r>
                      <a:endParaRPr lang="en-US" sz="1600" b="1" kern="100">
                        <a:solidFill>
                          <a:schemeClr val="tx2"/>
                        </a:solidFill>
                        <a:effectLst/>
                        <a:latin typeface="Arial" panose="020B0604020202020204" pitchFamily="34" charset="0"/>
                        <a:ea typeface="Century" panose="02040604050505020304" pitchFamily="18" charset="0"/>
                        <a:cs typeface="Arial" panose="020B0604020202020204" pitchFamily="34" charset="0"/>
                      </a:endParaRPr>
                    </a:p>
                  </a:txBody>
                  <a:tcPr marL="33852" marR="33852" marT="0" marB="0" anchor="ctr"/>
                </a:tc>
                <a:tc>
                  <a:txBody>
                    <a:bodyPr/>
                    <a:lstStyle/>
                    <a:p>
                      <a:pPr algn="just">
                        <a:lnSpc>
                          <a:spcPct val="107000"/>
                        </a:lnSpc>
                        <a:buNone/>
                      </a:pPr>
                      <a:r>
                        <a:rPr lang="en-US" sz="1600" kern="100">
                          <a:solidFill>
                            <a:schemeClr val="tx2"/>
                          </a:solidFill>
                          <a:effectLst/>
                          <a:latin typeface="Arial" panose="020B0604020202020204" pitchFamily="34" charset="0"/>
                          <a:cs typeface="Arial" panose="020B0604020202020204" pitchFamily="34" charset="0"/>
                        </a:rPr>
                        <a:t>A2.1. Thi thực hành trên máy tính</a:t>
                      </a:r>
                      <a:endParaRPr lang="en-US" sz="1600" kern="100">
                        <a:solidFill>
                          <a:schemeClr val="tx2"/>
                        </a:solidFill>
                        <a:effectLst/>
                        <a:latin typeface="Arial" panose="020B0604020202020204" pitchFamily="34" charset="0"/>
                        <a:ea typeface="Century" panose="02040604050505020304" pitchFamily="18" charset="0"/>
                        <a:cs typeface="Arial" panose="020B0604020202020204" pitchFamily="34" charset="0"/>
                      </a:endParaRPr>
                    </a:p>
                  </a:txBody>
                  <a:tcPr marL="33852" marR="33852" marT="0" marB="0" anchor="ctr"/>
                </a:tc>
                <a:tc>
                  <a:txBody>
                    <a:bodyPr/>
                    <a:lstStyle/>
                    <a:p>
                      <a:pPr algn="just">
                        <a:lnSpc>
                          <a:spcPct val="107000"/>
                        </a:lnSpc>
                        <a:buNone/>
                        <a:tabLst>
                          <a:tab pos="2743200" algn="ctr"/>
                          <a:tab pos="5486400" algn="r"/>
                          <a:tab pos="339725" algn="l"/>
                          <a:tab pos="2743200" algn="ctr"/>
                          <a:tab pos="5486400" algn="r"/>
                        </a:tabLst>
                      </a:pPr>
                      <a:r>
                        <a:rPr lang="pt-BR" sz="1600">
                          <a:solidFill>
                            <a:schemeClr val="tx2"/>
                          </a:solidFill>
                          <a:effectLst/>
                          <a:latin typeface="Arial" panose="020B0604020202020204" pitchFamily="34" charset="0"/>
                          <a:cs typeface="Arial" panose="020B0604020202020204" pitchFamily="34" charset="0"/>
                        </a:rPr>
                        <a:t>Sử dụng thành thạo ngôn ngữ C để xây dựng ứng dụng giải quyết các yêu cầu đề bài đặt ra theo các tiêu chí:</a:t>
                      </a:r>
                      <a:endParaRPr lang="en-US" sz="1600">
                        <a:solidFill>
                          <a:schemeClr val="tx2"/>
                        </a:solidFill>
                        <a:effectLst/>
                        <a:latin typeface="Arial" panose="020B0604020202020204" pitchFamily="34" charset="0"/>
                        <a:cs typeface="Arial" panose="020B0604020202020204" pitchFamily="34" charset="0"/>
                      </a:endParaRPr>
                    </a:p>
                    <a:p>
                      <a:pPr algn="just">
                        <a:lnSpc>
                          <a:spcPct val="107000"/>
                        </a:lnSpc>
                        <a:buNone/>
                        <a:tabLst>
                          <a:tab pos="2743200" algn="ctr"/>
                          <a:tab pos="5486400" algn="r"/>
                        </a:tabLst>
                      </a:pPr>
                      <a:r>
                        <a:rPr lang="pt-BR" sz="1600">
                          <a:solidFill>
                            <a:schemeClr val="tx2"/>
                          </a:solidFill>
                          <a:effectLst/>
                          <a:latin typeface="Arial" panose="020B0604020202020204" pitchFamily="34" charset="0"/>
                          <a:cs typeface="Arial" panose="020B0604020202020204" pitchFamily="34" charset="0"/>
                        </a:rPr>
                        <a:t>- Chương trình hoạt động đúng đắn với các chức năng được yêu cầu.</a:t>
                      </a:r>
                      <a:endParaRPr lang="en-US" sz="1600">
                        <a:solidFill>
                          <a:schemeClr val="tx2"/>
                        </a:solidFill>
                        <a:effectLst/>
                        <a:latin typeface="Arial" panose="020B0604020202020204" pitchFamily="34" charset="0"/>
                        <a:cs typeface="Arial" panose="020B0604020202020204" pitchFamily="34" charset="0"/>
                      </a:endParaRPr>
                    </a:p>
                    <a:p>
                      <a:pPr algn="just">
                        <a:lnSpc>
                          <a:spcPct val="107000"/>
                        </a:lnSpc>
                        <a:buNone/>
                        <a:tabLst>
                          <a:tab pos="339725" algn="l"/>
                        </a:tabLst>
                      </a:pPr>
                      <a:r>
                        <a:rPr lang="pt-BR" sz="1600" kern="100">
                          <a:solidFill>
                            <a:schemeClr val="tx2"/>
                          </a:solidFill>
                          <a:effectLst/>
                          <a:latin typeface="Arial" panose="020B0604020202020204" pitchFamily="34" charset="0"/>
                          <a:cs typeface="Arial" panose="020B0604020202020204" pitchFamily="34" charset="0"/>
                        </a:rPr>
                        <a:t>- Hiểu được chương trình và biện luận những trường hợp có thể xảy ra.</a:t>
                      </a:r>
                      <a:endParaRPr lang="en-US" sz="1600" kern="100">
                        <a:solidFill>
                          <a:schemeClr val="tx2"/>
                        </a:solidFill>
                        <a:effectLst/>
                        <a:latin typeface="Arial" panose="020B0604020202020204" pitchFamily="34" charset="0"/>
                        <a:ea typeface="Century" panose="02040604050505020304" pitchFamily="18" charset="0"/>
                        <a:cs typeface="Arial" panose="020B0604020202020204" pitchFamily="34" charset="0"/>
                      </a:endParaRPr>
                    </a:p>
                  </a:txBody>
                  <a:tcPr marL="33852" marR="33852" marT="0" marB="0" anchor="ctr"/>
                </a:tc>
                <a:tc>
                  <a:txBody>
                    <a:bodyPr/>
                    <a:lstStyle/>
                    <a:p>
                      <a:pPr algn="ctr">
                        <a:lnSpc>
                          <a:spcPct val="107000"/>
                        </a:lnSpc>
                        <a:buNone/>
                        <a:tabLst>
                          <a:tab pos="2743200" algn="ctr"/>
                          <a:tab pos="5486400" algn="r"/>
                        </a:tabLst>
                      </a:pPr>
                      <a:r>
                        <a:rPr lang="en-US" sz="1600" b="1">
                          <a:solidFill>
                            <a:schemeClr val="tx2"/>
                          </a:solidFill>
                          <a:effectLst/>
                          <a:latin typeface="Arial" panose="020B0604020202020204" pitchFamily="34" charset="0"/>
                          <a:cs typeface="Arial" panose="020B0604020202020204" pitchFamily="34" charset="0"/>
                        </a:rPr>
                        <a:t>50%</a:t>
                      </a:r>
                    </a:p>
                    <a:p>
                      <a:pPr algn="ctr">
                        <a:lnSpc>
                          <a:spcPct val="107000"/>
                        </a:lnSpc>
                        <a:buNone/>
                        <a:tabLst>
                          <a:tab pos="2743200" algn="ctr"/>
                          <a:tab pos="5486400" algn="r"/>
                        </a:tabLst>
                      </a:pPr>
                      <a:r>
                        <a:rPr lang="pt-BR" sz="1600" b="1">
                          <a:solidFill>
                            <a:schemeClr val="tx2"/>
                          </a:solidFill>
                          <a:effectLst/>
                          <a:latin typeface="Arial" panose="020B0604020202020204" pitchFamily="34" charset="0"/>
                          <a:cs typeface="Arial" panose="020B0604020202020204" pitchFamily="34" charset="0"/>
                        </a:rPr>
                        <a:t> </a:t>
                      </a:r>
                      <a:endParaRPr lang="en-US" sz="1600" b="1">
                        <a:solidFill>
                          <a:schemeClr val="tx2"/>
                        </a:solidFill>
                        <a:effectLst/>
                        <a:latin typeface="Arial" panose="020B0604020202020204" pitchFamily="34" charset="0"/>
                        <a:ea typeface="Century" panose="02040604050505020304" pitchFamily="18" charset="0"/>
                        <a:cs typeface="Arial" panose="020B0604020202020204" pitchFamily="34" charset="0"/>
                      </a:endParaRPr>
                    </a:p>
                  </a:txBody>
                  <a:tcPr marL="33852" marR="33852" marT="0" marB="0" anchor="ctr"/>
                </a:tc>
                <a:extLst>
                  <a:ext uri="{0D108BD9-81ED-4DB2-BD59-A6C34878D82A}">
                    <a16:rowId xmlns:a16="http://schemas.microsoft.com/office/drawing/2014/main" val="2939667693"/>
                  </a:ext>
                </a:extLst>
              </a:tr>
            </a:tbl>
          </a:graphicData>
        </a:graphic>
      </p:graphicFrame>
    </p:spTree>
    <p:extLst>
      <p:ext uri="{BB962C8B-B14F-4D97-AF65-F5344CB8AC3E}">
        <p14:creationId xmlns:p14="http://schemas.microsoft.com/office/powerpoint/2010/main" val="377356694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9F397-18DF-28EA-C6F6-A3C25ED3DA1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71C18A0-D55C-F497-60AD-836497C4865D}"/>
              </a:ext>
            </a:extLst>
          </p:cNvPr>
          <p:cNvSpPr>
            <a:spLocks noGrp="1"/>
          </p:cNvSpPr>
          <p:nvPr>
            <p:ph type="title"/>
          </p:nvPr>
        </p:nvSpPr>
        <p:spPr>
          <a:xfrm>
            <a:off x="0" y="-26145"/>
            <a:ext cx="12100957" cy="685801"/>
          </a:xfrm>
        </p:spPr>
        <p:txBody>
          <a:bodyPr>
            <a:normAutofit/>
          </a:bodyPr>
          <a:lstStyle/>
          <a:p>
            <a:r>
              <a:rPr lang="en-US"/>
              <a:t>GIỚI THIỆU HỌC PHẦN</a:t>
            </a:r>
          </a:p>
        </p:txBody>
      </p:sp>
      <p:sp>
        <p:nvSpPr>
          <p:cNvPr id="5" name="Rectangle 3">
            <a:extLst>
              <a:ext uri="{FF2B5EF4-FFF2-40B4-BE49-F238E27FC236}">
                <a16:creationId xmlns:a16="http://schemas.microsoft.com/office/drawing/2014/main" id="{218E0E74-BC49-B337-F840-421BFA99DD4A}"/>
              </a:ext>
            </a:extLst>
          </p:cNvPr>
          <p:cNvSpPr txBox="1">
            <a:spLocks noChangeArrowheads="1"/>
          </p:cNvSpPr>
          <p:nvPr/>
        </p:nvSpPr>
        <p:spPr>
          <a:xfrm>
            <a:off x="1143000" y="1219200"/>
            <a:ext cx="9906000" cy="3826846"/>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b="1"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b="1" i="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i="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buFont typeface="Wingdings" panose="05000000000000000000" pitchFamily="2" charset="2"/>
              <a:buChar char="§"/>
            </a:pPr>
            <a:r>
              <a:rPr lang="en-US" altLang="en-US" sz="2800" kern="100">
                <a:solidFill>
                  <a:srgbClr val="002060"/>
                </a:solidFill>
              </a:rPr>
              <a:t>Tài liệu tham khảo</a:t>
            </a:r>
          </a:p>
          <a:p>
            <a:pPr marL="0" indent="0">
              <a:lnSpc>
                <a:spcPct val="90000"/>
              </a:lnSpc>
              <a:buNone/>
            </a:pPr>
            <a:endParaRPr lang="en-US" altLang="en-US" sz="2800" kern="100">
              <a:solidFill>
                <a:srgbClr val="002060"/>
              </a:solidFill>
            </a:endParaRPr>
          </a:p>
          <a:p>
            <a:pPr marL="457200" indent="-457200">
              <a:lnSpc>
                <a:spcPct val="150000"/>
              </a:lnSpc>
              <a:buAutoNum type="arabicPeriod"/>
            </a:pPr>
            <a:r>
              <a:rPr lang="vi-VN" altLang="en-US" sz="2400" b="0" kern="100">
                <a:solidFill>
                  <a:srgbClr val="002060"/>
                </a:solidFill>
              </a:rPr>
              <a:t>Phạm Văn Ất (chủ biên), “Giáo trình Tin học Đại cương” , Nhà xuất bản Giao thông vận tải, 2009.</a:t>
            </a:r>
          </a:p>
          <a:p>
            <a:pPr marL="457200" indent="-457200">
              <a:lnSpc>
                <a:spcPct val="150000"/>
              </a:lnSpc>
              <a:buAutoNum type="arabicPeriod"/>
            </a:pPr>
            <a:r>
              <a:rPr lang="vi-VN" altLang="en-US" sz="2400" b="0" kern="100">
                <a:solidFill>
                  <a:srgbClr val="002060"/>
                </a:solidFill>
              </a:rPr>
              <a:t>Phạm Văn Ất, “Kỹ thuật lập trình C cơ sở và nâng cao”, Nhà xuất bản Khoa học Kỹ thuật, 2007.</a:t>
            </a:r>
          </a:p>
          <a:p>
            <a:pPr marL="457200" indent="-457200">
              <a:lnSpc>
                <a:spcPct val="150000"/>
              </a:lnSpc>
              <a:buAutoNum type="arabicPeriod"/>
            </a:pPr>
            <a:r>
              <a:rPr lang="vi-VN" altLang="en-US" sz="2400" b="0" kern="100">
                <a:solidFill>
                  <a:srgbClr val="002060"/>
                </a:solidFill>
              </a:rPr>
              <a:t>B. Kernighan, “The C programming language, Second edition”, Prentice Hall, 1988.</a:t>
            </a:r>
          </a:p>
        </p:txBody>
      </p:sp>
    </p:spTree>
    <p:extLst>
      <p:ext uri="{BB962C8B-B14F-4D97-AF65-F5344CB8AC3E}">
        <p14:creationId xmlns:p14="http://schemas.microsoft.com/office/powerpoint/2010/main" val="127913547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80A9B-642F-A807-2BE5-44ED2C0DCC31}"/>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7781A6EE-18C1-B155-1B69-E28C8226E42B}"/>
              </a:ext>
            </a:extLst>
          </p:cNvPr>
          <p:cNvSpPr>
            <a:spLocks noGrp="1" noChangeArrowheads="1"/>
          </p:cNvSpPr>
          <p:nvPr>
            <p:ph type="title"/>
          </p:nvPr>
        </p:nvSpPr>
        <p:spPr>
          <a:xfrm>
            <a:off x="914400" y="1752600"/>
            <a:ext cx="10363199" cy="3962400"/>
          </a:xfrm>
        </p:spPr>
        <p:txBody>
          <a:bodyPr>
            <a:noAutofit/>
          </a:bodyPr>
          <a:lstStyle/>
          <a:p>
            <a:pPr algn="l">
              <a:lnSpc>
                <a:spcPct val="130000"/>
              </a:lnSpc>
              <a:spcBef>
                <a:spcPts val="600"/>
              </a:spcBef>
            </a:pPr>
            <a:r>
              <a:rPr lang="en-US" sz="2400" kern="100">
                <a:solidFill>
                  <a:srgbClr val="FF0000"/>
                </a:solidFill>
                <a:latin typeface="Arial" panose="020B0604020202020204" pitchFamily="34" charset="0"/>
                <a:cs typeface="Arial" panose="020B0604020202020204" pitchFamily="34" charset="0"/>
              </a:rPr>
              <a:t>CƠ BẢN VỀ NGÔN NGỮ LẬP TÌNH C</a:t>
            </a:r>
            <a:br>
              <a:rPr lang="en-US" sz="2400" kern="100">
                <a:solidFill>
                  <a:srgbClr val="FF0000"/>
                </a:solidFill>
                <a:latin typeface="Arial" panose="020B0604020202020204" pitchFamily="34" charset="0"/>
                <a:cs typeface="Arial" panose="020B0604020202020204" pitchFamily="34" charset="0"/>
              </a:rPr>
            </a:br>
            <a:r>
              <a:rPr lang="vi-VN" sz="2400" kern="100">
                <a:solidFill>
                  <a:srgbClr val="10338C"/>
                </a:solidFill>
                <a:latin typeface="Arial" panose="020B0604020202020204" pitchFamily="34" charset="0"/>
                <a:cs typeface="Arial" panose="020B0604020202020204" pitchFamily="34" charset="0"/>
              </a:rPr>
              <a:t>1.1. Tập ký tự</a:t>
            </a:r>
            <a:br>
              <a:rPr lang="vi-VN" sz="2400" kern="100">
                <a:solidFill>
                  <a:srgbClr val="10338C"/>
                </a:solidFill>
                <a:latin typeface="Arial" panose="020B0604020202020204" pitchFamily="34" charset="0"/>
                <a:cs typeface="Arial" panose="020B0604020202020204" pitchFamily="34" charset="0"/>
              </a:rPr>
            </a:br>
            <a:r>
              <a:rPr lang="vi-VN" sz="2400" kern="100">
                <a:solidFill>
                  <a:srgbClr val="10338C"/>
                </a:solidFill>
                <a:latin typeface="Arial" panose="020B0604020202020204" pitchFamily="34" charset="0"/>
                <a:cs typeface="Arial" panose="020B0604020202020204" pitchFamily="34" charset="0"/>
              </a:rPr>
              <a:t>1.2. Tên</a:t>
            </a:r>
            <a:br>
              <a:rPr lang="vi-VN" sz="2400" kern="100">
                <a:solidFill>
                  <a:srgbClr val="10338C"/>
                </a:solidFill>
                <a:latin typeface="Arial" panose="020B0604020202020204" pitchFamily="34" charset="0"/>
                <a:cs typeface="Arial" panose="020B0604020202020204" pitchFamily="34" charset="0"/>
              </a:rPr>
            </a:br>
            <a:r>
              <a:rPr lang="vi-VN" sz="2400" kern="100">
                <a:solidFill>
                  <a:srgbClr val="10338C"/>
                </a:solidFill>
                <a:latin typeface="Arial" panose="020B0604020202020204" pitchFamily="34" charset="0"/>
                <a:cs typeface="Arial" panose="020B0604020202020204" pitchFamily="34" charset="0"/>
              </a:rPr>
              <a:t>1.3. Một số khái niệm </a:t>
            </a:r>
            <a:br>
              <a:rPr lang="vi-VN" sz="2400" kern="100">
                <a:solidFill>
                  <a:srgbClr val="10338C"/>
                </a:solidFill>
                <a:latin typeface="Arial" panose="020B0604020202020204" pitchFamily="34" charset="0"/>
                <a:cs typeface="Arial" panose="020B0604020202020204" pitchFamily="34" charset="0"/>
              </a:rPr>
            </a:br>
            <a:r>
              <a:rPr lang="vi-VN" sz="2400" kern="100">
                <a:solidFill>
                  <a:srgbClr val="10338C"/>
                </a:solidFill>
                <a:latin typeface="Arial" panose="020B0604020202020204" pitchFamily="34" charset="0"/>
                <a:cs typeface="Arial" panose="020B0604020202020204" pitchFamily="34" charset="0"/>
              </a:rPr>
              <a:t>1.4. Cấu trúc một chương trình C đơn giản</a:t>
            </a:r>
            <a:br>
              <a:rPr lang="vi-VN" sz="2400" kern="100">
                <a:solidFill>
                  <a:srgbClr val="10338C"/>
                </a:solidFill>
                <a:latin typeface="Arial" panose="020B0604020202020204" pitchFamily="34" charset="0"/>
                <a:cs typeface="Arial" panose="020B0604020202020204" pitchFamily="34" charset="0"/>
              </a:rPr>
            </a:br>
            <a:r>
              <a:rPr lang="vi-VN" sz="2400" kern="100">
                <a:solidFill>
                  <a:srgbClr val="10338C"/>
                </a:solidFill>
                <a:latin typeface="Arial" panose="020B0604020202020204" pitchFamily="34" charset="0"/>
                <a:cs typeface="Arial" panose="020B0604020202020204" pitchFamily="34" charset="0"/>
              </a:rPr>
              <a:t>1.5. Một số chương trình ví dụ</a:t>
            </a:r>
            <a:br>
              <a:rPr lang="vi-VN" sz="2400" kern="100">
                <a:solidFill>
                  <a:srgbClr val="10338C"/>
                </a:solidFill>
                <a:latin typeface="Arial" panose="020B0604020202020204" pitchFamily="34" charset="0"/>
                <a:cs typeface="Arial" panose="020B0604020202020204" pitchFamily="34" charset="0"/>
              </a:rPr>
            </a:br>
            <a:r>
              <a:rPr lang="vi-VN" sz="2400" kern="100">
                <a:solidFill>
                  <a:srgbClr val="10338C"/>
                </a:solidFill>
                <a:latin typeface="Arial" panose="020B0604020202020204" pitchFamily="34" charset="0"/>
                <a:cs typeface="Arial" panose="020B0604020202020204" pitchFamily="34" charset="0"/>
              </a:rPr>
              <a:t>1.6. Một số quy tắc c</a:t>
            </a:r>
            <a:r>
              <a:rPr lang="en-US" sz="2400" kern="100">
                <a:solidFill>
                  <a:srgbClr val="10338C"/>
                </a:solidFill>
                <a:latin typeface="Arial" panose="020B0604020202020204" pitchFamily="34" charset="0"/>
                <a:cs typeface="Arial" panose="020B0604020202020204" pitchFamily="34" charset="0"/>
              </a:rPr>
              <a:t>ầ</a:t>
            </a:r>
            <a:r>
              <a:rPr lang="vi-VN" sz="2400" kern="100">
                <a:solidFill>
                  <a:srgbClr val="10338C"/>
                </a:solidFill>
                <a:latin typeface="Arial" panose="020B0604020202020204" pitchFamily="34" charset="0"/>
                <a:cs typeface="Arial" panose="020B0604020202020204" pitchFamily="34" charset="0"/>
              </a:rPr>
              <a:t>n nhớ khi viết chương trình</a:t>
            </a:r>
            <a:br>
              <a:rPr lang="vi-VN" sz="2400" kern="100">
                <a:solidFill>
                  <a:srgbClr val="10338C"/>
                </a:solidFill>
                <a:latin typeface="Arial" panose="020B0604020202020204" pitchFamily="34" charset="0"/>
                <a:cs typeface="Arial" panose="020B0604020202020204" pitchFamily="34" charset="0"/>
              </a:rPr>
            </a:br>
            <a:r>
              <a:rPr lang="vi-VN" sz="2400" kern="100">
                <a:solidFill>
                  <a:srgbClr val="10338C"/>
                </a:solidFill>
                <a:latin typeface="Arial" panose="020B0604020202020204" pitchFamily="34" charset="0"/>
                <a:cs typeface="Arial" panose="020B0604020202020204" pitchFamily="34" charset="0"/>
              </a:rPr>
              <a:t>1.7. Cách thực hiện trên máy tính</a:t>
            </a:r>
            <a:br>
              <a:rPr lang="vi-VN" sz="2400" kern="100">
                <a:solidFill>
                  <a:srgbClr val="10338C"/>
                </a:solidFill>
                <a:latin typeface="Arial" panose="020B0604020202020204" pitchFamily="34" charset="0"/>
                <a:cs typeface="Arial" panose="020B0604020202020204" pitchFamily="34" charset="0"/>
              </a:rPr>
            </a:br>
            <a:r>
              <a:rPr lang="vi-VN" sz="2400" kern="100">
                <a:solidFill>
                  <a:srgbClr val="10338C"/>
                </a:solidFill>
                <a:latin typeface="Arial" panose="020B0604020202020204" pitchFamily="34" charset="0"/>
                <a:cs typeface="Arial" panose="020B0604020202020204" pitchFamily="34" charset="0"/>
              </a:rPr>
              <a:t>1.8. Một số hàm chuẩn thường dùng</a:t>
            </a:r>
            <a:br>
              <a:rPr lang="vi-VN" sz="2400" kern="100">
                <a:solidFill>
                  <a:srgbClr val="10338C"/>
                </a:solidFill>
                <a:latin typeface="Arial" panose="020B0604020202020204" pitchFamily="34" charset="0"/>
                <a:cs typeface="Arial" panose="020B0604020202020204" pitchFamily="34" charset="0"/>
              </a:rPr>
            </a:br>
            <a:br>
              <a:rPr lang="en-US" sz="2400" kern="100">
                <a:solidFill>
                  <a:srgbClr val="10338C"/>
                </a:solidFill>
                <a:latin typeface="Arial" panose="020B0604020202020204" pitchFamily="34" charset="0"/>
                <a:cs typeface="Arial" panose="020B0604020202020204" pitchFamily="34" charset="0"/>
              </a:rPr>
            </a:br>
            <a:endParaRPr lang="en-US" sz="2400" kern="100">
              <a:solidFill>
                <a:srgbClr val="10338C"/>
              </a:solidFill>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1C11CD90-0293-D873-2EC2-BF27BFB05AA5}"/>
              </a:ext>
            </a:extLst>
          </p:cNvPr>
          <p:cNvSpPr txBox="1">
            <a:spLocks/>
          </p:cNvSpPr>
          <p:nvPr/>
        </p:nvSpPr>
        <p:spPr>
          <a:xfrm>
            <a:off x="0" y="-26145"/>
            <a:ext cx="12100957" cy="6858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200" b="1" kern="1200">
                <a:solidFill>
                  <a:schemeClr val="bg1"/>
                </a:solidFill>
                <a:latin typeface="Myriad Pro"/>
                <a:ea typeface="+mj-ea"/>
                <a:cs typeface="Myriad Pro"/>
              </a:defRPr>
            </a:lvl1pPr>
          </a:lstStyle>
          <a:p>
            <a:r>
              <a:rPr lang="en-US"/>
              <a:t>NỘI DUNG CHƯƠNG 1</a:t>
            </a:r>
          </a:p>
        </p:txBody>
      </p:sp>
    </p:spTree>
    <p:extLst>
      <p:ext uri="{BB962C8B-B14F-4D97-AF65-F5344CB8AC3E}">
        <p14:creationId xmlns:p14="http://schemas.microsoft.com/office/powerpoint/2010/main" val="72223880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p:cNvSpPr>
          <p:nvPr>
            <p:ph type="body" idx="4294967295"/>
          </p:nvPr>
        </p:nvSpPr>
        <p:spPr>
          <a:xfrm>
            <a:off x="609600" y="924346"/>
            <a:ext cx="10972800" cy="4525963"/>
          </a:xfrm>
        </p:spPr>
        <p:txBody>
          <a:bodyPr>
            <a:normAutofit/>
          </a:bodyPr>
          <a:lstStyle/>
          <a:p>
            <a:r>
              <a:rPr lang="en-US" sz="2800" dirty="0" err="1">
                <a:solidFill>
                  <a:srgbClr val="002060"/>
                </a:solidFill>
                <a:cs typeface="Arial" charset="0"/>
              </a:rPr>
              <a:t>Tập</a:t>
            </a:r>
            <a:r>
              <a:rPr lang="en-US" sz="2800" dirty="0">
                <a:solidFill>
                  <a:srgbClr val="002060"/>
                </a:solidFill>
                <a:cs typeface="Arial" charset="0"/>
              </a:rPr>
              <a:t> </a:t>
            </a:r>
            <a:r>
              <a:rPr lang="en-US" sz="2800" dirty="0" err="1">
                <a:solidFill>
                  <a:srgbClr val="002060"/>
                </a:solidFill>
                <a:cs typeface="Arial" charset="0"/>
              </a:rPr>
              <a:t>ký</a:t>
            </a:r>
            <a:r>
              <a:rPr lang="en-US" sz="2800" dirty="0">
                <a:solidFill>
                  <a:srgbClr val="002060"/>
                </a:solidFill>
                <a:cs typeface="Arial" charset="0"/>
              </a:rPr>
              <a:t> </a:t>
            </a:r>
            <a:r>
              <a:rPr lang="en-US" sz="2800" dirty="0" err="1">
                <a:solidFill>
                  <a:srgbClr val="002060"/>
                </a:solidFill>
                <a:cs typeface="Arial" charset="0"/>
              </a:rPr>
              <a:t>tự</a:t>
            </a:r>
            <a:r>
              <a:rPr lang="en-US" sz="2800" dirty="0">
                <a:solidFill>
                  <a:srgbClr val="002060"/>
                </a:solidFill>
                <a:cs typeface="Arial" charset="0"/>
              </a:rPr>
              <a:t> </a:t>
            </a:r>
            <a:r>
              <a:rPr lang="en-US" sz="2800" dirty="0" err="1">
                <a:solidFill>
                  <a:srgbClr val="002060"/>
                </a:solidFill>
                <a:cs typeface="Arial" charset="0"/>
              </a:rPr>
              <a:t>là</a:t>
            </a:r>
            <a:r>
              <a:rPr lang="en-US" sz="2800" dirty="0">
                <a:solidFill>
                  <a:srgbClr val="002060"/>
                </a:solidFill>
                <a:cs typeface="Arial" charset="0"/>
              </a:rPr>
              <a:t> </a:t>
            </a:r>
            <a:r>
              <a:rPr lang="en-US" sz="2800" dirty="0" err="1">
                <a:solidFill>
                  <a:srgbClr val="002060"/>
                </a:solidFill>
                <a:cs typeface="Arial" charset="0"/>
              </a:rPr>
              <a:t>tập</a:t>
            </a:r>
            <a:r>
              <a:rPr lang="en-US" sz="2800" dirty="0">
                <a:solidFill>
                  <a:srgbClr val="002060"/>
                </a:solidFill>
                <a:cs typeface="Arial" charset="0"/>
              </a:rPr>
              <a:t> </a:t>
            </a:r>
            <a:r>
              <a:rPr lang="en-US" sz="2800" dirty="0" err="1">
                <a:solidFill>
                  <a:srgbClr val="002060"/>
                </a:solidFill>
                <a:cs typeface="Arial" charset="0"/>
              </a:rPr>
              <a:t>các</a:t>
            </a:r>
            <a:r>
              <a:rPr lang="en-US" sz="2800" dirty="0">
                <a:solidFill>
                  <a:srgbClr val="002060"/>
                </a:solidFill>
                <a:cs typeface="Arial" charset="0"/>
              </a:rPr>
              <a:t> </a:t>
            </a:r>
            <a:r>
              <a:rPr lang="en-US" sz="2800" dirty="0" err="1">
                <a:solidFill>
                  <a:srgbClr val="002060"/>
                </a:solidFill>
                <a:cs typeface="Arial" charset="0"/>
              </a:rPr>
              <a:t>phần</a:t>
            </a:r>
            <a:r>
              <a:rPr lang="en-US" sz="2800" dirty="0">
                <a:solidFill>
                  <a:srgbClr val="002060"/>
                </a:solidFill>
                <a:cs typeface="Arial" charset="0"/>
              </a:rPr>
              <a:t> </a:t>
            </a:r>
            <a:r>
              <a:rPr lang="en-US" sz="2800" dirty="0" err="1">
                <a:solidFill>
                  <a:srgbClr val="002060"/>
                </a:solidFill>
                <a:cs typeface="Arial" charset="0"/>
              </a:rPr>
              <a:t>tử</a:t>
            </a:r>
            <a:r>
              <a:rPr lang="en-US" sz="2800" dirty="0">
                <a:solidFill>
                  <a:srgbClr val="002060"/>
                </a:solidFill>
                <a:cs typeface="Arial" charset="0"/>
              </a:rPr>
              <a:t> </a:t>
            </a:r>
            <a:r>
              <a:rPr lang="en-US" sz="2800" dirty="0" err="1">
                <a:solidFill>
                  <a:srgbClr val="002060"/>
                </a:solidFill>
                <a:cs typeface="Arial" charset="0"/>
              </a:rPr>
              <a:t>cơ</a:t>
            </a:r>
            <a:r>
              <a:rPr lang="en-US" sz="2800" dirty="0">
                <a:solidFill>
                  <a:srgbClr val="002060"/>
                </a:solidFill>
                <a:cs typeface="Arial" charset="0"/>
              </a:rPr>
              <a:t> </a:t>
            </a:r>
            <a:r>
              <a:rPr lang="en-US" sz="2800" dirty="0" err="1">
                <a:solidFill>
                  <a:srgbClr val="002060"/>
                </a:solidFill>
                <a:cs typeface="Arial" charset="0"/>
              </a:rPr>
              <a:t>bản</a:t>
            </a:r>
            <a:r>
              <a:rPr lang="en-US" sz="2800" dirty="0">
                <a:solidFill>
                  <a:srgbClr val="002060"/>
                </a:solidFill>
                <a:cs typeface="Arial" charset="0"/>
              </a:rPr>
              <a:t> </a:t>
            </a:r>
            <a:r>
              <a:rPr lang="en-US" sz="2800" dirty="0" err="1">
                <a:solidFill>
                  <a:srgbClr val="002060"/>
                </a:solidFill>
                <a:cs typeface="Arial" charset="0"/>
              </a:rPr>
              <a:t>tạo</a:t>
            </a:r>
            <a:r>
              <a:rPr lang="en-US" sz="2800" dirty="0">
                <a:solidFill>
                  <a:srgbClr val="002060"/>
                </a:solidFill>
                <a:cs typeface="Arial" charset="0"/>
              </a:rPr>
              <a:t> </a:t>
            </a:r>
            <a:r>
              <a:rPr lang="en-US" sz="2800" dirty="0" err="1">
                <a:solidFill>
                  <a:srgbClr val="002060"/>
                </a:solidFill>
                <a:cs typeface="Arial" charset="0"/>
              </a:rPr>
              <a:t>nên</a:t>
            </a:r>
            <a:r>
              <a:rPr lang="en-US" sz="2800" dirty="0">
                <a:solidFill>
                  <a:srgbClr val="002060"/>
                </a:solidFill>
                <a:cs typeface="Arial" charset="0"/>
              </a:rPr>
              <a:t> </a:t>
            </a:r>
            <a:r>
              <a:rPr lang="en-US" sz="2800" dirty="0" err="1">
                <a:solidFill>
                  <a:srgbClr val="002060"/>
                </a:solidFill>
                <a:cs typeface="Arial" charset="0"/>
              </a:rPr>
              <a:t>chương</a:t>
            </a:r>
            <a:r>
              <a:rPr lang="en-US" sz="2800" dirty="0">
                <a:solidFill>
                  <a:srgbClr val="002060"/>
                </a:solidFill>
                <a:cs typeface="Arial" charset="0"/>
              </a:rPr>
              <a:t> </a:t>
            </a:r>
            <a:r>
              <a:rPr lang="en-US" sz="2800" dirty="0" err="1">
                <a:solidFill>
                  <a:srgbClr val="002060"/>
                </a:solidFill>
                <a:cs typeface="Arial" charset="0"/>
              </a:rPr>
              <a:t>trình</a:t>
            </a:r>
            <a:endParaRPr lang="en-US" sz="2800" dirty="0">
              <a:solidFill>
                <a:srgbClr val="002060"/>
              </a:solidFill>
              <a:cs typeface="Arial" charset="0"/>
            </a:endParaRPr>
          </a:p>
          <a:p>
            <a:pPr lvl="1"/>
            <a:r>
              <a:rPr lang="en-US" sz="2400" dirty="0" err="1">
                <a:solidFill>
                  <a:srgbClr val="002060"/>
                </a:solidFill>
                <a:cs typeface="Arial" charset="0"/>
              </a:rPr>
              <a:t>Tổ</a:t>
            </a:r>
            <a:r>
              <a:rPr lang="en-US" sz="2400" dirty="0">
                <a:solidFill>
                  <a:srgbClr val="002060"/>
                </a:solidFill>
                <a:cs typeface="Arial" charset="0"/>
              </a:rPr>
              <a:t> </a:t>
            </a:r>
            <a:r>
              <a:rPr lang="en-US" sz="2400" dirty="0" err="1">
                <a:solidFill>
                  <a:srgbClr val="002060"/>
                </a:solidFill>
                <a:cs typeface="Arial" charset="0"/>
              </a:rPr>
              <a:t>hợp</a:t>
            </a:r>
            <a:r>
              <a:rPr lang="en-US" sz="2400" dirty="0">
                <a:solidFill>
                  <a:srgbClr val="002060"/>
                </a:solidFill>
                <a:cs typeface="Arial" charset="0"/>
              </a:rPr>
              <a:t> </a:t>
            </a:r>
            <a:r>
              <a:rPr lang="en-US" sz="2400" dirty="0" err="1">
                <a:solidFill>
                  <a:srgbClr val="002060"/>
                </a:solidFill>
                <a:cs typeface="Arial" charset="0"/>
              </a:rPr>
              <a:t>các</a:t>
            </a:r>
            <a:r>
              <a:rPr lang="en-US" sz="2400" dirty="0">
                <a:solidFill>
                  <a:srgbClr val="002060"/>
                </a:solidFill>
                <a:cs typeface="Arial" charset="0"/>
              </a:rPr>
              <a:t> </a:t>
            </a:r>
            <a:r>
              <a:rPr lang="en-US" sz="2400" dirty="0" err="1">
                <a:solidFill>
                  <a:srgbClr val="002060"/>
                </a:solidFill>
                <a:cs typeface="Arial" charset="0"/>
              </a:rPr>
              <a:t>ký</a:t>
            </a:r>
            <a:r>
              <a:rPr lang="en-US" sz="2400" dirty="0">
                <a:solidFill>
                  <a:srgbClr val="002060"/>
                </a:solidFill>
                <a:cs typeface="Arial" charset="0"/>
              </a:rPr>
              <a:t> </a:t>
            </a:r>
            <a:r>
              <a:rPr lang="en-US" sz="2400" dirty="0" err="1">
                <a:solidFill>
                  <a:srgbClr val="002060"/>
                </a:solidFill>
                <a:cs typeface="Arial" charset="0"/>
              </a:rPr>
              <a:t>tự</a:t>
            </a:r>
            <a:r>
              <a:rPr lang="en-US" sz="2400" dirty="0">
                <a:solidFill>
                  <a:srgbClr val="002060"/>
                </a:solidFill>
                <a:cs typeface="Arial" charset="0"/>
              </a:rPr>
              <a:t> → </a:t>
            </a:r>
            <a:r>
              <a:rPr lang="en-US" sz="2400" dirty="0" err="1">
                <a:solidFill>
                  <a:srgbClr val="002060"/>
                </a:solidFill>
                <a:cs typeface="Arial" charset="0"/>
              </a:rPr>
              <a:t>từ</a:t>
            </a:r>
            <a:endParaRPr lang="en-US" sz="2400" dirty="0">
              <a:solidFill>
                <a:srgbClr val="002060"/>
              </a:solidFill>
              <a:cs typeface="Arial" charset="0"/>
            </a:endParaRPr>
          </a:p>
          <a:p>
            <a:pPr lvl="1"/>
            <a:r>
              <a:rPr lang="en-US" sz="2400" dirty="0" err="1">
                <a:solidFill>
                  <a:srgbClr val="002060"/>
                </a:solidFill>
                <a:cs typeface="Arial" charset="0"/>
              </a:rPr>
              <a:t>Liên</a:t>
            </a:r>
            <a:r>
              <a:rPr lang="en-US" sz="2400" dirty="0">
                <a:solidFill>
                  <a:srgbClr val="002060"/>
                </a:solidFill>
                <a:cs typeface="Arial" charset="0"/>
              </a:rPr>
              <a:t> </a:t>
            </a:r>
            <a:r>
              <a:rPr lang="en-US" sz="2400" dirty="0" err="1">
                <a:solidFill>
                  <a:srgbClr val="002060"/>
                </a:solidFill>
                <a:cs typeface="Arial" charset="0"/>
              </a:rPr>
              <a:t>kết</a:t>
            </a:r>
            <a:r>
              <a:rPr lang="en-US" sz="2400" dirty="0">
                <a:solidFill>
                  <a:srgbClr val="002060"/>
                </a:solidFill>
                <a:cs typeface="Arial" charset="0"/>
              </a:rPr>
              <a:t> </a:t>
            </a:r>
            <a:r>
              <a:rPr lang="en-US" sz="2400" dirty="0" err="1">
                <a:solidFill>
                  <a:srgbClr val="002060"/>
                </a:solidFill>
                <a:cs typeface="Arial" charset="0"/>
              </a:rPr>
              <a:t>các</a:t>
            </a:r>
            <a:r>
              <a:rPr lang="en-US" sz="2400" dirty="0">
                <a:solidFill>
                  <a:srgbClr val="002060"/>
                </a:solidFill>
                <a:cs typeface="Arial" charset="0"/>
              </a:rPr>
              <a:t> </a:t>
            </a:r>
            <a:r>
              <a:rPr lang="en-US" sz="2400" dirty="0" err="1">
                <a:solidFill>
                  <a:srgbClr val="002060"/>
                </a:solidFill>
                <a:cs typeface="Arial" charset="0"/>
              </a:rPr>
              <a:t>từ</a:t>
            </a:r>
            <a:r>
              <a:rPr lang="en-US" sz="2400" dirty="0">
                <a:solidFill>
                  <a:srgbClr val="002060"/>
                </a:solidFill>
                <a:cs typeface="Arial" charset="0"/>
              </a:rPr>
              <a:t> </a:t>
            </a:r>
            <a:r>
              <a:rPr lang="en-US" sz="2400" dirty="0" err="1">
                <a:solidFill>
                  <a:srgbClr val="002060"/>
                </a:solidFill>
                <a:cs typeface="Arial" charset="0"/>
              </a:rPr>
              <a:t>theo</a:t>
            </a:r>
            <a:r>
              <a:rPr lang="en-US" sz="2400" dirty="0">
                <a:solidFill>
                  <a:srgbClr val="002060"/>
                </a:solidFill>
                <a:cs typeface="Arial" charset="0"/>
              </a:rPr>
              <a:t> </a:t>
            </a:r>
            <a:r>
              <a:rPr lang="en-US" sz="2400" dirty="0" err="1">
                <a:solidFill>
                  <a:srgbClr val="002060"/>
                </a:solidFill>
                <a:cs typeface="Arial" charset="0"/>
              </a:rPr>
              <a:t>cú</a:t>
            </a:r>
            <a:r>
              <a:rPr lang="en-US" sz="2400" dirty="0">
                <a:solidFill>
                  <a:srgbClr val="002060"/>
                </a:solidFill>
                <a:cs typeface="Arial" charset="0"/>
              </a:rPr>
              <a:t> </a:t>
            </a:r>
            <a:r>
              <a:rPr lang="en-US" sz="2400" dirty="0" err="1">
                <a:solidFill>
                  <a:srgbClr val="002060"/>
                </a:solidFill>
                <a:cs typeface="Arial" charset="0"/>
              </a:rPr>
              <a:t>pháp</a:t>
            </a:r>
            <a:r>
              <a:rPr lang="en-US" sz="2400" dirty="0">
                <a:solidFill>
                  <a:srgbClr val="002060"/>
                </a:solidFill>
                <a:cs typeface="Arial" charset="0"/>
              </a:rPr>
              <a:t> → </a:t>
            </a:r>
            <a:r>
              <a:rPr lang="en-US" sz="2400" dirty="0" err="1">
                <a:solidFill>
                  <a:srgbClr val="002060"/>
                </a:solidFill>
                <a:cs typeface="Arial" charset="0"/>
              </a:rPr>
              <a:t>câu</a:t>
            </a:r>
            <a:r>
              <a:rPr lang="en-US" sz="2400" dirty="0">
                <a:solidFill>
                  <a:srgbClr val="002060"/>
                </a:solidFill>
                <a:cs typeface="Arial" charset="0"/>
              </a:rPr>
              <a:t> </a:t>
            </a:r>
            <a:r>
              <a:rPr lang="en-US" sz="2400" dirty="0" err="1">
                <a:solidFill>
                  <a:srgbClr val="002060"/>
                </a:solidFill>
                <a:cs typeface="Arial" charset="0"/>
              </a:rPr>
              <a:t>lệnh</a:t>
            </a:r>
            <a:endParaRPr lang="en-US" sz="2400" dirty="0">
              <a:solidFill>
                <a:srgbClr val="002060"/>
              </a:solidFill>
              <a:cs typeface="Arial" charset="0"/>
            </a:endParaRPr>
          </a:p>
          <a:p>
            <a:pPr lvl="1"/>
            <a:r>
              <a:rPr lang="en-US" sz="2400" dirty="0" err="1">
                <a:solidFill>
                  <a:srgbClr val="002060"/>
                </a:solidFill>
                <a:cs typeface="Arial" charset="0"/>
              </a:rPr>
              <a:t>Tổ</a:t>
            </a:r>
            <a:r>
              <a:rPr lang="en-US" sz="2400" dirty="0">
                <a:solidFill>
                  <a:srgbClr val="002060"/>
                </a:solidFill>
                <a:cs typeface="Arial" charset="0"/>
              </a:rPr>
              <a:t> </a:t>
            </a:r>
            <a:r>
              <a:rPr lang="en-US" sz="2400" dirty="0" err="1">
                <a:solidFill>
                  <a:srgbClr val="002060"/>
                </a:solidFill>
                <a:cs typeface="Arial" charset="0"/>
              </a:rPr>
              <a:t>chức</a:t>
            </a:r>
            <a:r>
              <a:rPr lang="en-US" sz="2400" dirty="0">
                <a:solidFill>
                  <a:srgbClr val="002060"/>
                </a:solidFill>
                <a:cs typeface="Arial" charset="0"/>
              </a:rPr>
              <a:t> </a:t>
            </a:r>
            <a:r>
              <a:rPr lang="en-US" sz="2400" dirty="0" err="1">
                <a:solidFill>
                  <a:srgbClr val="002060"/>
                </a:solidFill>
                <a:cs typeface="Arial" charset="0"/>
              </a:rPr>
              <a:t>các</a:t>
            </a:r>
            <a:r>
              <a:rPr lang="en-US" sz="2400" dirty="0">
                <a:solidFill>
                  <a:srgbClr val="002060"/>
                </a:solidFill>
                <a:cs typeface="Arial" charset="0"/>
              </a:rPr>
              <a:t> </a:t>
            </a:r>
            <a:r>
              <a:rPr lang="en-US" sz="2400" dirty="0" err="1">
                <a:solidFill>
                  <a:srgbClr val="002060"/>
                </a:solidFill>
                <a:cs typeface="Arial" charset="0"/>
              </a:rPr>
              <a:t>câu</a:t>
            </a:r>
            <a:r>
              <a:rPr lang="en-US" sz="2400" dirty="0">
                <a:solidFill>
                  <a:srgbClr val="002060"/>
                </a:solidFill>
                <a:cs typeface="Arial" charset="0"/>
              </a:rPr>
              <a:t> </a:t>
            </a:r>
            <a:r>
              <a:rPr lang="en-US" sz="2400" dirty="0" err="1">
                <a:solidFill>
                  <a:srgbClr val="002060"/>
                </a:solidFill>
                <a:cs typeface="Arial" charset="0"/>
              </a:rPr>
              <a:t>lệnh</a:t>
            </a:r>
            <a:r>
              <a:rPr lang="en-US" sz="2400" dirty="0">
                <a:solidFill>
                  <a:srgbClr val="002060"/>
                </a:solidFill>
                <a:cs typeface="Arial" charset="0"/>
              </a:rPr>
              <a:t> → </a:t>
            </a:r>
            <a:r>
              <a:rPr lang="en-US" sz="2400" dirty="0" err="1">
                <a:solidFill>
                  <a:srgbClr val="002060"/>
                </a:solidFill>
                <a:cs typeface="Arial" charset="0"/>
              </a:rPr>
              <a:t>chương</a:t>
            </a:r>
            <a:r>
              <a:rPr lang="en-US" sz="2400" dirty="0">
                <a:solidFill>
                  <a:srgbClr val="002060"/>
                </a:solidFill>
                <a:cs typeface="Arial" charset="0"/>
              </a:rPr>
              <a:t> </a:t>
            </a:r>
            <a:r>
              <a:rPr lang="en-US" sz="2400" dirty="0" err="1">
                <a:solidFill>
                  <a:srgbClr val="002060"/>
                </a:solidFill>
                <a:cs typeface="Arial" charset="0"/>
              </a:rPr>
              <a:t>trình</a:t>
            </a:r>
            <a:r>
              <a:rPr lang="en-US" sz="2400" dirty="0">
                <a:solidFill>
                  <a:srgbClr val="002060"/>
                </a:solidFill>
                <a:cs typeface="Arial" charset="0"/>
              </a:rPr>
              <a:t> </a:t>
            </a:r>
          </a:p>
          <a:p>
            <a:r>
              <a:rPr lang="en-US" sz="2800" dirty="0" err="1">
                <a:solidFill>
                  <a:srgbClr val="002060"/>
                </a:solidFill>
                <a:cs typeface="Arial" charset="0"/>
              </a:rPr>
              <a:t>Ví</a:t>
            </a:r>
            <a:r>
              <a:rPr lang="en-US" sz="2800" dirty="0">
                <a:solidFill>
                  <a:srgbClr val="002060"/>
                </a:solidFill>
                <a:cs typeface="Arial" charset="0"/>
              </a:rPr>
              <a:t> </a:t>
            </a:r>
            <a:r>
              <a:rPr lang="en-US" sz="2800" dirty="0" err="1">
                <a:solidFill>
                  <a:srgbClr val="002060"/>
                </a:solidFill>
                <a:cs typeface="Arial" charset="0"/>
              </a:rPr>
              <a:t>dụ</a:t>
            </a:r>
            <a:r>
              <a:rPr lang="en-US" sz="2800" dirty="0">
                <a:solidFill>
                  <a:srgbClr val="002060"/>
                </a:solidFill>
                <a:cs typeface="Arial" charset="0"/>
              </a:rPr>
              <a:t>:</a:t>
            </a:r>
          </a:p>
          <a:p>
            <a:pPr lvl="1"/>
            <a:r>
              <a:rPr lang="en-US" sz="2400" dirty="0">
                <a:solidFill>
                  <a:srgbClr val="002060"/>
                </a:solidFill>
                <a:cs typeface="Arial" charset="0"/>
              </a:rPr>
              <a:t>include, void, main…</a:t>
            </a:r>
          </a:p>
          <a:p>
            <a:pPr lvl="1"/>
            <a:r>
              <a:rPr lang="en-US" sz="2400" dirty="0" err="1">
                <a:solidFill>
                  <a:srgbClr val="002060"/>
                </a:solidFill>
                <a:cs typeface="Arial" charset="0"/>
              </a:rPr>
              <a:t>printf</a:t>
            </a:r>
            <a:r>
              <a:rPr lang="en-US" sz="2400">
                <a:solidFill>
                  <a:srgbClr val="002060"/>
                </a:solidFill>
                <a:cs typeface="Arial" charset="0"/>
              </a:rPr>
              <a:t>(“…”), …</a:t>
            </a:r>
            <a:endParaRPr lang="en-US" sz="2400" dirty="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95BC8E2B-AE71-4D79-9F99-0B8FB7FBC878}" type="slidenum">
              <a:rPr lang="en-US" smtClean="0"/>
              <a:pPr>
                <a:defRPr/>
              </a:pPr>
              <a:t>7</a:t>
            </a:fld>
            <a:endParaRPr lang="en-US"/>
          </a:p>
        </p:txBody>
      </p:sp>
      <p:sp>
        <p:nvSpPr>
          <p:cNvPr id="5" name="Rectangle 4"/>
          <p:cNvSpPr/>
          <p:nvPr/>
        </p:nvSpPr>
        <p:spPr>
          <a:xfrm>
            <a:off x="6400800" y="3321534"/>
            <a:ext cx="5486400" cy="193899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sz="2000" dirty="0">
                <a:solidFill>
                  <a:srgbClr val="7030A0"/>
                </a:solidFill>
              </a:rPr>
              <a:t>#include </a:t>
            </a:r>
            <a:r>
              <a:rPr lang="en-US" sz="2000" dirty="0">
                <a:solidFill>
                  <a:schemeClr val="accent6">
                    <a:lumMod val="75000"/>
                  </a:schemeClr>
                </a:solidFill>
              </a:rPr>
              <a:t>&lt;</a:t>
            </a:r>
            <a:r>
              <a:rPr lang="en-US" sz="2000" dirty="0" err="1">
                <a:solidFill>
                  <a:schemeClr val="accent6">
                    <a:lumMod val="75000"/>
                  </a:schemeClr>
                </a:solidFill>
              </a:rPr>
              <a:t>stdio.h</a:t>
            </a:r>
            <a:r>
              <a:rPr lang="en-US" sz="2000" dirty="0">
                <a:solidFill>
                  <a:schemeClr val="accent6">
                    <a:lumMod val="75000"/>
                  </a:schemeClr>
                </a:solidFill>
              </a:rPr>
              <a:t>&gt;</a:t>
            </a:r>
          </a:p>
          <a:p>
            <a:pPr>
              <a:buNone/>
            </a:pPr>
            <a:r>
              <a:rPr lang="en-US" sz="2000" dirty="0">
                <a:solidFill>
                  <a:srgbClr val="7030A0"/>
                </a:solidFill>
              </a:rPr>
              <a:t>#include </a:t>
            </a:r>
            <a:r>
              <a:rPr lang="en-US" sz="2000" dirty="0">
                <a:solidFill>
                  <a:schemeClr val="accent6">
                    <a:lumMod val="75000"/>
                  </a:schemeClr>
                </a:solidFill>
              </a:rPr>
              <a:t>&lt;</a:t>
            </a:r>
            <a:r>
              <a:rPr lang="en-US" sz="2000" dirty="0" err="1">
                <a:solidFill>
                  <a:schemeClr val="accent6">
                    <a:lumMod val="75000"/>
                  </a:schemeClr>
                </a:solidFill>
              </a:rPr>
              <a:t>conio.h</a:t>
            </a:r>
            <a:r>
              <a:rPr lang="en-US" sz="2000" dirty="0">
                <a:solidFill>
                  <a:schemeClr val="accent6">
                    <a:lumMod val="75000"/>
                  </a:schemeClr>
                </a:solidFill>
              </a:rPr>
              <a:t>&gt;</a:t>
            </a:r>
          </a:p>
          <a:p>
            <a:pPr>
              <a:buNone/>
            </a:pPr>
            <a:r>
              <a:rPr lang="en-US" sz="2000">
                <a:solidFill>
                  <a:srgbClr val="00B050"/>
                </a:solidFill>
              </a:rPr>
              <a:t>int</a:t>
            </a:r>
            <a:r>
              <a:rPr lang="en-US" sz="2000"/>
              <a:t> </a:t>
            </a:r>
            <a:r>
              <a:rPr lang="en-US" sz="2000" dirty="0"/>
              <a:t>main(){</a:t>
            </a:r>
          </a:p>
          <a:p>
            <a:pPr>
              <a:buNone/>
            </a:pPr>
            <a:r>
              <a:rPr lang="en-US" sz="2000" dirty="0"/>
              <a:t>	   </a:t>
            </a:r>
            <a:r>
              <a:rPr lang="en-US" sz="2000" dirty="0" err="1"/>
              <a:t>printf</a:t>
            </a:r>
            <a:r>
              <a:rPr lang="en-US" sz="2000" dirty="0"/>
              <a:t>(“Hello World\n”);</a:t>
            </a:r>
          </a:p>
          <a:p>
            <a:pPr>
              <a:buNone/>
            </a:pPr>
            <a:r>
              <a:rPr lang="en-US" sz="2000"/>
              <a:t>	   printf(“I am C programming language”);</a:t>
            </a:r>
            <a:endParaRPr lang="en-US" sz="2000" dirty="0"/>
          </a:p>
          <a:p>
            <a:pPr>
              <a:buNone/>
            </a:pPr>
            <a:r>
              <a:rPr lang="en-US" sz="2000" dirty="0"/>
              <a:t>}</a:t>
            </a:r>
          </a:p>
        </p:txBody>
      </p:sp>
      <p:sp>
        <p:nvSpPr>
          <p:cNvPr id="7" name="Line Callout 2 6"/>
          <p:cNvSpPr/>
          <p:nvPr/>
        </p:nvSpPr>
        <p:spPr>
          <a:xfrm>
            <a:off x="3276600" y="4786572"/>
            <a:ext cx="2139749" cy="852227"/>
          </a:xfrm>
          <a:prstGeom prst="borderCallout2">
            <a:avLst>
              <a:gd name="adj1" fmla="val 21471"/>
              <a:gd name="adj2" fmla="val 107011"/>
              <a:gd name="adj3" fmla="val -27508"/>
              <a:gd name="adj4" fmla="val 138889"/>
              <a:gd name="adj5" fmla="val -25955"/>
              <a:gd name="adj6" fmla="val 1994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Câu lệnh </a:t>
            </a:r>
            <a:r>
              <a:rPr lang="en-US" sz="2400" dirty="0" err="1"/>
              <a:t>printf</a:t>
            </a:r>
            <a:endParaRPr lang="en-US" sz="2400" dirty="0"/>
          </a:p>
        </p:txBody>
      </p:sp>
      <p:sp>
        <p:nvSpPr>
          <p:cNvPr id="2" name="Title 3">
            <a:extLst>
              <a:ext uri="{FF2B5EF4-FFF2-40B4-BE49-F238E27FC236}">
                <a16:creationId xmlns:a16="http://schemas.microsoft.com/office/drawing/2014/main" id="{327F8286-ADD2-E06C-38D2-D2444D5525F0}"/>
              </a:ext>
            </a:extLst>
          </p:cNvPr>
          <p:cNvSpPr>
            <a:spLocks noGrp="1"/>
          </p:cNvSpPr>
          <p:nvPr>
            <p:ph type="title"/>
          </p:nvPr>
        </p:nvSpPr>
        <p:spPr>
          <a:xfrm>
            <a:off x="0" y="-26145"/>
            <a:ext cx="12100957" cy="685801"/>
          </a:xfrm>
        </p:spPr>
        <p:txBody>
          <a:bodyPr>
            <a:normAutofit/>
          </a:bodyPr>
          <a:lstStyle/>
          <a:p>
            <a:r>
              <a:rPr lang="en-US" sz="3600"/>
              <a:t>1.1 Tập ký tự</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p:cNvSpPr>
          <p:nvPr>
            <p:ph type="body" idx="4294967295"/>
          </p:nvPr>
        </p:nvSpPr>
        <p:spPr>
          <a:xfrm>
            <a:off x="609600" y="1066800"/>
            <a:ext cx="10972800" cy="4525963"/>
          </a:xfrm>
        </p:spPr>
        <p:txBody>
          <a:bodyPr/>
          <a:lstStyle/>
          <a:p>
            <a:r>
              <a:rPr lang="en-US">
                <a:solidFill>
                  <a:srgbClr val="002060"/>
                </a:solidFill>
                <a:cs typeface="Arial" charset="0"/>
              </a:rPr>
              <a:t>Tập ký tự trong C</a:t>
            </a:r>
          </a:p>
          <a:p>
            <a:pPr lvl="1"/>
            <a:r>
              <a:rPr lang="vi-VN">
                <a:solidFill>
                  <a:srgbClr val="002060"/>
                </a:solidFill>
                <a:cs typeface="Arial" charset="0"/>
              </a:rPr>
              <a:t>26 chữ cái hoa:</a:t>
            </a:r>
            <a:r>
              <a:rPr lang="en-US">
                <a:solidFill>
                  <a:srgbClr val="002060"/>
                </a:solidFill>
                <a:cs typeface="Arial" charset="0"/>
              </a:rPr>
              <a:t> </a:t>
            </a:r>
            <a:r>
              <a:rPr lang="vi-VN">
                <a:solidFill>
                  <a:srgbClr val="002060"/>
                </a:solidFill>
                <a:cs typeface="Arial" charset="0"/>
              </a:rPr>
              <a:t>A B C ... X  Y  Z </a:t>
            </a:r>
            <a:endParaRPr lang="en-US">
              <a:solidFill>
                <a:srgbClr val="002060"/>
              </a:solidFill>
              <a:cs typeface="Arial" charset="0"/>
            </a:endParaRPr>
          </a:p>
          <a:p>
            <a:pPr lvl="1"/>
            <a:r>
              <a:rPr lang="vi-VN">
                <a:solidFill>
                  <a:srgbClr val="002060"/>
                </a:solidFill>
                <a:cs typeface="Arial" charset="0"/>
              </a:rPr>
              <a:t>26 chữ cái thường:a b c … x y z.</a:t>
            </a:r>
            <a:endParaRPr lang="en-US">
              <a:solidFill>
                <a:srgbClr val="002060"/>
              </a:solidFill>
              <a:cs typeface="Arial" charset="0"/>
            </a:endParaRPr>
          </a:p>
          <a:p>
            <a:pPr lvl="1"/>
            <a:r>
              <a:rPr lang="vi-VN">
                <a:solidFill>
                  <a:srgbClr val="002060"/>
                </a:solidFill>
                <a:cs typeface="Arial" charset="0"/>
              </a:rPr>
              <a:t>10 chữ số: 0 1 2 3 4 5 6 7 8 9.</a:t>
            </a:r>
            <a:endParaRPr lang="en-US">
              <a:solidFill>
                <a:srgbClr val="002060"/>
              </a:solidFill>
              <a:cs typeface="Arial" charset="0"/>
            </a:endParaRPr>
          </a:p>
          <a:p>
            <a:pPr lvl="1"/>
            <a:r>
              <a:rPr lang="vi-VN">
                <a:solidFill>
                  <a:srgbClr val="002060"/>
                </a:solidFill>
                <a:cs typeface="Arial" charset="0"/>
              </a:rPr>
              <a:t>Các kí hiệu toán học:+  -  *  /  =  &lt;  &gt;</a:t>
            </a:r>
            <a:endParaRPr lang="en-US">
              <a:solidFill>
                <a:srgbClr val="002060"/>
              </a:solidFill>
              <a:cs typeface="Arial" charset="0"/>
            </a:endParaRPr>
          </a:p>
          <a:p>
            <a:pPr lvl="1"/>
            <a:r>
              <a:rPr lang="vi-VN">
                <a:solidFill>
                  <a:srgbClr val="002060"/>
                </a:solidFill>
                <a:cs typeface="Arial" charset="0"/>
              </a:rPr>
              <a:t>Các dấu ngăn cách: .  ;  ,  :  space</a:t>
            </a:r>
            <a:r>
              <a:rPr lang="en-US">
                <a:solidFill>
                  <a:srgbClr val="002060"/>
                </a:solidFill>
                <a:cs typeface="Arial" charset="0"/>
              </a:rPr>
              <a:t>  tab</a:t>
            </a:r>
          </a:p>
          <a:p>
            <a:pPr lvl="1"/>
            <a:r>
              <a:rPr lang="vi-VN">
                <a:solidFill>
                  <a:srgbClr val="002060"/>
                </a:solidFill>
                <a:cs typeface="Arial" charset="0"/>
              </a:rPr>
              <a:t>Các dấu ngoặc:(  )  [  ]  {  }</a:t>
            </a:r>
            <a:endParaRPr lang="en-US">
              <a:solidFill>
                <a:srgbClr val="002060"/>
              </a:solidFill>
              <a:cs typeface="Arial" charset="0"/>
            </a:endParaRPr>
          </a:p>
          <a:p>
            <a:pPr lvl="1"/>
            <a:r>
              <a:rPr lang="vi-VN">
                <a:solidFill>
                  <a:srgbClr val="002060"/>
                </a:solidFill>
                <a:cs typeface="Arial" charset="0"/>
              </a:rPr>
              <a:t>Các kí hiệu đặc biệt:_  ?  $  &amp;  #  ^  \  !  ‘  “  ~  .v.v.</a:t>
            </a:r>
            <a:endParaRPr lang="en-US">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B7B8D05A-D66E-4B55-A701-13EB97E494EE}" type="slidenum">
              <a:rPr lang="en-US" smtClean="0"/>
              <a:pPr>
                <a:defRPr/>
              </a:pPr>
              <a:t>8</a:t>
            </a:fld>
            <a:endParaRPr lang="en-US"/>
          </a:p>
        </p:txBody>
      </p:sp>
      <p:sp>
        <p:nvSpPr>
          <p:cNvPr id="2" name="Title 3">
            <a:extLst>
              <a:ext uri="{FF2B5EF4-FFF2-40B4-BE49-F238E27FC236}">
                <a16:creationId xmlns:a16="http://schemas.microsoft.com/office/drawing/2014/main" id="{27B0E168-EC34-C706-1B55-057C2BC63EA7}"/>
              </a:ext>
            </a:extLst>
          </p:cNvPr>
          <p:cNvSpPr>
            <a:spLocks noGrp="1"/>
          </p:cNvSpPr>
          <p:nvPr>
            <p:ph type="title"/>
          </p:nvPr>
        </p:nvSpPr>
        <p:spPr>
          <a:xfrm>
            <a:off x="0" y="-26145"/>
            <a:ext cx="12100957" cy="685801"/>
          </a:xfrm>
        </p:spPr>
        <p:txBody>
          <a:bodyPr>
            <a:normAutofit/>
          </a:bodyPr>
          <a:lstStyle/>
          <a:p>
            <a:r>
              <a:rPr lang="en-US" sz="3600"/>
              <a:t>1.1 Tập ký tự</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p:cNvSpPr>
          <p:nvPr>
            <p:ph type="body" idx="4294967295"/>
          </p:nvPr>
        </p:nvSpPr>
        <p:spPr>
          <a:xfrm>
            <a:off x="609600" y="914400"/>
            <a:ext cx="10972800" cy="4525963"/>
          </a:xfrm>
        </p:spPr>
        <p:txBody>
          <a:bodyPr/>
          <a:lstStyle/>
          <a:p>
            <a:r>
              <a:rPr lang="en-US" dirty="0" err="1">
                <a:solidFill>
                  <a:srgbClr val="002060"/>
                </a:solidFill>
                <a:cs typeface="Arial" charset="0"/>
              </a:rPr>
              <a:t>Từ</a:t>
            </a:r>
            <a:r>
              <a:rPr lang="en-US" dirty="0">
                <a:solidFill>
                  <a:srgbClr val="002060"/>
                </a:solidFill>
                <a:cs typeface="Arial" charset="0"/>
              </a:rPr>
              <a:t> </a:t>
            </a:r>
            <a:r>
              <a:rPr lang="en-US" dirty="0" err="1">
                <a:solidFill>
                  <a:srgbClr val="002060"/>
                </a:solidFill>
                <a:cs typeface="Arial" charset="0"/>
              </a:rPr>
              <a:t>khóa</a:t>
            </a:r>
            <a:r>
              <a:rPr lang="en-US" dirty="0">
                <a:solidFill>
                  <a:srgbClr val="002060"/>
                </a:solidFill>
                <a:cs typeface="Arial" charset="0"/>
              </a:rPr>
              <a:t> (keyword) </a:t>
            </a:r>
          </a:p>
          <a:p>
            <a:pPr lvl="1"/>
            <a:r>
              <a:rPr lang="en-US" dirty="0" err="1">
                <a:solidFill>
                  <a:srgbClr val="002060"/>
                </a:solidFill>
                <a:cs typeface="Arial" charset="0"/>
              </a:rPr>
              <a:t>Có</a:t>
            </a:r>
            <a:r>
              <a:rPr lang="en-US" dirty="0">
                <a:solidFill>
                  <a:srgbClr val="002060"/>
                </a:solidFill>
                <a:cs typeface="Arial" charset="0"/>
              </a:rPr>
              <a:t> </a:t>
            </a:r>
            <a:r>
              <a:rPr lang="en-US" dirty="0" err="1">
                <a:solidFill>
                  <a:srgbClr val="002060"/>
                </a:solidFill>
                <a:cs typeface="Arial" charset="0"/>
              </a:rPr>
              <a:t>sẵn</a:t>
            </a:r>
            <a:r>
              <a:rPr lang="en-US" dirty="0">
                <a:solidFill>
                  <a:srgbClr val="002060"/>
                </a:solidFill>
                <a:cs typeface="Arial" charset="0"/>
              </a:rPr>
              <a:t> </a:t>
            </a:r>
            <a:r>
              <a:rPr lang="en-US" dirty="0" err="1">
                <a:solidFill>
                  <a:srgbClr val="002060"/>
                </a:solidFill>
                <a:cs typeface="Arial" charset="0"/>
              </a:rPr>
              <a:t>trong</a:t>
            </a:r>
            <a:r>
              <a:rPr lang="en-US" dirty="0">
                <a:solidFill>
                  <a:srgbClr val="002060"/>
                </a:solidFill>
                <a:cs typeface="Arial" charset="0"/>
              </a:rPr>
              <a:t> </a:t>
            </a:r>
            <a:r>
              <a:rPr lang="en-US" dirty="0" err="1">
                <a:solidFill>
                  <a:srgbClr val="002060"/>
                </a:solidFill>
                <a:cs typeface="Arial" charset="0"/>
              </a:rPr>
              <a:t>mỗi</a:t>
            </a:r>
            <a:r>
              <a:rPr lang="en-US" dirty="0">
                <a:solidFill>
                  <a:srgbClr val="002060"/>
                </a:solidFill>
                <a:cs typeface="Arial" charset="0"/>
              </a:rPr>
              <a:t> </a:t>
            </a:r>
            <a:r>
              <a:rPr lang="en-US" dirty="0" err="1">
                <a:solidFill>
                  <a:srgbClr val="002060"/>
                </a:solidFill>
                <a:cs typeface="Arial" charset="0"/>
              </a:rPr>
              <a:t>ngôn</a:t>
            </a:r>
            <a:r>
              <a:rPr lang="en-US" dirty="0">
                <a:solidFill>
                  <a:srgbClr val="002060"/>
                </a:solidFill>
                <a:cs typeface="Arial" charset="0"/>
              </a:rPr>
              <a:t> </a:t>
            </a:r>
            <a:r>
              <a:rPr lang="en-US" dirty="0" err="1">
                <a:solidFill>
                  <a:srgbClr val="002060"/>
                </a:solidFill>
                <a:cs typeface="Arial" charset="0"/>
              </a:rPr>
              <a:t>ngữ</a:t>
            </a:r>
            <a:r>
              <a:rPr lang="en-US" dirty="0">
                <a:solidFill>
                  <a:srgbClr val="002060"/>
                </a:solidFill>
                <a:cs typeface="Arial" charset="0"/>
              </a:rPr>
              <a:t> </a:t>
            </a:r>
            <a:r>
              <a:rPr lang="en-US" dirty="0" err="1">
                <a:solidFill>
                  <a:srgbClr val="002060"/>
                </a:solidFill>
                <a:cs typeface="Arial" charset="0"/>
              </a:rPr>
              <a:t>lập</a:t>
            </a:r>
            <a:r>
              <a:rPr lang="en-US" dirty="0">
                <a:solidFill>
                  <a:srgbClr val="002060"/>
                </a:solidFill>
                <a:cs typeface="Arial" charset="0"/>
              </a:rPr>
              <a:t> </a:t>
            </a:r>
            <a:r>
              <a:rPr lang="en-US" dirty="0" err="1">
                <a:solidFill>
                  <a:srgbClr val="002060"/>
                </a:solidFill>
                <a:cs typeface="Arial" charset="0"/>
              </a:rPr>
              <a:t>trình</a:t>
            </a:r>
            <a:endParaRPr lang="en-US" dirty="0">
              <a:solidFill>
                <a:srgbClr val="002060"/>
              </a:solidFill>
              <a:cs typeface="Arial" charset="0"/>
            </a:endParaRPr>
          </a:p>
          <a:p>
            <a:pPr lvl="1"/>
            <a:r>
              <a:rPr lang="en-US" dirty="0" err="1">
                <a:solidFill>
                  <a:srgbClr val="002060"/>
                </a:solidFill>
                <a:cs typeface="Arial" charset="0"/>
              </a:rPr>
              <a:t>Dành</a:t>
            </a:r>
            <a:r>
              <a:rPr lang="en-US" dirty="0">
                <a:solidFill>
                  <a:srgbClr val="002060"/>
                </a:solidFill>
                <a:cs typeface="Arial" charset="0"/>
              </a:rPr>
              <a:t> </a:t>
            </a:r>
            <a:r>
              <a:rPr lang="en-US" dirty="0" err="1">
                <a:solidFill>
                  <a:srgbClr val="002060"/>
                </a:solidFill>
                <a:cs typeface="Arial" charset="0"/>
              </a:rPr>
              <a:t>riêng</a:t>
            </a:r>
            <a:r>
              <a:rPr lang="en-US" dirty="0">
                <a:solidFill>
                  <a:srgbClr val="002060"/>
                </a:solidFill>
                <a:cs typeface="Arial" charset="0"/>
              </a:rPr>
              <a:t> </a:t>
            </a:r>
            <a:r>
              <a:rPr lang="en-US" dirty="0" err="1">
                <a:solidFill>
                  <a:srgbClr val="002060"/>
                </a:solidFill>
                <a:cs typeface="Arial" charset="0"/>
              </a:rPr>
              <a:t>cho</a:t>
            </a:r>
            <a:r>
              <a:rPr lang="en-US" dirty="0">
                <a:solidFill>
                  <a:srgbClr val="002060"/>
                </a:solidFill>
                <a:cs typeface="Arial" charset="0"/>
              </a:rPr>
              <a:t> </a:t>
            </a:r>
            <a:r>
              <a:rPr lang="en-US" dirty="0" err="1">
                <a:solidFill>
                  <a:srgbClr val="002060"/>
                </a:solidFill>
                <a:cs typeface="Arial" charset="0"/>
              </a:rPr>
              <a:t>các</a:t>
            </a:r>
            <a:r>
              <a:rPr lang="en-US" dirty="0">
                <a:solidFill>
                  <a:srgbClr val="002060"/>
                </a:solidFill>
                <a:cs typeface="Arial" charset="0"/>
              </a:rPr>
              <a:t> </a:t>
            </a:r>
            <a:r>
              <a:rPr lang="en-US" dirty="0" err="1">
                <a:solidFill>
                  <a:srgbClr val="002060"/>
                </a:solidFill>
                <a:cs typeface="Arial" charset="0"/>
              </a:rPr>
              <a:t>mục</a:t>
            </a:r>
            <a:r>
              <a:rPr lang="en-US" dirty="0">
                <a:solidFill>
                  <a:srgbClr val="002060"/>
                </a:solidFill>
                <a:cs typeface="Arial" charset="0"/>
              </a:rPr>
              <a:t> </a:t>
            </a:r>
            <a:r>
              <a:rPr lang="en-US" dirty="0" err="1">
                <a:solidFill>
                  <a:srgbClr val="002060"/>
                </a:solidFill>
                <a:cs typeface="Arial" charset="0"/>
              </a:rPr>
              <a:t>đích</a:t>
            </a:r>
            <a:r>
              <a:rPr lang="en-US" dirty="0">
                <a:solidFill>
                  <a:srgbClr val="002060"/>
                </a:solidFill>
                <a:cs typeface="Arial" charset="0"/>
              </a:rPr>
              <a:t> </a:t>
            </a:r>
            <a:r>
              <a:rPr lang="en-US" dirty="0" err="1">
                <a:solidFill>
                  <a:srgbClr val="002060"/>
                </a:solidFill>
                <a:cs typeface="Arial" charset="0"/>
              </a:rPr>
              <a:t>xác</a:t>
            </a:r>
            <a:r>
              <a:rPr lang="en-US" dirty="0">
                <a:solidFill>
                  <a:srgbClr val="002060"/>
                </a:solidFill>
                <a:cs typeface="Arial" charset="0"/>
              </a:rPr>
              <a:t> </a:t>
            </a:r>
            <a:r>
              <a:rPr lang="en-US" dirty="0" err="1">
                <a:solidFill>
                  <a:srgbClr val="002060"/>
                </a:solidFill>
                <a:cs typeface="Arial" charset="0"/>
              </a:rPr>
              <a:t>định</a:t>
            </a:r>
            <a:endParaRPr lang="en-US" dirty="0">
              <a:solidFill>
                <a:srgbClr val="002060"/>
              </a:solidFill>
              <a:cs typeface="Arial" charset="0"/>
            </a:endParaRPr>
          </a:p>
          <a:p>
            <a:pPr lvl="2"/>
            <a:r>
              <a:rPr lang="en-US" sz="2800" dirty="0" err="1">
                <a:solidFill>
                  <a:srgbClr val="002060"/>
                </a:solidFill>
                <a:cs typeface="Arial" charset="0"/>
              </a:rPr>
              <a:t>Đặt</a:t>
            </a:r>
            <a:r>
              <a:rPr lang="en-US" sz="2800" dirty="0">
                <a:solidFill>
                  <a:srgbClr val="002060"/>
                </a:solidFill>
                <a:cs typeface="Arial" charset="0"/>
              </a:rPr>
              <a:t> </a:t>
            </a:r>
            <a:r>
              <a:rPr lang="en-US" sz="2800" dirty="0" err="1">
                <a:solidFill>
                  <a:srgbClr val="002060"/>
                </a:solidFill>
                <a:cs typeface="Arial" charset="0"/>
              </a:rPr>
              <a:t>tên</a:t>
            </a:r>
            <a:r>
              <a:rPr lang="en-US" sz="2800" dirty="0">
                <a:solidFill>
                  <a:srgbClr val="002060"/>
                </a:solidFill>
                <a:cs typeface="Arial" charset="0"/>
              </a:rPr>
              <a:t> </a:t>
            </a:r>
            <a:r>
              <a:rPr lang="en-US" sz="2800" dirty="0" err="1">
                <a:solidFill>
                  <a:srgbClr val="002060"/>
                </a:solidFill>
                <a:cs typeface="Arial" charset="0"/>
              </a:rPr>
              <a:t>cho</a:t>
            </a:r>
            <a:r>
              <a:rPr lang="en-US" sz="2800" dirty="0">
                <a:solidFill>
                  <a:srgbClr val="002060"/>
                </a:solidFill>
                <a:cs typeface="Arial" charset="0"/>
              </a:rPr>
              <a:t> </a:t>
            </a:r>
            <a:r>
              <a:rPr lang="en-US" sz="2800" dirty="0" err="1">
                <a:solidFill>
                  <a:srgbClr val="002060"/>
                </a:solidFill>
                <a:cs typeface="Arial" charset="0"/>
              </a:rPr>
              <a:t>kiểu</a:t>
            </a:r>
            <a:r>
              <a:rPr lang="en-US" sz="2800" dirty="0">
                <a:solidFill>
                  <a:srgbClr val="002060"/>
                </a:solidFill>
                <a:cs typeface="Arial" charset="0"/>
              </a:rPr>
              <a:t> </a:t>
            </a:r>
            <a:r>
              <a:rPr lang="en-US" sz="2800" dirty="0" err="1">
                <a:solidFill>
                  <a:srgbClr val="002060"/>
                </a:solidFill>
                <a:cs typeface="Arial" charset="0"/>
              </a:rPr>
              <a:t>dữ</a:t>
            </a:r>
            <a:r>
              <a:rPr lang="en-US" sz="2800" dirty="0">
                <a:solidFill>
                  <a:srgbClr val="002060"/>
                </a:solidFill>
                <a:cs typeface="Arial" charset="0"/>
              </a:rPr>
              <a:t> </a:t>
            </a:r>
            <a:r>
              <a:rPr lang="en-US" sz="2800" dirty="0" err="1">
                <a:solidFill>
                  <a:srgbClr val="002060"/>
                </a:solidFill>
                <a:cs typeface="Arial" charset="0"/>
              </a:rPr>
              <a:t>liệu</a:t>
            </a:r>
            <a:r>
              <a:rPr lang="en-US" sz="2800" dirty="0">
                <a:solidFill>
                  <a:srgbClr val="002060"/>
                </a:solidFill>
                <a:cs typeface="Arial" charset="0"/>
              </a:rPr>
              <a:t>: </a:t>
            </a:r>
            <a:r>
              <a:rPr lang="en-US" sz="2800" dirty="0" err="1">
                <a:solidFill>
                  <a:srgbClr val="002060"/>
                </a:solidFill>
                <a:cs typeface="Arial" charset="0"/>
              </a:rPr>
              <a:t>int</a:t>
            </a:r>
            <a:r>
              <a:rPr lang="en-US" sz="2800" dirty="0">
                <a:solidFill>
                  <a:srgbClr val="002060"/>
                </a:solidFill>
                <a:cs typeface="Arial" charset="0"/>
              </a:rPr>
              <a:t>, float, double…</a:t>
            </a:r>
          </a:p>
          <a:p>
            <a:pPr lvl="2"/>
            <a:r>
              <a:rPr lang="en-US" sz="2800" dirty="0" err="1">
                <a:solidFill>
                  <a:srgbClr val="002060"/>
                </a:solidFill>
                <a:cs typeface="Arial" charset="0"/>
              </a:rPr>
              <a:t>Mô</a:t>
            </a:r>
            <a:r>
              <a:rPr lang="en-US" sz="2800" dirty="0">
                <a:solidFill>
                  <a:srgbClr val="002060"/>
                </a:solidFill>
                <a:cs typeface="Arial" charset="0"/>
              </a:rPr>
              <a:t> </a:t>
            </a:r>
            <a:r>
              <a:rPr lang="en-US" sz="2800" dirty="0" err="1">
                <a:solidFill>
                  <a:srgbClr val="002060"/>
                </a:solidFill>
                <a:cs typeface="Arial" charset="0"/>
              </a:rPr>
              <a:t>tả</a:t>
            </a:r>
            <a:r>
              <a:rPr lang="en-US" sz="2800" dirty="0">
                <a:solidFill>
                  <a:srgbClr val="002060"/>
                </a:solidFill>
                <a:cs typeface="Arial" charset="0"/>
              </a:rPr>
              <a:t> </a:t>
            </a:r>
            <a:r>
              <a:rPr lang="en-US" sz="2800" dirty="0" err="1">
                <a:solidFill>
                  <a:srgbClr val="002060"/>
                </a:solidFill>
                <a:cs typeface="Arial" charset="0"/>
              </a:rPr>
              <a:t>các</a:t>
            </a:r>
            <a:r>
              <a:rPr lang="en-US" sz="2800" dirty="0">
                <a:solidFill>
                  <a:srgbClr val="002060"/>
                </a:solidFill>
                <a:cs typeface="Arial" charset="0"/>
              </a:rPr>
              <a:t> </a:t>
            </a:r>
            <a:r>
              <a:rPr lang="en-US" sz="2800" dirty="0" err="1">
                <a:solidFill>
                  <a:srgbClr val="002060"/>
                </a:solidFill>
                <a:cs typeface="Arial" charset="0"/>
              </a:rPr>
              <a:t>lệnh</a:t>
            </a:r>
            <a:r>
              <a:rPr lang="en-US" sz="2800" dirty="0">
                <a:solidFill>
                  <a:srgbClr val="002060"/>
                </a:solidFill>
                <a:cs typeface="Arial" charset="0"/>
              </a:rPr>
              <a:t>, </a:t>
            </a:r>
            <a:r>
              <a:rPr lang="en-US" sz="2800" dirty="0" err="1">
                <a:solidFill>
                  <a:srgbClr val="002060"/>
                </a:solidFill>
                <a:cs typeface="Arial" charset="0"/>
              </a:rPr>
              <a:t>các</a:t>
            </a:r>
            <a:r>
              <a:rPr lang="en-US" sz="2800" dirty="0">
                <a:solidFill>
                  <a:srgbClr val="002060"/>
                </a:solidFill>
                <a:cs typeface="Arial" charset="0"/>
              </a:rPr>
              <a:t> </a:t>
            </a:r>
            <a:r>
              <a:rPr lang="en-US" sz="2800" dirty="0" err="1">
                <a:solidFill>
                  <a:srgbClr val="002060"/>
                </a:solidFill>
                <a:cs typeface="Arial" charset="0"/>
              </a:rPr>
              <a:t>cấu</a:t>
            </a:r>
            <a:r>
              <a:rPr lang="en-US" sz="2800" dirty="0">
                <a:solidFill>
                  <a:srgbClr val="002060"/>
                </a:solidFill>
                <a:cs typeface="Arial" charset="0"/>
              </a:rPr>
              <a:t> </a:t>
            </a:r>
            <a:r>
              <a:rPr lang="en-US" sz="2800" dirty="0" err="1">
                <a:solidFill>
                  <a:srgbClr val="002060"/>
                </a:solidFill>
                <a:cs typeface="Arial" charset="0"/>
              </a:rPr>
              <a:t>trúc</a:t>
            </a:r>
            <a:r>
              <a:rPr lang="en-US" sz="2800" dirty="0">
                <a:solidFill>
                  <a:srgbClr val="002060"/>
                </a:solidFill>
                <a:cs typeface="Arial" charset="0"/>
              </a:rPr>
              <a:t> </a:t>
            </a:r>
            <a:r>
              <a:rPr lang="en-US" sz="2800" dirty="0" err="1">
                <a:solidFill>
                  <a:srgbClr val="002060"/>
                </a:solidFill>
                <a:cs typeface="Arial" charset="0"/>
              </a:rPr>
              <a:t>lập</a:t>
            </a:r>
            <a:r>
              <a:rPr lang="en-US" sz="2800" dirty="0">
                <a:solidFill>
                  <a:srgbClr val="002060"/>
                </a:solidFill>
                <a:cs typeface="Arial" charset="0"/>
              </a:rPr>
              <a:t> </a:t>
            </a:r>
            <a:r>
              <a:rPr lang="en-US" sz="2800" dirty="0" err="1">
                <a:solidFill>
                  <a:srgbClr val="002060"/>
                </a:solidFill>
                <a:cs typeface="Arial" charset="0"/>
              </a:rPr>
              <a:t>trình</a:t>
            </a:r>
            <a:r>
              <a:rPr lang="en-US" sz="2800" dirty="0">
                <a:solidFill>
                  <a:srgbClr val="002060"/>
                </a:solidFill>
                <a:cs typeface="Arial" charset="0"/>
              </a:rPr>
              <a:t>: if, while</a:t>
            </a:r>
            <a:r>
              <a:rPr lang="en-US" sz="2800">
                <a:solidFill>
                  <a:srgbClr val="002060"/>
                </a:solidFill>
                <a:cs typeface="Arial" charset="0"/>
              </a:rPr>
              <a:t>, for,…</a:t>
            </a:r>
            <a:endParaRPr lang="en-US" sz="2800" dirty="0">
              <a:solidFill>
                <a:srgbClr val="002060"/>
              </a:solidFill>
              <a:cs typeface="Arial" charset="0"/>
            </a:endParaRPr>
          </a:p>
          <a:p>
            <a:r>
              <a:rPr lang="en-US" dirty="0" err="1">
                <a:solidFill>
                  <a:srgbClr val="002060"/>
                </a:solidFill>
                <a:cs typeface="Arial" charset="0"/>
              </a:rPr>
              <a:t>Chú</a:t>
            </a:r>
            <a:r>
              <a:rPr lang="en-US" dirty="0">
                <a:solidFill>
                  <a:srgbClr val="002060"/>
                </a:solidFill>
                <a:cs typeface="Arial" charset="0"/>
              </a:rPr>
              <a:t> ý:</a:t>
            </a:r>
          </a:p>
          <a:p>
            <a:pPr lvl="1"/>
            <a:r>
              <a:rPr lang="en-US" sz="2400" i="1" dirty="0">
                <a:solidFill>
                  <a:srgbClr val="002060"/>
                </a:solidFill>
                <a:cs typeface="Arial" charset="0"/>
              </a:rPr>
              <a:t>C </a:t>
            </a:r>
            <a:r>
              <a:rPr lang="en-US" sz="2400" i="1" dirty="0" err="1">
                <a:solidFill>
                  <a:srgbClr val="002060"/>
                </a:solidFill>
                <a:cs typeface="Arial" charset="0"/>
              </a:rPr>
              <a:t>là</a:t>
            </a:r>
            <a:r>
              <a:rPr lang="en-US" sz="2400" i="1" dirty="0">
                <a:solidFill>
                  <a:srgbClr val="002060"/>
                </a:solidFill>
                <a:cs typeface="Arial" charset="0"/>
              </a:rPr>
              <a:t> </a:t>
            </a:r>
            <a:r>
              <a:rPr lang="en-US" sz="2400" i="1" dirty="0" err="1">
                <a:solidFill>
                  <a:srgbClr val="002060"/>
                </a:solidFill>
                <a:cs typeface="Arial" charset="0"/>
              </a:rPr>
              <a:t>ngôn</a:t>
            </a:r>
            <a:r>
              <a:rPr lang="en-US" sz="2400" i="1" dirty="0">
                <a:solidFill>
                  <a:srgbClr val="002060"/>
                </a:solidFill>
                <a:cs typeface="Arial" charset="0"/>
              </a:rPr>
              <a:t> </a:t>
            </a:r>
            <a:r>
              <a:rPr lang="en-US" sz="2400" i="1" dirty="0" err="1">
                <a:solidFill>
                  <a:srgbClr val="002060"/>
                </a:solidFill>
                <a:cs typeface="Arial" charset="0"/>
              </a:rPr>
              <a:t>ngữ</a:t>
            </a:r>
            <a:r>
              <a:rPr lang="en-US" sz="2400" i="1" dirty="0">
                <a:solidFill>
                  <a:srgbClr val="002060"/>
                </a:solidFill>
                <a:cs typeface="Arial" charset="0"/>
              </a:rPr>
              <a:t> </a:t>
            </a:r>
            <a:r>
              <a:rPr lang="en-US" sz="2400" i="1" dirty="0" err="1">
                <a:solidFill>
                  <a:srgbClr val="002060"/>
                </a:solidFill>
                <a:cs typeface="Arial" charset="0"/>
              </a:rPr>
              <a:t>phân</a:t>
            </a:r>
            <a:r>
              <a:rPr lang="en-US" sz="2400" i="1" dirty="0">
                <a:solidFill>
                  <a:srgbClr val="002060"/>
                </a:solidFill>
                <a:cs typeface="Arial" charset="0"/>
              </a:rPr>
              <a:t> </a:t>
            </a:r>
            <a:r>
              <a:rPr lang="en-US" sz="2400" i="1" dirty="0" err="1">
                <a:solidFill>
                  <a:srgbClr val="002060"/>
                </a:solidFill>
                <a:cs typeface="Arial" charset="0"/>
              </a:rPr>
              <a:t>biệt</a:t>
            </a:r>
            <a:r>
              <a:rPr lang="en-US" sz="2400" i="1" dirty="0">
                <a:solidFill>
                  <a:srgbClr val="002060"/>
                </a:solidFill>
                <a:cs typeface="Arial" charset="0"/>
              </a:rPr>
              <a:t> </a:t>
            </a:r>
            <a:r>
              <a:rPr lang="en-US" sz="2400" i="1" dirty="0" err="1">
                <a:solidFill>
                  <a:srgbClr val="002060"/>
                </a:solidFill>
                <a:cs typeface="Arial" charset="0"/>
              </a:rPr>
              <a:t>chữ</a:t>
            </a:r>
            <a:r>
              <a:rPr lang="en-US" sz="2400" i="1" dirty="0">
                <a:solidFill>
                  <a:srgbClr val="002060"/>
                </a:solidFill>
                <a:cs typeface="Arial" charset="0"/>
              </a:rPr>
              <a:t> </a:t>
            </a:r>
            <a:r>
              <a:rPr lang="en-US" sz="2400" i="1" dirty="0" err="1">
                <a:solidFill>
                  <a:srgbClr val="002060"/>
                </a:solidFill>
                <a:cs typeface="Arial" charset="0"/>
              </a:rPr>
              <a:t>hoa</a:t>
            </a:r>
            <a:r>
              <a:rPr lang="en-US" sz="2400" i="1" dirty="0">
                <a:solidFill>
                  <a:srgbClr val="002060"/>
                </a:solidFill>
                <a:cs typeface="Arial" charset="0"/>
              </a:rPr>
              <a:t>, </a:t>
            </a:r>
            <a:r>
              <a:rPr lang="en-US" sz="2400" i="1" dirty="0" err="1">
                <a:solidFill>
                  <a:srgbClr val="002060"/>
                </a:solidFill>
                <a:cs typeface="Arial" charset="0"/>
              </a:rPr>
              <a:t>chữ</a:t>
            </a:r>
            <a:r>
              <a:rPr lang="en-US" sz="2400" i="1" dirty="0">
                <a:solidFill>
                  <a:srgbClr val="002060"/>
                </a:solidFill>
                <a:cs typeface="Arial" charset="0"/>
              </a:rPr>
              <a:t> </a:t>
            </a:r>
            <a:r>
              <a:rPr lang="en-US" sz="2400" i="1" dirty="0" err="1">
                <a:solidFill>
                  <a:srgbClr val="002060"/>
                </a:solidFill>
                <a:cs typeface="Arial" charset="0"/>
              </a:rPr>
              <a:t>thường</a:t>
            </a:r>
            <a:endParaRPr lang="en-US" sz="2400" i="1" dirty="0">
              <a:solidFill>
                <a:srgbClr val="002060"/>
              </a:solidFill>
              <a:cs typeface="Arial" charset="0"/>
            </a:endParaRPr>
          </a:p>
          <a:p>
            <a:pPr lvl="1"/>
            <a:r>
              <a:rPr lang="en-US" sz="2400" i="1" dirty="0" err="1">
                <a:solidFill>
                  <a:srgbClr val="002060"/>
                </a:solidFill>
                <a:cs typeface="Arial" charset="0"/>
              </a:rPr>
              <a:t>Tất</a:t>
            </a:r>
            <a:r>
              <a:rPr lang="en-US" sz="2400" i="1" dirty="0">
                <a:solidFill>
                  <a:srgbClr val="002060"/>
                </a:solidFill>
                <a:cs typeface="Arial" charset="0"/>
              </a:rPr>
              <a:t> </a:t>
            </a:r>
            <a:r>
              <a:rPr lang="en-US" sz="2400" i="1" dirty="0" err="1">
                <a:solidFill>
                  <a:srgbClr val="002060"/>
                </a:solidFill>
                <a:cs typeface="Arial" charset="0"/>
              </a:rPr>
              <a:t>cả</a:t>
            </a:r>
            <a:r>
              <a:rPr lang="en-US" sz="2400" i="1" dirty="0">
                <a:solidFill>
                  <a:srgbClr val="002060"/>
                </a:solidFill>
                <a:cs typeface="Arial" charset="0"/>
              </a:rPr>
              <a:t> </a:t>
            </a:r>
            <a:r>
              <a:rPr lang="en-US" sz="2400" i="1" dirty="0" err="1">
                <a:solidFill>
                  <a:srgbClr val="002060"/>
                </a:solidFill>
                <a:cs typeface="Arial" charset="0"/>
              </a:rPr>
              <a:t>từ</a:t>
            </a:r>
            <a:r>
              <a:rPr lang="en-US" sz="2400" i="1" dirty="0">
                <a:solidFill>
                  <a:srgbClr val="002060"/>
                </a:solidFill>
                <a:cs typeface="Arial" charset="0"/>
              </a:rPr>
              <a:t> </a:t>
            </a:r>
            <a:r>
              <a:rPr lang="en-US" sz="2400" i="1" dirty="0" err="1">
                <a:solidFill>
                  <a:srgbClr val="002060"/>
                </a:solidFill>
                <a:cs typeface="Arial" charset="0"/>
              </a:rPr>
              <a:t>khóa</a:t>
            </a:r>
            <a:r>
              <a:rPr lang="en-US" sz="2400" i="1" dirty="0">
                <a:solidFill>
                  <a:srgbClr val="002060"/>
                </a:solidFill>
                <a:cs typeface="Arial" charset="0"/>
              </a:rPr>
              <a:t> </a:t>
            </a:r>
            <a:r>
              <a:rPr lang="en-US" sz="2400" i="1" dirty="0" err="1">
                <a:solidFill>
                  <a:srgbClr val="002060"/>
                </a:solidFill>
                <a:cs typeface="Arial" charset="0"/>
              </a:rPr>
              <a:t>trong</a:t>
            </a:r>
            <a:r>
              <a:rPr lang="en-US" sz="2400" i="1" dirty="0">
                <a:solidFill>
                  <a:srgbClr val="002060"/>
                </a:solidFill>
                <a:cs typeface="Arial" charset="0"/>
              </a:rPr>
              <a:t> C </a:t>
            </a:r>
            <a:r>
              <a:rPr lang="en-US" sz="2400" i="1" dirty="0" err="1">
                <a:solidFill>
                  <a:srgbClr val="002060"/>
                </a:solidFill>
                <a:cs typeface="Arial" charset="0"/>
              </a:rPr>
              <a:t>đều</a:t>
            </a:r>
            <a:r>
              <a:rPr lang="en-US" sz="2400" i="1" dirty="0">
                <a:solidFill>
                  <a:srgbClr val="002060"/>
                </a:solidFill>
                <a:cs typeface="Arial" charset="0"/>
              </a:rPr>
              <a:t> </a:t>
            </a:r>
            <a:r>
              <a:rPr lang="en-US" sz="2400" i="1" dirty="0" err="1">
                <a:solidFill>
                  <a:srgbClr val="002060"/>
                </a:solidFill>
                <a:cs typeface="Arial" charset="0"/>
              </a:rPr>
              <a:t>viết</a:t>
            </a:r>
            <a:r>
              <a:rPr lang="en-US" sz="2400" i="1" dirty="0">
                <a:solidFill>
                  <a:srgbClr val="002060"/>
                </a:solidFill>
                <a:cs typeface="Arial" charset="0"/>
              </a:rPr>
              <a:t> </a:t>
            </a:r>
            <a:r>
              <a:rPr lang="en-US" sz="2400" i="1" dirty="0" err="1">
                <a:solidFill>
                  <a:srgbClr val="002060"/>
                </a:solidFill>
                <a:cs typeface="Arial" charset="0"/>
              </a:rPr>
              <a:t>bằng</a:t>
            </a:r>
            <a:r>
              <a:rPr lang="en-US" sz="2400" i="1" dirty="0">
                <a:solidFill>
                  <a:srgbClr val="002060"/>
                </a:solidFill>
                <a:cs typeface="Arial" charset="0"/>
              </a:rPr>
              <a:t> </a:t>
            </a:r>
            <a:r>
              <a:rPr lang="en-US" sz="2400" i="1" dirty="0" err="1">
                <a:solidFill>
                  <a:srgbClr val="002060"/>
                </a:solidFill>
                <a:cs typeface="Arial" charset="0"/>
              </a:rPr>
              <a:t>chữ</a:t>
            </a:r>
            <a:r>
              <a:rPr lang="en-US" sz="2400" i="1" dirty="0">
                <a:solidFill>
                  <a:srgbClr val="002060"/>
                </a:solidFill>
                <a:cs typeface="Arial" charset="0"/>
              </a:rPr>
              <a:t> </a:t>
            </a:r>
            <a:r>
              <a:rPr lang="en-US" sz="2400" i="1" dirty="0" err="1">
                <a:solidFill>
                  <a:srgbClr val="002060"/>
                </a:solidFill>
                <a:cs typeface="Arial" charset="0"/>
              </a:rPr>
              <a:t>cái</a:t>
            </a:r>
            <a:r>
              <a:rPr lang="en-US" sz="2400" i="1" dirty="0">
                <a:solidFill>
                  <a:srgbClr val="002060"/>
                </a:solidFill>
                <a:cs typeface="Arial" charset="0"/>
              </a:rPr>
              <a:t> </a:t>
            </a:r>
            <a:r>
              <a:rPr lang="en-US" sz="2400" i="1" dirty="0" err="1">
                <a:solidFill>
                  <a:srgbClr val="002060"/>
                </a:solidFill>
                <a:cs typeface="Arial" charset="0"/>
              </a:rPr>
              <a:t>thường</a:t>
            </a:r>
            <a:endParaRPr lang="en-US" sz="2400" i="1" dirty="0">
              <a:solidFill>
                <a:srgbClr val="002060"/>
              </a:solidFill>
              <a:cs typeface="Arial" charset="0"/>
            </a:endParaRPr>
          </a:p>
          <a:p>
            <a:pPr lvl="1"/>
            <a:endParaRPr lang="en-US" i="1" dirty="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0F63058F-6915-4736-96B6-F69EF5A94826}" type="slidenum">
              <a:rPr lang="en-US" smtClean="0"/>
              <a:pPr>
                <a:defRPr/>
              </a:pPr>
              <a:t>9</a:t>
            </a:fld>
            <a:endParaRPr lang="en-US"/>
          </a:p>
        </p:txBody>
      </p:sp>
      <p:sp>
        <p:nvSpPr>
          <p:cNvPr id="5" name="Rectangle 4"/>
          <p:cNvSpPr/>
          <p:nvPr/>
        </p:nvSpPr>
        <p:spPr>
          <a:xfrm>
            <a:off x="8686800" y="1368361"/>
            <a:ext cx="3124200"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b="1" dirty="0" err="1">
                <a:solidFill>
                  <a:srgbClr val="00B050"/>
                </a:solidFill>
              </a:rPr>
              <a:t>int</a:t>
            </a:r>
            <a:r>
              <a:rPr lang="en-US" dirty="0">
                <a:solidFill>
                  <a:schemeClr val="tx1"/>
                </a:solidFill>
              </a:rPr>
              <a:t> x;</a:t>
            </a:r>
          </a:p>
          <a:p>
            <a:pPr>
              <a:buNone/>
            </a:pPr>
            <a:r>
              <a:rPr lang="en-US" b="1" dirty="0">
                <a:solidFill>
                  <a:srgbClr val="00B050"/>
                </a:solidFill>
              </a:rPr>
              <a:t>for</a:t>
            </a:r>
            <a:r>
              <a:rPr lang="en-US" dirty="0">
                <a:solidFill>
                  <a:schemeClr val="tx1"/>
                </a:solidFill>
              </a:rPr>
              <a:t> (x=1; x&lt;20; x++)</a:t>
            </a:r>
          </a:p>
          <a:p>
            <a:pPr>
              <a:buNone/>
            </a:pPr>
            <a:r>
              <a:rPr lang="en-US" b="1" dirty="0">
                <a:solidFill>
                  <a:schemeClr val="tx1"/>
                </a:solidFill>
              </a:rPr>
              <a:t>	</a:t>
            </a:r>
            <a:r>
              <a:rPr lang="en-US" b="1" dirty="0">
                <a:solidFill>
                  <a:srgbClr val="00B050"/>
                </a:solidFill>
              </a:rPr>
              <a:t>if</a:t>
            </a:r>
            <a:r>
              <a:rPr lang="en-US" dirty="0">
                <a:solidFill>
                  <a:schemeClr val="tx1"/>
                </a:solidFill>
              </a:rPr>
              <a:t> (x/2 = 1) break;</a:t>
            </a:r>
          </a:p>
        </p:txBody>
      </p:sp>
      <p:sp>
        <p:nvSpPr>
          <p:cNvPr id="2" name="Title 3">
            <a:extLst>
              <a:ext uri="{FF2B5EF4-FFF2-40B4-BE49-F238E27FC236}">
                <a16:creationId xmlns:a16="http://schemas.microsoft.com/office/drawing/2014/main" id="{AC42F9FA-DE28-0D9D-D236-E28B61CABB01}"/>
              </a:ext>
            </a:extLst>
          </p:cNvPr>
          <p:cNvSpPr>
            <a:spLocks noGrp="1"/>
          </p:cNvSpPr>
          <p:nvPr>
            <p:ph type="title"/>
          </p:nvPr>
        </p:nvSpPr>
        <p:spPr>
          <a:xfrm>
            <a:off x="0" y="-26145"/>
            <a:ext cx="12100957" cy="685801"/>
          </a:xfrm>
        </p:spPr>
        <p:txBody>
          <a:bodyPr>
            <a:normAutofit/>
          </a:bodyPr>
          <a:lstStyle/>
          <a:p>
            <a:r>
              <a:rPr lang="en-US" sz="3600"/>
              <a:t>1.1 Tập ký tự</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p:cNvSpPr>
          <p:nvPr>
            <p:ph type="body" idx="4294967295"/>
          </p:nvPr>
        </p:nvSpPr>
        <p:spPr>
          <a:xfrm>
            <a:off x="609600" y="976312"/>
            <a:ext cx="10972800" cy="4525963"/>
          </a:xfrm>
        </p:spPr>
        <p:txBody>
          <a:bodyPr>
            <a:normAutofit/>
          </a:bodyPr>
          <a:lstStyle/>
          <a:p>
            <a:r>
              <a:rPr lang="en-US" sz="2800">
                <a:solidFill>
                  <a:srgbClr val="002060"/>
                </a:solidFill>
                <a:cs typeface="Arial" charset="0"/>
              </a:rPr>
              <a:t>Một số từ khóa hay dùng trong C</a:t>
            </a:r>
          </a:p>
          <a:p>
            <a:pPr>
              <a:buFont typeface="Arial" charset="0"/>
              <a:buNone/>
            </a:pPr>
            <a:endParaRPr lang="en-US" sz="2800">
              <a:solidFill>
                <a:srgbClr val="002060"/>
              </a:solidFill>
              <a:cs typeface="Arial" charset="0"/>
            </a:endParaRPr>
          </a:p>
        </p:txBody>
      </p:sp>
      <p:pic>
        <p:nvPicPr>
          <p:cNvPr id="23556" name="Picture 4"/>
          <p:cNvPicPr>
            <a:picLocks noChangeAspect="1" noChangeArrowheads="1"/>
          </p:cNvPicPr>
          <p:nvPr/>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1676400" y="1981200"/>
            <a:ext cx="9067800" cy="243487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0"/>
          </p:nvPr>
        </p:nvSpPr>
        <p:spPr/>
        <p:txBody>
          <a:bodyPr/>
          <a:lstStyle/>
          <a:p>
            <a:pPr>
              <a:defRPr/>
            </a:pPr>
            <a:fld id="{996990A1-9D17-4D1A-9E51-C54C783329DC}" type="slidenum">
              <a:rPr lang="en-US" smtClean="0"/>
              <a:pPr>
                <a:defRPr/>
              </a:pPr>
              <a:t>10</a:t>
            </a:fld>
            <a:endParaRPr lang="en-US"/>
          </a:p>
        </p:txBody>
      </p:sp>
      <p:sp>
        <p:nvSpPr>
          <p:cNvPr id="2" name="Title 3">
            <a:extLst>
              <a:ext uri="{FF2B5EF4-FFF2-40B4-BE49-F238E27FC236}">
                <a16:creationId xmlns:a16="http://schemas.microsoft.com/office/drawing/2014/main" id="{6F69F9A0-DA7D-F59F-C63F-23D4940CD334}"/>
              </a:ext>
            </a:extLst>
          </p:cNvPr>
          <p:cNvSpPr>
            <a:spLocks noGrp="1"/>
          </p:cNvSpPr>
          <p:nvPr>
            <p:ph type="title"/>
          </p:nvPr>
        </p:nvSpPr>
        <p:spPr>
          <a:xfrm>
            <a:off x="0" y="-26145"/>
            <a:ext cx="12100957" cy="685801"/>
          </a:xfrm>
        </p:spPr>
        <p:txBody>
          <a:bodyPr>
            <a:normAutofit/>
          </a:bodyPr>
          <a:lstStyle/>
          <a:p>
            <a:r>
              <a:rPr lang="en-US" sz="3600"/>
              <a:t>1.1 Tập ký tự</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body" idx="4294967295"/>
          </p:nvPr>
        </p:nvSpPr>
        <p:spPr>
          <a:xfrm>
            <a:off x="609600" y="914400"/>
            <a:ext cx="10972800" cy="5029200"/>
          </a:xfrm>
        </p:spPr>
        <p:txBody>
          <a:bodyPr>
            <a:normAutofit/>
          </a:bodyPr>
          <a:lstStyle/>
          <a:p>
            <a:pPr>
              <a:spcBef>
                <a:spcPts val="600"/>
              </a:spcBef>
              <a:spcAft>
                <a:spcPts val="600"/>
              </a:spcAft>
            </a:pPr>
            <a:r>
              <a:rPr lang="vi-VN" sz="2400">
                <a:solidFill>
                  <a:srgbClr val="002060"/>
                </a:solidFill>
                <a:cs typeface="Arial" charset="0"/>
              </a:rPr>
              <a:t>Tên </a:t>
            </a:r>
            <a:r>
              <a:rPr lang="vi-VN" sz="2400" b="0">
                <a:solidFill>
                  <a:srgbClr val="002060"/>
                </a:solidFill>
                <a:cs typeface="Arial" charset="0"/>
              </a:rPr>
              <a:t>là một dãy các kí tự dùng để gọi tên các đối tượng trong chương trình. </a:t>
            </a:r>
            <a:endParaRPr lang="en-US" sz="2400" b="0">
              <a:solidFill>
                <a:srgbClr val="002060"/>
              </a:solidFill>
              <a:cs typeface="Arial" charset="0"/>
            </a:endParaRPr>
          </a:p>
          <a:p>
            <a:pPr>
              <a:spcBef>
                <a:spcPts val="600"/>
              </a:spcBef>
              <a:spcAft>
                <a:spcPts val="600"/>
              </a:spcAft>
            </a:pPr>
            <a:r>
              <a:rPr lang="en-US" sz="2400">
                <a:solidFill>
                  <a:srgbClr val="002060"/>
                </a:solidFill>
                <a:cs typeface="Arial" charset="0"/>
              </a:rPr>
              <a:t>Các đối tượng trong chương trình:</a:t>
            </a:r>
          </a:p>
          <a:p>
            <a:pPr lvl="1">
              <a:spcBef>
                <a:spcPts val="600"/>
              </a:spcBef>
              <a:spcAft>
                <a:spcPts val="600"/>
              </a:spcAft>
            </a:pPr>
            <a:r>
              <a:rPr lang="en-US" sz="2400">
                <a:solidFill>
                  <a:srgbClr val="002060"/>
                </a:solidFill>
                <a:cs typeface="Arial" charset="0"/>
              </a:rPr>
              <a:t>Biến</a:t>
            </a:r>
          </a:p>
          <a:p>
            <a:pPr lvl="1">
              <a:spcBef>
                <a:spcPts val="600"/>
              </a:spcBef>
              <a:spcAft>
                <a:spcPts val="600"/>
              </a:spcAft>
            </a:pPr>
            <a:r>
              <a:rPr lang="en-US" sz="2400">
                <a:solidFill>
                  <a:srgbClr val="002060"/>
                </a:solidFill>
                <a:cs typeface="Arial" charset="0"/>
              </a:rPr>
              <a:t>Hằng số</a:t>
            </a:r>
          </a:p>
          <a:p>
            <a:pPr lvl="1">
              <a:spcBef>
                <a:spcPts val="600"/>
              </a:spcBef>
              <a:spcAft>
                <a:spcPts val="600"/>
              </a:spcAft>
            </a:pPr>
            <a:r>
              <a:rPr lang="en-US" sz="2400">
                <a:solidFill>
                  <a:srgbClr val="002060"/>
                </a:solidFill>
                <a:cs typeface="Arial" charset="0"/>
              </a:rPr>
              <a:t>Hàm</a:t>
            </a:r>
          </a:p>
          <a:p>
            <a:pPr lvl="1">
              <a:spcBef>
                <a:spcPts val="600"/>
              </a:spcBef>
              <a:spcAft>
                <a:spcPts val="600"/>
              </a:spcAft>
            </a:pPr>
            <a:r>
              <a:rPr lang="en-US" sz="2400">
                <a:solidFill>
                  <a:srgbClr val="002060"/>
                </a:solidFill>
                <a:cs typeface="Arial" charset="0"/>
              </a:rPr>
              <a:t>Kiểu dữ liệu,… </a:t>
            </a:r>
          </a:p>
          <a:p>
            <a:pPr>
              <a:spcBef>
                <a:spcPts val="600"/>
              </a:spcBef>
              <a:spcAft>
                <a:spcPts val="600"/>
              </a:spcAft>
            </a:pPr>
            <a:r>
              <a:rPr lang="en-US" sz="2400">
                <a:solidFill>
                  <a:srgbClr val="002060"/>
                </a:solidFill>
                <a:cs typeface="Arial" charset="0"/>
              </a:rPr>
              <a:t>Tên có thể được đặt bởi</a:t>
            </a:r>
          </a:p>
          <a:p>
            <a:pPr lvl="1">
              <a:spcBef>
                <a:spcPts val="600"/>
              </a:spcBef>
              <a:spcAft>
                <a:spcPts val="600"/>
              </a:spcAft>
            </a:pPr>
            <a:r>
              <a:rPr lang="en-US" sz="2400">
                <a:solidFill>
                  <a:srgbClr val="002060"/>
                </a:solidFill>
                <a:cs typeface="Arial" charset="0"/>
              </a:rPr>
              <a:t>Ngôn ngữ lập trình → các từ khóa</a:t>
            </a:r>
          </a:p>
          <a:p>
            <a:pPr lvl="1">
              <a:spcBef>
                <a:spcPts val="600"/>
              </a:spcBef>
              <a:spcAft>
                <a:spcPts val="600"/>
              </a:spcAft>
            </a:pPr>
            <a:r>
              <a:rPr lang="en-US" sz="2400">
                <a:solidFill>
                  <a:srgbClr val="002060"/>
                </a:solidFill>
                <a:cs typeface="Arial" charset="0"/>
              </a:rPr>
              <a:t>Người lập trình → tên tự đặt</a:t>
            </a:r>
          </a:p>
          <a:p>
            <a:pPr>
              <a:spcBef>
                <a:spcPts val="600"/>
              </a:spcBef>
              <a:spcAft>
                <a:spcPts val="600"/>
              </a:spcAft>
              <a:buFont typeface="Arial" charset="0"/>
              <a:buNone/>
            </a:pPr>
            <a:endParaRPr lang="en-US" sz="240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7D3C0DDC-6957-467A-8AD1-64B65E3812E2}" type="slidenum">
              <a:rPr lang="en-US" smtClean="0"/>
              <a:pPr>
                <a:defRPr/>
              </a:pPr>
              <a:t>11</a:t>
            </a:fld>
            <a:endParaRPr lang="en-US"/>
          </a:p>
        </p:txBody>
      </p:sp>
      <p:sp>
        <p:nvSpPr>
          <p:cNvPr id="2" name="Title 3">
            <a:extLst>
              <a:ext uri="{FF2B5EF4-FFF2-40B4-BE49-F238E27FC236}">
                <a16:creationId xmlns:a16="http://schemas.microsoft.com/office/drawing/2014/main" id="{E0086E02-060B-5091-265C-E9357E2A1D2E}"/>
              </a:ext>
            </a:extLst>
          </p:cNvPr>
          <p:cNvSpPr>
            <a:spLocks noGrp="1"/>
          </p:cNvSpPr>
          <p:nvPr>
            <p:ph type="title"/>
          </p:nvPr>
        </p:nvSpPr>
        <p:spPr>
          <a:xfrm>
            <a:off x="0" y="-26145"/>
            <a:ext cx="12100957" cy="685801"/>
          </a:xfrm>
        </p:spPr>
        <p:txBody>
          <a:bodyPr>
            <a:normAutofit/>
          </a:bodyPr>
          <a:lstStyle/>
          <a:p>
            <a:r>
              <a:rPr lang="en-US" sz="3600"/>
              <a:t>1.2. Tên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p:cNvSpPr>
          <p:nvPr>
            <p:ph type="body" idx="4294967295"/>
          </p:nvPr>
        </p:nvSpPr>
        <p:spPr>
          <a:xfrm>
            <a:off x="472539" y="808037"/>
            <a:ext cx="11246922" cy="2271713"/>
          </a:xfrm>
        </p:spPr>
        <p:txBody>
          <a:bodyPr>
            <a:normAutofit/>
          </a:bodyPr>
          <a:lstStyle/>
          <a:p>
            <a:pPr marL="533400" indent="-533400"/>
            <a:r>
              <a:rPr lang="en-US" sz="2800">
                <a:solidFill>
                  <a:srgbClr val="002060"/>
                </a:solidFill>
                <a:cs typeface="Arial" charset="0"/>
              </a:rPr>
              <a:t>Quy tắc đặt tên trong C</a:t>
            </a:r>
          </a:p>
          <a:p>
            <a:pPr marL="914400" lvl="1" indent="-457200"/>
            <a:r>
              <a:rPr lang="vi-VN" sz="2400">
                <a:solidFill>
                  <a:srgbClr val="002060"/>
                </a:solidFill>
                <a:cs typeface="Arial" charset="0"/>
              </a:rPr>
              <a:t>Các kí tự được sử dụng: chữ cái, chữ số và dấu gạch dưới “_” (</a:t>
            </a:r>
            <a:r>
              <a:rPr lang="vi-VN" sz="2400" i="1">
                <a:solidFill>
                  <a:srgbClr val="002060"/>
                </a:solidFill>
                <a:cs typeface="Arial" charset="0"/>
              </a:rPr>
              <a:t>underscore</a:t>
            </a:r>
            <a:r>
              <a:rPr lang="vi-VN" sz="2400">
                <a:solidFill>
                  <a:srgbClr val="002060"/>
                </a:solidFill>
                <a:cs typeface="Arial" charset="0"/>
              </a:rPr>
              <a:t>)</a:t>
            </a:r>
            <a:endParaRPr lang="en-US" sz="2400">
              <a:solidFill>
                <a:srgbClr val="002060"/>
              </a:solidFill>
              <a:cs typeface="Arial" charset="0"/>
            </a:endParaRPr>
          </a:p>
          <a:p>
            <a:pPr marL="914400" lvl="1" indent="-457200"/>
            <a:r>
              <a:rPr lang="vi-VN" sz="2400">
                <a:solidFill>
                  <a:srgbClr val="002060"/>
                </a:solidFill>
                <a:cs typeface="Arial" charset="0"/>
              </a:rPr>
              <a:t>Bắt đầu của </a:t>
            </a:r>
            <a:r>
              <a:rPr lang="en-US" sz="2400">
                <a:solidFill>
                  <a:srgbClr val="002060"/>
                </a:solidFill>
                <a:cs typeface="Arial" charset="0"/>
              </a:rPr>
              <a:t>tên </a:t>
            </a:r>
            <a:r>
              <a:rPr lang="vi-VN" sz="2400">
                <a:solidFill>
                  <a:srgbClr val="002060"/>
                </a:solidFill>
                <a:cs typeface="Arial" charset="0"/>
              </a:rPr>
              <a:t>phải là chữ cái hoặc dấu gạch dưới</a:t>
            </a:r>
            <a:r>
              <a:rPr lang="en-US" sz="2400">
                <a:solidFill>
                  <a:srgbClr val="002060"/>
                </a:solidFill>
                <a:cs typeface="Arial" charset="0"/>
              </a:rPr>
              <a:t> </a:t>
            </a:r>
            <a:r>
              <a:rPr lang="vi-VN" sz="2400">
                <a:solidFill>
                  <a:srgbClr val="002060"/>
                </a:solidFill>
                <a:cs typeface="Arial" charset="0"/>
              </a:rPr>
              <a:t>“_”, không được bắt đầu bằng chữ số.</a:t>
            </a:r>
            <a:endParaRPr lang="en-US" sz="2400">
              <a:solidFill>
                <a:srgbClr val="002060"/>
              </a:solidFill>
              <a:cs typeface="Arial" charset="0"/>
            </a:endParaRPr>
          </a:p>
          <a:p>
            <a:pPr marL="914400" lvl="1" indent="-457200"/>
            <a:r>
              <a:rPr lang="en-US" sz="2400">
                <a:solidFill>
                  <a:srgbClr val="002060"/>
                </a:solidFill>
                <a:cs typeface="Arial" charset="0"/>
              </a:rPr>
              <a:t>Tên </a:t>
            </a:r>
            <a:r>
              <a:rPr lang="vi-VN" sz="2400">
                <a:solidFill>
                  <a:srgbClr val="002060"/>
                </a:solidFill>
                <a:cs typeface="Arial" charset="0"/>
              </a:rPr>
              <a:t>không được trùng với</a:t>
            </a:r>
            <a:r>
              <a:rPr lang="en-US" sz="2400">
                <a:solidFill>
                  <a:srgbClr val="002060"/>
                </a:solidFill>
                <a:cs typeface="Arial" charset="0"/>
              </a:rPr>
              <a:t> các</a:t>
            </a:r>
            <a:r>
              <a:rPr lang="vi-VN" sz="2400">
                <a:solidFill>
                  <a:srgbClr val="002060"/>
                </a:solidFill>
                <a:cs typeface="Arial" charset="0"/>
              </a:rPr>
              <a:t> từ khóa</a:t>
            </a:r>
            <a:r>
              <a:rPr lang="en-US" sz="2400">
                <a:solidFill>
                  <a:srgbClr val="002060"/>
                </a:solidFill>
                <a:cs typeface="Arial" charset="0"/>
              </a:rPr>
              <a:t> của C</a:t>
            </a:r>
          </a:p>
          <a:p>
            <a:pPr marL="914400" lvl="1" indent="-457200">
              <a:buNone/>
            </a:pPr>
            <a:endParaRPr lang="en-US" sz="2400" i="1">
              <a:solidFill>
                <a:srgbClr val="002060"/>
              </a:solidFill>
              <a:cs typeface="Arial" charset="0"/>
            </a:endParaRPr>
          </a:p>
          <a:p>
            <a:pPr marL="533400" indent="-533400">
              <a:buNone/>
            </a:pPr>
            <a:endParaRPr lang="en-US" sz="280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0B7EAE76-E6E0-4C45-A23E-4A8BBFFD3EEA}" type="slidenum">
              <a:rPr lang="en-US" smtClean="0"/>
              <a:pPr>
                <a:defRPr/>
              </a:pPr>
              <a:t>12</a:t>
            </a:fld>
            <a:endParaRPr lang="en-US"/>
          </a:p>
        </p:txBody>
      </p:sp>
      <p:sp>
        <p:nvSpPr>
          <p:cNvPr id="2" name="Title 3">
            <a:extLst>
              <a:ext uri="{FF2B5EF4-FFF2-40B4-BE49-F238E27FC236}">
                <a16:creationId xmlns:a16="http://schemas.microsoft.com/office/drawing/2014/main" id="{D6D16DDF-CFC9-66F0-318D-AC61D530CE3D}"/>
              </a:ext>
            </a:extLst>
          </p:cNvPr>
          <p:cNvSpPr>
            <a:spLocks noGrp="1"/>
          </p:cNvSpPr>
          <p:nvPr>
            <p:ph type="title"/>
          </p:nvPr>
        </p:nvSpPr>
        <p:spPr>
          <a:xfrm>
            <a:off x="0" y="-26145"/>
            <a:ext cx="12100957" cy="685801"/>
          </a:xfrm>
        </p:spPr>
        <p:txBody>
          <a:bodyPr>
            <a:normAutofit/>
          </a:bodyPr>
          <a:lstStyle/>
          <a:p>
            <a:r>
              <a:rPr lang="en-US" sz="3600"/>
              <a:t>1.2. Tên</a:t>
            </a:r>
          </a:p>
        </p:txBody>
      </p:sp>
      <p:sp>
        <p:nvSpPr>
          <p:cNvPr id="3" name="Rectangle 3">
            <a:extLst>
              <a:ext uri="{FF2B5EF4-FFF2-40B4-BE49-F238E27FC236}">
                <a16:creationId xmlns:a16="http://schemas.microsoft.com/office/drawing/2014/main" id="{8BAF9000-A641-55A0-10E3-B90695A9E280}"/>
              </a:ext>
            </a:extLst>
          </p:cNvPr>
          <p:cNvSpPr txBox="1">
            <a:spLocks/>
          </p:cNvSpPr>
          <p:nvPr/>
        </p:nvSpPr>
        <p:spPr>
          <a:xfrm>
            <a:off x="609600" y="3093387"/>
            <a:ext cx="9875322" cy="3276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Myriad Pro"/>
                <a:ea typeface="+mn-ea"/>
                <a:cs typeface="Myriad Pro"/>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yriad Pro"/>
                <a:ea typeface="+mn-ea"/>
                <a:cs typeface="Myriad Pro"/>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yriad Pro"/>
                <a:ea typeface="+mn-ea"/>
                <a:cs typeface="Myriad Pro"/>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a:solidFill>
                  <a:srgbClr val="002060"/>
                </a:solidFill>
                <a:cs typeface="Arial" charset="0"/>
              </a:rPr>
              <a:t>Ví dụ</a:t>
            </a:r>
          </a:p>
          <a:p>
            <a:pPr lvl="1"/>
            <a:r>
              <a:rPr lang="en-US" sz="2400">
                <a:solidFill>
                  <a:srgbClr val="002060"/>
                </a:solidFill>
                <a:cs typeface="Arial" charset="0"/>
              </a:rPr>
              <a:t>Tên hợp lệ:</a:t>
            </a:r>
          </a:p>
          <a:p>
            <a:pPr lvl="1">
              <a:buFont typeface="Arial" charset="0"/>
              <a:buNone/>
            </a:pPr>
            <a:r>
              <a:rPr lang="en-US" sz="2400">
                <a:solidFill>
                  <a:srgbClr val="002060"/>
                </a:solidFill>
                <a:cs typeface="Arial" charset="0"/>
              </a:rPr>
              <a:t>	i, x, y, a, b, _function, _MY_CONSTANT, PI, gia_tri_1</a:t>
            </a:r>
          </a:p>
          <a:p>
            <a:pPr lvl="1"/>
            <a:r>
              <a:rPr lang="en-US" sz="2400">
                <a:solidFill>
                  <a:srgbClr val="002060"/>
                </a:solidFill>
                <a:cs typeface="Arial" charset="0"/>
              </a:rPr>
              <a:t>Tên không hợp lệ</a:t>
            </a:r>
          </a:p>
          <a:p>
            <a:pPr lvl="2"/>
            <a:r>
              <a:rPr lang="en-US">
                <a:solidFill>
                  <a:srgbClr val="C00000"/>
                </a:solidFill>
                <a:cs typeface="Arial" charset="0"/>
              </a:rPr>
              <a:t>1_a, 3d, 55x   </a:t>
            </a:r>
            <a:r>
              <a:rPr lang="en-US">
                <a:solidFill>
                  <a:srgbClr val="002060"/>
                </a:solidFill>
                <a:cs typeface="Arial" charset="0"/>
              </a:rPr>
              <a:t>(</a:t>
            </a:r>
            <a:r>
              <a:rPr lang="en-US" i="1">
                <a:solidFill>
                  <a:srgbClr val="002060"/>
                </a:solidFill>
                <a:cs typeface="Arial" charset="0"/>
              </a:rPr>
              <a:t>bắt đầu bằng chữ số</a:t>
            </a:r>
            <a:r>
              <a:rPr lang="en-US">
                <a:solidFill>
                  <a:srgbClr val="002060"/>
                </a:solidFill>
                <a:cs typeface="Arial" charset="0"/>
              </a:rPr>
              <a:t>)</a:t>
            </a:r>
          </a:p>
          <a:p>
            <a:pPr lvl="2"/>
            <a:r>
              <a:rPr lang="en-US">
                <a:solidFill>
                  <a:srgbClr val="C00000"/>
                </a:solidFill>
                <a:cs typeface="Arial" charset="0"/>
              </a:rPr>
              <a:t>so luong, ti le </a:t>
            </a:r>
            <a:r>
              <a:rPr lang="en-US">
                <a:solidFill>
                  <a:srgbClr val="002060"/>
                </a:solidFill>
                <a:cs typeface="Arial" charset="0"/>
              </a:rPr>
              <a:t>(</a:t>
            </a:r>
            <a:r>
              <a:rPr lang="en-US" i="1">
                <a:solidFill>
                  <a:srgbClr val="002060"/>
                </a:solidFill>
                <a:cs typeface="Arial" charset="0"/>
              </a:rPr>
              <a:t>có dấu cách - kí tự không hợp lệ</a:t>
            </a:r>
            <a:r>
              <a:rPr lang="en-US">
                <a:solidFill>
                  <a:srgbClr val="002060"/>
                </a:solidFill>
                <a:cs typeface="Arial" charset="0"/>
              </a:rPr>
              <a:t>)</a:t>
            </a:r>
          </a:p>
          <a:p>
            <a:pPr lvl="2"/>
            <a:r>
              <a:rPr lang="en-US">
                <a:solidFill>
                  <a:srgbClr val="C00000"/>
                </a:solidFill>
                <a:cs typeface="Arial" charset="0"/>
              </a:rPr>
              <a:t>int, char </a:t>
            </a:r>
            <a:r>
              <a:rPr lang="en-US">
                <a:solidFill>
                  <a:srgbClr val="002060"/>
                </a:solidFill>
                <a:cs typeface="Arial" charset="0"/>
              </a:rPr>
              <a:t>(</a:t>
            </a:r>
            <a:r>
              <a:rPr lang="en-US" i="1">
                <a:solidFill>
                  <a:srgbClr val="002060"/>
                </a:solidFill>
                <a:cs typeface="Arial" charset="0"/>
              </a:rPr>
              <a:t>trùng với từ khóa của ngôn ngữ C</a:t>
            </a:r>
            <a:r>
              <a:rPr lang="en-US" sz="2000">
                <a:solidFill>
                  <a:srgbClr val="002060"/>
                </a:solidFill>
                <a:cs typeface="Arial" charset="0"/>
              </a:rPr>
              <a:t>)</a:t>
            </a:r>
          </a:p>
          <a:p>
            <a:pPr>
              <a:buFont typeface="Arial" charset="0"/>
              <a:buNone/>
            </a:pPr>
            <a:endParaRPr lang="en-US" sz="2800">
              <a:solidFill>
                <a:srgbClr val="002060"/>
              </a:solidFill>
              <a:cs typeface="Arial"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p:cNvSpPr>
          <p:nvPr>
            <p:ph type="body" sz="half" idx="4294967295"/>
          </p:nvPr>
        </p:nvSpPr>
        <p:spPr>
          <a:xfrm>
            <a:off x="457200" y="857276"/>
            <a:ext cx="11506200" cy="2878162"/>
          </a:xfrm>
        </p:spPr>
        <p:txBody>
          <a:bodyPr>
            <a:normAutofit/>
          </a:bodyPr>
          <a:lstStyle/>
          <a:p>
            <a:pPr>
              <a:lnSpc>
                <a:spcPct val="90000"/>
              </a:lnSpc>
              <a:spcBef>
                <a:spcPts val="600"/>
              </a:spcBef>
            </a:pPr>
            <a:r>
              <a:rPr lang="en-US" sz="2400">
                <a:solidFill>
                  <a:srgbClr val="002060"/>
                </a:solidFill>
                <a:cs typeface="Arial" charset="0"/>
              </a:rPr>
              <a:t>Một số quy ước:</a:t>
            </a:r>
          </a:p>
          <a:p>
            <a:pPr lvl="1">
              <a:lnSpc>
                <a:spcPct val="90000"/>
              </a:lnSpc>
              <a:spcBef>
                <a:spcPts val="600"/>
              </a:spcBef>
            </a:pPr>
            <a:r>
              <a:rPr lang="en-US" sz="2400">
                <a:solidFill>
                  <a:srgbClr val="002060"/>
                </a:solidFill>
                <a:cs typeface="Arial" charset="0"/>
              </a:rPr>
              <a:t>Nên sử dụng dấu gạch dưới để phân tách các định danh gồm nhiều từ, tênh nên có tính gợi nhớ.</a:t>
            </a:r>
          </a:p>
          <a:p>
            <a:pPr lvl="1">
              <a:lnSpc>
                <a:spcPct val="90000"/>
              </a:lnSpc>
              <a:spcBef>
                <a:spcPts val="600"/>
              </a:spcBef>
            </a:pPr>
            <a:r>
              <a:rPr lang="en-US" sz="2400">
                <a:solidFill>
                  <a:srgbClr val="002060"/>
                </a:solidFill>
                <a:cs typeface="Arial" charset="0"/>
              </a:rPr>
              <a:t>Quy ước thường được sử dụng:</a:t>
            </a:r>
          </a:p>
          <a:p>
            <a:pPr lvl="2">
              <a:lnSpc>
                <a:spcPct val="90000"/>
              </a:lnSpc>
              <a:spcBef>
                <a:spcPts val="600"/>
              </a:spcBef>
            </a:pPr>
            <a:r>
              <a:rPr lang="en-US">
                <a:solidFill>
                  <a:srgbClr val="002060"/>
                </a:solidFill>
                <a:cs typeface="Arial" charset="0"/>
              </a:rPr>
              <a:t>Hằng số dùng chữ cái hoa</a:t>
            </a:r>
          </a:p>
          <a:p>
            <a:pPr lvl="2">
              <a:lnSpc>
                <a:spcPct val="90000"/>
              </a:lnSpc>
              <a:spcBef>
                <a:spcPts val="600"/>
              </a:spcBef>
            </a:pPr>
            <a:r>
              <a:rPr lang="en-US">
                <a:solidFill>
                  <a:srgbClr val="002060"/>
                </a:solidFill>
                <a:cs typeface="Arial" charset="0"/>
              </a:rPr>
              <a:t>Các biến, hàm, cấu trúc dùng chữ cái thường</a:t>
            </a:r>
          </a:p>
          <a:p>
            <a:pPr>
              <a:lnSpc>
                <a:spcPct val="90000"/>
              </a:lnSpc>
              <a:spcBef>
                <a:spcPts val="600"/>
              </a:spcBef>
            </a:pPr>
            <a:r>
              <a:rPr lang="en-US" sz="2400">
                <a:solidFill>
                  <a:srgbClr val="002060"/>
                </a:solidFill>
                <a:cs typeface="Arial" charset="0"/>
              </a:rPr>
              <a:t>Ví dụ</a:t>
            </a:r>
          </a:p>
          <a:p>
            <a:pPr>
              <a:lnSpc>
                <a:spcPct val="90000"/>
              </a:lnSpc>
              <a:spcBef>
                <a:spcPts val="600"/>
              </a:spcBef>
              <a:buFont typeface="Arial" charset="0"/>
              <a:buNone/>
            </a:pPr>
            <a:endParaRPr lang="en-US" sz="2000">
              <a:solidFill>
                <a:srgbClr val="002060"/>
              </a:solidFill>
              <a:cs typeface="Arial" charset="0"/>
            </a:endParaRPr>
          </a:p>
          <a:p>
            <a:pPr lvl="2">
              <a:lnSpc>
                <a:spcPct val="90000"/>
              </a:lnSpc>
              <a:spcBef>
                <a:spcPts val="600"/>
              </a:spcBef>
              <a:buFont typeface="Arial" charset="0"/>
              <a:buNone/>
            </a:pPr>
            <a:endParaRPr lang="en-US" sz="1800">
              <a:solidFill>
                <a:srgbClr val="002060"/>
              </a:solidFill>
              <a:cs typeface="Arial" charset="0"/>
            </a:endParaRPr>
          </a:p>
          <a:p>
            <a:pPr>
              <a:lnSpc>
                <a:spcPct val="90000"/>
              </a:lnSpc>
              <a:spcBef>
                <a:spcPts val="600"/>
              </a:spcBef>
              <a:buFont typeface="Arial" charset="0"/>
              <a:buNone/>
            </a:pPr>
            <a:endParaRPr lang="en-US" sz="2000">
              <a:solidFill>
                <a:srgbClr val="002060"/>
              </a:solidFill>
              <a:cs typeface="Arial" charset="0"/>
            </a:endParaRPr>
          </a:p>
        </p:txBody>
      </p:sp>
      <p:graphicFrame>
        <p:nvGraphicFramePr>
          <p:cNvPr id="62495" name="Group 31"/>
          <p:cNvGraphicFramePr>
            <a:graphicFrameLocks noGrp="1"/>
          </p:cNvGraphicFramePr>
          <p:nvPr>
            <p:ph sz="half" idx="4294967295"/>
            <p:extLst>
              <p:ext uri="{D42A27DB-BD31-4B8C-83A1-F6EECF244321}">
                <p14:modId xmlns:p14="http://schemas.microsoft.com/office/powerpoint/2010/main" val="2818680389"/>
              </p:ext>
            </p:extLst>
          </p:nvPr>
        </p:nvGraphicFramePr>
        <p:xfrm>
          <a:off x="2362200" y="3505200"/>
          <a:ext cx="7924800" cy="2225673"/>
        </p:xfrm>
        <a:graphic>
          <a:graphicData uri="http://schemas.openxmlformats.org/drawingml/2006/table">
            <a:tbl>
              <a:tblPr/>
              <a:tblGrid>
                <a:gridCol w="5023757">
                  <a:extLst>
                    <a:ext uri="{9D8B030D-6E8A-4147-A177-3AD203B41FA5}">
                      <a16:colId xmlns:a16="http://schemas.microsoft.com/office/drawing/2014/main" val="20000"/>
                    </a:ext>
                  </a:extLst>
                </a:gridCol>
                <a:gridCol w="2901043">
                  <a:extLst>
                    <a:ext uri="{9D8B030D-6E8A-4147-A177-3AD203B41FA5}">
                      <a16:colId xmlns:a16="http://schemas.microsoft.com/office/drawing/2014/main" val="20001"/>
                    </a:ext>
                  </a:extLst>
                </a:gridCol>
              </a:tblGrid>
              <a:tr h="457330">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a:ln>
                            <a:noFill/>
                          </a:ln>
                          <a:solidFill>
                            <a:srgbClr val="002060"/>
                          </a:solidFill>
                          <a:effectLst/>
                          <a:latin typeface="Cambria" pitchFamily="18" charset="0"/>
                          <a:cs typeface="Arial" charset="0"/>
                        </a:rPr>
                        <a:t>Tên</a:t>
                      </a:r>
                    </a:p>
                  </a:txBody>
                  <a:tcPr marT="45733" marB="4573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a:ln>
                            <a:noFill/>
                          </a:ln>
                          <a:solidFill>
                            <a:srgbClr val="002060"/>
                          </a:solidFill>
                          <a:effectLst/>
                          <a:latin typeface="Cambria" pitchFamily="18" charset="0"/>
                          <a:cs typeface="Arial" charset="0"/>
                        </a:rPr>
                        <a:t>Loại đối tượng</a:t>
                      </a:r>
                    </a:p>
                  </a:txBody>
                  <a:tcPr marT="45733" marB="4573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330">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r>
                        <a:rPr kumimoji="0" lang="en-US" sz="2000" b="0" i="0" u="none" strike="noStrike" cap="none" normalizeH="0" baseline="0">
                          <a:ln>
                            <a:noFill/>
                          </a:ln>
                          <a:solidFill>
                            <a:srgbClr val="002060"/>
                          </a:solidFill>
                          <a:effectLst/>
                          <a:latin typeface="Cambria" pitchFamily="18" charset="0"/>
                          <a:cs typeface="Arial" charset="0"/>
                        </a:rPr>
                        <a:t>HANG_SO_1, _CONSTANT_2</a:t>
                      </a:r>
                    </a:p>
                  </a:txBody>
                  <a:tcPr marT="45733" marB="4573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r>
                        <a:rPr kumimoji="0" lang="en-US" sz="2000" b="0" i="0" u="none" strike="noStrike" cap="none" normalizeH="0" baseline="0">
                          <a:ln>
                            <a:noFill/>
                          </a:ln>
                          <a:solidFill>
                            <a:srgbClr val="002060"/>
                          </a:solidFill>
                          <a:effectLst/>
                          <a:latin typeface="Cambria" pitchFamily="18" charset="0"/>
                          <a:cs typeface="Arial" charset="0"/>
                        </a:rPr>
                        <a:t>Hằng số</a:t>
                      </a:r>
                    </a:p>
                  </a:txBody>
                  <a:tcPr marT="45733" marB="4573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53">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r>
                        <a:rPr kumimoji="0" lang="en-US" sz="2000" b="0" i="0" u="none" strike="noStrike" cap="none" normalizeH="0" baseline="0">
                          <a:ln>
                            <a:noFill/>
                          </a:ln>
                          <a:solidFill>
                            <a:srgbClr val="002060"/>
                          </a:solidFill>
                          <a:effectLst/>
                          <a:latin typeface="Cambria" pitchFamily="18" charset="0"/>
                          <a:cs typeface="Arial" charset="0"/>
                        </a:rPr>
                        <a:t>a, b, i, j, count </a:t>
                      </a:r>
                    </a:p>
                  </a:txBody>
                  <a:tcPr marT="45733" marB="4573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r>
                        <a:rPr kumimoji="0" lang="en-US" sz="2000" b="0" i="0" u="none" strike="noStrike" cap="none" normalizeH="0" baseline="0">
                          <a:ln>
                            <a:noFill/>
                          </a:ln>
                          <a:solidFill>
                            <a:srgbClr val="002060"/>
                          </a:solidFill>
                          <a:effectLst/>
                          <a:latin typeface="Cambria" pitchFamily="18" charset="0"/>
                          <a:cs typeface="Arial" charset="0"/>
                        </a:rPr>
                        <a:t>Biến</a:t>
                      </a:r>
                    </a:p>
                  </a:txBody>
                  <a:tcPr marT="45733" marB="4573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330">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r>
                        <a:rPr kumimoji="0" lang="fr-FR" sz="2000" b="0" i="0" u="none" strike="noStrike" cap="none" normalizeH="0" baseline="0">
                          <a:ln>
                            <a:noFill/>
                          </a:ln>
                          <a:solidFill>
                            <a:srgbClr val="002060"/>
                          </a:solidFill>
                          <a:effectLst/>
                          <a:latin typeface="Cambria" pitchFamily="18" charset="0"/>
                          <a:cs typeface="Arial" charset="0"/>
                        </a:rPr>
                        <a:t>nhap_du_lieu, tim_kiem, sap_xep</a:t>
                      </a:r>
                      <a:r>
                        <a:rPr kumimoji="0" lang="en-US" sz="2000" b="0" i="0" u="none" strike="noStrike" cap="none" normalizeH="0" baseline="0">
                          <a:ln>
                            <a:noFill/>
                          </a:ln>
                          <a:solidFill>
                            <a:srgbClr val="002060"/>
                          </a:solidFill>
                          <a:effectLst/>
                          <a:latin typeface="Cambria" pitchFamily="18" charset="0"/>
                          <a:cs typeface="Arial" charset="0"/>
                        </a:rPr>
                        <a:t> </a:t>
                      </a:r>
                    </a:p>
                  </a:txBody>
                  <a:tcPr marT="45733" marB="4573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r>
                        <a:rPr kumimoji="0" lang="en-US" sz="2000" b="0" i="0" u="none" strike="noStrike" cap="none" normalizeH="0" baseline="0">
                          <a:ln>
                            <a:noFill/>
                          </a:ln>
                          <a:solidFill>
                            <a:srgbClr val="002060"/>
                          </a:solidFill>
                          <a:effectLst/>
                          <a:latin typeface="Cambria" pitchFamily="18" charset="0"/>
                          <a:cs typeface="Arial" charset="0"/>
                        </a:rPr>
                        <a:t>Hàm</a:t>
                      </a:r>
                    </a:p>
                  </a:txBody>
                  <a:tcPr marT="45733" marB="4573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330">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r>
                        <a:rPr kumimoji="0" lang="fr-FR" sz="2000" b="0" i="0" u="none" strike="noStrike" cap="none" normalizeH="0" baseline="0">
                          <a:ln>
                            <a:noFill/>
                          </a:ln>
                          <a:solidFill>
                            <a:srgbClr val="002060"/>
                          </a:solidFill>
                          <a:effectLst/>
                          <a:latin typeface="Cambria" pitchFamily="18" charset="0"/>
                          <a:cs typeface="Arial" charset="0"/>
                        </a:rPr>
                        <a:t>sinh_vien, mat_hang</a:t>
                      </a:r>
                      <a:endParaRPr kumimoji="0" lang="en-US" sz="2000" b="0" i="0" u="none" strike="noStrike" cap="none" normalizeH="0" baseline="0">
                        <a:ln>
                          <a:noFill/>
                        </a:ln>
                        <a:solidFill>
                          <a:srgbClr val="002060"/>
                        </a:solidFill>
                        <a:effectLst/>
                        <a:latin typeface="Cambria" pitchFamily="18" charset="0"/>
                        <a:cs typeface="Arial" charset="0"/>
                      </a:endParaRPr>
                    </a:p>
                  </a:txBody>
                  <a:tcPr marT="45733" marB="4573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r>
                        <a:rPr kumimoji="0" lang="en-US" sz="2000" b="0" i="0" u="none" strike="noStrike" cap="none" normalizeH="0" baseline="0">
                          <a:ln>
                            <a:noFill/>
                          </a:ln>
                          <a:solidFill>
                            <a:srgbClr val="002060"/>
                          </a:solidFill>
                          <a:effectLst/>
                          <a:latin typeface="Cambria" pitchFamily="18" charset="0"/>
                          <a:cs typeface="Arial" charset="0"/>
                        </a:rPr>
                        <a:t>Cấu trúc</a:t>
                      </a:r>
                    </a:p>
                  </a:txBody>
                  <a:tcPr marT="45733" marB="4573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Slide Number Placeholder 4"/>
          <p:cNvSpPr>
            <a:spLocks noGrp="1"/>
          </p:cNvSpPr>
          <p:nvPr>
            <p:ph type="sldNum" sz="quarter" idx="10"/>
          </p:nvPr>
        </p:nvSpPr>
        <p:spPr/>
        <p:txBody>
          <a:bodyPr/>
          <a:lstStyle/>
          <a:p>
            <a:pPr>
              <a:defRPr/>
            </a:pPr>
            <a:fld id="{66FAFDAC-85EF-4071-9E64-317616460F39}" type="slidenum">
              <a:rPr lang="en-US" smtClean="0"/>
              <a:pPr>
                <a:defRPr/>
              </a:pPr>
              <a:t>13</a:t>
            </a:fld>
            <a:endParaRPr lang="en-US"/>
          </a:p>
        </p:txBody>
      </p:sp>
      <p:sp>
        <p:nvSpPr>
          <p:cNvPr id="2" name="Title 3">
            <a:extLst>
              <a:ext uri="{FF2B5EF4-FFF2-40B4-BE49-F238E27FC236}">
                <a16:creationId xmlns:a16="http://schemas.microsoft.com/office/drawing/2014/main" id="{75D5EE94-0B2A-BFE2-7C6F-82F34C68C9D0}"/>
              </a:ext>
            </a:extLst>
          </p:cNvPr>
          <p:cNvSpPr>
            <a:spLocks noGrp="1"/>
          </p:cNvSpPr>
          <p:nvPr>
            <p:ph type="title"/>
          </p:nvPr>
        </p:nvSpPr>
        <p:spPr>
          <a:xfrm>
            <a:off x="0" y="-26145"/>
            <a:ext cx="12100957" cy="685801"/>
          </a:xfrm>
        </p:spPr>
        <p:txBody>
          <a:bodyPr>
            <a:normAutofit/>
          </a:bodyPr>
          <a:lstStyle/>
          <a:p>
            <a:r>
              <a:rPr lang="en-US" sz="3600"/>
              <a:t>1.2. Tên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D507C-D85A-8FD2-0F0B-9523CA0F751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3582F06-BAA5-778D-C673-548EE1C843B5}"/>
              </a:ext>
            </a:extLst>
          </p:cNvPr>
          <p:cNvSpPr>
            <a:spLocks noGrp="1"/>
          </p:cNvSpPr>
          <p:nvPr>
            <p:ph type="sldNum" sz="quarter" idx="10"/>
          </p:nvPr>
        </p:nvSpPr>
        <p:spPr/>
        <p:txBody>
          <a:bodyPr/>
          <a:lstStyle/>
          <a:p>
            <a:pPr>
              <a:defRPr/>
            </a:pPr>
            <a:fld id="{66FAFDAC-85EF-4071-9E64-317616460F39}" type="slidenum">
              <a:rPr lang="en-US" smtClean="0"/>
              <a:pPr>
                <a:defRPr/>
              </a:pPr>
              <a:t>14</a:t>
            </a:fld>
            <a:endParaRPr lang="en-US"/>
          </a:p>
        </p:txBody>
      </p:sp>
      <p:sp>
        <p:nvSpPr>
          <p:cNvPr id="2" name="Title 3">
            <a:extLst>
              <a:ext uri="{FF2B5EF4-FFF2-40B4-BE49-F238E27FC236}">
                <a16:creationId xmlns:a16="http://schemas.microsoft.com/office/drawing/2014/main" id="{0C930461-2349-F2D2-6C64-ED8D2B8F5AB0}"/>
              </a:ext>
            </a:extLst>
          </p:cNvPr>
          <p:cNvSpPr>
            <a:spLocks noGrp="1"/>
          </p:cNvSpPr>
          <p:nvPr>
            <p:ph type="title"/>
          </p:nvPr>
        </p:nvSpPr>
        <p:spPr>
          <a:xfrm>
            <a:off x="0" y="-26145"/>
            <a:ext cx="12100957" cy="685801"/>
          </a:xfrm>
        </p:spPr>
        <p:txBody>
          <a:bodyPr>
            <a:normAutofit/>
          </a:bodyPr>
          <a:lstStyle/>
          <a:p>
            <a:r>
              <a:rPr lang="en-US" sz="3600"/>
              <a:t>1.3. Một số khái niệm</a:t>
            </a:r>
          </a:p>
        </p:txBody>
      </p:sp>
      <p:sp>
        <p:nvSpPr>
          <p:cNvPr id="3" name="Rectangle 3">
            <a:extLst>
              <a:ext uri="{FF2B5EF4-FFF2-40B4-BE49-F238E27FC236}">
                <a16:creationId xmlns:a16="http://schemas.microsoft.com/office/drawing/2014/main" id="{C7B3E959-181D-0220-9CA7-8C10542E3421}"/>
              </a:ext>
            </a:extLst>
          </p:cNvPr>
          <p:cNvSpPr txBox="1">
            <a:spLocks/>
          </p:cNvSpPr>
          <p:nvPr/>
        </p:nvSpPr>
        <p:spPr>
          <a:xfrm>
            <a:off x="609600" y="914400"/>
            <a:ext cx="10972800" cy="49530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Myriad Pro"/>
                <a:ea typeface="+mn-ea"/>
                <a:cs typeface="Myriad Pro"/>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yriad Pro"/>
                <a:ea typeface="+mn-ea"/>
                <a:cs typeface="Myriad Pro"/>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yriad Pro"/>
                <a:ea typeface="+mn-ea"/>
                <a:cs typeface="Myriad Pro"/>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800">
                <a:solidFill>
                  <a:srgbClr val="002060"/>
                </a:solidFill>
                <a:cs typeface="Arial" charset="0"/>
              </a:rPr>
              <a:t>Biến: </a:t>
            </a:r>
            <a:r>
              <a:rPr lang="en-US" sz="2800" b="0">
                <a:solidFill>
                  <a:srgbClr val="002060"/>
                </a:solidFill>
                <a:cs typeface="Arial" charset="0"/>
              </a:rPr>
              <a:t>Là đại lượng dùng để chứa (lưu trữ) các giá trị trong quá trình tính toán. Có thể hiểu khái niệm biến ở đây giống như khái niệm biến trong toán học.</a:t>
            </a:r>
          </a:p>
          <a:p>
            <a:pPr lvl="1"/>
            <a:r>
              <a:rPr lang="en-US" sz="2400">
                <a:solidFill>
                  <a:srgbClr val="002060"/>
                </a:solidFill>
                <a:cs typeface="Arial" charset="0"/>
              </a:rPr>
              <a:t>Biến phải được khai báo trước khi sử dụng. </a:t>
            </a:r>
          </a:p>
          <a:p>
            <a:pPr lvl="1"/>
            <a:r>
              <a:rPr lang="en-US" sz="2400">
                <a:solidFill>
                  <a:srgbClr val="002060"/>
                </a:solidFill>
                <a:cs typeface="Arial" charset="0"/>
              </a:rPr>
              <a:t>Ví dụ khai báo </a:t>
            </a:r>
            <a:r>
              <a:rPr lang="en-US" sz="2400" b="1">
                <a:solidFill>
                  <a:srgbClr val="002060"/>
                </a:solidFill>
                <a:cs typeface="Arial" charset="0"/>
              </a:rPr>
              <a:t>a, b </a:t>
            </a:r>
            <a:r>
              <a:rPr lang="en-US" sz="2400">
                <a:solidFill>
                  <a:srgbClr val="002060"/>
                </a:solidFill>
                <a:cs typeface="Arial" charset="0"/>
              </a:rPr>
              <a:t>là biến lưu trữ một số nguyên; </a:t>
            </a:r>
            <a:r>
              <a:rPr lang="en-US" sz="2400" b="1">
                <a:solidFill>
                  <a:srgbClr val="002060"/>
                </a:solidFill>
                <a:cs typeface="Arial" charset="0"/>
              </a:rPr>
              <a:t>c, d </a:t>
            </a:r>
            <a:r>
              <a:rPr lang="en-US" sz="2400">
                <a:solidFill>
                  <a:srgbClr val="002060"/>
                </a:solidFill>
                <a:cs typeface="Arial" charset="0"/>
              </a:rPr>
              <a:t>là biến lưu trữ số thực:  </a:t>
            </a:r>
          </a:p>
          <a:p>
            <a:pPr marL="457200" lvl="1" indent="0">
              <a:buNone/>
            </a:pPr>
            <a:r>
              <a:rPr lang="en-US" sz="2400">
                <a:solidFill>
                  <a:srgbClr val="FF0000"/>
                </a:solidFill>
                <a:cs typeface="Arial" charset="0"/>
              </a:rPr>
              <a:t>			int a, b;</a:t>
            </a:r>
          </a:p>
          <a:p>
            <a:pPr marL="457200" lvl="1" indent="0">
              <a:buNone/>
            </a:pPr>
            <a:r>
              <a:rPr lang="en-US" sz="2400">
                <a:solidFill>
                  <a:srgbClr val="FF0000"/>
                </a:solidFill>
                <a:cs typeface="Arial" charset="0"/>
              </a:rPr>
              <a:t>			float c, d;</a:t>
            </a:r>
          </a:p>
          <a:p>
            <a:r>
              <a:rPr lang="en-US" sz="2400">
                <a:solidFill>
                  <a:srgbClr val="002060"/>
                </a:solidFill>
                <a:cs typeface="Arial" charset="0"/>
              </a:rPr>
              <a:t>Hằng: </a:t>
            </a:r>
            <a:r>
              <a:rPr lang="en-US" sz="2400" b="0">
                <a:solidFill>
                  <a:srgbClr val="002060"/>
                </a:solidFill>
                <a:cs typeface="Arial" charset="0"/>
              </a:rPr>
              <a:t>Là đại lượng có giá trị không đổi trong chương trình.</a:t>
            </a:r>
            <a:endParaRPr lang="en-US" sz="2400">
              <a:solidFill>
                <a:srgbClr val="002060"/>
              </a:solidFill>
              <a:cs typeface="Arial" charset="0"/>
            </a:endParaRPr>
          </a:p>
          <a:p>
            <a:pPr lvl="1">
              <a:buFont typeface="Arial" charset="0"/>
              <a:buNone/>
            </a:pPr>
            <a:r>
              <a:rPr lang="en-US" sz="2400">
                <a:solidFill>
                  <a:srgbClr val="002060"/>
                </a:solidFill>
                <a:cs typeface="Arial" charset="0"/>
              </a:rPr>
              <a:t>		</a:t>
            </a:r>
          </a:p>
        </p:txBody>
      </p:sp>
    </p:spTree>
    <p:extLst>
      <p:ext uri="{BB962C8B-B14F-4D97-AF65-F5344CB8AC3E}">
        <p14:creationId xmlns:p14="http://schemas.microsoft.com/office/powerpoint/2010/main" val="1483049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0296D-66D0-9795-17B0-9D892CAA626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590D670-ACB2-69A5-4ED4-623DA1747DA7}"/>
              </a:ext>
            </a:extLst>
          </p:cNvPr>
          <p:cNvSpPr>
            <a:spLocks noGrp="1"/>
          </p:cNvSpPr>
          <p:nvPr>
            <p:ph type="sldNum" sz="quarter" idx="10"/>
          </p:nvPr>
        </p:nvSpPr>
        <p:spPr/>
        <p:txBody>
          <a:bodyPr/>
          <a:lstStyle/>
          <a:p>
            <a:pPr>
              <a:defRPr/>
            </a:pPr>
            <a:fld id="{66FAFDAC-85EF-4071-9E64-317616460F39}" type="slidenum">
              <a:rPr lang="en-US" smtClean="0"/>
              <a:pPr>
                <a:defRPr/>
              </a:pPr>
              <a:t>15</a:t>
            </a:fld>
            <a:endParaRPr lang="en-US"/>
          </a:p>
        </p:txBody>
      </p:sp>
      <p:sp>
        <p:nvSpPr>
          <p:cNvPr id="2" name="Title 3">
            <a:extLst>
              <a:ext uri="{FF2B5EF4-FFF2-40B4-BE49-F238E27FC236}">
                <a16:creationId xmlns:a16="http://schemas.microsoft.com/office/drawing/2014/main" id="{C1318034-4F55-907C-8F4D-53C783F4F286}"/>
              </a:ext>
            </a:extLst>
          </p:cNvPr>
          <p:cNvSpPr>
            <a:spLocks noGrp="1"/>
          </p:cNvSpPr>
          <p:nvPr>
            <p:ph type="title"/>
          </p:nvPr>
        </p:nvSpPr>
        <p:spPr>
          <a:xfrm>
            <a:off x="0" y="-26145"/>
            <a:ext cx="12100957" cy="685801"/>
          </a:xfrm>
        </p:spPr>
        <p:txBody>
          <a:bodyPr>
            <a:normAutofit/>
          </a:bodyPr>
          <a:lstStyle/>
          <a:p>
            <a:r>
              <a:rPr lang="en-US" sz="3600"/>
              <a:t>1.3. Một số khái niệm</a:t>
            </a:r>
          </a:p>
        </p:txBody>
      </p:sp>
      <p:sp>
        <p:nvSpPr>
          <p:cNvPr id="3" name="Rectangle 3">
            <a:extLst>
              <a:ext uri="{FF2B5EF4-FFF2-40B4-BE49-F238E27FC236}">
                <a16:creationId xmlns:a16="http://schemas.microsoft.com/office/drawing/2014/main" id="{06FE8BBE-E532-9103-37C1-4669714B9627}"/>
              </a:ext>
            </a:extLst>
          </p:cNvPr>
          <p:cNvSpPr txBox="1">
            <a:spLocks/>
          </p:cNvSpPr>
          <p:nvPr/>
        </p:nvSpPr>
        <p:spPr>
          <a:xfrm>
            <a:off x="609600" y="914400"/>
            <a:ext cx="10972800" cy="4495800"/>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Myriad Pro"/>
                <a:ea typeface="+mn-ea"/>
                <a:cs typeface="Myriad Pro"/>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yriad Pro"/>
                <a:ea typeface="+mn-ea"/>
                <a:cs typeface="Myriad Pro"/>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yriad Pro"/>
                <a:ea typeface="+mn-ea"/>
                <a:cs typeface="Myriad Pro"/>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solidFill>
                  <a:srgbClr val="002060"/>
                </a:solidFill>
                <a:cs typeface="Arial" charset="0"/>
              </a:rPr>
              <a:t>Biểu thức:</a:t>
            </a:r>
          </a:p>
          <a:p>
            <a:pPr lvl="1"/>
            <a:r>
              <a:rPr lang="en-US">
                <a:solidFill>
                  <a:srgbClr val="002060"/>
                </a:solidFill>
                <a:cs typeface="Arial" charset="0"/>
              </a:rPr>
              <a:t>Biểu thức là sự ghép nối các toán tử (</a:t>
            </a:r>
            <a:r>
              <a:rPr lang="en-US" i="1">
                <a:solidFill>
                  <a:srgbClr val="002060"/>
                </a:solidFill>
                <a:cs typeface="Arial" charset="0"/>
              </a:rPr>
              <a:t>operator</a:t>
            </a:r>
            <a:r>
              <a:rPr lang="en-US">
                <a:solidFill>
                  <a:srgbClr val="002060"/>
                </a:solidFill>
                <a:cs typeface="Arial" charset="0"/>
              </a:rPr>
              <a:t>) và các toán hạng (</a:t>
            </a:r>
            <a:r>
              <a:rPr lang="en-US" i="1">
                <a:solidFill>
                  <a:srgbClr val="002060"/>
                </a:solidFill>
                <a:cs typeface="Arial" charset="0"/>
              </a:rPr>
              <a:t>operand</a:t>
            </a:r>
            <a:r>
              <a:rPr lang="en-US">
                <a:solidFill>
                  <a:srgbClr val="002060"/>
                </a:solidFill>
                <a:cs typeface="Arial" charset="0"/>
              </a:rPr>
              <a:t>) theo một quy tắc xác định.</a:t>
            </a:r>
          </a:p>
          <a:p>
            <a:pPr lvl="1"/>
            <a:r>
              <a:rPr lang="en-US">
                <a:solidFill>
                  <a:srgbClr val="002060"/>
                </a:solidFill>
                <a:cs typeface="Arial" charset="0"/>
              </a:rPr>
              <a:t>Các toán hạng có thể là biến, hằng</a:t>
            </a:r>
          </a:p>
          <a:p>
            <a:pPr lvl="1"/>
            <a:r>
              <a:rPr lang="en-US">
                <a:solidFill>
                  <a:srgbClr val="002060"/>
                </a:solidFill>
                <a:cs typeface="Arial" charset="0"/>
              </a:rPr>
              <a:t>Các toán tử rất đa dạng: cộng, trừ, nhân, chia,…</a:t>
            </a:r>
          </a:p>
          <a:p>
            <a:pPr marL="457200" lvl="1" indent="0">
              <a:buNone/>
            </a:pPr>
            <a:endParaRPr lang="en-US">
              <a:solidFill>
                <a:srgbClr val="002060"/>
              </a:solidFill>
              <a:cs typeface="Arial" charset="0"/>
            </a:endParaRPr>
          </a:p>
          <a:p>
            <a:pPr marL="0" indent="0">
              <a:buNone/>
            </a:pPr>
            <a:r>
              <a:rPr lang="en-US" sz="2800">
                <a:solidFill>
                  <a:srgbClr val="002060"/>
                </a:solidFill>
                <a:cs typeface="Arial" charset="0"/>
              </a:rPr>
              <a:t>Ví dụ: Biểu thức tính delta</a:t>
            </a:r>
          </a:p>
          <a:p>
            <a:pPr lvl="1">
              <a:buFont typeface="Arial" charset="0"/>
              <a:buNone/>
            </a:pPr>
            <a:r>
              <a:rPr lang="en-US">
                <a:solidFill>
                  <a:srgbClr val="002060"/>
                </a:solidFill>
                <a:cs typeface="Arial" charset="0"/>
              </a:rPr>
              <a:t>		</a:t>
            </a:r>
            <a:r>
              <a:rPr lang="en-US" b="1">
                <a:solidFill>
                  <a:srgbClr val="002060"/>
                </a:solidFill>
                <a:cs typeface="Arial" charset="0"/>
              </a:rPr>
              <a:t>b*b – 4*a*c</a:t>
            </a:r>
          </a:p>
          <a:p>
            <a:pPr lvl="1">
              <a:buFontTx/>
              <a:buChar char="-"/>
            </a:pPr>
            <a:r>
              <a:rPr lang="en-US">
                <a:solidFill>
                  <a:srgbClr val="002060"/>
                </a:solidFill>
                <a:cs typeface="Arial" charset="0"/>
              </a:rPr>
              <a:t>a, b, c, 4 là các toán hạng</a:t>
            </a:r>
          </a:p>
          <a:p>
            <a:pPr lvl="1">
              <a:buFontTx/>
              <a:buChar char="-"/>
            </a:pPr>
            <a:r>
              <a:rPr lang="en-US">
                <a:solidFill>
                  <a:srgbClr val="002060"/>
                </a:solidFill>
                <a:cs typeface="Arial" charset="0"/>
              </a:rPr>
              <a:t>Các toán tử (phép toán): *, -</a:t>
            </a:r>
          </a:p>
        </p:txBody>
      </p:sp>
    </p:spTree>
    <p:extLst>
      <p:ext uri="{BB962C8B-B14F-4D97-AF65-F5344CB8AC3E}">
        <p14:creationId xmlns:p14="http://schemas.microsoft.com/office/powerpoint/2010/main" val="3890444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p:cNvSpPr>
          <p:nvPr>
            <p:ph type="body" sz="half" idx="4294967295"/>
          </p:nvPr>
        </p:nvSpPr>
        <p:spPr>
          <a:xfrm>
            <a:off x="685800" y="914400"/>
            <a:ext cx="10668000" cy="4114800"/>
          </a:xfrm>
        </p:spPr>
        <p:txBody>
          <a:bodyPr>
            <a:normAutofit/>
          </a:bodyPr>
          <a:lstStyle/>
          <a:p>
            <a:pPr algn="just">
              <a:lnSpc>
                <a:spcPct val="90000"/>
              </a:lnSpc>
            </a:pPr>
            <a:r>
              <a:rPr lang="fr-FR" err="1">
                <a:solidFill>
                  <a:srgbClr val="002060"/>
                </a:solidFill>
                <a:latin typeface="Arial" panose="020B0604020202020204" pitchFamily="34" charset="0"/>
                <a:cs typeface="Arial" panose="020B0604020202020204" pitchFamily="34" charset="0"/>
              </a:rPr>
              <a:t>Câu</a:t>
            </a:r>
            <a:r>
              <a:rPr lang="fr-FR">
                <a:solidFill>
                  <a:srgbClr val="002060"/>
                </a:solidFill>
                <a:latin typeface="Arial" panose="020B0604020202020204" pitchFamily="34" charset="0"/>
                <a:cs typeface="Arial" panose="020B0604020202020204" pitchFamily="34" charset="0"/>
              </a:rPr>
              <a:t> lệnh:</a:t>
            </a:r>
            <a:r>
              <a:rPr lang="fr-FR" sz="2800" b="0">
                <a:solidFill>
                  <a:srgbClr val="002060"/>
                </a:solidFill>
                <a:latin typeface="Arial" panose="020B0604020202020204" pitchFamily="34" charset="0"/>
                <a:cs typeface="Arial" panose="020B0604020202020204" pitchFamily="34" charset="0"/>
              </a:rPr>
              <a:t> </a:t>
            </a:r>
          </a:p>
          <a:p>
            <a:pPr lvl="1" algn="just">
              <a:lnSpc>
                <a:spcPct val="90000"/>
              </a:lnSpc>
            </a:pPr>
            <a:r>
              <a:rPr lang="fr-FR" sz="2400" b="0">
                <a:solidFill>
                  <a:srgbClr val="002060"/>
                </a:solidFill>
                <a:latin typeface="Arial" panose="020B0604020202020204" pitchFamily="34" charset="0"/>
                <a:cs typeface="Arial" panose="020B0604020202020204" pitchFamily="34" charset="0"/>
              </a:rPr>
              <a:t>Dùng diễn </a:t>
            </a:r>
            <a:r>
              <a:rPr lang="fr-FR" sz="2400" b="0" dirty="0" err="1">
                <a:solidFill>
                  <a:srgbClr val="002060"/>
                </a:solidFill>
                <a:latin typeface="Arial" panose="020B0604020202020204" pitchFamily="34" charset="0"/>
                <a:cs typeface="Arial" panose="020B0604020202020204" pitchFamily="34" charset="0"/>
              </a:rPr>
              <a:t>tả</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một</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hoặc</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một</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nhóm</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các</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thao</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tác</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trong</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giải</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thuật</a:t>
            </a:r>
            <a:r>
              <a:rPr lang="fr-FR" sz="2400" b="0">
                <a:solidFill>
                  <a:srgbClr val="002060"/>
                </a:solidFill>
                <a:latin typeface="Arial" panose="020B0604020202020204" pitchFamily="34" charset="0"/>
                <a:cs typeface="Arial" panose="020B0604020202020204" pitchFamily="34" charset="0"/>
              </a:rPr>
              <a:t>. </a:t>
            </a:r>
            <a:r>
              <a:rPr lang="vi-VN" sz="2400" b="0">
                <a:solidFill>
                  <a:srgbClr val="002060"/>
                </a:solidFill>
                <a:latin typeface="Arial" panose="020B0604020202020204" pitchFamily="34" charset="0"/>
                <a:cs typeface="Arial" panose="020B0604020202020204" pitchFamily="34" charset="0"/>
              </a:rPr>
              <a:t>Mỗi câu lệnh thể hiện một hành động cụ thể mà chương trình cần thực hiện (gán giá trị, gọi hàm, kiểm tra điều kiện, lặp…).</a:t>
            </a:r>
            <a:endParaRPr lang="en-US" sz="2400" b="0">
              <a:solidFill>
                <a:srgbClr val="002060"/>
              </a:solidFill>
              <a:latin typeface="Arial" panose="020B0604020202020204" pitchFamily="34" charset="0"/>
              <a:cs typeface="Arial" panose="020B0604020202020204" pitchFamily="34" charset="0"/>
            </a:endParaRPr>
          </a:p>
          <a:p>
            <a:pPr lvl="1" algn="just">
              <a:lnSpc>
                <a:spcPct val="90000"/>
              </a:lnSpc>
            </a:pPr>
            <a:r>
              <a:rPr lang="fr-FR" sz="2400" b="0">
                <a:solidFill>
                  <a:srgbClr val="002060"/>
                </a:solidFill>
                <a:latin typeface="Arial" panose="020B0604020202020204" pitchFamily="34" charset="0"/>
                <a:cs typeface="Arial" panose="020B0604020202020204" pitchFamily="34" charset="0"/>
              </a:rPr>
              <a:t>Chương </a:t>
            </a:r>
            <a:r>
              <a:rPr lang="fr-FR" sz="2400" b="0" dirty="0" err="1">
                <a:solidFill>
                  <a:srgbClr val="002060"/>
                </a:solidFill>
                <a:latin typeface="Arial" panose="020B0604020202020204" pitchFamily="34" charset="0"/>
                <a:cs typeface="Arial" panose="020B0604020202020204" pitchFamily="34" charset="0"/>
              </a:rPr>
              <a:t>trình</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được</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tạo</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thành</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từ</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dãy</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các</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câu</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lệnh</a:t>
            </a:r>
            <a:r>
              <a:rPr lang="fr-FR" sz="2400" b="0" dirty="0">
                <a:solidFill>
                  <a:srgbClr val="002060"/>
                </a:solidFill>
                <a:latin typeface="Arial" panose="020B0604020202020204" pitchFamily="34" charset="0"/>
                <a:cs typeface="Arial" panose="020B0604020202020204" pitchFamily="34" charset="0"/>
              </a:rPr>
              <a:t>.</a:t>
            </a:r>
          </a:p>
          <a:p>
            <a:pPr lvl="1" algn="just">
              <a:lnSpc>
                <a:spcPct val="90000"/>
              </a:lnSpc>
            </a:pPr>
            <a:r>
              <a:rPr lang="fr-FR" sz="2400" b="0" dirty="0" err="1">
                <a:solidFill>
                  <a:srgbClr val="002060"/>
                </a:solidFill>
                <a:latin typeface="Arial" panose="020B0604020202020204" pitchFamily="34" charset="0"/>
                <a:cs typeface="Arial" panose="020B0604020202020204" pitchFamily="34" charset="0"/>
              </a:rPr>
              <a:t>Cuối</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mỗi</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câu</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lệnh</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bắt</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buộc</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có</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dấu</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chấm</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phẩy</a:t>
            </a:r>
            <a:r>
              <a:rPr lang="fr-FR" sz="2400" b="0" dirty="0">
                <a:solidFill>
                  <a:srgbClr val="002060"/>
                </a:solidFill>
                <a:latin typeface="Arial" panose="020B0604020202020204" pitchFamily="34" charset="0"/>
                <a:cs typeface="Arial" panose="020B0604020202020204" pitchFamily="34" charset="0"/>
              </a:rPr>
              <a:t> ‘;’ </a:t>
            </a:r>
            <a:r>
              <a:rPr lang="fr-FR" sz="2400" b="0" dirty="0" err="1">
                <a:solidFill>
                  <a:srgbClr val="002060"/>
                </a:solidFill>
                <a:latin typeface="Arial" panose="020B0604020202020204" pitchFamily="34" charset="0"/>
                <a:cs typeface="Arial" panose="020B0604020202020204" pitchFamily="34" charset="0"/>
              </a:rPr>
              <a:t>để</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đánh</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dấu</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kết</a:t>
            </a:r>
            <a:r>
              <a:rPr lang="fr-FR" sz="2400" b="0" dirty="0">
                <a:solidFill>
                  <a:srgbClr val="002060"/>
                </a:solidFill>
                <a:latin typeface="Arial" panose="020B0604020202020204" pitchFamily="34" charset="0"/>
                <a:cs typeface="Arial" panose="020B0604020202020204" pitchFamily="34" charset="0"/>
              </a:rPr>
              <a:t> </a:t>
            </a:r>
            <a:r>
              <a:rPr lang="fr-FR" sz="2400" b="0" dirty="0" err="1">
                <a:solidFill>
                  <a:srgbClr val="002060"/>
                </a:solidFill>
                <a:latin typeface="Arial" panose="020B0604020202020204" pitchFamily="34" charset="0"/>
                <a:cs typeface="Arial" panose="020B0604020202020204" pitchFamily="34" charset="0"/>
              </a:rPr>
              <a:t>thúc</a:t>
            </a:r>
            <a:r>
              <a:rPr lang="fr-FR" sz="2400" b="0" dirty="0">
                <a:solidFill>
                  <a:srgbClr val="002060"/>
                </a:solidFill>
                <a:latin typeface="Arial" panose="020B0604020202020204" pitchFamily="34" charset="0"/>
                <a:cs typeface="Arial" panose="020B0604020202020204" pitchFamily="34" charset="0"/>
              </a:rPr>
              <a:t> </a:t>
            </a:r>
            <a:r>
              <a:rPr lang="fr-FR" sz="2400" b="0" err="1">
                <a:solidFill>
                  <a:srgbClr val="002060"/>
                </a:solidFill>
                <a:latin typeface="Arial" panose="020B0604020202020204" pitchFamily="34" charset="0"/>
                <a:cs typeface="Arial" panose="020B0604020202020204" pitchFamily="34" charset="0"/>
              </a:rPr>
              <a:t>câu</a:t>
            </a:r>
            <a:r>
              <a:rPr lang="fr-FR" sz="2400" b="0">
                <a:solidFill>
                  <a:srgbClr val="002060"/>
                </a:solidFill>
                <a:latin typeface="Arial" panose="020B0604020202020204" pitchFamily="34" charset="0"/>
                <a:cs typeface="Arial" panose="020B0604020202020204" pitchFamily="34" charset="0"/>
              </a:rPr>
              <a:t> lệnh </a:t>
            </a:r>
            <a:r>
              <a:rPr lang="vi-VN" sz="2400">
                <a:solidFill>
                  <a:srgbClr val="002060"/>
                </a:solidFill>
                <a:latin typeface="Arial" panose="020B0604020202020204" pitchFamily="34" charset="0"/>
                <a:cs typeface="Arial" panose="020B0604020202020204" pitchFamily="34" charset="0"/>
              </a:rPr>
              <a:t>(trừ một số cấu trúc điều khiển).</a:t>
            </a:r>
            <a:endParaRPr lang="en-US" sz="2400">
              <a:solidFill>
                <a:srgbClr val="002060"/>
              </a:solidFill>
              <a:latin typeface="Arial" panose="020B0604020202020204" pitchFamily="34" charset="0"/>
              <a:cs typeface="Arial" panose="020B0604020202020204" pitchFamily="34" charset="0"/>
            </a:endParaRPr>
          </a:p>
          <a:p>
            <a:pPr lvl="1" algn="just">
              <a:lnSpc>
                <a:spcPct val="90000"/>
              </a:lnSpc>
            </a:pPr>
            <a:r>
              <a:rPr lang="fr-FR">
                <a:solidFill>
                  <a:schemeClr val="tx2"/>
                </a:solidFill>
                <a:cs typeface="Arial" charset="0"/>
              </a:rPr>
              <a:t>Ví dụ: </a:t>
            </a:r>
          </a:p>
          <a:p>
            <a:pPr lvl="2" algn="just">
              <a:lnSpc>
                <a:spcPct val="90000"/>
              </a:lnSpc>
            </a:pPr>
            <a:r>
              <a:rPr lang="fr-FR">
                <a:solidFill>
                  <a:schemeClr val="tx2"/>
                </a:solidFill>
                <a:cs typeface="Arial" charset="0"/>
              </a:rPr>
              <a:t>Lệnh gán: </a:t>
            </a:r>
            <a:r>
              <a:rPr lang="fr-FR">
                <a:solidFill>
                  <a:schemeClr val="accent2"/>
                </a:solidFill>
                <a:cs typeface="Arial" charset="0"/>
              </a:rPr>
              <a:t>delta = 100;</a:t>
            </a:r>
          </a:p>
          <a:p>
            <a:pPr lvl="2" algn="just">
              <a:lnSpc>
                <a:spcPct val="90000"/>
              </a:lnSpc>
            </a:pPr>
            <a:r>
              <a:rPr lang="fr-FR">
                <a:solidFill>
                  <a:schemeClr val="tx2"/>
                </a:solidFill>
                <a:cs typeface="Arial" charset="0"/>
              </a:rPr>
              <a:t>Lệnh xuất ra màn hình: </a:t>
            </a:r>
            <a:r>
              <a:rPr lang="fr-FR">
                <a:solidFill>
                  <a:schemeClr val="accent2"/>
                </a:solidFill>
                <a:cs typeface="Arial" charset="0"/>
              </a:rPr>
              <a:t>printf("Hello World");</a:t>
            </a:r>
          </a:p>
          <a:p>
            <a:pPr lvl="1" algn="just">
              <a:lnSpc>
                <a:spcPct val="90000"/>
              </a:lnSpc>
            </a:pPr>
            <a:endParaRPr lang="fr-FR" sz="2400" b="0">
              <a:solidFill>
                <a:srgbClr val="002060"/>
              </a:solidFill>
              <a:latin typeface="Arial" panose="020B0604020202020204" pitchFamily="34" charset="0"/>
              <a:cs typeface="Arial" panose="020B0604020202020204" pitchFamily="34" charset="0"/>
            </a:endParaRPr>
          </a:p>
          <a:p>
            <a:pPr marL="0" indent="0" algn="just">
              <a:lnSpc>
                <a:spcPct val="90000"/>
              </a:lnSpc>
              <a:buNone/>
            </a:pPr>
            <a:endParaRPr lang="en-US" sz="2800" b="0" baseline="-25000" dirty="0">
              <a:solidFill>
                <a:srgbClr val="002060"/>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6B366F70-7D94-4313-8689-1CC130463FBE}" type="slidenum">
              <a:rPr lang="en-US" smtClean="0"/>
              <a:pPr>
                <a:defRPr/>
              </a:pPr>
              <a:t>16</a:t>
            </a:fld>
            <a:endParaRPr lang="en-US"/>
          </a:p>
        </p:txBody>
      </p:sp>
      <p:sp>
        <p:nvSpPr>
          <p:cNvPr id="2" name="Title 3">
            <a:extLst>
              <a:ext uri="{FF2B5EF4-FFF2-40B4-BE49-F238E27FC236}">
                <a16:creationId xmlns:a16="http://schemas.microsoft.com/office/drawing/2014/main" id="{BBF41153-0A30-891A-7484-93E4671EF35B}"/>
              </a:ext>
            </a:extLst>
          </p:cNvPr>
          <p:cNvSpPr>
            <a:spLocks noGrp="1"/>
          </p:cNvSpPr>
          <p:nvPr>
            <p:ph type="title"/>
          </p:nvPr>
        </p:nvSpPr>
        <p:spPr>
          <a:xfrm>
            <a:off x="0" y="-26145"/>
            <a:ext cx="12100957" cy="685801"/>
          </a:xfrm>
        </p:spPr>
        <p:txBody>
          <a:bodyPr>
            <a:normAutofit/>
          </a:bodyPr>
          <a:lstStyle/>
          <a:p>
            <a:r>
              <a:rPr lang="en-US" sz="3600"/>
              <a:t>1.3. Một số khái niệm</a:t>
            </a:r>
          </a:p>
        </p:txBody>
      </p:sp>
    </p:spTree>
    <p:extLst>
      <p:ext uri="{BB962C8B-B14F-4D97-AF65-F5344CB8AC3E}">
        <p14:creationId xmlns:p14="http://schemas.microsoft.com/office/powerpoint/2010/main" val="2091763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Content Placeholder 2"/>
          <p:cNvSpPr>
            <a:spLocks noGrp="1"/>
          </p:cNvSpPr>
          <p:nvPr>
            <p:ph idx="1"/>
          </p:nvPr>
        </p:nvSpPr>
        <p:spPr/>
        <p:txBody>
          <a:bodyPr/>
          <a:lstStyle/>
          <a:p>
            <a:pPr algn="just">
              <a:lnSpc>
                <a:spcPct val="90000"/>
              </a:lnSpc>
            </a:pPr>
            <a:r>
              <a:rPr lang="fr-FR" sz="2800">
                <a:solidFill>
                  <a:srgbClr val="002060"/>
                </a:solidFill>
                <a:cs typeface="Arial" charset="0"/>
              </a:rPr>
              <a:t>Khối lệnh:</a:t>
            </a:r>
            <a:endParaRPr lang="fr-FR" sz="2800" dirty="0">
              <a:solidFill>
                <a:srgbClr val="002060"/>
              </a:solidFill>
              <a:cs typeface="Arial" charset="0"/>
            </a:endParaRPr>
          </a:p>
          <a:p>
            <a:pPr lvl="1" algn="just">
              <a:lnSpc>
                <a:spcPct val="90000"/>
              </a:lnSpc>
            </a:pPr>
            <a:r>
              <a:rPr lang="en-US" sz="2400" b="0">
                <a:solidFill>
                  <a:srgbClr val="002060"/>
                </a:solidFill>
              </a:rPr>
              <a:t>Là </a:t>
            </a:r>
            <a:r>
              <a:rPr lang="vi-VN" sz="2400" b="0">
                <a:solidFill>
                  <a:srgbClr val="002060"/>
                </a:solidFill>
              </a:rPr>
              <a:t>một nhóm các câu lệnh được đặt trong cặp dấu ngoặc nhọn { }. </a:t>
            </a:r>
            <a:endParaRPr lang="en-US" sz="2400" b="0">
              <a:solidFill>
                <a:srgbClr val="002060"/>
              </a:solidFill>
            </a:endParaRPr>
          </a:p>
          <a:p>
            <a:pPr lvl="1" algn="just">
              <a:lnSpc>
                <a:spcPct val="90000"/>
              </a:lnSpc>
            </a:pPr>
            <a:r>
              <a:rPr lang="vi-VN" sz="2400" b="0">
                <a:solidFill>
                  <a:srgbClr val="002060"/>
                </a:solidFill>
              </a:rPr>
              <a:t>Nó được xem như một câu lệnh duy nhất trong các cấu trúc điều khiển (if, while, for...).</a:t>
            </a:r>
            <a:endParaRPr lang="fr-FR" sz="2400" b="0" dirty="0">
              <a:solidFill>
                <a:srgbClr val="002060"/>
              </a:solidFill>
              <a:cs typeface="Arial" charset="0"/>
            </a:endParaRPr>
          </a:p>
          <a:p>
            <a:pPr lvl="1"/>
            <a:r>
              <a:rPr lang="en-US" sz="2400" b="0">
                <a:solidFill>
                  <a:srgbClr val="002060"/>
                </a:solidFill>
              </a:rPr>
              <a:t>Bên trong có thể chứa nhiều câu lệnh, khai báo biến cục bộ. Cho phép nhóm nhiều câu lệnh thành một khối logic.</a:t>
            </a:r>
          </a:p>
          <a:p>
            <a:pPr lvl="1"/>
            <a:r>
              <a:rPr lang="en-US" sz="2400" b="0">
                <a:solidFill>
                  <a:srgbClr val="002060"/>
                </a:solidFill>
                <a:cs typeface="Arial" charset="0"/>
              </a:rPr>
              <a:t>Ví dụ: khối lệnh sau câu lệnh if</a:t>
            </a:r>
          </a:p>
          <a:p>
            <a:pPr marL="1257300" lvl="3" indent="0">
              <a:buNone/>
            </a:pPr>
            <a:r>
              <a:rPr lang="en-US" sz="2400" b="1">
                <a:latin typeface="Courier New" panose="02070309020205020404" pitchFamily="49" charset="0"/>
                <a:cs typeface="Courier New" panose="02070309020205020404" pitchFamily="49" charset="0"/>
              </a:rPr>
              <a:t>if (x &gt; 0) </a:t>
            </a:r>
            <a:r>
              <a:rPr lang="en-US" sz="2400" b="1">
                <a:solidFill>
                  <a:schemeClr val="accent2"/>
                </a:solidFill>
                <a:latin typeface="Courier New" panose="02070309020205020404" pitchFamily="49" charset="0"/>
                <a:cs typeface="Courier New" panose="02070309020205020404" pitchFamily="49" charset="0"/>
              </a:rPr>
              <a:t>{</a:t>
            </a:r>
          </a:p>
          <a:p>
            <a:pPr marL="1257300" lvl="3" indent="0">
              <a:buNone/>
            </a:pPr>
            <a:r>
              <a:rPr lang="en-US" sz="2400" b="1">
                <a:latin typeface="Courier New" panose="02070309020205020404" pitchFamily="49" charset="0"/>
                <a:cs typeface="Courier New" panose="02070309020205020404" pitchFamily="49" charset="0"/>
              </a:rPr>
              <a:t>    printf("x dương\n");</a:t>
            </a:r>
          </a:p>
          <a:p>
            <a:pPr marL="1257300" lvl="3" indent="0">
              <a:buNone/>
            </a:pPr>
            <a:r>
              <a:rPr lang="en-US" sz="2400" b="1">
                <a:latin typeface="Courier New" panose="02070309020205020404" pitchFamily="49" charset="0"/>
                <a:cs typeface="Courier New" panose="02070309020205020404" pitchFamily="49" charset="0"/>
              </a:rPr>
              <a:t>    x--;</a:t>
            </a:r>
          </a:p>
          <a:p>
            <a:pPr marL="1257300" lvl="3" indent="0">
              <a:buNone/>
            </a:pPr>
            <a:r>
              <a:rPr lang="en-US" sz="2400" b="1">
                <a:solidFill>
                  <a:schemeClr val="accent2"/>
                </a:solidFill>
                <a:latin typeface="Courier New" panose="02070309020205020404" pitchFamily="49" charset="0"/>
                <a:cs typeface="Courier New" panose="02070309020205020404" pitchFamily="49" charset="0"/>
              </a:rPr>
              <a:t>}</a:t>
            </a:r>
            <a:endParaRPr lang="en-US" sz="1200" b="1" dirty="0">
              <a:solidFill>
                <a:schemeClr val="accent2"/>
              </a:solidFill>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0"/>
          </p:nvPr>
        </p:nvSpPr>
        <p:spPr/>
        <p:txBody>
          <a:bodyPr/>
          <a:lstStyle/>
          <a:p>
            <a:pPr>
              <a:defRPr/>
            </a:pPr>
            <a:fld id="{693277FC-4A1D-4946-9B0C-E63B06955421}" type="slidenum">
              <a:rPr lang="en-US" smtClean="0"/>
              <a:pPr>
                <a:defRPr/>
              </a:pPr>
              <a:t>17</a:t>
            </a:fld>
            <a:endParaRPr lang="en-US"/>
          </a:p>
        </p:txBody>
      </p:sp>
      <p:sp>
        <p:nvSpPr>
          <p:cNvPr id="5" name="Title 3">
            <a:extLst>
              <a:ext uri="{FF2B5EF4-FFF2-40B4-BE49-F238E27FC236}">
                <a16:creationId xmlns:a16="http://schemas.microsoft.com/office/drawing/2014/main" id="{CD1ABE18-224B-49C9-5359-A9C0EF77C6AA}"/>
              </a:ext>
            </a:extLst>
          </p:cNvPr>
          <p:cNvSpPr txBox="1">
            <a:spLocks/>
          </p:cNvSpPr>
          <p:nvPr/>
        </p:nvSpPr>
        <p:spPr>
          <a:xfrm>
            <a:off x="0" y="-26145"/>
            <a:ext cx="12100957" cy="6858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200" b="1" kern="1200">
                <a:solidFill>
                  <a:schemeClr val="bg1"/>
                </a:solidFill>
                <a:latin typeface="Myriad Pro"/>
                <a:ea typeface="+mj-ea"/>
                <a:cs typeface="Myriad Pro"/>
              </a:defRPr>
            </a:lvl1pPr>
          </a:lstStyle>
          <a:p>
            <a:r>
              <a:rPr lang="en-US" sz="3600"/>
              <a:t>1.3. Một số khái niệm</a:t>
            </a:r>
          </a:p>
        </p:txBody>
      </p:sp>
    </p:spTree>
    <p:extLst>
      <p:ext uri="{BB962C8B-B14F-4D97-AF65-F5344CB8AC3E}">
        <p14:creationId xmlns:p14="http://schemas.microsoft.com/office/powerpoint/2010/main" val="1653671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5E1A8-1E4C-6254-2323-7408CB9A2EAA}"/>
            </a:ext>
          </a:extLst>
        </p:cNvPr>
        <p:cNvGrpSpPr/>
        <p:nvPr/>
      </p:nvGrpSpPr>
      <p:grpSpPr>
        <a:xfrm>
          <a:off x="0" y="0"/>
          <a:ext cx="0" cy="0"/>
          <a:chOff x="0" y="0"/>
          <a:chExt cx="0" cy="0"/>
        </a:xfrm>
      </p:grpSpPr>
      <p:sp>
        <p:nvSpPr>
          <p:cNvPr id="40963" name="Content Placeholder 2">
            <a:extLst>
              <a:ext uri="{FF2B5EF4-FFF2-40B4-BE49-F238E27FC236}">
                <a16:creationId xmlns:a16="http://schemas.microsoft.com/office/drawing/2014/main" id="{C53FF331-EE03-5842-7847-5885FAABEB40}"/>
              </a:ext>
            </a:extLst>
          </p:cNvPr>
          <p:cNvSpPr>
            <a:spLocks noGrp="1"/>
          </p:cNvSpPr>
          <p:nvPr>
            <p:ph idx="1"/>
          </p:nvPr>
        </p:nvSpPr>
        <p:spPr/>
        <p:txBody>
          <a:bodyPr>
            <a:normAutofit/>
          </a:bodyPr>
          <a:lstStyle/>
          <a:p>
            <a:pPr algn="just">
              <a:lnSpc>
                <a:spcPct val="90000"/>
              </a:lnSpc>
            </a:pPr>
            <a:r>
              <a:rPr lang="fr-FR" sz="2800">
                <a:cs typeface="Arial" charset="0"/>
              </a:rPr>
              <a:t>Khối lệnh lồng nhau:</a:t>
            </a:r>
            <a:endParaRPr lang="fr-FR" sz="2800" dirty="0">
              <a:cs typeface="Arial" charset="0"/>
            </a:endParaRPr>
          </a:p>
          <a:p>
            <a:pPr lvl="1"/>
            <a:r>
              <a:rPr lang="en-US" sz="2400" b="0">
                <a:cs typeface="Arial" charset="0"/>
              </a:rPr>
              <a:t>Ví dụ:</a:t>
            </a:r>
          </a:p>
          <a:p>
            <a:pPr marL="1257300" lvl="3" indent="0">
              <a:buNone/>
            </a:pPr>
            <a:r>
              <a:rPr lang="en-US" sz="2400" b="1">
                <a:solidFill>
                  <a:schemeClr val="accent2"/>
                </a:solidFill>
                <a:latin typeface="Courier New" panose="02070309020205020404" pitchFamily="49" charset="0"/>
                <a:cs typeface="Courier New" panose="02070309020205020404" pitchFamily="49" charset="0"/>
              </a:rPr>
              <a:t>{</a:t>
            </a:r>
            <a:r>
              <a:rPr lang="en-US" sz="2400" b="1">
                <a:latin typeface="Courier New" panose="02070309020205020404" pitchFamily="49" charset="0"/>
                <a:cs typeface="Courier New" panose="02070309020205020404" pitchFamily="49" charset="0"/>
              </a:rPr>
              <a:t> </a:t>
            </a:r>
          </a:p>
          <a:p>
            <a:pPr marL="1257300" lvl="3" indent="0">
              <a:buNone/>
            </a:pPr>
            <a:r>
              <a:rPr lang="en-US" sz="2400" b="1">
                <a:latin typeface="Courier New" panose="02070309020205020404" pitchFamily="49" charset="0"/>
                <a:cs typeface="Courier New" panose="02070309020205020404" pitchFamily="49" charset="0"/>
              </a:rPr>
              <a:t>	int a=8;</a:t>
            </a:r>
          </a:p>
          <a:p>
            <a:pPr marL="1257300" lvl="3" indent="0">
              <a:buNone/>
            </a:pPr>
            <a:r>
              <a:rPr lang="en-US" sz="2400" b="1">
                <a:latin typeface="Courier New" panose="02070309020205020404" pitchFamily="49" charset="0"/>
                <a:cs typeface="Courier New" panose="02070309020205020404" pitchFamily="49" charset="0"/>
              </a:rPr>
              <a:t>	</a:t>
            </a:r>
            <a:r>
              <a:rPr lang="en-US" sz="2400" b="1">
                <a:solidFill>
                  <a:schemeClr val="accent3"/>
                </a:solidFill>
                <a:latin typeface="Courier New" panose="02070309020205020404" pitchFamily="49" charset="0"/>
                <a:cs typeface="Courier New" panose="02070309020205020404" pitchFamily="49" charset="0"/>
              </a:rPr>
              <a:t>{</a:t>
            </a:r>
          </a:p>
          <a:p>
            <a:pPr marL="1257300" lvl="3" indent="0">
              <a:buNone/>
            </a:pPr>
            <a:r>
              <a:rPr lang="en-US" sz="2400" b="1">
                <a:latin typeface="Courier New" panose="02070309020205020404" pitchFamily="49" charset="0"/>
                <a:cs typeface="Courier New" panose="02070309020205020404" pitchFamily="49" charset="0"/>
              </a:rPr>
              <a:t>		int a=10;</a:t>
            </a:r>
          </a:p>
          <a:p>
            <a:pPr marL="1257300" lvl="3" indent="0">
              <a:buNone/>
            </a:pPr>
            <a:r>
              <a:rPr lang="en-US" sz="2400" b="1">
                <a:latin typeface="Courier New" panose="02070309020205020404" pitchFamily="49" charset="0"/>
                <a:cs typeface="Courier New" panose="02070309020205020404" pitchFamily="49" charset="0"/>
              </a:rPr>
              <a:t>		</a:t>
            </a:r>
            <a:r>
              <a:rPr lang="en-US" sz="2400">
                <a:latin typeface="Courier New" panose="02070309020205020404" pitchFamily="49" charset="0"/>
                <a:cs typeface="Courier New" panose="02070309020205020404" pitchFamily="49" charset="0"/>
              </a:rPr>
              <a:t>printf(“a = %d\n”, a);</a:t>
            </a:r>
          </a:p>
          <a:p>
            <a:pPr marL="1257300" lvl="3" indent="0">
              <a:buNone/>
            </a:pPr>
            <a:r>
              <a:rPr lang="en-US" sz="2400" b="1">
                <a:latin typeface="Courier New" panose="02070309020205020404" pitchFamily="49" charset="0"/>
                <a:cs typeface="Courier New" panose="02070309020205020404" pitchFamily="49" charset="0"/>
              </a:rPr>
              <a:t>	</a:t>
            </a:r>
            <a:r>
              <a:rPr lang="en-US" sz="2400" b="1">
                <a:solidFill>
                  <a:schemeClr val="accent3"/>
                </a:solidFill>
                <a:latin typeface="Courier New" panose="02070309020205020404" pitchFamily="49" charset="0"/>
                <a:cs typeface="Courier New" panose="02070309020205020404" pitchFamily="49" charset="0"/>
              </a:rPr>
              <a:t>}</a:t>
            </a:r>
          </a:p>
          <a:p>
            <a:pPr marL="1257300" lvl="3" indent="0">
              <a:buNone/>
            </a:pPr>
            <a:r>
              <a:rPr lang="en-US" sz="2400" b="1">
                <a:latin typeface="Courier New" panose="02070309020205020404" pitchFamily="49" charset="0"/>
                <a:cs typeface="Courier New" panose="02070309020205020404" pitchFamily="49" charset="0"/>
              </a:rPr>
              <a:t>	</a:t>
            </a:r>
            <a:r>
              <a:rPr lang="en-US" sz="2400">
                <a:latin typeface="Courier New" panose="02070309020205020404" pitchFamily="49" charset="0"/>
                <a:cs typeface="Courier New" panose="02070309020205020404" pitchFamily="49" charset="0"/>
              </a:rPr>
              <a:t> printf(“a = %d\n”, a);</a:t>
            </a:r>
            <a:endParaRPr lang="en-US" sz="2400" b="0">
              <a:latin typeface="Courier New" panose="02070309020205020404" pitchFamily="49" charset="0"/>
              <a:cs typeface="Courier New" panose="02070309020205020404" pitchFamily="49" charset="0"/>
            </a:endParaRPr>
          </a:p>
          <a:p>
            <a:pPr marL="1257300" lvl="3" indent="0">
              <a:buNone/>
            </a:pPr>
            <a:r>
              <a:rPr lang="en-US" sz="2400" b="1">
                <a:latin typeface="Courier New" panose="02070309020205020404" pitchFamily="49" charset="0"/>
                <a:cs typeface="Courier New" panose="02070309020205020404" pitchFamily="49" charset="0"/>
              </a:rPr>
              <a:t> </a:t>
            </a:r>
            <a:r>
              <a:rPr lang="en-US" sz="2400" b="1">
                <a:solidFill>
                  <a:schemeClr val="accent2"/>
                </a:solidFill>
                <a:latin typeface="Courier New" panose="02070309020205020404" pitchFamily="49" charset="0"/>
                <a:cs typeface="Courier New" panose="02070309020205020404" pitchFamily="49" charset="0"/>
              </a:rPr>
              <a:t>}</a:t>
            </a:r>
            <a:endParaRPr lang="en-US" sz="1200" b="1" dirty="0">
              <a:solidFill>
                <a:schemeClr val="accent2"/>
              </a:solidFill>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6B2093BA-E130-763E-511E-9D06F4E6E971}"/>
              </a:ext>
            </a:extLst>
          </p:cNvPr>
          <p:cNvSpPr>
            <a:spLocks noGrp="1"/>
          </p:cNvSpPr>
          <p:nvPr>
            <p:ph type="sldNum" sz="quarter" idx="10"/>
          </p:nvPr>
        </p:nvSpPr>
        <p:spPr/>
        <p:txBody>
          <a:bodyPr/>
          <a:lstStyle/>
          <a:p>
            <a:pPr>
              <a:defRPr/>
            </a:pPr>
            <a:fld id="{693277FC-4A1D-4946-9B0C-E63B06955421}" type="slidenum">
              <a:rPr lang="en-US" smtClean="0"/>
              <a:pPr>
                <a:defRPr/>
              </a:pPr>
              <a:t>18</a:t>
            </a:fld>
            <a:endParaRPr lang="en-US"/>
          </a:p>
        </p:txBody>
      </p:sp>
      <p:sp>
        <p:nvSpPr>
          <p:cNvPr id="5" name="Title 3">
            <a:extLst>
              <a:ext uri="{FF2B5EF4-FFF2-40B4-BE49-F238E27FC236}">
                <a16:creationId xmlns:a16="http://schemas.microsoft.com/office/drawing/2014/main" id="{93087403-5B5E-0FE9-2AD9-98132D03B54C}"/>
              </a:ext>
            </a:extLst>
          </p:cNvPr>
          <p:cNvSpPr txBox="1">
            <a:spLocks/>
          </p:cNvSpPr>
          <p:nvPr/>
        </p:nvSpPr>
        <p:spPr>
          <a:xfrm>
            <a:off x="0" y="-26145"/>
            <a:ext cx="12100957" cy="6858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200" b="1" kern="1200">
                <a:solidFill>
                  <a:schemeClr val="bg1"/>
                </a:solidFill>
                <a:latin typeface="Myriad Pro"/>
                <a:ea typeface="+mj-ea"/>
                <a:cs typeface="Myriad Pro"/>
              </a:defRPr>
            </a:lvl1pPr>
          </a:lstStyle>
          <a:p>
            <a:r>
              <a:rPr lang="en-US" sz="3600"/>
              <a:t>1.3. Một số khái niệm</a:t>
            </a:r>
          </a:p>
        </p:txBody>
      </p:sp>
    </p:spTree>
    <p:extLst>
      <p:ext uri="{BB962C8B-B14F-4D97-AF65-F5344CB8AC3E}">
        <p14:creationId xmlns:p14="http://schemas.microsoft.com/office/powerpoint/2010/main" val="3926819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p:cNvSpPr>
          <p:nvPr>
            <p:ph type="body" sz="half" idx="4294967295"/>
          </p:nvPr>
        </p:nvSpPr>
        <p:spPr>
          <a:xfrm>
            <a:off x="762000" y="914400"/>
            <a:ext cx="10287000" cy="4343400"/>
          </a:xfrm>
        </p:spPr>
        <p:txBody>
          <a:bodyPr>
            <a:normAutofit/>
          </a:bodyPr>
          <a:lstStyle/>
          <a:p>
            <a:pPr algn="just"/>
            <a:r>
              <a:rPr lang="fr-FR" sz="2800">
                <a:solidFill>
                  <a:srgbClr val="002060"/>
                </a:solidFill>
                <a:cs typeface="Arial" charset="0"/>
              </a:rPr>
              <a:t>Chú thích (comment):</a:t>
            </a:r>
          </a:p>
          <a:p>
            <a:pPr lvl="1" algn="just"/>
            <a:r>
              <a:rPr lang="en-US" sz="2400">
                <a:solidFill>
                  <a:srgbClr val="002060"/>
                </a:solidFill>
                <a:cs typeface="Arial" charset="0"/>
              </a:rPr>
              <a:t>Lời mô tả, giải thích vắn tắt cho một câu lệnh, một đoạn chương trình hoặc cả chương trình</a:t>
            </a:r>
            <a:endParaRPr lang="fr-FR" sz="2400">
              <a:solidFill>
                <a:srgbClr val="002060"/>
              </a:solidFill>
              <a:cs typeface="Arial" charset="0"/>
            </a:endParaRPr>
          </a:p>
          <a:p>
            <a:pPr lvl="1" algn="just"/>
            <a:r>
              <a:rPr lang="fr-FR" sz="2400">
                <a:solidFill>
                  <a:srgbClr val="002060"/>
                </a:solidFill>
                <a:cs typeface="Arial" charset="0"/>
              </a:rPr>
              <a:t>Giúp việc đọc và hiểu chương trình dễ dàng hơn</a:t>
            </a:r>
          </a:p>
          <a:p>
            <a:pPr lvl="1" algn="just"/>
            <a:r>
              <a:rPr lang="fr-FR" sz="2400">
                <a:solidFill>
                  <a:srgbClr val="002060"/>
                </a:solidFill>
                <a:cs typeface="Arial" charset="0"/>
              </a:rPr>
              <a:t>Chú thích không phải là câu lệnh -&gt; không ảnh hưởng tới chương trình</a:t>
            </a:r>
          </a:p>
          <a:p>
            <a:pPr marL="0" indent="0" algn="just">
              <a:buNone/>
            </a:pPr>
            <a:r>
              <a:rPr lang="fr-FR" sz="2400" b="0">
                <a:solidFill>
                  <a:srgbClr val="002060"/>
                </a:solidFill>
                <a:cs typeface="Arial" charset="0"/>
              </a:rPr>
              <a:t>Cách viết chú thích trong C có hai cách:</a:t>
            </a:r>
          </a:p>
          <a:p>
            <a:pPr lvl="1" algn="just"/>
            <a:r>
              <a:rPr lang="fr-FR" sz="2400">
                <a:solidFill>
                  <a:srgbClr val="002060"/>
                </a:solidFill>
                <a:cs typeface="Arial" charset="0"/>
              </a:rPr>
              <a:t>Chú thích một dòng: sử dụng       </a:t>
            </a:r>
            <a:r>
              <a:rPr lang="fr-FR" sz="2400">
                <a:solidFill>
                  <a:srgbClr val="C00000"/>
                </a:solidFill>
                <a:cs typeface="Arial" charset="0"/>
              </a:rPr>
              <a:t>//</a:t>
            </a:r>
            <a:r>
              <a:rPr lang="fr-FR" sz="2400">
                <a:solidFill>
                  <a:srgbClr val="002060"/>
                </a:solidFill>
                <a:cs typeface="Arial" charset="0"/>
              </a:rPr>
              <a:t> </a:t>
            </a:r>
          </a:p>
          <a:p>
            <a:pPr lvl="1" algn="just"/>
            <a:r>
              <a:rPr lang="fr-FR" sz="2400">
                <a:solidFill>
                  <a:srgbClr val="002060"/>
                </a:solidFill>
                <a:cs typeface="Arial" charset="0"/>
              </a:rPr>
              <a:t>Chú thích nhiều dòng: sử dụng   </a:t>
            </a:r>
            <a:r>
              <a:rPr lang="fr-FR" sz="2400">
                <a:solidFill>
                  <a:srgbClr val="C00000"/>
                </a:solidFill>
                <a:cs typeface="Arial" charset="0"/>
              </a:rPr>
              <a:t>/*</a:t>
            </a:r>
            <a:r>
              <a:rPr lang="fr-FR" sz="2400">
                <a:solidFill>
                  <a:srgbClr val="002060"/>
                </a:solidFill>
                <a:cs typeface="Arial" charset="0"/>
              </a:rPr>
              <a:t>  và  </a:t>
            </a:r>
            <a:r>
              <a:rPr lang="fr-FR" sz="2400">
                <a:solidFill>
                  <a:srgbClr val="C00000"/>
                </a:solidFill>
                <a:cs typeface="Arial" charset="0"/>
              </a:rPr>
              <a:t>*/</a:t>
            </a:r>
          </a:p>
          <a:p>
            <a:pPr marL="457200" lvl="1" indent="0" algn="just">
              <a:buNone/>
            </a:pPr>
            <a:endParaRPr lang="fr-FR" sz="2400">
              <a:solidFill>
                <a:srgbClr val="002060"/>
              </a:solidFill>
              <a:cs typeface="Arial" charset="0"/>
            </a:endParaRPr>
          </a:p>
          <a:p>
            <a:pPr algn="just"/>
            <a:endParaRPr lang="en-US" sz="280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FC278F71-A370-4C77-8CC7-65769F49D736}" type="slidenum">
              <a:rPr lang="en-US" smtClean="0"/>
              <a:pPr>
                <a:defRPr/>
              </a:pPr>
              <a:t>19</a:t>
            </a:fld>
            <a:endParaRPr lang="en-US"/>
          </a:p>
        </p:txBody>
      </p:sp>
      <p:sp>
        <p:nvSpPr>
          <p:cNvPr id="2" name="Title 3">
            <a:extLst>
              <a:ext uri="{FF2B5EF4-FFF2-40B4-BE49-F238E27FC236}">
                <a16:creationId xmlns:a16="http://schemas.microsoft.com/office/drawing/2014/main" id="{3CB35CF7-8F2B-25B5-14E7-2091935D7FE5}"/>
              </a:ext>
            </a:extLst>
          </p:cNvPr>
          <p:cNvSpPr txBox="1">
            <a:spLocks/>
          </p:cNvSpPr>
          <p:nvPr/>
        </p:nvSpPr>
        <p:spPr>
          <a:xfrm>
            <a:off x="0" y="-26145"/>
            <a:ext cx="12100957" cy="68580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200" b="1" kern="1200">
                <a:solidFill>
                  <a:schemeClr val="bg1"/>
                </a:solidFill>
                <a:latin typeface="Myriad Pro"/>
                <a:ea typeface="+mj-ea"/>
                <a:cs typeface="Myriad Pro"/>
              </a:defRPr>
            </a:lvl1pPr>
          </a:lstStyle>
          <a:p>
            <a:r>
              <a:rPr lang="en-US" sz="3600"/>
              <a:t>1.3. Một số khái niệm</a:t>
            </a:r>
          </a:p>
        </p:txBody>
      </p:sp>
    </p:spTree>
    <p:extLst>
      <p:ext uri="{BB962C8B-B14F-4D97-AF65-F5344CB8AC3E}">
        <p14:creationId xmlns:p14="http://schemas.microsoft.com/office/powerpoint/2010/main" val="1395289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a:cs typeface="Arial" charset="0"/>
              </a:rPr>
              <a:t>1.4. Cấu trúc cơ bản của một chương trình C</a:t>
            </a:r>
          </a:p>
        </p:txBody>
      </p:sp>
      <p:sp>
        <p:nvSpPr>
          <p:cNvPr id="11268" name="Slide Number Placeholder 3"/>
          <p:cNvSpPr>
            <a:spLocks noGrp="1"/>
          </p:cNvSpPr>
          <p:nvPr>
            <p:ph type="sldNum" sz="quarter" idx="10"/>
          </p:nvPr>
        </p:nvSpPr>
        <p:spPr bwMode="auto">
          <a:ln>
            <a:miter lim="800000"/>
            <a:headEnd/>
            <a:tailEnd/>
          </a:ln>
        </p:spPr>
        <p:txBody>
          <a:bodyPr vert="horz" wrap="square" lIns="91440" tIns="45720" rIns="91440" bIns="45720" numCol="1" rtlCol="0" anchor="t" anchorCtr="0" compatLnSpc="1">
            <a:prstTxWarp prst="textNoShape">
              <a:avLst/>
            </a:prstTxWarp>
          </a:bodyPr>
          <a:lstStyle/>
          <a:p>
            <a:pPr fontAlgn="base">
              <a:spcBef>
                <a:spcPct val="0"/>
              </a:spcBef>
              <a:spcAft>
                <a:spcPct val="0"/>
              </a:spcAft>
              <a:defRPr/>
            </a:pPr>
            <a:fld id="{179093D9-A32D-4A25-8A5D-6EDBB0BBD61E}" type="slidenum">
              <a:rPr lang="en-US" smtClean="0"/>
              <a:pPr fontAlgn="base">
                <a:spcBef>
                  <a:spcPct val="0"/>
                </a:spcBef>
                <a:spcAft>
                  <a:spcPct val="0"/>
                </a:spcAft>
                <a:defRPr/>
              </a:pPr>
              <a:t>20</a:t>
            </a:fld>
            <a:endParaRPr lang="en-US"/>
          </a:p>
        </p:txBody>
      </p:sp>
      <p:graphicFrame>
        <p:nvGraphicFramePr>
          <p:cNvPr id="2" name="Group 46">
            <a:extLst>
              <a:ext uri="{FF2B5EF4-FFF2-40B4-BE49-F238E27FC236}">
                <a16:creationId xmlns:a16="http://schemas.microsoft.com/office/drawing/2014/main" id="{0C8B4784-38FA-4BAB-8113-EAB1A7A06160}"/>
              </a:ext>
            </a:extLst>
          </p:cNvPr>
          <p:cNvGraphicFramePr>
            <a:graphicFrameLocks/>
          </p:cNvGraphicFramePr>
          <p:nvPr>
            <p:extLst>
              <p:ext uri="{D42A27DB-BD31-4B8C-83A1-F6EECF244321}">
                <p14:modId xmlns:p14="http://schemas.microsoft.com/office/powerpoint/2010/main" val="821028926"/>
              </p:ext>
            </p:extLst>
          </p:nvPr>
        </p:nvGraphicFramePr>
        <p:xfrm>
          <a:off x="2362200" y="1447800"/>
          <a:ext cx="7783513" cy="3760789"/>
        </p:xfrm>
        <a:graphic>
          <a:graphicData uri="http://schemas.openxmlformats.org/drawingml/2006/table">
            <a:tbl>
              <a:tblPr>
                <a:tableStyleId>{22838BEF-8BB2-4498-84A7-C5851F593DF1}</a:tableStyleId>
              </a:tblPr>
              <a:tblGrid>
                <a:gridCol w="7783513">
                  <a:extLst>
                    <a:ext uri="{9D8B030D-6E8A-4147-A177-3AD203B41FA5}">
                      <a16:colId xmlns:a16="http://schemas.microsoft.com/office/drawing/2014/main" val="20000"/>
                    </a:ext>
                  </a:extLst>
                </a:gridCol>
              </a:tblGrid>
              <a:tr h="671581">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0" u="none" strike="noStrike" cap="none" normalizeH="0" baseline="0">
                          <a:ln>
                            <a:noFill/>
                          </a:ln>
                          <a:solidFill>
                            <a:schemeClr val="tx1"/>
                          </a:solidFill>
                          <a:effectLst/>
                        </a:rPr>
                        <a:t>Phần 1: Khai báo tệp tiêu đề: #include </a:t>
                      </a:r>
                      <a:endParaRPr kumimoji="0" 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90000" marR="90000" marT="46805" marB="46805" horzOverflow="overflow"/>
                </a:tc>
                <a:extLst>
                  <a:ext uri="{0D108BD9-81ED-4DB2-BD59-A6C34878D82A}">
                    <a16:rowId xmlns:a16="http://schemas.microsoft.com/office/drawing/2014/main" val="10000"/>
                  </a:ext>
                </a:extLst>
              </a:tr>
              <a:tr h="64141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0" u="none" strike="noStrike" cap="none" normalizeH="0" baseline="0">
                          <a:ln>
                            <a:noFill/>
                          </a:ln>
                          <a:solidFill>
                            <a:schemeClr val="tx1"/>
                          </a:solidFill>
                          <a:effectLst/>
                        </a:rPr>
                        <a:t>Phần 2: Định nghĩa kiểu dữ liệu mới: typedef ... </a:t>
                      </a:r>
                      <a:endParaRPr kumimoji="0" 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90000" marR="90000" marT="46805" marB="46805" horzOverflow="overflow"/>
                </a:tc>
                <a:extLst>
                  <a:ext uri="{0D108BD9-81ED-4DB2-BD59-A6C34878D82A}">
                    <a16:rowId xmlns:a16="http://schemas.microsoft.com/office/drawing/2014/main" val="10001"/>
                  </a:ext>
                </a:extLst>
              </a:tr>
              <a:tr h="643003">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0" u="none" strike="noStrike" cap="none" normalizeH="0" baseline="0">
                          <a:ln>
                            <a:noFill/>
                          </a:ln>
                          <a:solidFill>
                            <a:schemeClr val="tx1"/>
                          </a:solidFill>
                          <a:effectLst/>
                        </a:rPr>
                        <a:t>Phần 3: Khai báo các hàm nguyên mẫu </a:t>
                      </a:r>
                      <a:endParaRPr kumimoji="0" 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90000" marR="90000" marT="46805" marB="46805" horzOverflow="overflow"/>
                </a:tc>
                <a:extLst>
                  <a:ext uri="{0D108BD9-81ED-4DB2-BD59-A6C34878D82A}">
                    <a16:rowId xmlns:a16="http://schemas.microsoft.com/office/drawing/2014/main" val="10002"/>
                  </a:ext>
                </a:extLst>
              </a:tr>
              <a:tr h="64141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0" u="none" strike="noStrike" cap="none" normalizeH="0" baseline="0">
                          <a:ln>
                            <a:noFill/>
                          </a:ln>
                          <a:solidFill>
                            <a:schemeClr val="tx1"/>
                          </a:solidFill>
                          <a:effectLst/>
                        </a:rPr>
                        <a:t>Phần 4: Khai báo các biến toàn cục </a:t>
                      </a:r>
                      <a:endParaRPr kumimoji="0" 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90000" marR="90000" marT="46805" marB="46805" horzOverflow="overflow"/>
                </a:tc>
                <a:extLst>
                  <a:ext uri="{0D108BD9-81ED-4DB2-BD59-A6C34878D82A}">
                    <a16:rowId xmlns:a16="http://schemas.microsoft.com/office/drawing/2014/main" val="10003"/>
                  </a:ext>
                </a:extLst>
              </a:tr>
              <a:tr h="643003">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0" u="none" strike="noStrike" cap="none" normalizeH="0" baseline="0">
                          <a:ln>
                            <a:noFill/>
                          </a:ln>
                          <a:solidFill>
                            <a:schemeClr val="tx1"/>
                          </a:solidFill>
                          <a:effectLst/>
                        </a:rPr>
                        <a:t>Phần 5: Hàm </a:t>
                      </a:r>
                      <a:r>
                        <a:rPr kumimoji="0" lang="en-US" altLang="zh-CN" sz="2400" b="1" u="none" strike="noStrike" cap="none" normalizeH="0" baseline="0">
                          <a:ln>
                            <a:noFill/>
                          </a:ln>
                          <a:solidFill>
                            <a:schemeClr val="tx1"/>
                          </a:solidFill>
                          <a:effectLst/>
                        </a:rPr>
                        <a:t>main()</a:t>
                      </a:r>
                      <a:r>
                        <a:rPr kumimoji="0" lang="en-US" altLang="zh-CN" sz="2400" b="0" u="none" strike="noStrike" cap="none" normalizeH="0" baseline="0">
                          <a:ln>
                            <a:noFill/>
                          </a:ln>
                          <a:solidFill>
                            <a:schemeClr val="tx1"/>
                          </a:solidFill>
                          <a:effectLst/>
                        </a:rPr>
                        <a:t> </a:t>
                      </a:r>
                      <a:endParaRPr kumimoji="0" 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90000" marR="90000" marT="46805" marB="46805" horzOverflow="overflow"/>
                </a:tc>
                <a:extLst>
                  <a:ext uri="{0D108BD9-81ED-4DB2-BD59-A6C34878D82A}">
                    <a16:rowId xmlns:a16="http://schemas.microsoft.com/office/drawing/2014/main" val="10004"/>
                  </a:ext>
                </a:extLst>
              </a:tr>
              <a:tr h="520372">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0" u="none" strike="noStrike" cap="none" normalizeH="0" baseline="0">
                          <a:ln>
                            <a:noFill/>
                          </a:ln>
                          <a:solidFill>
                            <a:schemeClr val="tx1"/>
                          </a:solidFill>
                          <a:effectLst/>
                        </a:rPr>
                        <a:t>Phần 6: Nội dung các hàm đã khai báo</a:t>
                      </a:r>
                      <a:endParaRPr kumimoji="0" 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90000" marR="90000" marT="46805" marB="46805" horzOverflow="overflow"/>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63090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2920AAAD-835B-4FAB-B457-8C800A021EC7}" type="slidenum">
              <a:rPr lang="en-US"/>
              <a:pPr>
                <a:defRPr/>
              </a:pPr>
              <a:t>21</a:t>
            </a:fld>
            <a:endParaRPr lang="en-US"/>
          </a:p>
        </p:txBody>
      </p:sp>
      <p:sp>
        <p:nvSpPr>
          <p:cNvPr id="47107" name="Rectangle 3"/>
          <p:cNvSpPr>
            <a:spLocks noGrp="1" noChangeArrowheads="1"/>
          </p:cNvSpPr>
          <p:nvPr>
            <p:ph type="body" idx="1"/>
          </p:nvPr>
        </p:nvSpPr>
        <p:spPr>
          <a:xfrm>
            <a:off x="630455" y="990600"/>
            <a:ext cx="10515600" cy="4649787"/>
          </a:xfrm>
        </p:spPr>
        <p:txBody>
          <a:bodyPr>
            <a:normAutofit/>
          </a:bodyPr>
          <a:lstStyle/>
          <a:p>
            <a:pPr>
              <a:spcBef>
                <a:spcPts val="600"/>
              </a:spcBef>
              <a:spcAft>
                <a:spcPts val="300"/>
              </a:spcAft>
            </a:pPr>
            <a:r>
              <a:rPr lang="en-US" altLang="zh-CN" sz="2400">
                <a:ea typeface="Arial Unicode MS" pitchFamily="34" charset="-128"/>
                <a:cs typeface="Arial Unicode MS" pitchFamily="34" charset="-128"/>
              </a:rPr>
              <a:t>Phần 1: Khai báo tệp tiêu đề</a:t>
            </a:r>
            <a:r>
              <a:rPr lang="en-US" altLang="zh-CN" sz="2400" b="0">
                <a:ea typeface="Arial Unicode MS" pitchFamily="34" charset="-128"/>
                <a:cs typeface="Arial Unicode MS" pitchFamily="34" charset="-128"/>
              </a:rPr>
              <a:t>:</a:t>
            </a:r>
          </a:p>
          <a:p>
            <a:pPr lvl="1">
              <a:spcBef>
                <a:spcPts val="600"/>
              </a:spcBef>
              <a:spcAft>
                <a:spcPts val="300"/>
              </a:spcAft>
            </a:pPr>
            <a:r>
              <a:rPr lang="en-US" altLang="zh-CN" sz="2200" b="0">
                <a:ea typeface="Arial Unicode MS" pitchFamily="34" charset="-128"/>
                <a:cs typeface="Arial Unicode MS" pitchFamily="34" charset="-128"/>
              </a:rPr>
              <a:t>Thông báo cho chương trình dịch biết là chương trình có sử dụng những thư viện nào.</a:t>
            </a:r>
          </a:p>
          <a:p>
            <a:pPr lvl="1">
              <a:spcBef>
                <a:spcPts val="600"/>
              </a:spcBef>
              <a:spcAft>
                <a:spcPts val="300"/>
              </a:spcAft>
            </a:pPr>
            <a:r>
              <a:rPr lang="en-US" sz="2200" b="0">
                <a:cs typeface="Arial" charset="0"/>
              </a:rPr>
              <a:t>VD:  </a:t>
            </a:r>
            <a:r>
              <a:rPr lang="en-US" sz="2200" b="0">
                <a:solidFill>
                  <a:srgbClr val="7030A0"/>
                </a:solidFill>
                <a:cs typeface="Arial" charset="0"/>
              </a:rPr>
              <a:t>#include &lt;stdio.h&gt; </a:t>
            </a:r>
            <a:r>
              <a:rPr lang="en-US" sz="2200" b="0">
                <a:cs typeface="Arial" charset="0"/>
              </a:rPr>
              <a:t>// thao tác vào ra</a:t>
            </a:r>
          </a:p>
          <a:p>
            <a:pPr lvl="1">
              <a:spcBef>
                <a:spcPts val="600"/>
              </a:spcBef>
              <a:spcAft>
                <a:spcPts val="300"/>
              </a:spcAft>
              <a:buFont typeface="Wingdings" pitchFamily="2" charset="2"/>
              <a:buNone/>
            </a:pPr>
            <a:r>
              <a:rPr lang="en-US" sz="2200" b="0">
                <a:cs typeface="Arial" charset="0"/>
              </a:rPr>
              <a:t>		      </a:t>
            </a:r>
            <a:r>
              <a:rPr lang="en-US" sz="2200" b="0">
                <a:solidFill>
                  <a:srgbClr val="7030A0"/>
                </a:solidFill>
                <a:cs typeface="Arial" charset="0"/>
              </a:rPr>
              <a:t>#include &lt;math.h&gt; </a:t>
            </a:r>
            <a:r>
              <a:rPr lang="en-US" sz="2200" b="0">
                <a:cs typeface="Arial" charset="0"/>
              </a:rPr>
              <a:t>// hàm toán học</a:t>
            </a:r>
          </a:p>
          <a:p>
            <a:pPr>
              <a:spcBef>
                <a:spcPts val="600"/>
              </a:spcBef>
              <a:spcAft>
                <a:spcPts val="300"/>
              </a:spcAft>
            </a:pPr>
            <a:r>
              <a:rPr lang="en-US" altLang="zh-CN" sz="2400">
                <a:ea typeface="Arial Unicode MS" pitchFamily="34" charset="-128"/>
                <a:cs typeface="Arial Unicode MS" pitchFamily="34" charset="-128"/>
              </a:rPr>
              <a:t>Phần</a:t>
            </a:r>
            <a:r>
              <a:rPr lang="en-US" altLang="zh-CN" sz="2400" b="0">
                <a:ea typeface="Arial Unicode MS" pitchFamily="34" charset="-128"/>
                <a:cs typeface="Arial Unicode MS" pitchFamily="34" charset="-128"/>
              </a:rPr>
              <a:t> </a:t>
            </a:r>
            <a:r>
              <a:rPr lang="en-US" altLang="zh-CN" sz="2400">
                <a:ea typeface="Arial Unicode MS" pitchFamily="34" charset="-128"/>
                <a:cs typeface="Arial Unicode MS" pitchFamily="34" charset="-128"/>
              </a:rPr>
              <a:t>2</a:t>
            </a:r>
            <a:r>
              <a:rPr lang="en-US" altLang="zh-CN" sz="2400" b="0">
                <a:ea typeface="Arial Unicode MS" pitchFamily="34" charset="-128"/>
                <a:cs typeface="Arial Unicode MS" pitchFamily="34" charset="-128"/>
              </a:rPr>
              <a:t>: </a:t>
            </a:r>
            <a:r>
              <a:rPr lang="en-US" altLang="zh-CN" sz="2400">
                <a:ea typeface="Arial Unicode MS" pitchFamily="34" charset="-128"/>
                <a:cs typeface="Arial Unicode MS" pitchFamily="34" charset="-128"/>
              </a:rPr>
              <a:t>Định nghĩa các kiểu dữ liệu mới</a:t>
            </a:r>
          </a:p>
          <a:p>
            <a:pPr lvl="1">
              <a:spcBef>
                <a:spcPts val="600"/>
              </a:spcBef>
              <a:spcAft>
                <a:spcPts val="300"/>
              </a:spcAft>
            </a:pPr>
            <a:r>
              <a:rPr lang="en-US" altLang="zh-CN" sz="2200" b="0">
                <a:ea typeface="Arial Unicode MS" pitchFamily="34" charset="-128"/>
                <a:cs typeface="Arial Unicode MS" pitchFamily="34" charset="-128"/>
              </a:rPr>
              <a:t>Định nghĩa các kiểu dữ liệu mới (nếu cần) dùng cho cả chương trình.</a:t>
            </a:r>
          </a:p>
          <a:p>
            <a:pPr>
              <a:lnSpc>
                <a:spcPct val="90000"/>
              </a:lnSpc>
              <a:spcBef>
                <a:spcPts val="600"/>
              </a:spcBef>
              <a:spcAft>
                <a:spcPts val="300"/>
              </a:spcAft>
            </a:pPr>
            <a:r>
              <a:rPr lang="en-US" sz="2400">
                <a:ea typeface="Arial Unicode MS" pitchFamily="34" charset="-128"/>
                <a:cs typeface="Arial Unicode MS" pitchFamily="34" charset="-128"/>
              </a:rPr>
              <a:t>Phần 3: K</a:t>
            </a:r>
            <a:r>
              <a:rPr lang="en-US" altLang="zh-CN" sz="2400">
                <a:ea typeface="Arial Unicode MS" pitchFamily="34" charset="-128"/>
                <a:cs typeface="Arial Unicode MS" pitchFamily="34" charset="-128"/>
              </a:rPr>
              <a:t>hai báo các hàm nguyên mẫu:</a:t>
            </a:r>
          </a:p>
          <a:p>
            <a:pPr lvl="1">
              <a:lnSpc>
                <a:spcPct val="90000"/>
              </a:lnSpc>
              <a:spcBef>
                <a:spcPts val="600"/>
              </a:spcBef>
              <a:spcAft>
                <a:spcPts val="300"/>
              </a:spcAft>
            </a:pPr>
            <a:r>
              <a:rPr lang="en-US" altLang="zh-CN" sz="2200" b="0">
                <a:ea typeface="Arial Unicode MS" pitchFamily="34" charset="-128"/>
                <a:cs typeface="Arial Unicode MS" pitchFamily="34" charset="-128"/>
              </a:rPr>
              <a:t>Giúp cho chương trình dịch biết được những thông tin cơ bản của các hàm sử dụng trong chương trình</a:t>
            </a:r>
          </a:p>
        </p:txBody>
      </p:sp>
      <p:sp>
        <p:nvSpPr>
          <p:cNvPr id="47108" name="Rectangle 2"/>
          <p:cNvSpPr>
            <a:spLocks noGrp="1"/>
          </p:cNvSpPr>
          <p:nvPr>
            <p:ph type="title"/>
          </p:nvPr>
        </p:nvSpPr>
        <p:spPr/>
        <p:txBody>
          <a:bodyPr/>
          <a:lstStyle/>
          <a:p>
            <a:r>
              <a:rPr lang="en-US">
                <a:cs typeface="Arial" charset="0"/>
              </a:rPr>
              <a:t>1.4. Cấu </a:t>
            </a:r>
            <a:r>
              <a:rPr lang="en-US" dirty="0" err="1">
                <a:cs typeface="Arial" charset="0"/>
              </a:rPr>
              <a:t>trúc</a:t>
            </a:r>
            <a:r>
              <a:rPr lang="en-US" dirty="0">
                <a:cs typeface="Arial" charset="0"/>
              </a:rPr>
              <a:t> cơ bản của chương trình C</a:t>
            </a:r>
          </a:p>
        </p:txBody>
      </p:sp>
    </p:spTree>
    <p:extLst>
      <p:ext uri="{BB962C8B-B14F-4D97-AF65-F5344CB8AC3E}">
        <p14:creationId xmlns:p14="http://schemas.microsoft.com/office/powerpoint/2010/main" val="265165335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D1C551DA-73DC-4C25-9D3C-39E56F28CFBE}" type="slidenum">
              <a:rPr lang="en-US"/>
              <a:pPr>
                <a:defRPr/>
              </a:pPr>
              <a:t>22</a:t>
            </a:fld>
            <a:endParaRPr lang="en-US"/>
          </a:p>
        </p:txBody>
      </p:sp>
      <p:sp>
        <p:nvSpPr>
          <p:cNvPr id="48132" name="Rectangle 2"/>
          <p:cNvSpPr>
            <a:spLocks noGrp="1"/>
          </p:cNvSpPr>
          <p:nvPr>
            <p:ph type="title"/>
          </p:nvPr>
        </p:nvSpPr>
        <p:spPr/>
        <p:txBody>
          <a:bodyPr/>
          <a:lstStyle/>
          <a:p>
            <a:r>
              <a:rPr lang="en-US">
                <a:cs typeface="Arial" charset="0"/>
              </a:rPr>
              <a:t>1.4. Cấu </a:t>
            </a:r>
            <a:r>
              <a:rPr lang="en-US" dirty="0" err="1">
                <a:cs typeface="Arial" charset="0"/>
              </a:rPr>
              <a:t>trúc</a:t>
            </a:r>
            <a:r>
              <a:rPr lang="en-US" dirty="0">
                <a:cs typeface="Arial" charset="0"/>
              </a:rPr>
              <a:t> cơ bản của chương trình C</a:t>
            </a:r>
          </a:p>
        </p:txBody>
      </p:sp>
      <p:sp>
        <p:nvSpPr>
          <p:cNvPr id="49155" name="Rectangle 3"/>
          <p:cNvSpPr txBox="1">
            <a:spLocks noChangeArrowheads="1"/>
          </p:cNvSpPr>
          <p:nvPr/>
        </p:nvSpPr>
        <p:spPr>
          <a:xfrm>
            <a:off x="914400" y="1143000"/>
            <a:ext cx="10515600" cy="4419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b="1" i="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i="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altLang="zh-CN" sz="2400">
                <a:ea typeface="Arial Unicode MS" pitchFamily="34" charset="-128"/>
              </a:rPr>
              <a:t>Phần 4: Khai báo các biến toàn cục</a:t>
            </a:r>
          </a:p>
          <a:p>
            <a:pPr marL="457200" lvl="1" indent="0">
              <a:lnSpc>
                <a:spcPct val="90000"/>
              </a:lnSpc>
              <a:buNone/>
            </a:pPr>
            <a:r>
              <a:rPr lang="en-US" sz="2400" b="0"/>
              <a:t>Ví dụ: </a:t>
            </a:r>
          </a:p>
          <a:p>
            <a:pPr lvl="3">
              <a:lnSpc>
                <a:spcPct val="90000"/>
              </a:lnSpc>
              <a:buNone/>
            </a:pPr>
            <a:r>
              <a:rPr lang="en-US" sz="2400" b="1">
                <a:latin typeface="Courier New" pitchFamily="49" charset="0"/>
                <a:cs typeface="Arial" charset="0"/>
              </a:rPr>
              <a:t>int a, b;</a:t>
            </a:r>
          </a:p>
          <a:p>
            <a:pPr lvl="3">
              <a:lnSpc>
                <a:spcPct val="90000"/>
              </a:lnSpc>
              <a:buNone/>
            </a:pPr>
            <a:r>
              <a:rPr lang="en-US" sz="2400" b="1">
                <a:latin typeface="Courier New" pitchFamily="49" charset="0"/>
                <a:cs typeface="Arial" charset="0"/>
              </a:rPr>
              <a:t>int tong, hieu, tich; </a:t>
            </a:r>
          </a:p>
          <a:p>
            <a:r>
              <a:rPr lang="en-US" altLang="zh-CN" sz="2400">
                <a:ea typeface="Arial Unicode MS" pitchFamily="34" charset="-128"/>
              </a:rPr>
              <a:t>Phần 5</a:t>
            </a:r>
            <a:r>
              <a:rPr lang="en-US" altLang="zh-CN" sz="2400" b="0">
                <a:ea typeface="Arial Unicode MS" pitchFamily="34" charset="-128"/>
              </a:rPr>
              <a:t>: Hàm main( )</a:t>
            </a:r>
          </a:p>
          <a:p>
            <a:pPr lvl="1"/>
            <a:r>
              <a:rPr lang="en-US" altLang="zh-CN" sz="2200" b="0">
                <a:ea typeface="Arial Unicode MS" pitchFamily="34" charset="-128"/>
              </a:rPr>
              <a:t>Khi thực hiện, chương trình sẽ bắt đầu bằng việc thực hiện các lệnh trong hàm main( ).</a:t>
            </a:r>
          </a:p>
          <a:p>
            <a:pPr lvl="1"/>
            <a:r>
              <a:rPr lang="en-US" altLang="zh-CN" sz="2200" b="0">
                <a:ea typeface="Arial Unicode MS" pitchFamily="34" charset="-128"/>
              </a:rPr>
              <a:t>Trong hàm main( ) có thể có lệnh gọi tới các hàm khác.</a:t>
            </a:r>
          </a:p>
          <a:p>
            <a:r>
              <a:rPr lang="en-US" altLang="zh-CN" sz="2400">
                <a:ea typeface="Arial Unicode MS" pitchFamily="34" charset="-128"/>
              </a:rPr>
              <a:t>Phần 6</a:t>
            </a:r>
            <a:r>
              <a:rPr lang="en-US" altLang="zh-CN" sz="2400" b="0">
                <a:ea typeface="Arial Unicode MS" pitchFamily="34" charset="-128"/>
              </a:rPr>
              <a:t>: Nội dung của các hàm đã khai báo</a:t>
            </a:r>
          </a:p>
          <a:p>
            <a:pPr lvl="1"/>
            <a:r>
              <a:rPr lang="en-US" altLang="zh-CN" sz="2200" b="0"/>
              <a:t>Cài đặt (viết mã) cho các hàm đã khai báo nguyên mẫu ở phần 3.</a:t>
            </a:r>
            <a:endParaRPr lang="en-US" sz="2200" b="0"/>
          </a:p>
        </p:txBody>
      </p:sp>
    </p:spTree>
    <p:extLst>
      <p:ext uri="{BB962C8B-B14F-4D97-AF65-F5344CB8AC3E}">
        <p14:creationId xmlns:p14="http://schemas.microsoft.com/office/powerpoint/2010/main" val="187790235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8B6E6-753D-6533-B5F4-54A5C9CD18C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34D7450-F704-DDD8-0AF7-A08C7312FA6B}"/>
              </a:ext>
            </a:extLst>
          </p:cNvPr>
          <p:cNvSpPr>
            <a:spLocks noGrp="1"/>
          </p:cNvSpPr>
          <p:nvPr>
            <p:ph type="sldNum" sz="quarter" idx="10"/>
          </p:nvPr>
        </p:nvSpPr>
        <p:spPr/>
        <p:txBody>
          <a:bodyPr/>
          <a:lstStyle/>
          <a:p>
            <a:pPr>
              <a:defRPr/>
            </a:pPr>
            <a:fld id="{19807EA8-8FBD-444D-AB0A-46993DC0714C}" type="slidenum">
              <a:rPr lang="en-US"/>
              <a:pPr>
                <a:defRPr/>
              </a:pPr>
              <a:t>23</a:t>
            </a:fld>
            <a:endParaRPr lang="en-US"/>
          </a:p>
        </p:txBody>
      </p:sp>
      <p:sp>
        <p:nvSpPr>
          <p:cNvPr id="49156" name="Rectangle 2">
            <a:extLst>
              <a:ext uri="{FF2B5EF4-FFF2-40B4-BE49-F238E27FC236}">
                <a16:creationId xmlns:a16="http://schemas.microsoft.com/office/drawing/2014/main" id="{CC269574-3DD7-98E8-9375-B54D90A5E0F7}"/>
              </a:ext>
            </a:extLst>
          </p:cNvPr>
          <p:cNvSpPr>
            <a:spLocks noGrp="1"/>
          </p:cNvSpPr>
          <p:nvPr>
            <p:ph type="title"/>
          </p:nvPr>
        </p:nvSpPr>
        <p:spPr/>
        <p:txBody>
          <a:bodyPr/>
          <a:lstStyle/>
          <a:p>
            <a:r>
              <a:rPr lang="en-US">
                <a:cs typeface="Arial" charset="0"/>
              </a:rPr>
              <a:t>1.5. Một số chương trình ví dụ</a:t>
            </a:r>
            <a:endParaRPr lang="en-US" dirty="0">
              <a:cs typeface="Arial" charset="0"/>
            </a:endParaRPr>
          </a:p>
        </p:txBody>
      </p:sp>
      <p:sp>
        <p:nvSpPr>
          <p:cNvPr id="3" name="Content Placeholder 2">
            <a:extLst>
              <a:ext uri="{FF2B5EF4-FFF2-40B4-BE49-F238E27FC236}">
                <a16:creationId xmlns:a16="http://schemas.microsoft.com/office/drawing/2014/main" id="{9F7A1D8C-83A7-B666-1BC6-8922D1C583FB}"/>
              </a:ext>
            </a:extLst>
          </p:cNvPr>
          <p:cNvSpPr>
            <a:spLocks noGrp="1"/>
          </p:cNvSpPr>
          <p:nvPr>
            <p:ph idx="1"/>
          </p:nvPr>
        </p:nvSpPr>
        <p:spPr>
          <a:xfrm>
            <a:off x="304800" y="850077"/>
            <a:ext cx="11506200" cy="685801"/>
          </a:xfrm>
        </p:spPr>
        <p:txBody>
          <a:bodyPr>
            <a:normAutofit fontScale="85000" lnSpcReduction="10000"/>
          </a:bodyPr>
          <a:lstStyle/>
          <a:p>
            <a:pPr marL="0" indent="0">
              <a:buNone/>
            </a:pPr>
            <a:r>
              <a:rPr lang="en-US" sz="2800"/>
              <a:t>Ví dụ 1: </a:t>
            </a:r>
            <a:r>
              <a:rPr lang="en-US" sz="2800" b="0"/>
              <a:t>Nhập 2 số nguyên a và b, tính tổng, hiệu, tích và in kết quả ra màn hình</a:t>
            </a:r>
          </a:p>
        </p:txBody>
      </p:sp>
      <p:sp>
        <p:nvSpPr>
          <p:cNvPr id="5" name="Content Placeholder 2">
            <a:extLst>
              <a:ext uri="{FF2B5EF4-FFF2-40B4-BE49-F238E27FC236}">
                <a16:creationId xmlns:a16="http://schemas.microsoft.com/office/drawing/2014/main" id="{C98FD6A2-9442-4203-A3D5-27D154E2D980}"/>
              </a:ext>
            </a:extLst>
          </p:cNvPr>
          <p:cNvSpPr txBox="1">
            <a:spLocks/>
          </p:cNvSpPr>
          <p:nvPr/>
        </p:nvSpPr>
        <p:spPr>
          <a:xfrm>
            <a:off x="1524000" y="1471620"/>
            <a:ext cx="8077200" cy="4876800"/>
          </a:xfrm>
          <a:prstGeom prst="rect">
            <a:avLst/>
          </a:prstGeom>
          <a:ln>
            <a:solidFill>
              <a:schemeClr val="accent1"/>
            </a:solidFill>
          </a:ln>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b="1"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b="1" i="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i="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buFont typeface="Wingdings" pitchFamily="2" charset="2"/>
              <a:buNone/>
            </a:pPr>
            <a:r>
              <a:rPr lang="en-US" sz="2400">
                <a:solidFill>
                  <a:srgbClr val="7030A0"/>
                </a:solidFill>
                <a:latin typeface="Courier New" panose="02070309020205020404" pitchFamily="49" charset="0"/>
                <a:cs typeface="Courier New" panose="02070309020205020404" pitchFamily="49" charset="0"/>
              </a:rPr>
              <a:t>#include &lt;stdio.h&gt;</a:t>
            </a:r>
          </a:p>
          <a:p>
            <a:pPr>
              <a:lnSpc>
                <a:spcPct val="80000"/>
              </a:lnSpc>
              <a:buFont typeface="Wingdings" pitchFamily="2" charset="2"/>
              <a:buNone/>
            </a:pPr>
            <a:r>
              <a:rPr lang="en-US" sz="2400">
                <a:solidFill>
                  <a:schemeClr val="tx1"/>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t>
            </a:r>
            <a:r>
              <a:rPr lang="en-US" sz="2400">
                <a:solidFill>
                  <a:srgbClr val="FF0000"/>
                </a:solidFill>
                <a:latin typeface="Courier New" panose="02070309020205020404" pitchFamily="49" charset="0"/>
                <a:cs typeface="Courier New" panose="02070309020205020404" pitchFamily="49" charset="0"/>
              </a:rPr>
              <a:t>main</a:t>
            </a:r>
            <a:r>
              <a:rPr lang="en-US" sz="2400">
                <a:latin typeface="Courier New" panose="02070309020205020404" pitchFamily="49" charset="0"/>
                <a:cs typeface="Courier New" panose="02070309020205020404" pitchFamily="49" charset="0"/>
              </a:rPr>
              <a:t>(){</a:t>
            </a:r>
          </a:p>
          <a:p>
            <a:pPr>
              <a:buNone/>
            </a:pPr>
            <a:r>
              <a:rPr lang="en-US" sz="2000" b="0" i="1">
                <a:solidFill>
                  <a:srgbClr val="00B050"/>
                </a:solidFill>
                <a:latin typeface="Courier New" panose="02070309020205020404" pitchFamily="49" charset="0"/>
                <a:cs typeface="Courier New" panose="02070309020205020404" pitchFamily="49" charset="0"/>
              </a:rPr>
              <a:t>// Khai bao cac bien</a:t>
            </a:r>
          </a:p>
          <a:p>
            <a:pPr lvl="1">
              <a:lnSpc>
                <a:spcPct val="80000"/>
              </a:lnSpc>
              <a:buNone/>
            </a:pPr>
            <a:r>
              <a:rPr lang="en-US" sz="1800">
                <a:latin typeface="Courier New" panose="02070309020205020404" pitchFamily="49" charset="0"/>
                <a:cs typeface="Courier New" panose="02070309020205020404" pitchFamily="49" charset="0"/>
              </a:rPr>
              <a:t>	</a:t>
            </a:r>
            <a:r>
              <a:rPr lang="en-US" sz="1800">
                <a:solidFill>
                  <a:schemeClr val="tx1"/>
                </a:solidFill>
                <a:latin typeface="Courier New" panose="02070309020205020404" pitchFamily="49" charset="0"/>
                <a:cs typeface="Courier New" panose="02070309020205020404" pitchFamily="49" charset="0"/>
              </a:rPr>
              <a:t>int</a:t>
            </a:r>
            <a:r>
              <a:rPr lang="en-US" sz="1800">
                <a:latin typeface="Courier New" panose="02070309020205020404" pitchFamily="49" charset="0"/>
                <a:cs typeface="Courier New" panose="02070309020205020404" pitchFamily="49" charset="0"/>
              </a:rPr>
              <a:t> a, b; </a:t>
            </a:r>
          </a:p>
          <a:p>
            <a:pPr lvl="1">
              <a:lnSpc>
                <a:spcPct val="80000"/>
              </a:lnSpc>
              <a:buNone/>
            </a:pPr>
            <a:r>
              <a:rPr lang="en-US" sz="1800">
                <a:latin typeface="Courier New" panose="02070309020205020404" pitchFamily="49" charset="0"/>
                <a:cs typeface="Courier New" panose="02070309020205020404" pitchFamily="49" charset="0"/>
              </a:rPr>
              <a:t>	</a:t>
            </a:r>
            <a:r>
              <a:rPr lang="en-US" sz="1800">
                <a:solidFill>
                  <a:schemeClr val="tx1"/>
                </a:solidFill>
                <a:latin typeface="Courier New" panose="02070309020205020404" pitchFamily="49" charset="0"/>
                <a:cs typeface="Courier New" panose="02070309020205020404" pitchFamily="49" charset="0"/>
              </a:rPr>
              <a:t>int</a:t>
            </a:r>
            <a:r>
              <a:rPr lang="en-US" sz="1800">
                <a:latin typeface="Courier New" panose="02070309020205020404" pitchFamily="49" charset="0"/>
                <a:cs typeface="Courier New" panose="02070309020205020404" pitchFamily="49" charset="0"/>
              </a:rPr>
              <a:t> tong, hieu, tich;</a:t>
            </a:r>
          </a:p>
          <a:p>
            <a:pPr>
              <a:lnSpc>
                <a:spcPct val="90000"/>
              </a:lnSpc>
              <a:buFont typeface="Wingdings" pitchFamily="2" charset="2"/>
              <a:buNone/>
            </a:pPr>
            <a:r>
              <a:rPr lang="en-US" sz="2000" b="0" i="1">
                <a:solidFill>
                  <a:srgbClr val="00B050"/>
                </a:solidFill>
                <a:latin typeface="Courier New" panose="02070309020205020404" pitchFamily="49" charset="0"/>
                <a:cs typeface="Courier New" panose="02070309020205020404" pitchFamily="49" charset="0"/>
              </a:rPr>
              <a:t>// Nhap vao tu ban phim 2 so nguyen</a:t>
            </a:r>
          </a:p>
          <a:p>
            <a:pPr lvl="1">
              <a:lnSpc>
                <a:spcPct val="90000"/>
              </a:lnSpc>
              <a:buNone/>
            </a:pPr>
            <a:r>
              <a:rPr lang="en-US" sz="1800">
                <a:latin typeface="Courier New" panose="02070309020205020404" pitchFamily="49" charset="0"/>
                <a:cs typeface="Courier New" panose="02070309020205020404" pitchFamily="49" charset="0"/>
              </a:rPr>
              <a:t>  printf(“</a:t>
            </a:r>
            <a:r>
              <a:rPr lang="en-US" sz="1800">
                <a:solidFill>
                  <a:schemeClr val="accent2">
                    <a:lumMod val="75000"/>
                  </a:schemeClr>
                </a:solidFill>
                <a:latin typeface="Courier New" panose="02070309020205020404" pitchFamily="49" charset="0"/>
                <a:cs typeface="Courier New" panose="02070309020205020404" pitchFamily="49" charset="0"/>
              </a:rPr>
              <a:t>\n</a:t>
            </a:r>
            <a:r>
              <a:rPr lang="en-US" sz="1800">
                <a:latin typeface="Courier New" panose="02070309020205020404" pitchFamily="49" charset="0"/>
                <a:cs typeface="Courier New" panose="02070309020205020404" pitchFamily="49" charset="0"/>
              </a:rPr>
              <a:t> </a:t>
            </a:r>
            <a:r>
              <a:rPr lang="en-US" sz="1800">
                <a:solidFill>
                  <a:schemeClr val="accent2">
                    <a:lumMod val="75000"/>
                  </a:schemeClr>
                </a:solidFill>
                <a:latin typeface="Courier New" panose="02070309020205020404" pitchFamily="49" charset="0"/>
                <a:cs typeface="Courier New" panose="02070309020205020404" pitchFamily="49" charset="0"/>
              </a:rPr>
              <a:t>Nhap a:</a:t>
            </a:r>
            <a:r>
              <a:rPr lang="en-US" sz="1800">
                <a:latin typeface="Courier New" panose="02070309020205020404" pitchFamily="49" charset="0"/>
                <a:cs typeface="Courier New" panose="02070309020205020404" pitchFamily="49" charset="0"/>
              </a:rPr>
              <a:t> ”);  scanf(“%d”,&amp;a);</a:t>
            </a:r>
          </a:p>
          <a:p>
            <a:pPr lvl="1">
              <a:lnSpc>
                <a:spcPct val="90000"/>
              </a:lnSpc>
              <a:buNone/>
            </a:pPr>
            <a:r>
              <a:rPr lang="en-US" sz="1800">
                <a:latin typeface="Courier New" panose="02070309020205020404" pitchFamily="49" charset="0"/>
                <a:cs typeface="Courier New" panose="02070309020205020404" pitchFamily="49" charset="0"/>
              </a:rPr>
              <a:t>  printf(“</a:t>
            </a:r>
            <a:r>
              <a:rPr lang="en-US" sz="1800">
                <a:solidFill>
                  <a:schemeClr val="accent2">
                    <a:lumMod val="75000"/>
                  </a:schemeClr>
                </a:solidFill>
                <a:latin typeface="Courier New" panose="02070309020205020404" pitchFamily="49" charset="0"/>
                <a:cs typeface="Courier New" panose="02070309020205020404" pitchFamily="49" charset="0"/>
              </a:rPr>
              <a:t>\n Nhap b: </a:t>
            </a:r>
            <a:r>
              <a:rPr lang="en-US" sz="1800">
                <a:latin typeface="Courier New" panose="02070309020205020404" pitchFamily="49" charset="0"/>
                <a:cs typeface="Courier New" panose="02070309020205020404" pitchFamily="49" charset="0"/>
              </a:rPr>
              <a:t>“);  scanf(“%d”,&amp;b);</a:t>
            </a:r>
          </a:p>
          <a:p>
            <a:pPr>
              <a:buNone/>
            </a:pPr>
            <a:r>
              <a:rPr lang="en-US" sz="2000" b="0" i="1">
                <a:solidFill>
                  <a:srgbClr val="00B050"/>
                </a:solidFill>
                <a:latin typeface="Courier New" panose="02070309020205020404" pitchFamily="49" charset="0"/>
                <a:cs typeface="Courier New" panose="02070309020205020404" pitchFamily="49" charset="0"/>
              </a:rPr>
              <a:t>// Tinh toán</a:t>
            </a:r>
          </a:p>
          <a:p>
            <a:pPr>
              <a:lnSpc>
                <a:spcPct val="90000"/>
              </a:lnSpc>
              <a:buFont typeface="Wingdings" pitchFamily="2" charset="2"/>
              <a:buNone/>
            </a:pPr>
            <a:r>
              <a:rPr lang="en-US" sz="2400">
                <a:latin typeface="Courier New" panose="02070309020205020404" pitchFamily="49" charset="0"/>
                <a:cs typeface="Courier New" panose="02070309020205020404" pitchFamily="49" charset="0"/>
              </a:rPr>
              <a:t>		</a:t>
            </a:r>
            <a:r>
              <a:rPr lang="en-US" sz="2000">
                <a:latin typeface="Courier New" panose="02070309020205020404" pitchFamily="49" charset="0"/>
                <a:cs typeface="Courier New" panose="02070309020205020404" pitchFamily="49" charset="0"/>
              </a:rPr>
              <a:t>tong = a+b; hieu = a–b; tich = a*b;</a:t>
            </a:r>
          </a:p>
          <a:p>
            <a:pPr>
              <a:buNone/>
            </a:pPr>
            <a:r>
              <a:rPr lang="en-US" sz="2000" b="0" i="1">
                <a:solidFill>
                  <a:srgbClr val="00B050"/>
                </a:solidFill>
                <a:latin typeface="Courier New" panose="02070309020205020404" pitchFamily="49" charset="0"/>
                <a:cs typeface="Courier New" panose="02070309020205020404" pitchFamily="49" charset="0"/>
              </a:rPr>
              <a:t>// Hien thi cac gia tri ra man hinh</a:t>
            </a:r>
          </a:p>
          <a:p>
            <a:pPr lvl="1">
              <a:lnSpc>
                <a:spcPct val="90000"/>
              </a:lnSpc>
              <a:buNone/>
            </a:pPr>
            <a:r>
              <a:rPr lang="en-US" sz="1800">
                <a:latin typeface="Courier New" panose="02070309020205020404" pitchFamily="49" charset="0"/>
                <a:cs typeface="Courier New" panose="02070309020205020404" pitchFamily="49" charset="0"/>
              </a:rPr>
              <a:t>  printf(“</a:t>
            </a:r>
            <a:r>
              <a:rPr lang="en-US" sz="1800">
                <a:solidFill>
                  <a:schemeClr val="accent2">
                    <a:lumMod val="75000"/>
                  </a:schemeClr>
                </a:solidFill>
                <a:latin typeface="Courier New" panose="02070309020205020404" pitchFamily="49" charset="0"/>
                <a:cs typeface="Courier New" panose="02070309020205020404" pitchFamily="49" charset="0"/>
              </a:rPr>
              <a:t>\n Tong cua 2 so vua nhap la %d</a:t>
            </a:r>
            <a:r>
              <a:rPr lang="en-US" sz="1800">
                <a:latin typeface="Courier New" panose="02070309020205020404" pitchFamily="49" charset="0"/>
                <a:cs typeface="Courier New" panose="02070309020205020404" pitchFamily="49" charset="0"/>
              </a:rPr>
              <a:t>”,tong);</a:t>
            </a:r>
          </a:p>
          <a:p>
            <a:pPr lvl="1">
              <a:lnSpc>
                <a:spcPct val="90000"/>
              </a:lnSpc>
              <a:buNone/>
            </a:pPr>
            <a:r>
              <a:rPr lang="en-US" sz="1800">
                <a:latin typeface="Courier New" panose="02070309020205020404" pitchFamily="49" charset="0"/>
                <a:cs typeface="Courier New" panose="02070309020205020404" pitchFamily="49" charset="0"/>
              </a:rPr>
              <a:t>  printf(“</a:t>
            </a:r>
            <a:r>
              <a:rPr lang="en-US" sz="1800">
                <a:solidFill>
                  <a:schemeClr val="accent2">
                    <a:lumMod val="75000"/>
                  </a:schemeClr>
                </a:solidFill>
                <a:latin typeface="Courier New" panose="02070309020205020404" pitchFamily="49" charset="0"/>
                <a:cs typeface="Courier New" panose="02070309020205020404" pitchFamily="49" charset="0"/>
              </a:rPr>
              <a:t>\n Hieu cua 2 so vua nhap la %d</a:t>
            </a:r>
            <a:r>
              <a:rPr lang="en-US" sz="1800">
                <a:latin typeface="Courier New" panose="02070309020205020404" pitchFamily="49" charset="0"/>
                <a:cs typeface="Courier New" panose="02070309020205020404" pitchFamily="49" charset="0"/>
              </a:rPr>
              <a:t>”,hieu);</a:t>
            </a:r>
          </a:p>
          <a:p>
            <a:pPr lvl="1">
              <a:lnSpc>
                <a:spcPct val="90000"/>
              </a:lnSpc>
              <a:buNone/>
            </a:pPr>
            <a:r>
              <a:rPr lang="en-US" sz="1800">
                <a:latin typeface="Courier New" panose="02070309020205020404" pitchFamily="49" charset="0"/>
                <a:cs typeface="Courier New" panose="02070309020205020404" pitchFamily="49" charset="0"/>
              </a:rPr>
              <a:t>  printf</a:t>
            </a:r>
            <a:r>
              <a:rPr lang="en-US" sz="1800">
                <a:solidFill>
                  <a:schemeClr val="accent2">
                    <a:lumMod val="75000"/>
                  </a:schemeClr>
                </a:solidFill>
                <a:latin typeface="Courier New" panose="02070309020205020404" pitchFamily="49" charset="0"/>
                <a:cs typeface="Courier New" panose="02070309020205020404" pitchFamily="49" charset="0"/>
              </a:rPr>
              <a:t>(“\n Tich cua 2 so vua nhap la %d</a:t>
            </a:r>
            <a:r>
              <a:rPr lang="en-US" sz="1800">
                <a:latin typeface="Courier New" panose="02070309020205020404" pitchFamily="49" charset="0"/>
                <a:cs typeface="Courier New" panose="02070309020205020404" pitchFamily="49" charset="0"/>
              </a:rPr>
              <a:t>”,tich);</a:t>
            </a:r>
          </a:p>
          <a:p>
            <a:pPr>
              <a:lnSpc>
                <a:spcPct val="90000"/>
              </a:lnSpc>
              <a:buFont typeface="Wingdings" pitchFamily="2" charset="2"/>
              <a:buNone/>
            </a:pPr>
            <a:r>
              <a:rPr lang="en-US" sz="2400">
                <a:latin typeface="Courier New" panose="02070309020205020404" pitchFamily="49" charset="0"/>
                <a:cs typeface="Courier New" panose="02070309020205020404" pitchFamily="49" charset="0"/>
              </a:rPr>
              <a:t>	}</a:t>
            </a:r>
          </a:p>
          <a:p>
            <a:endParaRPr 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58391221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40D42-6FFD-35B1-A4A3-21E352E19D2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624AB89-89F0-EFEC-2746-84A25385B3CA}"/>
              </a:ext>
            </a:extLst>
          </p:cNvPr>
          <p:cNvSpPr>
            <a:spLocks noGrp="1"/>
          </p:cNvSpPr>
          <p:nvPr>
            <p:ph type="sldNum" sz="quarter" idx="10"/>
          </p:nvPr>
        </p:nvSpPr>
        <p:spPr/>
        <p:txBody>
          <a:bodyPr/>
          <a:lstStyle/>
          <a:p>
            <a:pPr>
              <a:defRPr/>
            </a:pPr>
            <a:fld id="{19807EA8-8FBD-444D-AB0A-46993DC0714C}" type="slidenum">
              <a:rPr lang="en-US"/>
              <a:pPr>
                <a:defRPr/>
              </a:pPr>
              <a:t>24</a:t>
            </a:fld>
            <a:endParaRPr lang="en-US"/>
          </a:p>
        </p:txBody>
      </p:sp>
      <p:sp>
        <p:nvSpPr>
          <p:cNvPr id="49156" name="Rectangle 2">
            <a:extLst>
              <a:ext uri="{FF2B5EF4-FFF2-40B4-BE49-F238E27FC236}">
                <a16:creationId xmlns:a16="http://schemas.microsoft.com/office/drawing/2014/main" id="{34A3D1B5-459A-70BF-AFAC-0DE8272C523E}"/>
              </a:ext>
            </a:extLst>
          </p:cNvPr>
          <p:cNvSpPr>
            <a:spLocks noGrp="1"/>
          </p:cNvSpPr>
          <p:nvPr>
            <p:ph type="title"/>
          </p:nvPr>
        </p:nvSpPr>
        <p:spPr/>
        <p:txBody>
          <a:bodyPr/>
          <a:lstStyle/>
          <a:p>
            <a:r>
              <a:rPr lang="en-US">
                <a:cs typeface="Arial" charset="0"/>
              </a:rPr>
              <a:t>1.5. Một số chương trình ví dụ</a:t>
            </a:r>
            <a:endParaRPr lang="en-US" dirty="0">
              <a:cs typeface="Arial" charset="0"/>
            </a:endParaRPr>
          </a:p>
        </p:txBody>
      </p:sp>
      <p:sp>
        <p:nvSpPr>
          <p:cNvPr id="3" name="Content Placeholder 2">
            <a:extLst>
              <a:ext uri="{FF2B5EF4-FFF2-40B4-BE49-F238E27FC236}">
                <a16:creationId xmlns:a16="http://schemas.microsoft.com/office/drawing/2014/main" id="{4D5CD01B-1239-45A1-3CF9-B60787D01EF0}"/>
              </a:ext>
            </a:extLst>
          </p:cNvPr>
          <p:cNvSpPr>
            <a:spLocks noGrp="1"/>
          </p:cNvSpPr>
          <p:nvPr>
            <p:ph idx="1"/>
          </p:nvPr>
        </p:nvSpPr>
        <p:spPr>
          <a:xfrm>
            <a:off x="304800" y="850077"/>
            <a:ext cx="11582400" cy="685801"/>
          </a:xfrm>
        </p:spPr>
        <p:txBody>
          <a:bodyPr>
            <a:normAutofit/>
          </a:bodyPr>
          <a:lstStyle/>
          <a:p>
            <a:pPr marL="0" indent="0">
              <a:buNone/>
            </a:pPr>
            <a:r>
              <a:rPr lang="en-US" sz="2400"/>
              <a:t>Ví dụ 2: </a:t>
            </a:r>
            <a:r>
              <a:rPr lang="en-US" sz="2400" b="0"/>
              <a:t>Nhập vào bán kính hình tròn, tính chu vi và diện tích</a:t>
            </a:r>
            <a:endParaRPr lang="en-US" sz="2400"/>
          </a:p>
        </p:txBody>
      </p:sp>
      <p:sp>
        <p:nvSpPr>
          <p:cNvPr id="5" name="Content Placeholder 2">
            <a:extLst>
              <a:ext uri="{FF2B5EF4-FFF2-40B4-BE49-F238E27FC236}">
                <a16:creationId xmlns:a16="http://schemas.microsoft.com/office/drawing/2014/main" id="{851484F6-2D86-714D-A8D9-77E7FCCA3E38}"/>
              </a:ext>
            </a:extLst>
          </p:cNvPr>
          <p:cNvSpPr txBox="1">
            <a:spLocks/>
          </p:cNvSpPr>
          <p:nvPr/>
        </p:nvSpPr>
        <p:spPr>
          <a:xfrm>
            <a:off x="2133600" y="1692276"/>
            <a:ext cx="7467600" cy="4507677"/>
          </a:xfrm>
          <a:prstGeom prst="rect">
            <a:avLst/>
          </a:prstGeom>
          <a:ln>
            <a:solidFill>
              <a:schemeClr val="accent1"/>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b="1"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b="1" i="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i="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buFont typeface="Wingdings" pitchFamily="2" charset="2"/>
              <a:buNone/>
            </a:pPr>
            <a:r>
              <a:rPr lang="en-US" sz="2000">
                <a:solidFill>
                  <a:srgbClr val="7030A0"/>
                </a:solidFill>
                <a:latin typeface="Courier New" panose="02070309020205020404" pitchFamily="49" charset="0"/>
                <a:cs typeface="Courier New" panose="02070309020205020404" pitchFamily="49" charset="0"/>
              </a:rPr>
              <a:t>#include &lt;stdio.h&gt;</a:t>
            </a:r>
          </a:p>
          <a:p>
            <a:pPr>
              <a:lnSpc>
                <a:spcPct val="80000"/>
              </a:lnSpc>
              <a:buFont typeface="Wingdings" pitchFamily="2" charset="2"/>
              <a:buNone/>
            </a:pPr>
            <a:r>
              <a:rPr lang="en-US" sz="2000">
                <a:solidFill>
                  <a:srgbClr val="00B050"/>
                </a:solidFill>
                <a:latin typeface="Courier New" panose="02070309020205020404" pitchFamily="49" charset="0"/>
                <a:cs typeface="Courier New" panose="02070309020205020404" pitchFamily="49" charset="0"/>
              </a:rPr>
              <a:t>int</a:t>
            </a:r>
            <a:r>
              <a:rPr lang="en-US" sz="2000">
                <a:latin typeface="Courier New" panose="02070309020205020404" pitchFamily="49" charset="0"/>
                <a:cs typeface="Courier New" panose="02070309020205020404" pitchFamily="49" charset="0"/>
              </a:rPr>
              <a:t> </a:t>
            </a:r>
            <a:r>
              <a:rPr lang="en-US" sz="2000">
                <a:solidFill>
                  <a:srgbClr val="FF0000"/>
                </a:solidFill>
                <a:latin typeface="Courier New" panose="02070309020205020404" pitchFamily="49" charset="0"/>
                <a:cs typeface="Courier New" panose="02070309020205020404" pitchFamily="49" charset="0"/>
              </a:rPr>
              <a:t>main</a:t>
            </a:r>
            <a:r>
              <a:rPr lang="en-US" sz="2000">
                <a:latin typeface="Courier New" panose="02070309020205020404" pitchFamily="49" charset="0"/>
                <a:cs typeface="Courier New" panose="02070309020205020404" pitchFamily="49" charset="0"/>
              </a:rPr>
              <a:t>(){</a:t>
            </a:r>
          </a:p>
          <a:p>
            <a:pPr marL="0" indent="0">
              <a:buNone/>
            </a:pPr>
            <a:r>
              <a:rPr lang="en-US" sz="2000">
                <a:latin typeface="Courier New" panose="02070309020205020404" pitchFamily="49" charset="0"/>
                <a:cs typeface="Courier New" panose="02070309020205020404" pitchFamily="49" charset="0"/>
              </a:rPr>
              <a:t>   const float PI=3.14; /* Khai báo hằng*/</a:t>
            </a:r>
          </a:p>
          <a:p>
            <a:pPr marL="0" indent="0">
              <a:buNone/>
            </a:pPr>
            <a:r>
              <a:rPr lang="en-US" sz="2000">
                <a:latin typeface="Courier New" panose="02070309020205020404" pitchFamily="49" charset="0"/>
                <a:cs typeface="Courier New" panose="02070309020205020404" pitchFamily="49" charset="0"/>
              </a:rPr>
              <a:t>   float r, p, s; </a:t>
            </a:r>
          </a:p>
          <a:p>
            <a:pPr marL="0" indent="0">
              <a:buNone/>
            </a:pPr>
            <a:r>
              <a:rPr lang="en-US" sz="2000">
                <a:latin typeface="Courier New" panose="02070309020205020404" pitchFamily="49" charset="0"/>
                <a:cs typeface="Courier New" panose="02070309020205020404" pitchFamily="49" charset="0"/>
              </a:rPr>
              <a:t>   printf("</a:t>
            </a:r>
            <a:r>
              <a:rPr lang="en-US" sz="2000">
                <a:solidFill>
                  <a:schemeClr val="accent2"/>
                </a:solidFill>
                <a:latin typeface="Courier New" panose="02070309020205020404" pitchFamily="49" charset="0"/>
                <a:cs typeface="Courier New" panose="02070309020205020404" pitchFamily="49" charset="0"/>
              </a:rPr>
              <a:t>Nhap ban kinh hinh tron</a:t>
            </a:r>
            <a:r>
              <a:rPr lang="en-US" sz="2000">
                <a:latin typeface="Courier New" panose="02070309020205020404" pitchFamily="49" charset="0"/>
                <a:cs typeface="Courier New" panose="02070309020205020404" pitchFamily="49" charset="0"/>
              </a:rPr>
              <a:t>:");</a:t>
            </a:r>
          </a:p>
          <a:p>
            <a:pPr marL="0" indent="0">
              <a:buNone/>
            </a:pPr>
            <a:r>
              <a:rPr lang="en-US" sz="2000">
                <a:latin typeface="Courier New" panose="02070309020205020404" pitchFamily="49" charset="0"/>
                <a:cs typeface="Courier New" panose="02070309020205020404" pitchFamily="49" charset="0"/>
              </a:rPr>
              <a:t>   scanf("%f",&amp;r);</a:t>
            </a:r>
          </a:p>
          <a:p>
            <a:pPr marL="0" indent="0">
              <a:buNone/>
            </a:pPr>
            <a:r>
              <a:rPr lang="en-US" sz="2000">
                <a:latin typeface="Courier New" panose="02070309020205020404" pitchFamily="49" charset="0"/>
                <a:cs typeface="Courier New" panose="02070309020205020404" pitchFamily="49" charset="0"/>
              </a:rPr>
              <a:t>   p=2*PI*r;</a:t>
            </a:r>
          </a:p>
          <a:p>
            <a:pPr marL="0" indent="0">
              <a:buNone/>
            </a:pPr>
            <a:r>
              <a:rPr lang="en-US" sz="2000">
                <a:latin typeface="Courier New" panose="02070309020205020404" pitchFamily="49" charset="0"/>
                <a:cs typeface="Courier New" panose="02070309020205020404" pitchFamily="49" charset="0"/>
              </a:rPr>
              <a:t>   s=PI*r*r;</a:t>
            </a:r>
          </a:p>
          <a:p>
            <a:pPr marL="0" indent="0">
              <a:buNone/>
            </a:pPr>
            <a:r>
              <a:rPr lang="en-US" sz="2000">
                <a:latin typeface="Courier New" panose="02070309020205020404" pitchFamily="49" charset="0"/>
                <a:cs typeface="Courier New" panose="02070309020205020404" pitchFamily="49" charset="0"/>
              </a:rPr>
              <a:t>   printf("</a:t>
            </a:r>
            <a:r>
              <a:rPr lang="en-US" sz="2000">
                <a:solidFill>
                  <a:schemeClr val="accent2"/>
                </a:solidFill>
                <a:latin typeface="Courier New" panose="02070309020205020404" pitchFamily="49" charset="0"/>
                <a:cs typeface="Courier New" panose="02070309020205020404" pitchFamily="49" charset="0"/>
              </a:rPr>
              <a:t>Chu vi hinh tron la</a:t>
            </a:r>
            <a:r>
              <a:rPr lang="en-US" sz="2000">
                <a:latin typeface="Courier New" panose="02070309020205020404" pitchFamily="49" charset="0"/>
                <a:cs typeface="Courier New" panose="02070309020205020404" pitchFamily="49" charset="0"/>
              </a:rPr>
              <a:t>: %f”, p);</a:t>
            </a:r>
          </a:p>
          <a:p>
            <a:pPr marL="0" indent="0">
              <a:buNone/>
            </a:pPr>
            <a:r>
              <a:rPr lang="en-US" sz="2000">
                <a:latin typeface="Courier New" panose="02070309020205020404" pitchFamily="49" charset="0"/>
                <a:cs typeface="Courier New" panose="02070309020205020404" pitchFamily="49" charset="0"/>
              </a:rPr>
              <a:t>   printf("</a:t>
            </a:r>
            <a:r>
              <a:rPr lang="en-US" sz="2000">
                <a:solidFill>
                  <a:schemeClr val="accent2"/>
                </a:solidFill>
                <a:latin typeface="Courier New" panose="02070309020205020404" pitchFamily="49" charset="0"/>
                <a:cs typeface="Courier New" panose="02070309020205020404" pitchFamily="49" charset="0"/>
              </a:rPr>
              <a:t>Dien tich hinh tron la</a:t>
            </a:r>
            <a:r>
              <a:rPr lang="en-US" sz="2000">
                <a:latin typeface="Courier New" panose="02070309020205020404" pitchFamily="49" charset="0"/>
                <a:cs typeface="Courier New" panose="02070309020205020404" pitchFamily="49" charset="0"/>
              </a:rPr>
              <a:t>: %f", s); </a:t>
            </a:r>
          </a:p>
          <a:p>
            <a:pPr>
              <a:lnSpc>
                <a:spcPct val="80000"/>
              </a:lnSpc>
              <a:buFont typeface="Wingdings" pitchFamily="2" charset="2"/>
              <a:buNone/>
            </a:pPr>
            <a:r>
              <a:rPr lang="en-US" sz="200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78111875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C1C76-0666-7974-60A7-F402C144ECC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EEB7A3F-FC5B-E394-F05E-A22508CEB2D8}"/>
              </a:ext>
            </a:extLst>
          </p:cNvPr>
          <p:cNvSpPr>
            <a:spLocks noGrp="1"/>
          </p:cNvSpPr>
          <p:nvPr>
            <p:ph type="sldNum" sz="quarter" idx="10"/>
          </p:nvPr>
        </p:nvSpPr>
        <p:spPr/>
        <p:txBody>
          <a:bodyPr/>
          <a:lstStyle/>
          <a:p>
            <a:pPr>
              <a:defRPr/>
            </a:pPr>
            <a:fld id="{19807EA8-8FBD-444D-AB0A-46993DC0714C}" type="slidenum">
              <a:rPr lang="en-US"/>
              <a:pPr>
                <a:defRPr/>
              </a:pPr>
              <a:t>25</a:t>
            </a:fld>
            <a:endParaRPr lang="en-US"/>
          </a:p>
        </p:txBody>
      </p:sp>
      <p:sp>
        <p:nvSpPr>
          <p:cNvPr id="49156" name="Rectangle 2">
            <a:extLst>
              <a:ext uri="{FF2B5EF4-FFF2-40B4-BE49-F238E27FC236}">
                <a16:creationId xmlns:a16="http://schemas.microsoft.com/office/drawing/2014/main" id="{AB71AE57-D3AF-C75B-2C34-D8DC4022371B}"/>
              </a:ext>
            </a:extLst>
          </p:cNvPr>
          <p:cNvSpPr>
            <a:spLocks noGrp="1"/>
          </p:cNvSpPr>
          <p:nvPr>
            <p:ph type="title"/>
          </p:nvPr>
        </p:nvSpPr>
        <p:spPr/>
        <p:txBody>
          <a:bodyPr/>
          <a:lstStyle/>
          <a:p>
            <a:r>
              <a:rPr lang="en-US">
                <a:cs typeface="Arial" charset="0"/>
              </a:rPr>
              <a:t>1.5. Một số chương trình ví dụ</a:t>
            </a:r>
            <a:endParaRPr lang="en-US" dirty="0">
              <a:cs typeface="Arial" charset="0"/>
            </a:endParaRPr>
          </a:p>
        </p:txBody>
      </p:sp>
      <p:sp>
        <p:nvSpPr>
          <p:cNvPr id="3" name="Content Placeholder 2">
            <a:extLst>
              <a:ext uri="{FF2B5EF4-FFF2-40B4-BE49-F238E27FC236}">
                <a16:creationId xmlns:a16="http://schemas.microsoft.com/office/drawing/2014/main" id="{17305B1E-25FF-8D6E-321A-F7C1219CE315}"/>
              </a:ext>
            </a:extLst>
          </p:cNvPr>
          <p:cNvSpPr>
            <a:spLocks noGrp="1"/>
          </p:cNvSpPr>
          <p:nvPr>
            <p:ph idx="1"/>
          </p:nvPr>
        </p:nvSpPr>
        <p:spPr>
          <a:xfrm>
            <a:off x="304800" y="850077"/>
            <a:ext cx="11658600" cy="445323"/>
          </a:xfrm>
        </p:spPr>
        <p:txBody>
          <a:bodyPr>
            <a:normAutofit lnSpcReduction="10000"/>
          </a:bodyPr>
          <a:lstStyle/>
          <a:p>
            <a:pPr marL="0" indent="0">
              <a:buNone/>
            </a:pPr>
            <a:r>
              <a:rPr lang="en-US" sz="2400"/>
              <a:t>Ví dụ 3: </a:t>
            </a:r>
            <a:r>
              <a:rPr lang="en-US" sz="2400" b="0"/>
              <a:t>Nhập vào 3 số nguyên, tìm và in ra số lớn nhất, nhỏ nhất</a:t>
            </a:r>
            <a:endParaRPr lang="en-US" sz="2400"/>
          </a:p>
        </p:txBody>
      </p:sp>
      <p:sp>
        <p:nvSpPr>
          <p:cNvPr id="5" name="Content Placeholder 2">
            <a:extLst>
              <a:ext uri="{FF2B5EF4-FFF2-40B4-BE49-F238E27FC236}">
                <a16:creationId xmlns:a16="http://schemas.microsoft.com/office/drawing/2014/main" id="{C60FDB3A-D65E-57F1-F4E2-C71EDC2FEEC9}"/>
              </a:ext>
            </a:extLst>
          </p:cNvPr>
          <p:cNvSpPr txBox="1">
            <a:spLocks/>
          </p:cNvSpPr>
          <p:nvPr/>
        </p:nvSpPr>
        <p:spPr>
          <a:xfrm>
            <a:off x="2514600" y="1461905"/>
            <a:ext cx="8534400" cy="4876800"/>
          </a:xfrm>
          <a:prstGeom prst="rect">
            <a:avLst/>
          </a:prstGeom>
          <a:ln>
            <a:solidFill>
              <a:schemeClr val="accent1"/>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b="1"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b="1" i="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i="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buFont typeface="Wingdings" pitchFamily="2" charset="2"/>
              <a:buNone/>
            </a:pPr>
            <a:r>
              <a:rPr lang="en-US" sz="2000">
                <a:solidFill>
                  <a:srgbClr val="7030A0"/>
                </a:solidFill>
                <a:latin typeface="Courier New" panose="02070309020205020404" pitchFamily="49" charset="0"/>
                <a:cs typeface="Courier New" panose="02070309020205020404" pitchFamily="49" charset="0"/>
              </a:rPr>
              <a:t>#include &lt;stdio.h&gt;</a:t>
            </a:r>
          </a:p>
          <a:p>
            <a:pPr>
              <a:lnSpc>
                <a:spcPct val="80000"/>
              </a:lnSpc>
              <a:buFont typeface="Wingdings" pitchFamily="2" charset="2"/>
              <a:buNone/>
            </a:pPr>
            <a:r>
              <a:rPr lang="en-US" sz="2000">
                <a:solidFill>
                  <a:srgbClr val="00B050"/>
                </a:solidFill>
                <a:latin typeface="Courier New" panose="02070309020205020404" pitchFamily="49" charset="0"/>
                <a:cs typeface="Courier New" panose="02070309020205020404" pitchFamily="49" charset="0"/>
              </a:rPr>
              <a:t>int</a:t>
            </a:r>
            <a:r>
              <a:rPr lang="en-US" sz="2000">
                <a:latin typeface="Courier New" panose="02070309020205020404" pitchFamily="49" charset="0"/>
                <a:cs typeface="Courier New" panose="02070309020205020404" pitchFamily="49" charset="0"/>
              </a:rPr>
              <a:t> </a:t>
            </a:r>
            <a:r>
              <a:rPr lang="en-US" sz="2000">
                <a:solidFill>
                  <a:srgbClr val="FF0000"/>
                </a:solidFill>
                <a:latin typeface="Courier New" panose="02070309020205020404" pitchFamily="49" charset="0"/>
                <a:cs typeface="Courier New" panose="02070309020205020404" pitchFamily="49" charset="0"/>
              </a:rPr>
              <a:t>main</a:t>
            </a:r>
            <a:r>
              <a:rPr lang="en-US" sz="2000">
                <a:latin typeface="Courier New" panose="02070309020205020404" pitchFamily="49" charset="0"/>
                <a:cs typeface="Courier New" panose="02070309020205020404" pitchFamily="49" charset="0"/>
              </a:rPr>
              <a:t>(){</a:t>
            </a:r>
          </a:p>
          <a:p>
            <a:pPr marL="0" indent="0">
              <a:buNone/>
            </a:pPr>
            <a:r>
              <a:rPr lang="en-US" sz="2000">
                <a:latin typeface="Courier New" panose="02070309020205020404" pitchFamily="49" charset="0"/>
                <a:cs typeface="Courier New" panose="02070309020205020404" pitchFamily="49" charset="0"/>
              </a:rPr>
              <a:t>   int a, b, c, max, min;</a:t>
            </a:r>
          </a:p>
          <a:p>
            <a:pPr marL="0" indent="0">
              <a:buNone/>
            </a:pPr>
            <a:r>
              <a:rPr lang="en-US" sz="2000">
                <a:latin typeface="Courier New" panose="02070309020205020404" pitchFamily="49" charset="0"/>
                <a:cs typeface="Courier New" panose="02070309020205020404" pitchFamily="49" charset="0"/>
              </a:rPr>
              <a:t>	printf(“Nhap 3 so nguyen:”);</a:t>
            </a:r>
          </a:p>
          <a:p>
            <a:pPr marL="0" indent="0">
              <a:buNone/>
            </a:pPr>
            <a:r>
              <a:rPr lang="en-US" sz="2000">
                <a:latin typeface="Courier New" panose="02070309020205020404" pitchFamily="49" charset="0"/>
                <a:cs typeface="Courier New" panose="02070309020205020404" pitchFamily="49" charset="0"/>
              </a:rPr>
              <a:t>	scanf(“%d%d%d”,&amp;a,&amp;b,&amp;c);</a:t>
            </a:r>
          </a:p>
          <a:p>
            <a:pPr marL="0" indent="0">
              <a:buNone/>
            </a:pPr>
            <a:r>
              <a:rPr lang="en-US" sz="2000">
                <a:latin typeface="Courier New" panose="02070309020205020404" pitchFamily="49" charset="0"/>
                <a:cs typeface="Courier New" panose="02070309020205020404" pitchFamily="49" charset="0"/>
              </a:rPr>
              <a:t>	max=min=a;</a:t>
            </a:r>
          </a:p>
          <a:p>
            <a:pPr marL="0" indent="0">
              <a:buNone/>
            </a:pPr>
            <a:r>
              <a:rPr lang="en-US" sz="2000">
                <a:latin typeface="Courier New" panose="02070309020205020404" pitchFamily="49" charset="0"/>
                <a:cs typeface="Courier New" panose="02070309020205020404" pitchFamily="49" charset="0"/>
              </a:rPr>
              <a:t>	if(max&lt;b)  max=b;</a:t>
            </a:r>
          </a:p>
          <a:p>
            <a:pPr marL="0" indent="0">
              <a:buNone/>
            </a:pPr>
            <a:r>
              <a:rPr lang="en-US" sz="2000">
                <a:latin typeface="Courier New" panose="02070309020205020404" pitchFamily="49" charset="0"/>
                <a:cs typeface="Courier New" panose="02070309020205020404" pitchFamily="49" charset="0"/>
              </a:rPr>
              <a:t>	if(max&lt;c)  max=c;</a:t>
            </a:r>
          </a:p>
          <a:p>
            <a:pPr marL="0" indent="0">
              <a:buNone/>
            </a:pPr>
            <a:r>
              <a:rPr lang="en-US" sz="2000">
                <a:latin typeface="Courier New" panose="02070309020205020404" pitchFamily="49" charset="0"/>
                <a:cs typeface="Courier New" panose="02070309020205020404" pitchFamily="49" charset="0"/>
              </a:rPr>
              <a:t>	if(min&gt;b)  min=b;</a:t>
            </a:r>
          </a:p>
          <a:p>
            <a:pPr marL="0" indent="0">
              <a:buNone/>
            </a:pPr>
            <a:r>
              <a:rPr lang="en-US" sz="2000">
                <a:latin typeface="Courier New" panose="02070309020205020404" pitchFamily="49" charset="0"/>
                <a:cs typeface="Courier New" panose="02070309020205020404" pitchFamily="49" charset="0"/>
              </a:rPr>
              <a:t>	if(min&gt;c)  min=c;</a:t>
            </a:r>
          </a:p>
          <a:p>
            <a:pPr marL="0" indent="0">
              <a:buNone/>
            </a:pPr>
            <a:r>
              <a:rPr lang="en-US" sz="2000">
                <a:latin typeface="Courier New" panose="02070309020205020404" pitchFamily="49" charset="0"/>
                <a:cs typeface="Courier New" panose="02070309020205020404" pitchFamily="49" charset="0"/>
              </a:rPr>
              <a:t>	printf(“So lon nhat la:%d”, max);</a:t>
            </a:r>
          </a:p>
          <a:p>
            <a:pPr marL="0" indent="0">
              <a:buNone/>
            </a:pPr>
            <a:r>
              <a:rPr lang="en-US" sz="2000">
                <a:latin typeface="Courier New" panose="02070309020205020404" pitchFamily="49" charset="0"/>
                <a:cs typeface="Courier New" panose="02070309020205020404" pitchFamily="49" charset="0"/>
              </a:rPr>
              <a:t>      printf(“So nho nhat la:%d”,min); </a:t>
            </a:r>
          </a:p>
          <a:p>
            <a:pPr marL="0" indent="0">
              <a:buNone/>
            </a:pPr>
            <a:r>
              <a:rPr lang="en-US" sz="200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290982646"/>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51A7D-80F8-7E5D-2A67-CF96CBA1CED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9C813E-135E-E769-B353-F7DEBBB08283}"/>
              </a:ext>
            </a:extLst>
          </p:cNvPr>
          <p:cNvSpPr>
            <a:spLocks noGrp="1"/>
          </p:cNvSpPr>
          <p:nvPr>
            <p:ph type="sldNum" sz="quarter" idx="10"/>
          </p:nvPr>
        </p:nvSpPr>
        <p:spPr/>
        <p:txBody>
          <a:bodyPr/>
          <a:lstStyle/>
          <a:p>
            <a:pPr>
              <a:defRPr/>
            </a:pPr>
            <a:fld id="{19807EA8-8FBD-444D-AB0A-46993DC0714C}" type="slidenum">
              <a:rPr lang="en-US"/>
              <a:pPr>
                <a:defRPr/>
              </a:pPr>
              <a:t>26</a:t>
            </a:fld>
            <a:endParaRPr lang="en-US"/>
          </a:p>
        </p:txBody>
      </p:sp>
      <p:sp>
        <p:nvSpPr>
          <p:cNvPr id="49156" name="Rectangle 2">
            <a:extLst>
              <a:ext uri="{FF2B5EF4-FFF2-40B4-BE49-F238E27FC236}">
                <a16:creationId xmlns:a16="http://schemas.microsoft.com/office/drawing/2014/main" id="{C0C1BFA9-ECE3-4CAF-3F51-4CCEC8B43303}"/>
              </a:ext>
            </a:extLst>
          </p:cNvPr>
          <p:cNvSpPr>
            <a:spLocks noGrp="1"/>
          </p:cNvSpPr>
          <p:nvPr>
            <p:ph type="title"/>
          </p:nvPr>
        </p:nvSpPr>
        <p:spPr/>
        <p:txBody>
          <a:bodyPr/>
          <a:lstStyle/>
          <a:p>
            <a:r>
              <a:rPr lang="vi-VN">
                <a:cs typeface="Arial" charset="0"/>
              </a:rPr>
              <a:t>1.6. Một số qui tắc khi viết chương trình</a:t>
            </a:r>
            <a:endParaRPr lang="en-US" dirty="0">
              <a:cs typeface="Arial" charset="0"/>
            </a:endParaRPr>
          </a:p>
        </p:txBody>
      </p:sp>
      <p:sp>
        <p:nvSpPr>
          <p:cNvPr id="3" name="Content Placeholder 2">
            <a:extLst>
              <a:ext uri="{FF2B5EF4-FFF2-40B4-BE49-F238E27FC236}">
                <a16:creationId xmlns:a16="http://schemas.microsoft.com/office/drawing/2014/main" id="{D46C56BA-DBEF-8781-B150-0367A582F32F}"/>
              </a:ext>
            </a:extLst>
          </p:cNvPr>
          <p:cNvSpPr>
            <a:spLocks noGrp="1"/>
          </p:cNvSpPr>
          <p:nvPr>
            <p:ph idx="1"/>
          </p:nvPr>
        </p:nvSpPr>
        <p:spPr>
          <a:xfrm>
            <a:off x="762000" y="1143000"/>
            <a:ext cx="11049000" cy="4102923"/>
          </a:xfrm>
        </p:spPr>
        <p:txBody>
          <a:bodyPr>
            <a:normAutofit/>
          </a:bodyPr>
          <a:lstStyle/>
          <a:p>
            <a:r>
              <a:rPr lang="en-US" sz="2400" b="0"/>
              <a:t>Tuân thủ quy tắc đặt tên.</a:t>
            </a:r>
          </a:p>
          <a:p>
            <a:r>
              <a:rPr lang="en-US" sz="2400" b="0"/>
              <a:t>Thụt lề (indentation) rõ rang.</a:t>
            </a:r>
          </a:p>
          <a:p>
            <a:r>
              <a:rPr lang="en-US" sz="2400" b="0"/>
              <a:t>Mỗi khối lệnh nên đặt trong { } dù chỉ một câu lệnh.</a:t>
            </a:r>
          </a:p>
          <a:p>
            <a:r>
              <a:rPr lang="en-US" sz="2400" b="0"/>
              <a:t>Xuống dòng hợp lý cho dễ đọc.</a:t>
            </a:r>
          </a:p>
          <a:p>
            <a:r>
              <a:rPr lang="en-US" sz="2400" b="0"/>
              <a:t>Dùng chú thích để giải thích khối lệnh quan trọng nhưng không lạm dụng, chỉ giải thích phần khó hiểu.</a:t>
            </a:r>
          </a:p>
          <a:p>
            <a:r>
              <a:rPr lang="vi-VN" sz="2400" b="0"/>
              <a:t>Kiểm tra dữ liệu nhập trước khi sử dụng</a:t>
            </a:r>
            <a:r>
              <a:rPr lang="en-US" sz="2400" b="0"/>
              <a:t>.</a:t>
            </a:r>
          </a:p>
          <a:p>
            <a:r>
              <a:rPr lang="en-US" sz="2400" b="0"/>
              <a:t>Chia thành hàm nhỏ, mỗi hàm làm một nhiệm vụ giúp dễ kiểm thử, bảo trì.</a:t>
            </a:r>
          </a:p>
          <a:p>
            <a:r>
              <a:rPr lang="vi-VN" sz="2400" b="0"/>
              <a:t>Kiểm tra, debug thường xuyên trong quá trình lập trình</a:t>
            </a:r>
            <a:r>
              <a:rPr lang="en-US" sz="2400" b="0"/>
              <a:t>.</a:t>
            </a:r>
          </a:p>
        </p:txBody>
      </p:sp>
    </p:spTree>
    <p:extLst>
      <p:ext uri="{BB962C8B-B14F-4D97-AF65-F5344CB8AC3E}">
        <p14:creationId xmlns:p14="http://schemas.microsoft.com/office/powerpoint/2010/main" val="184580389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49423-BE01-9CD5-B598-86F3B15EBC8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1071792-1E7C-BBE4-9296-A780CC41CF9C}"/>
              </a:ext>
            </a:extLst>
          </p:cNvPr>
          <p:cNvSpPr>
            <a:spLocks noGrp="1"/>
          </p:cNvSpPr>
          <p:nvPr>
            <p:ph type="sldNum" sz="quarter" idx="10"/>
          </p:nvPr>
        </p:nvSpPr>
        <p:spPr/>
        <p:txBody>
          <a:bodyPr/>
          <a:lstStyle/>
          <a:p>
            <a:pPr>
              <a:defRPr/>
            </a:pPr>
            <a:fld id="{19807EA8-8FBD-444D-AB0A-46993DC0714C}" type="slidenum">
              <a:rPr lang="en-US"/>
              <a:pPr>
                <a:defRPr/>
              </a:pPr>
              <a:t>27</a:t>
            </a:fld>
            <a:endParaRPr lang="en-US"/>
          </a:p>
        </p:txBody>
      </p:sp>
      <p:sp>
        <p:nvSpPr>
          <p:cNvPr id="49156" name="Rectangle 2">
            <a:extLst>
              <a:ext uri="{FF2B5EF4-FFF2-40B4-BE49-F238E27FC236}">
                <a16:creationId xmlns:a16="http://schemas.microsoft.com/office/drawing/2014/main" id="{D9C2E2AD-CC32-03AD-2B34-616BCA1490D5}"/>
              </a:ext>
            </a:extLst>
          </p:cNvPr>
          <p:cNvSpPr>
            <a:spLocks noGrp="1"/>
          </p:cNvSpPr>
          <p:nvPr>
            <p:ph type="title"/>
          </p:nvPr>
        </p:nvSpPr>
        <p:spPr/>
        <p:txBody>
          <a:bodyPr/>
          <a:lstStyle/>
          <a:p>
            <a:r>
              <a:rPr lang="vi-VN">
                <a:cs typeface="Arial" charset="0"/>
              </a:rPr>
              <a:t>1.7. Cách thực hiện trên máy tính</a:t>
            </a:r>
            <a:endParaRPr lang="en-US" dirty="0">
              <a:cs typeface="Arial" charset="0"/>
            </a:endParaRPr>
          </a:p>
        </p:txBody>
      </p:sp>
      <p:sp>
        <p:nvSpPr>
          <p:cNvPr id="3" name="Content Placeholder 2">
            <a:extLst>
              <a:ext uri="{FF2B5EF4-FFF2-40B4-BE49-F238E27FC236}">
                <a16:creationId xmlns:a16="http://schemas.microsoft.com/office/drawing/2014/main" id="{63A6E842-E09A-D31D-B612-47FCADC4DDAE}"/>
              </a:ext>
            </a:extLst>
          </p:cNvPr>
          <p:cNvSpPr>
            <a:spLocks noGrp="1"/>
          </p:cNvSpPr>
          <p:nvPr>
            <p:ph idx="1"/>
          </p:nvPr>
        </p:nvSpPr>
        <p:spPr>
          <a:xfrm>
            <a:off x="457200" y="952500"/>
            <a:ext cx="11430000" cy="4953000"/>
          </a:xfrm>
        </p:spPr>
        <p:txBody>
          <a:bodyPr>
            <a:normAutofit fontScale="92500" lnSpcReduction="20000"/>
          </a:bodyPr>
          <a:lstStyle/>
          <a:p>
            <a:r>
              <a:rPr lang="en-US" sz="2600" dirty="0" err="1"/>
              <a:t>Cài</a:t>
            </a:r>
            <a:r>
              <a:rPr lang="en-US" sz="2600" dirty="0"/>
              <a:t> </a:t>
            </a:r>
            <a:r>
              <a:rPr lang="en-US" sz="2600" dirty="0" err="1"/>
              <a:t>đặt</a:t>
            </a:r>
            <a:r>
              <a:rPr lang="en-US" sz="2600" dirty="0"/>
              <a:t> </a:t>
            </a:r>
            <a:r>
              <a:rPr lang="en-US" sz="2600" dirty="0" err="1"/>
              <a:t>môi</a:t>
            </a:r>
            <a:r>
              <a:rPr lang="en-US" sz="2600" dirty="0"/>
              <a:t> </a:t>
            </a:r>
            <a:r>
              <a:rPr lang="en-US" sz="2600" dirty="0" err="1"/>
              <a:t>trường</a:t>
            </a:r>
            <a:r>
              <a:rPr lang="en-US" sz="2600" dirty="0"/>
              <a:t> </a:t>
            </a:r>
            <a:r>
              <a:rPr lang="en-US" sz="2600" dirty="0" err="1"/>
              <a:t>lập</a:t>
            </a:r>
            <a:r>
              <a:rPr lang="en-US" sz="2600" dirty="0"/>
              <a:t> </a:t>
            </a:r>
            <a:r>
              <a:rPr lang="en-US" sz="2600" dirty="0" err="1"/>
              <a:t>trình</a:t>
            </a:r>
            <a:endParaRPr lang="en-US" sz="2600" dirty="0"/>
          </a:p>
          <a:p>
            <a:pPr lvl="1"/>
            <a:r>
              <a:rPr lang="en-US" sz="2600" b="0" dirty="0" err="1">
                <a:cs typeface="Arial" charset="0"/>
              </a:rPr>
              <a:t>Trình</a:t>
            </a:r>
            <a:r>
              <a:rPr lang="en-US" sz="2600" b="0" dirty="0">
                <a:cs typeface="Arial" charset="0"/>
              </a:rPr>
              <a:t> </a:t>
            </a:r>
            <a:r>
              <a:rPr lang="en-US" sz="2600" b="0" dirty="0" err="1">
                <a:cs typeface="Arial" charset="0"/>
              </a:rPr>
              <a:t>biên</a:t>
            </a:r>
            <a:r>
              <a:rPr lang="en-US" sz="2600" b="0" dirty="0">
                <a:cs typeface="Arial" charset="0"/>
              </a:rPr>
              <a:t> </a:t>
            </a:r>
            <a:r>
              <a:rPr lang="en-US" sz="2600" b="0" dirty="0" err="1">
                <a:cs typeface="Arial" charset="0"/>
              </a:rPr>
              <a:t>dịch</a:t>
            </a:r>
            <a:r>
              <a:rPr lang="en-US" sz="2600" b="0" dirty="0">
                <a:cs typeface="Arial" charset="0"/>
              </a:rPr>
              <a:t> (compiler): </a:t>
            </a:r>
            <a:r>
              <a:rPr lang="en-US" sz="2600" b="0" dirty="0" err="1">
                <a:cs typeface="Arial" charset="0"/>
              </a:rPr>
              <a:t>dịch</a:t>
            </a:r>
            <a:r>
              <a:rPr lang="en-US" sz="2600" b="0" dirty="0">
                <a:cs typeface="Arial" charset="0"/>
              </a:rPr>
              <a:t> </a:t>
            </a:r>
            <a:r>
              <a:rPr lang="en-US" sz="2600" b="0" dirty="0" err="1">
                <a:cs typeface="Arial" charset="0"/>
              </a:rPr>
              <a:t>mã</a:t>
            </a:r>
            <a:r>
              <a:rPr lang="en-US" sz="2600" b="0" dirty="0">
                <a:cs typeface="Arial" charset="0"/>
              </a:rPr>
              <a:t> </a:t>
            </a:r>
            <a:r>
              <a:rPr lang="en-US" sz="2600" b="0" dirty="0" err="1">
                <a:cs typeface="Arial" charset="0"/>
              </a:rPr>
              <a:t>nguồn</a:t>
            </a:r>
            <a:r>
              <a:rPr lang="en-US" sz="2600" b="0" dirty="0">
                <a:cs typeface="Arial" charset="0"/>
              </a:rPr>
              <a:t> (source code) </a:t>
            </a:r>
            <a:r>
              <a:rPr lang="en-US" sz="2600" b="0" dirty="0" err="1">
                <a:cs typeface="Arial" charset="0"/>
              </a:rPr>
              <a:t>thành</a:t>
            </a:r>
            <a:r>
              <a:rPr lang="en-US" sz="2600" b="0" dirty="0">
                <a:cs typeface="Arial" charset="0"/>
              </a:rPr>
              <a:t> file </a:t>
            </a:r>
            <a:r>
              <a:rPr lang="en-US" sz="2600" b="0" dirty="0" err="1">
                <a:cs typeface="Arial" charset="0"/>
              </a:rPr>
              <a:t>thực</a:t>
            </a:r>
            <a:r>
              <a:rPr lang="en-US" sz="2600" b="0" dirty="0">
                <a:cs typeface="Arial" charset="0"/>
              </a:rPr>
              <a:t> </a:t>
            </a:r>
            <a:r>
              <a:rPr lang="en-US" sz="2600" b="0" dirty="0" err="1">
                <a:cs typeface="Arial" charset="0"/>
              </a:rPr>
              <a:t>thi</a:t>
            </a:r>
            <a:endParaRPr lang="en-US" sz="2600" b="0" dirty="0">
              <a:cs typeface="Arial" charset="0"/>
            </a:endParaRPr>
          </a:p>
          <a:p>
            <a:pPr lvl="1"/>
            <a:r>
              <a:rPr lang="en-US" sz="2600" b="0" dirty="0" err="1">
                <a:cs typeface="Arial" charset="0"/>
              </a:rPr>
              <a:t>Các</a:t>
            </a:r>
            <a:r>
              <a:rPr lang="en-US" sz="2600" b="0" dirty="0">
                <a:cs typeface="Arial" charset="0"/>
              </a:rPr>
              <a:t> </a:t>
            </a:r>
            <a:r>
              <a:rPr lang="en-US" sz="2600" b="0" dirty="0" err="1">
                <a:cs typeface="Arial" charset="0"/>
              </a:rPr>
              <a:t>trình</a:t>
            </a:r>
            <a:r>
              <a:rPr lang="en-US" sz="2600" b="0" dirty="0">
                <a:cs typeface="Arial" charset="0"/>
              </a:rPr>
              <a:t> </a:t>
            </a:r>
            <a:r>
              <a:rPr lang="en-US" sz="2600" b="0" dirty="0" err="1">
                <a:cs typeface="Arial" charset="0"/>
              </a:rPr>
              <a:t>biên</a:t>
            </a:r>
            <a:r>
              <a:rPr lang="en-US" sz="2600" b="0" dirty="0">
                <a:cs typeface="Arial" charset="0"/>
              </a:rPr>
              <a:t> </a:t>
            </a:r>
            <a:r>
              <a:rPr lang="en-US" sz="2600" b="0" dirty="0" err="1">
                <a:cs typeface="Arial" charset="0"/>
              </a:rPr>
              <a:t>dịch</a:t>
            </a:r>
            <a:r>
              <a:rPr lang="en-US" sz="2600" b="0" dirty="0">
                <a:cs typeface="Arial" charset="0"/>
              </a:rPr>
              <a:t> C </a:t>
            </a:r>
            <a:r>
              <a:rPr lang="en-US" sz="2600" b="0" dirty="0" err="1">
                <a:cs typeface="Arial" charset="0"/>
              </a:rPr>
              <a:t>phổ</a:t>
            </a:r>
            <a:r>
              <a:rPr lang="en-US" sz="2600" b="0" dirty="0">
                <a:cs typeface="Arial" charset="0"/>
              </a:rPr>
              <a:t> </a:t>
            </a:r>
            <a:r>
              <a:rPr lang="en-US" sz="2600" b="0" dirty="0" err="1">
                <a:cs typeface="Arial" charset="0"/>
              </a:rPr>
              <a:t>biến</a:t>
            </a:r>
            <a:endParaRPr lang="en-US" sz="2600" b="0" dirty="0">
              <a:cs typeface="Arial" charset="0"/>
            </a:endParaRPr>
          </a:p>
          <a:p>
            <a:pPr lvl="2"/>
            <a:r>
              <a:rPr lang="en-US" b="1" dirty="0">
                <a:solidFill>
                  <a:srgbClr val="FF0000"/>
                </a:solidFill>
                <a:cs typeface="Arial" charset="0"/>
              </a:rPr>
              <a:t>Dev-C++ </a:t>
            </a:r>
            <a:r>
              <a:rPr lang="en-US" b="1" dirty="0" err="1">
                <a:solidFill>
                  <a:srgbClr val="FF0000"/>
                </a:solidFill>
                <a:cs typeface="Arial" charset="0"/>
              </a:rPr>
              <a:t>của</a:t>
            </a:r>
            <a:r>
              <a:rPr lang="en-US" b="1" dirty="0">
                <a:solidFill>
                  <a:srgbClr val="FF0000"/>
                </a:solidFill>
                <a:cs typeface="Arial" charset="0"/>
              </a:rPr>
              <a:t> Bloodshed Software</a:t>
            </a:r>
          </a:p>
          <a:p>
            <a:pPr lvl="2"/>
            <a:r>
              <a:rPr lang="en-US" dirty="0" err="1">
                <a:cs typeface="Arial" charset="0"/>
              </a:rPr>
              <a:t>VisualStudio</a:t>
            </a:r>
            <a:r>
              <a:rPr lang="en-US" dirty="0">
                <a:cs typeface="Arial" charset="0"/>
              </a:rPr>
              <a:t> </a:t>
            </a:r>
            <a:r>
              <a:rPr lang="en-US" b="0" dirty="0" err="1">
                <a:cs typeface="Arial" charset="0"/>
              </a:rPr>
              <a:t>của</a:t>
            </a:r>
            <a:r>
              <a:rPr lang="en-US" b="0" dirty="0">
                <a:cs typeface="Arial" charset="0"/>
              </a:rPr>
              <a:t> Microsoft</a:t>
            </a:r>
          </a:p>
          <a:p>
            <a:pPr lvl="2"/>
            <a:r>
              <a:rPr lang="en-US" b="0" dirty="0">
                <a:cs typeface="Arial" charset="0"/>
              </a:rPr>
              <a:t>GCC </a:t>
            </a:r>
            <a:r>
              <a:rPr lang="en-US" b="0" dirty="0" err="1">
                <a:cs typeface="Arial" charset="0"/>
              </a:rPr>
              <a:t>của</a:t>
            </a:r>
            <a:r>
              <a:rPr lang="en-US" b="0" dirty="0">
                <a:cs typeface="Arial" charset="0"/>
              </a:rPr>
              <a:t> GNU </a:t>
            </a:r>
          </a:p>
          <a:p>
            <a:pPr lvl="2"/>
            <a:r>
              <a:rPr lang="en-US" dirty="0">
                <a:cs typeface="Arial" charset="0"/>
                <a:hlinkClick r:id="rId2"/>
              </a:rPr>
              <a:t>https://www.onlinegdb.com/online_c_compiler</a:t>
            </a:r>
            <a:endParaRPr lang="en-US" dirty="0">
              <a:cs typeface="Arial" charset="0"/>
            </a:endParaRPr>
          </a:p>
          <a:p>
            <a:pPr lvl="2"/>
            <a:r>
              <a:rPr lang="en-US" dirty="0">
                <a:cs typeface="Arial" charset="0"/>
                <a:hlinkClick r:id="rId3"/>
              </a:rPr>
              <a:t>https://www.tutorialspoint.com/compilers/online-c-compiler.htm</a:t>
            </a:r>
            <a:endParaRPr lang="en-US" b="0" dirty="0">
              <a:cs typeface="Arial" charset="0"/>
            </a:endParaRPr>
          </a:p>
          <a:p>
            <a:endParaRPr lang="en-US" sz="2600" dirty="0"/>
          </a:p>
          <a:p>
            <a:r>
              <a:rPr lang="en-US" sz="2600" dirty="0" err="1"/>
              <a:t>Mở</a:t>
            </a:r>
            <a:r>
              <a:rPr lang="en-US" sz="2600" dirty="0"/>
              <a:t> </a:t>
            </a:r>
            <a:r>
              <a:rPr lang="en-US" sz="2600" dirty="0" err="1"/>
              <a:t>trình</a:t>
            </a:r>
            <a:r>
              <a:rPr lang="en-US" sz="2600" dirty="0"/>
              <a:t> </a:t>
            </a:r>
            <a:r>
              <a:rPr lang="en-US" sz="2600" dirty="0" err="1"/>
              <a:t>biên</a:t>
            </a:r>
            <a:r>
              <a:rPr lang="en-US" sz="2600" dirty="0"/>
              <a:t> </a:t>
            </a:r>
            <a:r>
              <a:rPr lang="en-US" sz="2600" dirty="0" err="1"/>
              <a:t>dịch</a:t>
            </a:r>
            <a:endParaRPr lang="en-US" sz="2600" dirty="0"/>
          </a:p>
          <a:p>
            <a:r>
              <a:rPr lang="en-US" sz="2600" dirty="0" err="1"/>
              <a:t>Biên</a:t>
            </a:r>
            <a:r>
              <a:rPr lang="en-US" sz="2600" dirty="0"/>
              <a:t> </a:t>
            </a:r>
            <a:r>
              <a:rPr lang="en-US" sz="2600" dirty="0" err="1"/>
              <a:t>soạn</a:t>
            </a:r>
            <a:r>
              <a:rPr lang="en-US" sz="2600" dirty="0"/>
              <a:t> code</a:t>
            </a:r>
          </a:p>
          <a:p>
            <a:r>
              <a:rPr lang="en-US" sz="2600" dirty="0" err="1"/>
              <a:t>Dịch</a:t>
            </a:r>
            <a:r>
              <a:rPr lang="en-US" sz="2600" dirty="0"/>
              <a:t>, </a:t>
            </a:r>
            <a:r>
              <a:rPr lang="en-US" sz="2600" dirty="0" err="1"/>
              <a:t>sửa</a:t>
            </a:r>
            <a:r>
              <a:rPr lang="en-US" sz="2600" dirty="0"/>
              <a:t> </a:t>
            </a:r>
            <a:r>
              <a:rPr lang="en-US" sz="2600" dirty="0" err="1"/>
              <a:t>lỗi</a:t>
            </a:r>
            <a:r>
              <a:rPr lang="en-US" sz="2600" dirty="0"/>
              <a:t> (</a:t>
            </a:r>
            <a:r>
              <a:rPr lang="en-US" sz="2600" dirty="0" err="1"/>
              <a:t>nếu</a:t>
            </a:r>
            <a:r>
              <a:rPr lang="en-US" sz="2600" dirty="0"/>
              <a:t> </a:t>
            </a:r>
            <a:r>
              <a:rPr lang="en-US" sz="2600" dirty="0" err="1"/>
              <a:t>có</a:t>
            </a:r>
            <a:r>
              <a:rPr lang="en-US" sz="2600" dirty="0"/>
              <a:t>)</a:t>
            </a:r>
          </a:p>
          <a:p>
            <a:r>
              <a:rPr lang="en-US" sz="2600" dirty="0" err="1"/>
              <a:t>Chạy</a:t>
            </a:r>
            <a:r>
              <a:rPr lang="en-US" sz="2600" dirty="0"/>
              <a:t> </a:t>
            </a:r>
            <a:r>
              <a:rPr lang="en-US" sz="2600" dirty="0" err="1"/>
              <a:t>chương</a:t>
            </a:r>
            <a:r>
              <a:rPr lang="en-US" sz="2600" dirty="0"/>
              <a:t> </a:t>
            </a:r>
            <a:r>
              <a:rPr lang="en-US" sz="2600" dirty="0" err="1"/>
              <a:t>trình</a:t>
            </a:r>
            <a:r>
              <a:rPr lang="en-US" sz="2600" dirty="0"/>
              <a:t> (</a:t>
            </a:r>
            <a:r>
              <a:rPr lang="en-US" sz="2600" dirty="0" err="1"/>
              <a:t>xem</a:t>
            </a:r>
            <a:r>
              <a:rPr lang="en-US" sz="2600" dirty="0"/>
              <a:t> </a:t>
            </a:r>
            <a:r>
              <a:rPr lang="en-US" sz="2600" dirty="0" err="1"/>
              <a:t>kết</a:t>
            </a:r>
            <a:r>
              <a:rPr lang="en-US" sz="2600" dirty="0"/>
              <a:t> </a:t>
            </a:r>
            <a:r>
              <a:rPr lang="en-US" sz="2600" dirty="0" err="1"/>
              <a:t>quả</a:t>
            </a:r>
            <a:r>
              <a:rPr lang="en-US" sz="2600" dirty="0"/>
              <a:t>)</a:t>
            </a:r>
          </a:p>
          <a:p>
            <a:endParaRPr lang="en-US" sz="2800" dirty="0"/>
          </a:p>
          <a:p>
            <a:endParaRPr lang="en-US" sz="2800" dirty="0"/>
          </a:p>
        </p:txBody>
      </p:sp>
    </p:spTree>
    <p:extLst>
      <p:ext uri="{BB962C8B-B14F-4D97-AF65-F5344CB8AC3E}">
        <p14:creationId xmlns:p14="http://schemas.microsoft.com/office/powerpoint/2010/main" val="187039803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p:cNvSpPr>
          <p:nvPr>
            <p:ph type="body" idx="4294967295"/>
          </p:nvPr>
        </p:nvSpPr>
        <p:spPr>
          <a:xfrm>
            <a:off x="533400" y="815208"/>
            <a:ext cx="8382000" cy="685800"/>
          </a:xfrm>
        </p:spPr>
        <p:txBody>
          <a:bodyPr/>
          <a:lstStyle/>
          <a:p>
            <a:r>
              <a:rPr lang="en-US" sz="2800" b="0">
                <a:solidFill>
                  <a:srgbClr val="002060"/>
                </a:solidFill>
                <a:cs typeface="Arial" charset="0"/>
              </a:rPr>
              <a:t>Giao diện sử dụng của chương trình Dev-C++</a:t>
            </a:r>
          </a:p>
        </p:txBody>
      </p:sp>
      <p:sp>
        <p:nvSpPr>
          <p:cNvPr id="5" name="Slide Number Placeholder 4"/>
          <p:cNvSpPr>
            <a:spLocks noGrp="1"/>
          </p:cNvSpPr>
          <p:nvPr>
            <p:ph type="sldNum" sz="quarter" idx="10"/>
          </p:nvPr>
        </p:nvSpPr>
        <p:spPr/>
        <p:txBody>
          <a:bodyPr/>
          <a:lstStyle/>
          <a:p>
            <a:pPr>
              <a:defRPr/>
            </a:pPr>
            <a:fld id="{E7ADB6F1-37AD-4453-89CF-A1672E7E0000}" type="slidenum">
              <a:rPr lang="en-US" smtClean="0"/>
              <a:pPr>
                <a:defRPr/>
              </a:pPr>
              <a:t>28</a:t>
            </a:fld>
            <a:endParaRPr lang="en-US"/>
          </a:p>
        </p:txBody>
      </p:sp>
      <p:pic>
        <p:nvPicPr>
          <p:cNvPr id="4" name="Picture 3">
            <a:extLst>
              <a:ext uri="{FF2B5EF4-FFF2-40B4-BE49-F238E27FC236}">
                <a16:creationId xmlns:a16="http://schemas.microsoft.com/office/drawing/2014/main" id="{6183B5D9-8EDB-E9F6-B958-6837D46813F6}"/>
              </a:ext>
            </a:extLst>
          </p:cNvPr>
          <p:cNvPicPr>
            <a:picLocks noChangeAspect="1"/>
          </p:cNvPicPr>
          <p:nvPr/>
        </p:nvPicPr>
        <p:blipFill>
          <a:blip r:embed="rId2"/>
          <a:stretch>
            <a:fillRect/>
          </a:stretch>
        </p:blipFill>
        <p:spPr>
          <a:xfrm>
            <a:off x="381000" y="1497463"/>
            <a:ext cx="9090658" cy="4545329"/>
          </a:xfrm>
          <a:prstGeom prst="rect">
            <a:avLst/>
          </a:prstGeom>
        </p:spPr>
      </p:pic>
      <p:sp>
        <p:nvSpPr>
          <p:cNvPr id="6" name="Rectangle 2">
            <a:extLst>
              <a:ext uri="{FF2B5EF4-FFF2-40B4-BE49-F238E27FC236}">
                <a16:creationId xmlns:a16="http://schemas.microsoft.com/office/drawing/2014/main" id="{6DDF9CC1-0831-BA68-55CA-034385B21D49}"/>
              </a:ext>
            </a:extLst>
          </p:cNvPr>
          <p:cNvSpPr>
            <a:spLocks noGrp="1"/>
          </p:cNvSpPr>
          <p:nvPr>
            <p:ph type="title"/>
          </p:nvPr>
        </p:nvSpPr>
        <p:spPr>
          <a:xfrm>
            <a:off x="23749" y="5937"/>
            <a:ext cx="12100957" cy="685801"/>
          </a:xfrm>
        </p:spPr>
        <p:txBody>
          <a:bodyPr/>
          <a:lstStyle/>
          <a:p>
            <a:r>
              <a:rPr lang="vi-VN">
                <a:cs typeface="Arial" charset="0"/>
              </a:rPr>
              <a:t>1.7. Cách thực hiện trên máy tính</a:t>
            </a:r>
            <a:endParaRPr lang="en-US" dirty="0">
              <a:cs typeface="Arial" charset="0"/>
            </a:endParaRPr>
          </a:p>
        </p:txBody>
      </p:sp>
      <p:sp>
        <p:nvSpPr>
          <p:cNvPr id="7" name="Rectangle 3">
            <a:extLst>
              <a:ext uri="{FF2B5EF4-FFF2-40B4-BE49-F238E27FC236}">
                <a16:creationId xmlns:a16="http://schemas.microsoft.com/office/drawing/2014/main" id="{786BD7D9-E529-C429-5B89-4F118944549B}"/>
              </a:ext>
            </a:extLst>
          </p:cNvPr>
          <p:cNvSpPr txBox="1">
            <a:spLocks/>
          </p:cNvSpPr>
          <p:nvPr/>
        </p:nvSpPr>
        <p:spPr>
          <a:xfrm>
            <a:off x="9624058" y="1676400"/>
            <a:ext cx="2500648" cy="226928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Myriad Pro"/>
                <a:ea typeface="+mn-ea"/>
                <a:cs typeface="Myriad Pro"/>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yriad Pro"/>
                <a:ea typeface="+mn-ea"/>
                <a:cs typeface="Myriad Pro"/>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yriad Pro"/>
                <a:ea typeface="+mn-ea"/>
                <a:cs typeface="Myriad Pro"/>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yriad Pro"/>
                <a:ea typeface="+mn-ea"/>
                <a:cs typeface="Myriad Pro"/>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a:solidFill>
                  <a:srgbClr val="C00000"/>
                </a:solidFill>
                <a:cs typeface="Arial" charset="0"/>
              </a:rPr>
              <a:t>F9</a:t>
            </a:r>
            <a:r>
              <a:rPr lang="en-US" sz="2000" b="0">
                <a:solidFill>
                  <a:srgbClr val="002060"/>
                </a:solidFill>
                <a:cs typeface="Arial" charset="0"/>
              </a:rPr>
              <a:t>: biên dịch</a:t>
            </a:r>
          </a:p>
          <a:p>
            <a:r>
              <a:rPr lang="en-US" sz="2000">
                <a:solidFill>
                  <a:srgbClr val="C00000"/>
                </a:solidFill>
                <a:cs typeface="Arial" charset="0"/>
              </a:rPr>
              <a:t>F10</a:t>
            </a:r>
            <a:r>
              <a:rPr lang="en-US" sz="2000" b="0">
                <a:solidFill>
                  <a:srgbClr val="002060"/>
                </a:solidFill>
                <a:cs typeface="Arial" charset="0"/>
              </a:rPr>
              <a:t>: chạy chương trình</a:t>
            </a:r>
          </a:p>
          <a:p>
            <a:r>
              <a:rPr lang="en-US" sz="2000">
                <a:solidFill>
                  <a:srgbClr val="C00000"/>
                </a:solidFill>
                <a:cs typeface="Arial" charset="0"/>
              </a:rPr>
              <a:t>F11</a:t>
            </a:r>
            <a:r>
              <a:rPr lang="en-US" sz="2000" b="0">
                <a:solidFill>
                  <a:srgbClr val="002060"/>
                </a:solidFill>
                <a:cs typeface="Arial" charset="0"/>
              </a:rPr>
              <a:t>: biên dịch và chạy chương trình</a:t>
            </a:r>
          </a:p>
        </p:txBody>
      </p:sp>
    </p:spTree>
    <p:extLst>
      <p:ext uri="{BB962C8B-B14F-4D97-AF65-F5344CB8AC3E}">
        <p14:creationId xmlns:p14="http://schemas.microsoft.com/office/powerpoint/2010/main" val="36074006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p:cNvSpPr>
          <p:nvPr>
            <p:ph type="title" idx="4294967295"/>
          </p:nvPr>
        </p:nvSpPr>
        <p:spPr>
          <a:xfrm>
            <a:off x="228600" y="832622"/>
            <a:ext cx="5562600" cy="527822"/>
          </a:xfrm>
        </p:spPr>
        <p:txBody>
          <a:bodyPr>
            <a:normAutofit fontScale="90000"/>
          </a:bodyPr>
          <a:lstStyle/>
          <a:p>
            <a:pPr algn="l"/>
            <a:r>
              <a:rPr lang="en-US" sz="2400" b="1" dirty="0" err="1">
                <a:solidFill>
                  <a:srgbClr val="002060"/>
                </a:solidFill>
                <a:cs typeface="Arial" charset="0"/>
              </a:rPr>
              <a:t>Chương</a:t>
            </a:r>
            <a:r>
              <a:rPr lang="en-US" sz="2400" b="1" dirty="0">
                <a:solidFill>
                  <a:srgbClr val="002060"/>
                </a:solidFill>
                <a:cs typeface="Arial" charset="0"/>
              </a:rPr>
              <a:t> </a:t>
            </a:r>
            <a:r>
              <a:rPr lang="en-US" sz="2400" b="1" dirty="0" err="1">
                <a:solidFill>
                  <a:srgbClr val="002060"/>
                </a:solidFill>
                <a:cs typeface="Arial" charset="0"/>
              </a:rPr>
              <a:t>trình</a:t>
            </a:r>
            <a:r>
              <a:rPr lang="en-US" sz="2400" b="1" dirty="0">
                <a:solidFill>
                  <a:srgbClr val="002060"/>
                </a:solidFill>
                <a:cs typeface="Arial" charset="0"/>
              </a:rPr>
              <a:t> </a:t>
            </a:r>
            <a:r>
              <a:rPr lang="en-US" sz="2400" b="1" dirty="0" err="1">
                <a:solidFill>
                  <a:srgbClr val="002060"/>
                </a:solidFill>
                <a:cs typeface="Arial" charset="0"/>
              </a:rPr>
              <a:t>soạn</a:t>
            </a:r>
            <a:r>
              <a:rPr lang="en-US" sz="2400" b="1" dirty="0">
                <a:solidFill>
                  <a:srgbClr val="002060"/>
                </a:solidFill>
                <a:cs typeface="Arial" charset="0"/>
              </a:rPr>
              <a:t> </a:t>
            </a:r>
            <a:r>
              <a:rPr lang="en-US" sz="2400" b="1" dirty="0" err="1">
                <a:solidFill>
                  <a:srgbClr val="002060"/>
                </a:solidFill>
                <a:cs typeface="Arial" charset="0"/>
              </a:rPr>
              <a:t>thảo</a:t>
            </a:r>
            <a:r>
              <a:rPr lang="en-US" sz="2400" b="1" dirty="0">
                <a:solidFill>
                  <a:srgbClr val="002060"/>
                </a:solidFill>
                <a:cs typeface="Arial" charset="0"/>
              </a:rPr>
              <a:t> </a:t>
            </a:r>
            <a:r>
              <a:rPr lang="en-US" sz="2400" b="1" dirty="0" err="1">
                <a:solidFill>
                  <a:srgbClr val="002060"/>
                </a:solidFill>
                <a:cs typeface="Arial" charset="0"/>
              </a:rPr>
              <a:t>và</a:t>
            </a:r>
            <a:r>
              <a:rPr lang="en-US" sz="2400" b="1" dirty="0">
                <a:solidFill>
                  <a:srgbClr val="002060"/>
                </a:solidFill>
                <a:cs typeface="Arial" charset="0"/>
              </a:rPr>
              <a:t> </a:t>
            </a:r>
            <a:r>
              <a:rPr lang="en-US" sz="2400" b="1" dirty="0" err="1">
                <a:solidFill>
                  <a:srgbClr val="002060"/>
                </a:solidFill>
                <a:cs typeface="Arial" charset="0"/>
              </a:rPr>
              <a:t>dịch</a:t>
            </a:r>
            <a:r>
              <a:rPr lang="en-US" sz="2400" b="1" dirty="0">
                <a:solidFill>
                  <a:srgbClr val="002060"/>
                </a:solidFill>
                <a:cs typeface="Arial" charset="0"/>
              </a:rPr>
              <a:t> </a:t>
            </a:r>
            <a:r>
              <a:rPr lang="en-US" sz="2400" b="1">
                <a:solidFill>
                  <a:srgbClr val="002060"/>
                </a:solidFill>
                <a:cs typeface="Arial" charset="0"/>
              </a:rPr>
              <a:t>C online:</a:t>
            </a:r>
            <a:endParaRPr lang="en-US" sz="2400" b="1" dirty="0">
              <a:solidFill>
                <a:srgbClr val="002060"/>
              </a:solidFill>
              <a:cs typeface="Arial" charset="0"/>
            </a:endParaRPr>
          </a:p>
        </p:txBody>
      </p:sp>
      <p:sp>
        <p:nvSpPr>
          <p:cNvPr id="4" name="Slide Number Placeholder 3"/>
          <p:cNvSpPr>
            <a:spLocks noGrp="1"/>
          </p:cNvSpPr>
          <p:nvPr>
            <p:ph type="sldNum" sz="quarter" idx="10"/>
          </p:nvPr>
        </p:nvSpPr>
        <p:spPr/>
        <p:txBody>
          <a:bodyPr/>
          <a:lstStyle/>
          <a:p>
            <a:pPr>
              <a:defRPr/>
            </a:pPr>
            <a:fld id="{C0427312-30A2-4480-8E84-929E340BD6DE}" type="slidenum">
              <a:rPr lang="en-US" smtClean="0"/>
              <a:pPr>
                <a:defRPr/>
              </a:pPr>
              <a:t>29</a:t>
            </a:fld>
            <a:endParaRPr lang="en-US"/>
          </a:p>
        </p:txBody>
      </p:sp>
      <p:sp>
        <p:nvSpPr>
          <p:cNvPr id="3" name="Rectangle 2"/>
          <p:cNvSpPr/>
          <p:nvPr/>
        </p:nvSpPr>
        <p:spPr>
          <a:xfrm>
            <a:off x="5791200" y="832622"/>
            <a:ext cx="6324600" cy="461665"/>
          </a:xfrm>
          <a:prstGeom prst="rect">
            <a:avLst/>
          </a:prstGeom>
        </p:spPr>
        <p:txBody>
          <a:bodyPr wrap="square">
            <a:spAutoFit/>
          </a:bodyPr>
          <a:lstStyle/>
          <a:p>
            <a:r>
              <a:rPr lang="en-US" sz="2400">
                <a:hlinkClick r:id="rId2"/>
              </a:rPr>
              <a:t>https://www.onlinegdb.com/online_c_compiler#</a:t>
            </a:r>
            <a:r>
              <a:rPr lang="en-US" sz="2400"/>
              <a:t> </a:t>
            </a:r>
            <a:endParaRPr lang="en-US" sz="2400" dirty="0"/>
          </a:p>
        </p:txBody>
      </p:sp>
      <p:pic>
        <p:nvPicPr>
          <p:cNvPr id="5" name="Picture 4">
            <a:extLst>
              <a:ext uri="{FF2B5EF4-FFF2-40B4-BE49-F238E27FC236}">
                <a16:creationId xmlns:a16="http://schemas.microsoft.com/office/drawing/2014/main" id="{7F2CF896-CF20-A2FD-B625-098622CB0D66}"/>
              </a:ext>
            </a:extLst>
          </p:cNvPr>
          <p:cNvPicPr>
            <a:picLocks noChangeAspect="1"/>
          </p:cNvPicPr>
          <p:nvPr/>
        </p:nvPicPr>
        <p:blipFill>
          <a:blip r:embed="rId3"/>
          <a:srcRect r="515"/>
          <a:stretch>
            <a:fillRect/>
          </a:stretch>
        </p:blipFill>
        <p:spPr>
          <a:xfrm>
            <a:off x="1905000" y="1558202"/>
            <a:ext cx="7353300" cy="4776492"/>
          </a:xfrm>
          <a:prstGeom prst="rect">
            <a:avLst/>
          </a:prstGeom>
        </p:spPr>
      </p:pic>
      <p:sp>
        <p:nvSpPr>
          <p:cNvPr id="6" name="Rectangle 2">
            <a:extLst>
              <a:ext uri="{FF2B5EF4-FFF2-40B4-BE49-F238E27FC236}">
                <a16:creationId xmlns:a16="http://schemas.microsoft.com/office/drawing/2014/main" id="{DDC149F3-96CE-E998-D2E2-709EA230213D}"/>
              </a:ext>
            </a:extLst>
          </p:cNvPr>
          <p:cNvSpPr>
            <a:spLocks noGrp="1"/>
          </p:cNvSpPr>
          <p:nvPr>
            <p:ph type="title"/>
          </p:nvPr>
        </p:nvSpPr>
        <p:spPr>
          <a:xfrm>
            <a:off x="23749" y="5937"/>
            <a:ext cx="12100957" cy="685801"/>
          </a:xfrm>
        </p:spPr>
        <p:txBody>
          <a:bodyPr/>
          <a:lstStyle/>
          <a:p>
            <a:r>
              <a:rPr lang="vi-VN">
                <a:cs typeface="Arial" charset="0"/>
              </a:rPr>
              <a:t>1.7. Cách thực hiện trên máy tính</a:t>
            </a:r>
            <a:endParaRPr lang="en-US" dirty="0">
              <a:cs typeface="Arial" charset="0"/>
            </a:endParaRPr>
          </a:p>
        </p:txBody>
      </p:sp>
    </p:spTree>
    <p:extLst>
      <p:ext uri="{BB962C8B-B14F-4D97-AF65-F5344CB8AC3E}">
        <p14:creationId xmlns:p14="http://schemas.microsoft.com/office/powerpoint/2010/main" val="790766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D5C5254-0F8D-45A3-9B01-C65559854E1D}"/>
              </a:ext>
            </a:extLst>
          </p:cNvPr>
          <p:cNvSpPr>
            <a:spLocks noGrp="1"/>
          </p:cNvSpPr>
          <p:nvPr>
            <p:ph type="sldNum" sz="quarter" idx="10"/>
          </p:nvPr>
        </p:nvSpPr>
        <p:spPr/>
        <p:txBody>
          <a:bodyPr/>
          <a:lstStyle/>
          <a:p>
            <a:pPr>
              <a:defRPr/>
            </a:pPr>
            <a:fld id="{03A6936E-CF81-451D-9B87-885524C79B10}" type="slidenum">
              <a:rPr lang="en-US" smtClean="0"/>
              <a:pPr>
                <a:defRPr/>
              </a:pPr>
              <a:t>30</a:t>
            </a:fld>
            <a:endParaRPr lang="en-US"/>
          </a:p>
        </p:txBody>
      </p:sp>
      <p:sp>
        <p:nvSpPr>
          <p:cNvPr id="6" name="Rectangle 5">
            <a:extLst>
              <a:ext uri="{FF2B5EF4-FFF2-40B4-BE49-F238E27FC236}">
                <a16:creationId xmlns:a16="http://schemas.microsoft.com/office/drawing/2014/main" id="{5B503A3D-B470-43F0-B086-E1F7783A7C30}"/>
              </a:ext>
            </a:extLst>
          </p:cNvPr>
          <p:cNvSpPr/>
          <p:nvPr/>
        </p:nvSpPr>
        <p:spPr>
          <a:xfrm>
            <a:off x="346444" y="1234437"/>
            <a:ext cx="8603512" cy="461665"/>
          </a:xfrm>
          <a:prstGeom prst="rect">
            <a:avLst/>
          </a:prstGeom>
        </p:spPr>
        <p:txBody>
          <a:bodyPr wrap="square">
            <a:spAutoFit/>
          </a:bodyPr>
          <a:lstStyle/>
          <a:p>
            <a:r>
              <a:rPr lang="en-US" sz="2400" dirty="0">
                <a:hlinkClick r:id="rId2"/>
              </a:rPr>
              <a:t>http://www.tutorialspoint.com</a:t>
            </a:r>
            <a:r>
              <a:rPr lang="en-US" sz="2400">
                <a:hlinkClick r:id="rId2"/>
              </a:rPr>
              <a:t>/comile</a:t>
            </a:r>
            <a:r>
              <a:rPr lang="en-US" sz="2400" dirty="0">
                <a:hlinkClick r:id="rId2"/>
              </a:rPr>
              <a:t>_c_online</a:t>
            </a:r>
            <a:r>
              <a:rPr lang="en-US" sz="2400">
                <a:hlinkClick r:id="rId2"/>
              </a:rPr>
              <a:t>.php</a:t>
            </a:r>
            <a:r>
              <a:rPr lang="en-US" sz="2400"/>
              <a:t> </a:t>
            </a:r>
            <a:endParaRPr lang="en-US" sz="2400" dirty="0"/>
          </a:p>
        </p:txBody>
      </p:sp>
      <p:sp>
        <p:nvSpPr>
          <p:cNvPr id="7" name="Rectangle 2">
            <a:extLst>
              <a:ext uri="{FF2B5EF4-FFF2-40B4-BE49-F238E27FC236}">
                <a16:creationId xmlns:a16="http://schemas.microsoft.com/office/drawing/2014/main" id="{557679B1-FA5B-4154-97BF-9365FEB8CB8E}"/>
              </a:ext>
            </a:extLst>
          </p:cNvPr>
          <p:cNvSpPr txBox="1">
            <a:spLocks/>
          </p:cNvSpPr>
          <p:nvPr/>
        </p:nvSpPr>
        <p:spPr bwMode="auto">
          <a:xfrm>
            <a:off x="304800" y="728272"/>
            <a:ext cx="6172200" cy="527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kern="1200">
                <a:solidFill>
                  <a:schemeClr val="bg1"/>
                </a:solidFill>
                <a:latin typeface="Cambria" pitchFamily="18" charset="0"/>
                <a:ea typeface="+mj-ea"/>
                <a:cs typeface="Arial" pitchFamily="34" charset="0"/>
              </a:defRPr>
            </a:lvl1pPr>
            <a:lvl2pPr algn="l" rtl="0" eaLnBrk="0" fontAlgn="base" hangingPunct="0">
              <a:spcBef>
                <a:spcPct val="0"/>
              </a:spcBef>
              <a:spcAft>
                <a:spcPct val="0"/>
              </a:spcAft>
              <a:defRPr sz="3600">
                <a:solidFill>
                  <a:schemeClr val="bg1"/>
                </a:solidFill>
                <a:latin typeface="Cambria" pitchFamily="18" charset="0"/>
                <a:cs typeface="Arial" charset="0"/>
              </a:defRPr>
            </a:lvl2pPr>
            <a:lvl3pPr algn="l" rtl="0" eaLnBrk="0" fontAlgn="base" hangingPunct="0">
              <a:spcBef>
                <a:spcPct val="0"/>
              </a:spcBef>
              <a:spcAft>
                <a:spcPct val="0"/>
              </a:spcAft>
              <a:defRPr sz="3600">
                <a:solidFill>
                  <a:schemeClr val="bg1"/>
                </a:solidFill>
                <a:latin typeface="Cambria" pitchFamily="18" charset="0"/>
                <a:cs typeface="Arial" charset="0"/>
              </a:defRPr>
            </a:lvl3pPr>
            <a:lvl4pPr algn="l" rtl="0" eaLnBrk="0" fontAlgn="base" hangingPunct="0">
              <a:spcBef>
                <a:spcPct val="0"/>
              </a:spcBef>
              <a:spcAft>
                <a:spcPct val="0"/>
              </a:spcAft>
              <a:defRPr sz="3600">
                <a:solidFill>
                  <a:schemeClr val="bg1"/>
                </a:solidFill>
                <a:latin typeface="Cambria" pitchFamily="18" charset="0"/>
                <a:cs typeface="Arial" charset="0"/>
              </a:defRPr>
            </a:lvl4pPr>
            <a:lvl5pPr algn="l" rtl="0" eaLnBrk="0" fontAlgn="base" hangingPunct="0">
              <a:spcBef>
                <a:spcPct val="0"/>
              </a:spcBef>
              <a:spcAft>
                <a:spcPct val="0"/>
              </a:spcAft>
              <a:defRPr sz="3600">
                <a:solidFill>
                  <a:schemeClr val="bg1"/>
                </a:solidFill>
                <a:latin typeface="Cambria" pitchFamily="18" charset="0"/>
                <a:cs typeface="Arial" charset="0"/>
              </a:defRPr>
            </a:lvl5pPr>
            <a:lvl6pPr marL="457200" algn="l" rtl="0" fontAlgn="base">
              <a:spcBef>
                <a:spcPct val="0"/>
              </a:spcBef>
              <a:spcAft>
                <a:spcPct val="0"/>
              </a:spcAft>
              <a:defRPr sz="3200">
                <a:solidFill>
                  <a:schemeClr val="bg1"/>
                </a:solidFill>
                <a:latin typeface="Arial" charset="0"/>
                <a:cs typeface="Arial" charset="0"/>
              </a:defRPr>
            </a:lvl6pPr>
            <a:lvl7pPr marL="914400" algn="l" rtl="0" fontAlgn="base">
              <a:spcBef>
                <a:spcPct val="0"/>
              </a:spcBef>
              <a:spcAft>
                <a:spcPct val="0"/>
              </a:spcAft>
              <a:defRPr sz="3200">
                <a:solidFill>
                  <a:schemeClr val="bg1"/>
                </a:solidFill>
                <a:latin typeface="Arial" charset="0"/>
                <a:cs typeface="Arial" charset="0"/>
              </a:defRPr>
            </a:lvl7pPr>
            <a:lvl8pPr marL="1371600" algn="l" rtl="0" fontAlgn="base">
              <a:spcBef>
                <a:spcPct val="0"/>
              </a:spcBef>
              <a:spcAft>
                <a:spcPct val="0"/>
              </a:spcAft>
              <a:defRPr sz="3200">
                <a:solidFill>
                  <a:schemeClr val="bg1"/>
                </a:solidFill>
                <a:latin typeface="Arial" charset="0"/>
                <a:cs typeface="Arial" charset="0"/>
              </a:defRPr>
            </a:lvl8pPr>
            <a:lvl9pPr marL="1828800" algn="l" rtl="0" fontAlgn="base">
              <a:spcBef>
                <a:spcPct val="0"/>
              </a:spcBef>
              <a:spcAft>
                <a:spcPct val="0"/>
              </a:spcAft>
              <a:defRPr sz="3200">
                <a:solidFill>
                  <a:schemeClr val="bg1"/>
                </a:solidFill>
                <a:latin typeface="Arial" charset="0"/>
                <a:cs typeface="Arial" charset="0"/>
              </a:defRPr>
            </a:lvl9pPr>
          </a:lstStyle>
          <a:p>
            <a:r>
              <a:rPr lang="en-US" sz="2400">
                <a:solidFill>
                  <a:srgbClr val="002060"/>
                </a:solidFill>
                <a:latin typeface="Arial" panose="020B0604020202020204" pitchFamily="34" charset="0"/>
              </a:rPr>
              <a:t>Chương trình soạn thảo và dịch C online</a:t>
            </a:r>
            <a:endParaRPr lang="en-US" sz="2400" dirty="0">
              <a:solidFill>
                <a:srgbClr val="002060"/>
              </a:solidFill>
              <a:latin typeface="Arial" panose="020B0604020202020204" pitchFamily="34" charset="0"/>
            </a:endParaRPr>
          </a:p>
        </p:txBody>
      </p:sp>
      <p:pic>
        <p:nvPicPr>
          <p:cNvPr id="9" name="Picture 8">
            <a:extLst>
              <a:ext uri="{FF2B5EF4-FFF2-40B4-BE49-F238E27FC236}">
                <a16:creationId xmlns:a16="http://schemas.microsoft.com/office/drawing/2014/main" id="{63DC2E6B-9116-9941-FB75-91890B120309}"/>
              </a:ext>
            </a:extLst>
          </p:cNvPr>
          <p:cNvPicPr>
            <a:picLocks noChangeAspect="1"/>
          </p:cNvPicPr>
          <p:nvPr/>
        </p:nvPicPr>
        <p:blipFill>
          <a:blip r:embed="rId3"/>
          <a:stretch>
            <a:fillRect/>
          </a:stretch>
        </p:blipFill>
        <p:spPr>
          <a:xfrm>
            <a:off x="1295401" y="1668830"/>
            <a:ext cx="9601200" cy="4616971"/>
          </a:xfrm>
          <a:prstGeom prst="rect">
            <a:avLst/>
          </a:prstGeom>
        </p:spPr>
      </p:pic>
      <p:sp>
        <p:nvSpPr>
          <p:cNvPr id="11" name="Title 10">
            <a:extLst>
              <a:ext uri="{FF2B5EF4-FFF2-40B4-BE49-F238E27FC236}">
                <a16:creationId xmlns:a16="http://schemas.microsoft.com/office/drawing/2014/main" id="{D174DC70-732E-C4AE-9A9C-2A8F28D7F7AB}"/>
              </a:ext>
            </a:extLst>
          </p:cNvPr>
          <p:cNvSpPr>
            <a:spLocks noGrp="1"/>
          </p:cNvSpPr>
          <p:nvPr>
            <p:ph type="title"/>
          </p:nvPr>
        </p:nvSpPr>
        <p:spPr/>
        <p:txBody>
          <a:bodyPr>
            <a:normAutofit/>
          </a:bodyPr>
          <a:lstStyle/>
          <a:p>
            <a:r>
              <a:rPr lang="vi-VN">
                <a:cs typeface="Arial" charset="0"/>
              </a:rPr>
              <a:t>1.7. Cách thực hiện trên máy tính</a:t>
            </a:r>
            <a:endParaRPr lang="en-US"/>
          </a:p>
        </p:txBody>
      </p:sp>
    </p:spTree>
    <p:extLst>
      <p:ext uri="{BB962C8B-B14F-4D97-AF65-F5344CB8AC3E}">
        <p14:creationId xmlns:p14="http://schemas.microsoft.com/office/powerpoint/2010/main" val="21587950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38A57-45DC-C2DA-460F-5F68024E6DC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BC69716-FD39-7B92-AA3C-783DB6C36A5C}"/>
              </a:ext>
            </a:extLst>
          </p:cNvPr>
          <p:cNvSpPr>
            <a:spLocks noGrp="1"/>
          </p:cNvSpPr>
          <p:nvPr>
            <p:ph type="sldNum" sz="quarter" idx="10"/>
          </p:nvPr>
        </p:nvSpPr>
        <p:spPr/>
        <p:txBody>
          <a:bodyPr/>
          <a:lstStyle/>
          <a:p>
            <a:pPr>
              <a:defRPr/>
            </a:pPr>
            <a:fld id="{19807EA8-8FBD-444D-AB0A-46993DC0714C}" type="slidenum">
              <a:rPr lang="en-US"/>
              <a:pPr>
                <a:defRPr/>
              </a:pPr>
              <a:t>31</a:t>
            </a:fld>
            <a:endParaRPr lang="en-US"/>
          </a:p>
        </p:txBody>
      </p:sp>
      <p:sp>
        <p:nvSpPr>
          <p:cNvPr id="49156" name="Rectangle 2">
            <a:extLst>
              <a:ext uri="{FF2B5EF4-FFF2-40B4-BE49-F238E27FC236}">
                <a16:creationId xmlns:a16="http://schemas.microsoft.com/office/drawing/2014/main" id="{5E1192E4-46E2-860C-D82F-A2FBAF288131}"/>
              </a:ext>
            </a:extLst>
          </p:cNvPr>
          <p:cNvSpPr>
            <a:spLocks noGrp="1"/>
          </p:cNvSpPr>
          <p:nvPr>
            <p:ph type="title"/>
          </p:nvPr>
        </p:nvSpPr>
        <p:spPr/>
        <p:txBody>
          <a:bodyPr/>
          <a:lstStyle/>
          <a:p>
            <a:r>
              <a:rPr lang="vi-VN">
                <a:cs typeface="Arial" charset="0"/>
              </a:rPr>
              <a:t>1.8. Một số hàm chuẩn thường dùng</a:t>
            </a:r>
            <a:endParaRPr lang="en-US" dirty="0">
              <a:cs typeface="Arial" charset="0"/>
            </a:endParaRPr>
          </a:p>
        </p:txBody>
      </p:sp>
      <p:sp>
        <p:nvSpPr>
          <p:cNvPr id="3" name="Content Placeholder 2">
            <a:extLst>
              <a:ext uri="{FF2B5EF4-FFF2-40B4-BE49-F238E27FC236}">
                <a16:creationId xmlns:a16="http://schemas.microsoft.com/office/drawing/2014/main" id="{A64314E6-80C3-BC7F-E57C-902A9D923C80}"/>
              </a:ext>
            </a:extLst>
          </p:cNvPr>
          <p:cNvSpPr>
            <a:spLocks noGrp="1"/>
          </p:cNvSpPr>
          <p:nvPr>
            <p:ph idx="1"/>
          </p:nvPr>
        </p:nvSpPr>
        <p:spPr>
          <a:xfrm>
            <a:off x="914400" y="1066800"/>
            <a:ext cx="10439400" cy="3886200"/>
          </a:xfrm>
        </p:spPr>
        <p:txBody>
          <a:bodyPr>
            <a:normAutofit fontScale="92500"/>
          </a:bodyPr>
          <a:lstStyle/>
          <a:p>
            <a:pPr algn="just"/>
            <a:r>
              <a:rPr lang="vi-VN" sz="2400" b="0"/>
              <a:t>Ngôn ngữ C cung cấp thư viện hàm chuẩn (Standard Library) hỗ trợ sẵn nhiều chức năng thường dùng: nhập xuất, xử lý chuỗi, xử lý ký tự, toán học, quản lý bộ nhớ…</a:t>
            </a:r>
            <a:endParaRPr lang="en-US" sz="2400" b="0"/>
          </a:p>
          <a:p>
            <a:pPr algn="just"/>
            <a:r>
              <a:rPr lang="vi-VN" sz="2400" b="0"/>
              <a:t>Các thư viện chuẩn giúp lập trình viên giảm thời gian viết lại các hàm cơ bản.</a:t>
            </a:r>
            <a:endParaRPr lang="en-US" sz="2400" b="0"/>
          </a:p>
          <a:p>
            <a:pPr algn="just"/>
            <a:r>
              <a:rPr lang="en-US" sz="2400" b="0"/>
              <a:t>Một số thư viện thường dùng:</a:t>
            </a:r>
          </a:p>
          <a:p>
            <a:pPr lvl="1" algn="just"/>
            <a:r>
              <a:rPr lang="en-US" sz="2200">
                <a:solidFill>
                  <a:srgbClr val="C00000"/>
                </a:solidFill>
                <a:latin typeface="Courier New" panose="02070309020205020404" pitchFamily="49" charset="0"/>
                <a:cs typeface="Courier New" panose="02070309020205020404" pitchFamily="49" charset="0"/>
              </a:rPr>
              <a:t>&lt;stdio.h&gt;</a:t>
            </a:r>
          </a:p>
          <a:p>
            <a:pPr lvl="1" algn="just"/>
            <a:r>
              <a:rPr lang="en-US" sz="2200">
                <a:solidFill>
                  <a:srgbClr val="C00000"/>
                </a:solidFill>
                <a:latin typeface="Courier New" panose="02070309020205020404" pitchFamily="49" charset="0"/>
                <a:cs typeface="Courier New" panose="02070309020205020404" pitchFamily="49" charset="0"/>
              </a:rPr>
              <a:t>&lt;math.h&gt;</a:t>
            </a:r>
          </a:p>
          <a:p>
            <a:pPr lvl="1" algn="just"/>
            <a:r>
              <a:rPr lang="en-US" sz="2200">
                <a:solidFill>
                  <a:srgbClr val="C00000"/>
                </a:solidFill>
                <a:latin typeface="Courier New" panose="02070309020205020404" pitchFamily="49" charset="0"/>
                <a:cs typeface="Courier New" panose="02070309020205020404" pitchFamily="49" charset="0"/>
              </a:rPr>
              <a:t>&lt;string.h&gt;</a:t>
            </a:r>
          </a:p>
          <a:p>
            <a:pPr lvl="1" algn="just"/>
            <a:r>
              <a:rPr lang="en-US" sz="2200">
                <a:solidFill>
                  <a:srgbClr val="C00000"/>
                </a:solidFill>
                <a:latin typeface="Courier New" panose="02070309020205020404" pitchFamily="49" charset="0"/>
                <a:cs typeface="Courier New" panose="02070309020205020404" pitchFamily="49" charset="0"/>
              </a:rPr>
              <a:t>&lt;ctype.h&gt;</a:t>
            </a:r>
          </a:p>
          <a:p>
            <a:pPr lvl="1" algn="just"/>
            <a:r>
              <a:rPr lang="en-US" sz="2200">
                <a:solidFill>
                  <a:srgbClr val="C00000"/>
                </a:solidFill>
                <a:latin typeface="Courier New" panose="02070309020205020404" pitchFamily="49" charset="0"/>
                <a:cs typeface="Courier New" panose="02070309020205020404" pitchFamily="49" charset="0"/>
              </a:rPr>
              <a:t>&lt;</a:t>
            </a:r>
            <a:r>
              <a:rPr lang="vi-VN" sz="2200">
                <a:solidFill>
                  <a:srgbClr val="C00000"/>
                </a:solidFill>
                <a:latin typeface="Courier New" panose="02070309020205020404" pitchFamily="49" charset="0"/>
                <a:cs typeface="Courier New" panose="02070309020205020404" pitchFamily="49" charset="0"/>
              </a:rPr>
              <a:t>stdlib</a:t>
            </a:r>
            <a:r>
              <a:rPr lang="en-US" sz="2200">
                <a:solidFill>
                  <a:srgbClr val="C00000"/>
                </a:solidFill>
                <a:latin typeface="Courier New" panose="02070309020205020404" pitchFamily="49" charset="0"/>
                <a:cs typeface="Courier New" panose="02070309020205020404" pitchFamily="49" charset="0"/>
              </a:rPr>
              <a:t>.h&gt;</a:t>
            </a:r>
          </a:p>
          <a:p>
            <a:pPr algn="just"/>
            <a:endParaRPr lang="en-US" sz="2400" b="0"/>
          </a:p>
        </p:txBody>
      </p:sp>
    </p:spTree>
    <p:extLst>
      <p:ext uri="{BB962C8B-B14F-4D97-AF65-F5344CB8AC3E}">
        <p14:creationId xmlns:p14="http://schemas.microsoft.com/office/powerpoint/2010/main" val="302816479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55637-C09A-8E59-844E-CB8F460809A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D413A5-212C-B6EB-4304-DD681FBCEF5B}"/>
              </a:ext>
            </a:extLst>
          </p:cNvPr>
          <p:cNvSpPr>
            <a:spLocks noGrp="1"/>
          </p:cNvSpPr>
          <p:nvPr>
            <p:ph type="sldNum" sz="quarter" idx="10"/>
          </p:nvPr>
        </p:nvSpPr>
        <p:spPr/>
        <p:txBody>
          <a:bodyPr/>
          <a:lstStyle/>
          <a:p>
            <a:pPr>
              <a:defRPr/>
            </a:pPr>
            <a:fld id="{19807EA8-8FBD-444D-AB0A-46993DC0714C}" type="slidenum">
              <a:rPr lang="en-US"/>
              <a:pPr>
                <a:defRPr/>
              </a:pPr>
              <a:t>32</a:t>
            </a:fld>
            <a:endParaRPr lang="en-US"/>
          </a:p>
        </p:txBody>
      </p:sp>
      <p:sp>
        <p:nvSpPr>
          <p:cNvPr id="49156" name="Rectangle 2">
            <a:extLst>
              <a:ext uri="{FF2B5EF4-FFF2-40B4-BE49-F238E27FC236}">
                <a16:creationId xmlns:a16="http://schemas.microsoft.com/office/drawing/2014/main" id="{A9BAD0A4-7CEF-F437-2842-3A21B63EFE38}"/>
              </a:ext>
            </a:extLst>
          </p:cNvPr>
          <p:cNvSpPr>
            <a:spLocks noGrp="1"/>
          </p:cNvSpPr>
          <p:nvPr>
            <p:ph type="title"/>
          </p:nvPr>
        </p:nvSpPr>
        <p:spPr/>
        <p:txBody>
          <a:bodyPr/>
          <a:lstStyle/>
          <a:p>
            <a:r>
              <a:rPr lang="vi-VN">
                <a:cs typeface="Arial" charset="0"/>
              </a:rPr>
              <a:t>1.8. Một số hàm chuẩn thường dùng</a:t>
            </a:r>
            <a:endParaRPr lang="en-US" dirty="0">
              <a:cs typeface="Arial" charset="0"/>
            </a:endParaRPr>
          </a:p>
        </p:txBody>
      </p:sp>
      <p:sp>
        <p:nvSpPr>
          <p:cNvPr id="3" name="Content Placeholder 2">
            <a:extLst>
              <a:ext uri="{FF2B5EF4-FFF2-40B4-BE49-F238E27FC236}">
                <a16:creationId xmlns:a16="http://schemas.microsoft.com/office/drawing/2014/main" id="{E148E5E6-EB9A-3CC5-58AE-F9FFE364EB26}"/>
              </a:ext>
            </a:extLst>
          </p:cNvPr>
          <p:cNvSpPr>
            <a:spLocks noGrp="1"/>
          </p:cNvSpPr>
          <p:nvPr>
            <p:ph idx="1"/>
          </p:nvPr>
        </p:nvSpPr>
        <p:spPr>
          <a:xfrm>
            <a:off x="1066800" y="1295400"/>
            <a:ext cx="9753600" cy="3810000"/>
          </a:xfrm>
        </p:spPr>
        <p:txBody>
          <a:bodyPr>
            <a:normAutofit fontScale="92500" lnSpcReduction="20000"/>
          </a:bodyPr>
          <a:lstStyle/>
          <a:p>
            <a:pPr>
              <a:spcBef>
                <a:spcPts val="600"/>
              </a:spcBef>
              <a:spcAft>
                <a:spcPts val="600"/>
              </a:spcAft>
            </a:pPr>
            <a:r>
              <a:rPr lang="en-US" sz="2600"/>
              <a:t>Nhóm hàm nhập/xuất trong thư viện </a:t>
            </a:r>
            <a:r>
              <a:rPr lang="en-US" sz="2600">
                <a:solidFill>
                  <a:srgbClr val="C00000"/>
                </a:solidFill>
              </a:rPr>
              <a:t>&lt;stdio.h&gt; </a:t>
            </a:r>
          </a:p>
          <a:p>
            <a:pPr lvl="1">
              <a:spcBef>
                <a:spcPts val="600"/>
              </a:spcBef>
              <a:spcAft>
                <a:spcPts val="600"/>
              </a:spcAft>
            </a:pPr>
            <a:r>
              <a:rPr lang="en-US" sz="2400" b="0">
                <a:solidFill>
                  <a:srgbClr val="C00000"/>
                </a:solidFill>
              </a:rPr>
              <a:t>printf()</a:t>
            </a:r>
            <a:r>
              <a:rPr lang="en-US" sz="2400" b="0"/>
              <a:t>: In dữ liệu ra màn hình.</a:t>
            </a:r>
          </a:p>
          <a:p>
            <a:pPr lvl="1">
              <a:spcBef>
                <a:spcPts val="600"/>
              </a:spcBef>
              <a:spcAft>
                <a:spcPts val="600"/>
              </a:spcAft>
            </a:pPr>
            <a:r>
              <a:rPr lang="en-US" sz="2400" b="0">
                <a:solidFill>
                  <a:srgbClr val="C00000"/>
                </a:solidFill>
              </a:rPr>
              <a:t>scanf()</a:t>
            </a:r>
            <a:r>
              <a:rPr lang="en-US" sz="2400" b="0"/>
              <a:t>: Nhập dữ liệu từ bàn phím.</a:t>
            </a:r>
          </a:p>
          <a:p>
            <a:pPr lvl="1">
              <a:spcBef>
                <a:spcPts val="600"/>
              </a:spcBef>
              <a:spcAft>
                <a:spcPts val="600"/>
              </a:spcAft>
            </a:pPr>
            <a:r>
              <a:rPr lang="en-US" sz="2400" b="0">
                <a:solidFill>
                  <a:srgbClr val="C00000"/>
                </a:solidFill>
              </a:rPr>
              <a:t>gets()</a:t>
            </a:r>
            <a:r>
              <a:rPr lang="en-US" sz="2400" b="0"/>
              <a:t>: Nhập 1 dòng (khuyến nghị dùng fgets thay thế).</a:t>
            </a:r>
          </a:p>
          <a:p>
            <a:pPr lvl="1">
              <a:spcBef>
                <a:spcPts val="600"/>
              </a:spcBef>
              <a:spcAft>
                <a:spcPts val="600"/>
              </a:spcAft>
            </a:pPr>
            <a:r>
              <a:rPr lang="en-US" sz="2400" b="0">
                <a:solidFill>
                  <a:srgbClr val="C00000"/>
                </a:solidFill>
              </a:rPr>
              <a:t>fgets(): </a:t>
            </a:r>
            <a:r>
              <a:rPr lang="en-US" sz="2400" b="0"/>
              <a:t>Đọc chuỗi từ stream.</a:t>
            </a:r>
          </a:p>
          <a:p>
            <a:pPr lvl="1">
              <a:spcBef>
                <a:spcPts val="600"/>
              </a:spcBef>
              <a:spcAft>
                <a:spcPts val="600"/>
              </a:spcAft>
            </a:pPr>
            <a:r>
              <a:rPr lang="en-US" sz="2400" b="0">
                <a:solidFill>
                  <a:srgbClr val="C00000"/>
                </a:solidFill>
              </a:rPr>
              <a:t>puts()</a:t>
            </a:r>
            <a:r>
              <a:rPr lang="en-US" sz="2400" b="0"/>
              <a:t>: In chuỗi ra màn hình.</a:t>
            </a:r>
          </a:p>
          <a:p>
            <a:pPr lvl="1">
              <a:spcBef>
                <a:spcPts val="600"/>
              </a:spcBef>
              <a:spcAft>
                <a:spcPts val="600"/>
              </a:spcAft>
            </a:pPr>
            <a:r>
              <a:rPr lang="en-US" sz="2400" b="0">
                <a:solidFill>
                  <a:srgbClr val="C00000"/>
                </a:solidFill>
              </a:rPr>
              <a:t>getchar()/putchar(): </a:t>
            </a:r>
            <a:r>
              <a:rPr lang="en-US" sz="2400" b="0"/>
              <a:t>Đọc hoặc in một ký tự.</a:t>
            </a:r>
          </a:p>
          <a:p>
            <a:pPr lvl="1">
              <a:spcBef>
                <a:spcPts val="600"/>
              </a:spcBef>
              <a:spcAft>
                <a:spcPts val="600"/>
              </a:spcAft>
            </a:pPr>
            <a:r>
              <a:rPr lang="en-US" sz="2400" b="0">
                <a:solidFill>
                  <a:srgbClr val="C00000"/>
                </a:solidFill>
              </a:rPr>
              <a:t>fopen(), fclose(): </a:t>
            </a:r>
            <a:r>
              <a:rPr lang="en-US" sz="2400" b="0"/>
              <a:t>Mở/đóng file.</a:t>
            </a:r>
          </a:p>
          <a:p>
            <a:pPr lvl="1">
              <a:spcBef>
                <a:spcPts val="600"/>
              </a:spcBef>
              <a:spcAft>
                <a:spcPts val="600"/>
              </a:spcAft>
            </a:pPr>
            <a:r>
              <a:rPr lang="en-US" sz="2400" b="0">
                <a:solidFill>
                  <a:srgbClr val="C00000"/>
                </a:solidFill>
              </a:rPr>
              <a:t>fprintf(), fscanf(): </a:t>
            </a:r>
            <a:r>
              <a:rPr lang="en-US" sz="2400" b="0"/>
              <a:t>Ghi/đọc dữ liệu định dạng vào/ra file.</a:t>
            </a:r>
          </a:p>
        </p:txBody>
      </p:sp>
    </p:spTree>
    <p:extLst>
      <p:ext uri="{BB962C8B-B14F-4D97-AF65-F5344CB8AC3E}">
        <p14:creationId xmlns:p14="http://schemas.microsoft.com/office/powerpoint/2010/main" val="344729689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64D7D-56A7-31CD-0D9C-B9C029BBC99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9720092-6DE7-05D2-3BA6-EC4240E65780}"/>
              </a:ext>
            </a:extLst>
          </p:cNvPr>
          <p:cNvSpPr>
            <a:spLocks noGrp="1"/>
          </p:cNvSpPr>
          <p:nvPr>
            <p:ph type="sldNum" sz="quarter" idx="10"/>
          </p:nvPr>
        </p:nvSpPr>
        <p:spPr/>
        <p:txBody>
          <a:bodyPr/>
          <a:lstStyle/>
          <a:p>
            <a:pPr>
              <a:defRPr/>
            </a:pPr>
            <a:fld id="{19807EA8-8FBD-444D-AB0A-46993DC0714C}" type="slidenum">
              <a:rPr lang="en-US"/>
              <a:pPr>
                <a:defRPr/>
              </a:pPr>
              <a:t>33</a:t>
            </a:fld>
            <a:endParaRPr lang="en-US"/>
          </a:p>
        </p:txBody>
      </p:sp>
      <p:sp>
        <p:nvSpPr>
          <p:cNvPr id="49156" name="Rectangle 2">
            <a:extLst>
              <a:ext uri="{FF2B5EF4-FFF2-40B4-BE49-F238E27FC236}">
                <a16:creationId xmlns:a16="http://schemas.microsoft.com/office/drawing/2014/main" id="{BA86741E-5AA9-E210-C36D-9E3A0C0D21DB}"/>
              </a:ext>
            </a:extLst>
          </p:cNvPr>
          <p:cNvSpPr>
            <a:spLocks noGrp="1"/>
          </p:cNvSpPr>
          <p:nvPr>
            <p:ph type="title"/>
          </p:nvPr>
        </p:nvSpPr>
        <p:spPr/>
        <p:txBody>
          <a:bodyPr/>
          <a:lstStyle/>
          <a:p>
            <a:r>
              <a:rPr lang="vi-VN">
                <a:cs typeface="Arial" charset="0"/>
              </a:rPr>
              <a:t>1.8. Một số hàm chuẩn thường dùng</a:t>
            </a:r>
            <a:endParaRPr lang="en-US" dirty="0">
              <a:cs typeface="Arial" charset="0"/>
            </a:endParaRPr>
          </a:p>
        </p:txBody>
      </p:sp>
      <p:sp>
        <p:nvSpPr>
          <p:cNvPr id="3" name="Content Placeholder 2">
            <a:extLst>
              <a:ext uri="{FF2B5EF4-FFF2-40B4-BE49-F238E27FC236}">
                <a16:creationId xmlns:a16="http://schemas.microsoft.com/office/drawing/2014/main" id="{EBEDC984-8C6C-3F57-5C37-FE297C505C65}"/>
              </a:ext>
            </a:extLst>
          </p:cNvPr>
          <p:cNvSpPr>
            <a:spLocks noGrp="1"/>
          </p:cNvSpPr>
          <p:nvPr>
            <p:ph idx="1"/>
          </p:nvPr>
        </p:nvSpPr>
        <p:spPr>
          <a:xfrm>
            <a:off x="914400" y="1066800"/>
            <a:ext cx="9753600" cy="3810000"/>
          </a:xfrm>
        </p:spPr>
        <p:txBody>
          <a:bodyPr>
            <a:normAutofit/>
          </a:bodyPr>
          <a:lstStyle/>
          <a:p>
            <a:r>
              <a:rPr lang="en-US" sz="2600"/>
              <a:t>Nhóm hàm toán học trong thư viện </a:t>
            </a:r>
            <a:r>
              <a:rPr lang="en-US" sz="2600">
                <a:solidFill>
                  <a:srgbClr val="C00000"/>
                </a:solidFill>
              </a:rPr>
              <a:t>&lt;math.h&gt; </a:t>
            </a:r>
          </a:p>
          <a:p>
            <a:pPr lvl="1"/>
            <a:r>
              <a:rPr lang="vi-VN" sz="2400" b="0">
                <a:solidFill>
                  <a:srgbClr val="C00000"/>
                </a:solidFill>
              </a:rPr>
              <a:t>sqrt(x): </a:t>
            </a:r>
            <a:r>
              <a:rPr lang="vi-VN" sz="2400" b="0">
                <a:solidFill>
                  <a:srgbClr val="002060"/>
                </a:solidFill>
              </a:rPr>
              <a:t>Căn bậc hai</a:t>
            </a:r>
            <a:r>
              <a:rPr lang="vi-VN" sz="2400" b="0">
                <a:solidFill>
                  <a:srgbClr val="C00000"/>
                </a:solidFill>
              </a:rPr>
              <a:t>.</a:t>
            </a:r>
            <a:endParaRPr lang="en-US" sz="2400" b="0">
              <a:solidFill>
                <a:srgbClr val="C00000"/>
              </a:solidFill>
            </a:endParaRPr>
          </a:p>
          <a:p>
            <a:pPr lvl="1"/>
            <a:r>
              <a:rPr lang="vi-VN" sz="2400" b="0">
                <a:solidFill>
                  <a:srgbClr val="C00000"/>
                </a:solidFill>
              </a:rPr>
              <a:t>pow(x, y): </a:t>
            </a:r>
            <a:r>
              <a:rPr lang="vi-VN" sz="2400" b="0">
                <a:solidFill>
                  <a:srgbClr val="002060"/>
                </a:solidFill>
              </a:rPr>
              <a:t>x^y.</a:t>
            </a:r>
            <a:endParaRPr lang="en-US" sz="2400" b="0">
              <a:solidFill>
                <a:srgbClr val="002060"/>
              </a:solidFill>
            </a:endParaRPr>
          </a:p>
          <a:p>
            <a:pPr lvl="1"/>
            <a:r>
              <a:rPr lang="vi-VN" sz="2400" b="0">
                <a:solidFill>
                  <a:srgbClr val="C00000"/>
                </a:solidFill>
              </a:rPr>
              <a:t>abs(x)/fabs(x): </a:t>
            </a:r>
            <a:r>
              <a:rPr lang="vi-VN" sz="2400" b="0">
                <a:solidFill>
                  <a:srgbClr val="002060"/>
                </a:solidFill>
              </a:rPr>
              <a:t>Giá trị tuyệt đối</a:t>
            </a:r>
            <a:r>
              <a:rPr lang="vi-VN" sz="2400" b="0">
                <a:solidFill>
                  <a:srgbClr val="C00000"/>
                </a:solidFill>
              </a:rPr>
              <a:t>.</a:t>
            </a:r>
            <a:endParaRPr lang="en-US" sz="2400" b="0">
              <a:solidFill>
                <a:srgbClr val="C00000"/>
              </a:solidFill>
            </a:endParaRPr>
          </a:p>
          <a:p>
            <a:pPr lvl="1"/>
            <a:r>
              <a:rPr lang="vi-VN" sz="2400" b="0">
                <a:solidFill>
                  <a:srgbClr val="C00000"/>
                </a:solidFill>
              </a:rPr>
              <a:t>sin(x), cos(x), tan(x): </a:t>
            </a:r>
            <a:r>
              <a:rPr lang="vi-VN" sz="2400" b="0">
                <a:solidFill>
                  <a:srgbClr val="002060"/>
                </a:solidFill>
              </a:rPr>
              <a:t>Các hàm lượng giác.</a:t>
            </a:r>
            <a:endParaRPr lang="en-US" sz="2400" b="0">
              <a:solidFill>
                <a:srgbClr val="002060"/>
              </a:solidFill>
            </a:endParaRPr>
          </a:p>
          <a:p>
            <a:pPr lvl="1"/>
            <a:r>
              <a:rPr lang="vi-VN" sz="2400" b="0">
                <a:solidFill>
                  <a:srgbClr val="C00000"/>
                </a:solidFill>
              </a:rPr>
              <a:t>exp(x): </a:t>
            </a:r>
            <a:r>
              <a:rPr lang="vi-VN" sz="2400" b="0">
                <a:solidFill>
                  <a:srgbClr val="002060"/>
                </a:solidFill>
              </a:rPr>
              <a:t>e^x.</a:t>
            </a:r>
            <a:endParaRPr lang="en-US" sz="2400" b="0">
              <a:solidFill>
                <a:srgbClr val="002060"/>
              </a:solidFill>
            </a:endParaRPr>
          </a:p>
          <a:p>
            <a:pPr lvl="1"/>
            <a:r>
              <a:rPr lang="vi-VN" sz="2400" b="0">
                <a:solidFill>
                  <a:srgbClr val="C00000"/>
                </a:solidFill>
              </a:rPr>
              <a:t>log(x), log10(x): </a:t>
            </a:r>
            <a:r>
              <a:rPr lang="vi-VN" sz="2400" b="0">
                <a:solidFill>
                  <a:srgbClr val="002060"/>
                </a:solidFill>
              </a:rPr>
              <a:t>Logarit tự nhiên hoặc cơ số 10.</a:t>
            </a:r>
            <a:endParaRPr lang="en-US" sz="2400" b="0">
              <a:solidFill>
                <a:srgbClr val="002060"/>
              </a:solidFill>
            </a:endParaRPr>
          </a:p>
        </p:txBody>
      </p:sp>
    </p:spTree>
    <p:extLst>
      <p:ext uri="{BB962C8B-B14F-4D97-AF65-F5344CB8AC3E}">
        <p14:creationId xmlns:p14="http://schemas.microsoft.com/office/powerpoint/2010/main" val="4177563355"/>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60D09-C5BE-7557-91C6-691753410CB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E32F037-4642-98D9-A344-D29AD44C8B6E}"/>
              </a:ext>
            </a:extLst>
          </p:cNvPr>
          <p:cNvSpPr>
            <a:spLocks noGrp="1"/>
          </p:cNvSpPr>
          <p:nvPr>
            <p:ph type="sldNum" sz="quarter" idx="10"/>
          </p:nvPr>
        </p:nvSpPr>
        <p:spPr/>
        <p:txBody>
          <a:bodyPr/>
          <a:lstStyle/>
          <a:p>
            <a:pPr>
              <a:defRPr/>
            </a:pPr>
            <a:fld id="{19807EA8-8FBD-444D-AB0A-46993DC0714C}" type="slidenum">
              <a:rPr lang="en-US"/>
              <a:pPr>
                <a:defRPr/>
              </a:pPr>
              <a:t>34</a:t>
            </a:fld>
            <a:endParaRPr lang="en-US"/>
          </a:p>
        </p:txBody>
      </p:sp>
      <p:sp>
        <p:nvSpPr>
          <p:cNvPr id="49156" name="Rectangle 2">
            <a:extLst>
              <a:ext uri="{FF2B5EF4-FFF2-40B4-BE49-F238E27FC236}">
                <a16:creationId xmlns:a16="http://schemas.microsoft.com/office/drawing/2014/main" id="{28F70F67-8B84-1700-1011-FE113ED82701}"/>
              </a:ext>
            </a:extLst>
          </p:cNvPr>
          <p:cNvSpPr>
            <a:spLocks noGrp="1"/>
          </p:cNvSpPr>
          <p:nvPr>
            <p:ph type="title"/>
          </p:nvPr>
        </p:nvSpPr>
        <p:spPr/>
        <p:txBody>
          <a:bodyPr/>
          <a:lstStyle/>
          <a:p>
            <a:r>
              <a:rPr lang="vi-VN">
                <a:cs typeface="Arial" charset="0"/>
              </a:rPr>
              <a:t>1.8. Một số hàm chuẩn thường dùng</a:t>
            </a:r>
            <a:endParaRPr lang="en-US" dirty="0">
              <a:cs typeface="Arial" charset="0"/>
            </a:endParaRPr>
          </a:p>
        </p:txBody>
      </p:sp>
      <p:sp>
        <p:nvSpPr>
          <p:cNvPr id="3" name="Content Placeholder 2">
            <a:extLst>
              <a:ext uri="{FF2B5EF4-FFF2-40B4-BE49-F238E27FC236}">
                <a16:creationId xmlns:a16="http://schemas.microsoft.com/office/drawing/2014/main" id="{E670B0F2-5753-1664-E69A-B53F7B6D814B}"/>
              </a:ext>
            </a:extLst>
          </p:cNvPr>
          <p:cNvSpPr>
            <a:spLocks noGrp="1"/>
          </p:cNvSpPr>
          <p:nvPr>
            <p:ph idx="1"/>
          </p:nvPr>
        </p:nvSpPr>
        <p:spPr>
          <a:xfrm>
            <a:off x="914400" y="1066800"/>
            <a:ext cx="9753600" cy="3810000"/>
          </a:xfrm>
        </p:spPr>
        <p:txBody>
          <a:bodyPr>
            <a:normAutofit fontScale="92500" lnSpcReduction="10000"/>
          </a:bodyPr>
          <a:lstStyle/>
          <a:p>
            <a:r>
              <a:rPr lang="vi-VN" sz="2600"/>
              <a:t>Nhóm hàm xử lý chuỗi </a:t>
            </a:r>
            <a:r>
              <a:rPr lang="en-US" sz="2600"/>
              <a:t>trong </a:t>
            </a:r>
            <a:r>
              <a:rPr lang="vi-VN" sz="2600"/>
              <a:t>thư viện </a:t>
            </a:r>
            <a:r>
              <a:rPr lang="vi-VN" sz="2600">
                <a:solidFill>
                  <a:srgbClr val="C00000"/>
                </a:solidFill>
              </a:rPr>
              <a:t>&lt;string.h&gt;</a:t>
            </a:r>
            <a:r>
              <a:rPr lang="en-US" sz="2600">
                <a:solidFill>
                  <a:srgbClr val="C00000"/>
                </a:solidFill>
              </a:rPr>
              <a:t> </a:t>
            </a:r>
          </a:p>
          <a:p>
            <a:pPr lvl="1"/>
            <a:r>
              <a:rPr lang="vi-VN" sz="2400" b="0">
                <a:solidFill>
                  <a:srgbClr val="C00000"/>
                </a:solidFill>
              </a:rPr>
              <a:t>trlen(str): </a:t>
            </a:r>
            <a:r>
              <a:rPr lang="vi-VN" sz="2600" b="0"/>
              <a:t>Trả về độ dài chuỗi.</a:t>
            </a:r>
            <a:endParaRPr lang="en-US" sz="2600" b="0"/>
          </a:p>
          <a:p>
            <a:pPr lvl="1"/>
            <a:r>
              <a:rPr lang="vi-VN" sz="2400" b="0">
                <a:solidFill>
                  <a:srgbClr val="C00000"/>
                </a:solidFill>
              </a:rPr>
              <a:t>strcpy(dest, src): </a:t>
            </a:r>
            <a:r>
              <a:rPr lang="vi-VN" sz="2600" b="0"/>
              <a:t>Sao chép chuỗi.</a:t>
            </a:r>
            <a:endParaRPr lang="en-US" sz="2600" b="0"/>
          </a:p>
          <a:p>
            <a:pPr lvl="1"/>
            <a:r>
              <a:rPr lang="vi-VN" sz="2400" b="0">
                <a:solidFill>
                  <a:srgbClr val="C00000"/>
                </a:solidFill>
              </a:rPr>
              <a:t>strncpy(dest, src, n): </a:t>
            </a:r>
            <a:r>
              <a:rPr lang="vi-VN" sz="2600" b="0"/>
              <a:t>Sao chép n ký tự.</a:t>
            </a:r>
            <a:endParaRPr lang="en-US" sz="2600" b="0"/>
          </a:p>
          <a:p>
            <a:pPr lvl="1"/>
            <a:r>
              <a:rPr lang="vi-VN" sz="2400" b="0">
                <a:solidFill>
                  <a:srgbClr val="C00000"/>
                </a:solidFill>
              </a:rPr>
              <a:t>strcat(dest, src): </a:t>
            </a:r>
            <a:r>
              <a:rPr lang="vi-VN" sz="2600" b="0"/>
              <a:t>Nối chuỗi.</a:t>
            </a:r>
            <a:endParaRPr lang="en-US" sz="2600" b="0"/>
          </a:p>
          <a:p>
            <a:pPr lvl="1"/>
            <a:r>
              <a:rPr lang="vi-VN" sz="2400" b="0">
                <a:solidFill>
                  <a:srgbClr val="C00000"/>
                </a:solidFill>
              </a:rPr>
              <a:t>strcmp(str1, str2): </a:t>
            </a:r>
            <a:r>
              <a:rPr lang="vi-VN" sz="2600" b="0"/>
              <a:t>So sánh chuỗi.</a:t>
            </a:r>
            <a:endParaRPr lang="en-US" sz="2600" b="0"/>
          </a:p>
          <a:p>
            <a:pPr lvl="1"/>
            <a:r>
              <a:rPr lang="vi-VN" sz="2400" b="0">
                <a:solidFill>
                  <a:srgbClr val="C00000"/>
                </a:solidFill>
              </a:rPr>
              <a:t>strchr(str, c): </a:t>
            </a:r>
            <a:r>
              <a:rPr lang="vi-VN" b="0"/>
              <a:t>Tìm ký tự c trong chuỗi.</a:t>
            </a:r>
            <a:endParaRPr lang="en-US" b="0"/>
          </a:p>
          <a:p>
            <a:pPr lvl="1"/>
            <a:r>
              <a:rPr lang="vi-VN" sz="2400" b="0">
                <a:solidFill>
                  <a:srgbClr val="C00000"/>
                </a:solidFill>
              </a:rPr>
              <a:t>strstr(str, sub): </a:t>
            </a:r>
            <a:r>
              <a:rPr lang="vi-VN" b="0"/>
              <a:t>Tìm chuỗi con trong chuỗi lớn.</a:t>
            </a:r>
            <a:endParaRPr lang="en-US" b="0"/>
          </a:p>
          <a:p>
            <a:pPr lvl="1"/>
            <a:r>
              <a:rPr lang="vi-VN" sz="2400" b="0">
                <a:solidFill>
                  <a:srgbClr val="C00000"/>
                </a:solidFill>
              </a:rPr>
              <a:t>memcpy(dest, src, n): </a:t>
            </a:r>
            <a:r>
              <a:rPr lang="vi-VN" b="0"/>
              <a:t>Sao chép n byte bộ nhớ.</a:t>
            </a:r>
            <a:endParaRPr lang="en-US" b="0"/>
          </a:p>
        </p:txBody>
      </p:sp>
    </p:spTree>
    <p:extLst>
      <p:ext uri="{BB962C8B-B14F-4D97-AF65-F5344CB8AC3E}">
        <p14:creationId xmlns:p14="http://schemas.microsoft.com/office/powerpoint/2010/main" val="3009138771"/>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F76A8-C274-2634-F1B7-ACE72061D82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B53D284-AD62-D11A-C9A4-7D66F7371AC0}"/>
              </a:ext>
            </a:extLst>
          </p:cNvPr>
          <p:cNvSpPr>
            <a:spLocks noGrp="1"/>
          </p:cNvSpPr>
          <p:nvPr>
            <p:ph type="sldNum" sz="quarter" idx="10"/>
          </p:nvPr>
        </p:nvSpPr>
        <p:spPr/>
        <p:txBody>
          <a:bodyPr/>
          <a:lstStyle/>
          <a:p>
            <a:pPr>
              <a:defRPr/>
            </a:pPr>
            <a:fld id="{19807EA8-8FBD-444D-AB0A-46993DC0714C}" type="slidenum">
              <a:rPr lang="en-US"/>
              <a:pPr>
                <a:defRPr/>
              </a:pPr>
              <a:t>35</a:t>
            </a:fld>
            <a:endParaRPr lang="en-US"/>
          </a:p>
        </p:txBody>
      </p:sp>
      <p:sp>
        <p:nvSpPr>
          <p:cNvPr id="49156" name="Rectangle 2">
            <a:extLst>
              <a:ext uri="{FF2B5EF4-FFF2-40B4-BE49-F238E27FC236}">
                <a16:creationId xmlns:a16="http://schemas.microsoft.com/office/drawing/2014/main" id="{62C4306D-E98F-E801-3CD3-82853A89C8AE}"/>
              </a:ext>
            </a:extLst>
          </p:cNvPr>
          <p:cNvSpPr>
            <a:spLocks noGrp="1"/>
          </p:cNvSpPr>
          <p:nvPr>
            <p:ph type="title"/>
          </p:nvPr>
        </p:nvSpPr>
        <p:spPr/>
        <p:txBody>
          <a:bodyPr/>
          <a:lstStyle/>
          <a:p>
            <a:r>
              <a:rPr lang="vi-VN">
                <a:cs typeface="Arial" charset="0"/>
              </a:rPr>
              <a:t>1.8. Một số hàm chuẩn thường dùng</a:t>
            </a:r>
            <a:endParaRPr lang="en-US" dirty="0">
              <a:cs typeface="Arial" charset="0"/>
            </a:endParaRPr>
          </a:p>
        </p:txBody>
      </p:sp>
      <p:sp>
        <p:nvSpPr>
          <p:cNvPr id="3" name="Content Placeholder 2">
            <a:extLst>
              <a:ext uri="{FF2B5EF4-FFF2-40B4-BE49-F238E27FC236}">
                <a16:creationId xmlns:a16="http://schemas.microsoft.com/office/drawing/2014/main" id="{A4CEA8D0-7EDE-6EF4-F470-68325F336CCD}"/>
              </a:ext>
            </a:extLst>
          </p:cNvPr>
          <p:cNvSpPr>
            <a:spLocks noGrp="1"/>
          </p:cNvSpPr>
          <p:nvPr>
            <p:ph idx="1"/>
          </p:nvPr>
        </p:nvSpPr>
        <p:spPr>
          <a:xfrm>
            <a:off x="914400" y="1066800"/>
            <a:ext cx="9753600" cy="3810000"/>
          </a:xfrm>
        </p:spPr>
        <p:txBody>
          <a:bodyPr>
            <a:normAutofit/>
          </a:bodyPr>
          <a:lstStyle/>
          <a:p>
            <a:r>
              <a:rPr lang="vi-VN" sz="2600"/>
              <a:t>Nhóm hàm xử lý </a:t>
            </a:r>
            <a:r>
              <a:rPr lang="en-US" sz="2600"/>
              <a:t>ký tự trong thư viện </a:t>
            </a:r>
            <a:r>
              <a:rPr lang="vi-VN" sz="2600">
                <a:solidFill>
                  <a:srgbClr val="C00000"/>
                </a:solidFill>
              </a:rPr>
              <a:t>&lt;</a:t>
            </a:r>
            <a:r>
              <a:rPr lang="en-US" sz="2600">
                <a:solidFill>
                  <a:srgbClr val="C00000"/>
                </a:solidFill>
              </a:rPr>
              <a:t>ctype</a:t>
            </a:r>
            <a:r>
              <a:rPr lang="vi-VN" sz="2600">
                <a:solidFill>
                  <a:srgbClr val="C00000"/>
                </a:solidFill>
              </a:rPr>
              <a:t>.h&gt;</a:t>
            </a:r>
            <a:r>
              <a:rPr lang="en-US" sz="2600">
                <a:solidFill>
                  <a:srgbClr val="C00000"/>
                </a:solidFill>
              </a:rPr>
              <a:t> </a:t>
            </a:r>
          </a:p>
          <a:p>
            <a:pPr lvl="1"/>
            <a:r>
              <a:rPr lang="vi-VN" sz="2400" b="0">
                <a:solidFill>
                  <a:srgbClr val="C00000"/>
                </a:solidFill>
              </a:rPr>
              <a:t>isalpha(c): </a:t>
            </a:r>
            <a:r>
              <a:rPr lang="vi-VN" sz="2400" b="0">
                <a:solidFill>
                  <a:srgbClr val="002060"/>
                </a:solidFill>
              </a:rPr>
              <a:t>Kiểm tra có phải chữ cái.</a:t>
            </a:r>
            <a:endParaRPr lang="en-US" sz="2400" b="0">
              <a:solidFill>
                <a:srgbClr val="002060"/>
              </a:solidFill>
            </a:endParaRPr>
          </a:p>
          <a:p>
            <a:pPr lvl="1"/>
            <a:r>
              <a:rPr lang="vi-VN" sz="2400" b="0">
                <a:solidFill>
                  <a:srgbClr val="C00000"/>
                </a:solidFill>
              </a:rPr>
              <a:t>isdigit(c): </a:t>
            </a:r>
            <a:r>
              <a:rPr lang="vi-VN" sz="2400" b="0">
                <a:solidFill>
                  <a:srgbClr val="002060"/>
                </a:solidFill>
              </a:rPr>
              <a:t>Kiểm tra có phải chữ số.</a:t>
            </a:r>
            <a:endParaRPr lang="en-US" sz="2400" b="0">
              <a:solidFill>
                <a:srgbClr val="002060"/>
              </a:solidFill>
            </a:endParaRPr>
          </a:p>
          <a:p>
            <a:pPr lvl="1"/>
            <a:r>
              <a:rPr lang="vi-VN" sz="2400" b="0">
                <a:solidFill>
                  <a:srgbClr val="C00000"/>
                </a:solidFill>
              </a:rPr>
              <a:t>isalnum(c): </a:t>
            </a:r>
            <a:r>
              <a:rPr lang="vi-VN" sz="2400" b="0">
                <a:solidFill>
                  <a:srgbClr val="002060"/>
                </a:solidFill>
              </a:rPr>
              <a:t>Chữ hoặc số.</a:t>
            </a:r>
            <a:endParaRPr lang="en-US" sz="2400" b="0">
              <a:solidFill>
                <a:srgbClr val="002060"/>
              </a:solidFill>
            </a:endParaRPr>
          </a:p>
          <a:p>
            <a:pPr lvl="1"/>
            <a:r>
              <a:rPr lang="vi-VN" sz="2400" b="0">
                <a:solidFill>
                  <a:srgbClr val="C00000"/>
                </a:solidFill>
              </a:rPr>
              <a:t>isspace(c): </a:t>
            </a:r>
            <a:r>
              <a:rPr lang="vi-VN" sz="2400" b="0">
                <a:solidFill>
                  <a:srgbClr val="002060"/>
                </a:solidFill>
              </a:rPr>
              <a:t>Khoảng trắng.</a:t>
            </a:r>
            <a:endParaRPr lang="en-US" sz="2400" b="0">
              <a:solidFill>
                <a:srgbClr val="002060"/>
              </a:solidFill>
            </a:endParaRPr>
          </a:p>
          <a:p>
            <a:pPr lvl="1"/>
            <a:r>
              <a:rPr lang="vi-VN" sz="2400" b="0">
                <a:solidFill>
                  <a:srgbClr val="C00000"/>
                </a:solidFill>
              </a:rPr>
              <a:t>toupper(c): </a:t>
            </a:r>
            <a:r>
              <a:rPr lang="vi-VN" sz="2400" b="0">
                <a:solidFill>
                  <a:srgbClr val="002060"/>
                </a:solidFill>
              </a:rPr>
              <a:t>Chuyển chữ thường sang chữ hoa.</a:t>
            </a:r>
            <a:endParaRPr lang="en-US" sz="2400" b="0">
              <a:solidFill>
                <a:srgbClr val="002060"/>
              </a:solidFill>
            </a:endParaRPr>
          </a:p>
          <a:p>
            <a:pPr lvl="1"/>
            <a:r>
              <a:rPr lang="vi-VN" sz="2400" b="0">
                <a:solidFill>
                  <a:srgbClr val="C00000"/>
                </a:solidFill>
              </a:rPr>
              <a:t>tolower(c): </a:t>
            </a:r>
            <a:r>
              <a:rPr lang="vi-VN" sz="2400" b="0">
                <a:solidFill>
                  <a:srgbClr val="002060"/>
                </a:solidFill>
              </a:rPr>
              <a:t>Chuyển chữ hoa sang chữ thường.</a:t>
            </a:r>
            <a:endParaRPr lang="en-US" b="0">
              <a:solidFill>
                <a:srgbClr val="002060"/>
              </a:solidFill>
            </a:endParaRPr>
          </a:p>
        </p:txBody>
      </p:sp>
    </p:spTree>
    <p:extLst>
      <p:ext uri="{BB962C8B-B14F-4D97-AF65-F5344CB8AC3E}">
        <p14:creationId xmlns:p14="http://schemas.microsoft.com/office/powerpoint/2010/main" val="2016964213"/>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BE434-2C60-D0EF-9FD5-2C4640129B8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8394399-9169-6F06-0255-CCFFA203B807}"/>
              </a:ext>
            </a:extLst>
          </p:cNvPr>
          <p:cNvSpPr>
            <a:spLocks noGrp="1"/>
          </p:cNvSpPr>
          <p:nvPr>
            <p:ph type="sldNum" sz="quarter" idx="10"/>
          </p:nvPr>
        </p:nvSpPr>
        <p:spPr/>
        <p:txBody>
          <a:bodyPr/>
          <a:lstStyle/>
          <a:p>
            <a:pPr>
              <a:defRPr/>
            </a:pPr>
            <a:fld id="{19807EA8-8FBD-444D-AB0A-46993DC0714C}" type="slidenum">
              <a:rPr lang="en-US"/>
              <a:pPr>
                <a:defRPr/>
              </a:pPr>
              <a:t>36</a:t>
            </a:fld>
            <a:endParaRPr lang="en-US"/>
          </a:p>
        </p:txBody>
      </p:sp>
      <p:sp>
        <p:nvSpPr>
          <p:cNvPr id="49156" name="Rectangle 2">
            <a:extLst>
              <a:ext uri="{FF2B5EF4-FFF2-40B4-BE49-F238E27FC236}">
                <a16:creationId xmlns:a16="http://schemas.microsoft.com/office/drawing/2014/main" id="{A79950FF-175F-E4B9-7B4C-C965B58012BB}"/>
              </a:ext>
            </a:extLst>
          </p:cNvPr>
          <p:cNvSpPr>
            <a:spLocks noGrp="1"/>
          </p:cNvSpPr>
          <p:nvPr>
            <p:ph type="title"/>
          </p:nvPr>
        </p:nvSpPr>
        <p:spPr/>
        <p:txBody>
          <a:bodyPr/>
          <a:lstStyle/>
          <a:p>
            <a:r>
              <a:rPr lang="vi-VN">
                <a:cs typeface="Arial" charset="0"/>
              </a:rPr>
              <a:t>1.8. Một số hàm chuẩn thường dùng</a:t>
            </a:r>
            <a:endParaRPr lang="en-US" dirty="0">
              <a:cs typeface="Arial" charset="0"/>
            </a:endParaRPr>
          </a:p>
        </p:txBody>
      </p:sp>
      <p:sp>
        <p:nvSpPr>
          <p:cNvPr id="3" name="Content Placeholder 2">
            <a:extLst>
              <a:ext uri="{FF2B5EF4-FFF2-40B4-BE49-F238E27FC236}">
                <a16:creationId xmlns:a16="http://schemas.microsoft.com/office/drawing/2014/main" id="{9615DBD2-DC23-6DD3-C5B0-3A3DFA45346C}"/>
              </a:ext>
            </a:extLst>
          </p:cNvPr>
          <p:cNvSpPr>
            <a:spLocks noGrp="1"/>
          </p:cNvSpPr>
          <p:nvPr>
            <p:ph idx="1"/>
          </p:nvPr>
        </p:nvSpPr>
        <p:spPr>
          <a:xfrm>
            <a:off x="914400" y="1066800"/>
            <a:ext cx="9753600" cy="3810000"/>
          </a:xfrm>
        </p:spPr>
        <p:txBody>
          <a:bodyPr>
            <a:normAutofit/>
          </a:bodyPr>
          <a:lstStyle/>
          <a:p>
            <a:r>
              <a:rPr lang="vi-VN" sz="2600"/>
              <a:t>Nhóm hàm </a:t>
            </a:r>
            <a:r>
              <a:rPr lang="en-US" sz="2600"/>
              <a:t>quản lý bộ nhớ trong thư viện </a:t>
            </a:r>
            <a:r>
              <a:rPr lang="vi-VN" sz="2600">
                <a:solidFill>
                  <a:srgbClr val="C00000"/>
                </a:solidFill>
              </a:rPr>
              <a:t>&lt;stdlib.h&gt;</a:t>
            </a:r>
            <a:endParaRPr lang="en-US" sz="2600">
              <a:solidFill>
                <a:srgbClr val="C00000"/>
              </a:solidFill>
            </a:endParaRPr>
          </a:p>
          <a:p>
            <a:pPr lvl="1"/>
            <a:r>
              <a:rPr lang="vi-VN" sz="2400" b="0">
                <a:solidFill>
                  <a:srgbClr val="C00000"/>
                </a:solidFill>
              </a:rPr>
              <a:t>malloc(size): </a:t>
            </a:r>
            <a:r>
              <a:rPr lang="vi-VN" sz="2400" b="0">
                <a:solidFill>
                  <a:srgbClr val="002060"/>
                </a:solidFill>
              </a:rPr>
              <a:t>Cấp phát bộ nhớ động.</a:t>
            </a:r>
            <a:endParaRPr lang="en-US" sz="2400" b="0">
              <a:solidFill>
                <a:srgbClr val="002060"/>
              </a:solidFill>
            </a:endParaRPr>
          </a:p>
          <a:p>
            <a:pPr lvl="1"/>
            <a:r>
              <a:rPr lang="vi-VN" sz="2400" b="0">
                <a:solidFill>
                  <a:srgbClr val="C00000"/>
                </a:solidFill>
              </a:rPr>
              <a:t>calloc(n, size): </a:t>
            </a:r>
            <a:r>
              <a:rPr lang="vi-VN" sz="2400" b="0">
                <a:solidFill>
                  <a:srgbClr val="002060"/>
                </a:solidFill>
              </a:rPr>
              <a:t>Cấp phát bộ nhớ động cho n phần tử.</a:t>
            </a:r>
            <a:endParaRPr lang="en-US" sz="2400" b="0">
              <a:solidFill>
                <a:srgbClr val="002060"/>
              </a:solidFill>
            </a:endParaRPr>
          </a:p>
          <a:p>
            <a:pPr lvl="1"/>
            <a:r>
              <a:rPr lang="vi-VN" sz="2400" b="0">
                <a:solidFill>
                  <a:srgbClr val="C00000"/>
                </a:solidFill>
              </a:rPr>
              <a:t>realloc(ptr, new_size): </a:t>
            </a:r>
            <a:r>
              <a:rPr lang="vi-VN" sz="2400" b="0">
                <a:solidFill>
                  <a:srgbClr val="002060"/>
                </a:solidFill>
              </a:rPr>
              <a:t>Thay đổi kích thước vùng nhớ.</a:t>
            </a:r>
            <a:endParaRPr lang="en-US" sz="2400" b="0">
              <a:solidFill>
                <a:srgbClr val="002060"/>
              </a:solidFill>
            </a:endParaRPr>
          </a:p>
          <a:p>
            <a:pPr lvl="1"/>
            <a:r>
              <a:rPr lang="vi-VN" sz="2400" b="0">
                <a:solidFill>
                  <a:srgbClr val="C00000"/>
                </a:solidFill>
              </a:rPr>
              <a:t>free(ptr): </a:t>
            </a:r>
            <a:r>
              <a:rPr lang="vi-VN" sz="2400" b="0">
                <a:solidFill>
                  <a:srgbClr val="002060"/>
                </a:solidFill>
              </a:rPr>
              <a:t>Giải phóng bộ nhớ.</a:t>
            </a:r>
            <a:endParaRPr lang="en-US" sz="2400" b="0">
              <a:solidFill>
                <a:srgbClr val="002060"/>
              </a:solidFill>
            </a:endParaRPr>
          </a:p>
          <a:p>
            <a:pPr lvl="1"/>
            <a:r>
              <a:rPr lang="vi-VN" sz="2400" b="0">
                <a:solidFill>
                  <a:srgbClr val="C00000"/>
                </a:solidFill>
              </a:rPr>
              <a:t>exit(status): </a:t>
            </a:r>
            <a:r>
              <a:rPr lang="vi-VN" sz="2400" b="0">
                <a:solidFill>
                  <a:srgbClr val="002060"/>
                </a:solidFill>
              </a:rPr>
              <a:t>Kết thúc chương trình.</a:t>
            </a:r>
            <a:endParaRPr lang="en-US" sz="2400" b="0">
              <a:solidFill>
                <a:srgbClr val="002060"/>
              </a:solidFill>
            </a:endParaRPr>
          </a:p>
          <a:p>
            <a:pPr lvl="1"/>
            <a:r>
              <a:rPr lang="vi-VN" sz="2400" b="0">
                <a:solidFill>
                  <a:srgbClr val="C00000"/>
                </a:solidFill>
              </a:rPr>
              <a:t>atoi(str), atof(str), atol(str): </a:t>
            </a:r>
            <a:r>
              <a:rPr lang="vi-VN" sz="2400" b="0">
                <a:solidFill>
                  <a:srgbClr val="002060"/>
                </a:solidFill>
              </a:rPr>
              <a:t>Chuyển chuỗi sang số nguyên/thực.</a:t>
            </a:r>
            <a:endParaRPr lang="en-US" b="0">
              <a:solidFill>
                <a:srgbClr val="002060"/>
              </a:solidFill>
            </a:endParaRPr>
          </a:p>
        </p:txBody>
      </p:sp>
    </p:spTree>
    <p:extLst>
      <p:ext uri="{BB962C8B-B14F-4D97-AF65-F5344CB8AC3E}">
        <p14:creationId xmlns:p14="http://schemas.microsoft.com/office/powerpoint/2010/main" val="245956773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6" name="TextBox 5">
            <a:extLst>
              <a:ext uri="{FF2B5EF4-FFF2-40B4-BE49-F238E27FC236}">
                <a16:creationId xmlns:a16="http://schemas.microsoft.com/office/drawing/2014/main" id="{8744FD24-FFC5-F1B1-6FCB-9ACD4BBA9401}"/>
              </a:ext>
            </a:extLst>
          </p:cNvPr>
          <p:cNvSpPr txBox="1"/>
          <p:nvPr/>
        </p:nvSpPr>
        <p:spPr>
          <a:xfrm>
            <a:off x="3657600" y="3398520"/>
            <a:ext cx="5334000" cy="830997"/>
          </a:xfrm>
          <a:prstGeom prst="rect">
            <a:avLst/>
          </a:prstGeom>
          <a:noFill/>
        </p:spPr>
        <p:txBody>
          <a:bodyPr wrap="square" rtlCol="0">
            <a:spAutoFit/>
          </a:bodyPr>
          <a:lstStyle/>
          <a:p>
            <a:r>
              <a:rPr lang="en-US" sz="4800" b="1" i="1" dirty="0" err="1">
                <a:solidFill>
                  <a:schemeClr val="tx2"/>
                </a:solidFill>
              </a:rPr>
              <a:t>Trân</a:t>
            </a:r>
            <a:r>
              <a:rPr lang="en-US" sz="4800" b="1" i="1" dirty="0">
                <a:solidFill>
                  <a:schemeClr val="tx2"/>
                </a:solidFill>
              </a:rPr>
              <a:t> </a:t>
            </a:r>
            <a:r>
              <a:rPr lang="en-US" sz="4800" b="1" i="1" dirty="0" err="1">
                <a:solidFill>
                  <a:schemeClr val="tx2"/>
                </a:solidFill>
              </a:rPr>
              <a:t>trọng</a:t>
            </a:r>
            <a:r>
              <a:rPr lang="en-US" sz="4800" b="1" i="1" dirty="0">
                <a:solidFill>
                  <a:schemeClr val="tx2"/>
                </a:solidFill>
              </a:rPr>
              <a:t> </a:t>
            </a:r>
            <a:r>
              <a:rPr lang="en-US" sz="4800" b="1" i="1" dirty="0" err="1">
                <a:solidFill>
                  <a:schemeClr val="tx2"/>
                </a:solidFill>
              </a:rPr>
              <a:t>cảm</a:t>
            </a:r>
            <a:r>
              <a:rPr lang="en-US" sz="4800" b="1" i="1" dirty="0">
                <a:solidFill>
                  <a:schemeClr val="tx2"/>
                </a:solidFill>
              </a:rPr>
              <a:t> </a:t>
            </a:r>
            <a:r>
              <a:rPr lang="en-US" sz="4800" b="1" i="1" dirty="0" err="1">
                <a:solidFill>
                  <a:schemeClr val="tx2"/>
                </a:solidFill>
              </a:rPr>
              <a:t>ơn</a:t>
            </a:r>
            <a:r>
              <a:rPr lang="en-US" sz="4800" b="1" i="1" dirty="0">
                <a:solidFill>
                  <a:schemeClr val="tx2"/>
                </a:solidFill>
              </a:rPr>
              <a:t>!</a:t>
            </a:r>
          </a:p>
        </p:txBody>
      </p:sp>
      <p:pic>
        <p:nvPicPr>
          <p:cNvPr id="7" name="Picture 6"/>
          <p:cNvPicPr>
            <a:picLocks noChangeAspect="1"/>
          </p:cNvPicPr>
          <p:nvPr/>
        </p:nvPicPr>
        <p:blipFill rotWithShape="1">
          <a:blip r:embed="rId3" cstate="print">
            <a:clrChange>
              <a:clrFrom>
                <a:srgbClr val="F6F6F8"/>
              </a:clrFrom>
              <a:clrTo>
                <a:srgbClr val="F6F6F8">
                  <a:alpha val="0"/>
                </a:srgbClr>
              </a:clrTo>
            </a:clrChange>
            <a:extLst>
              <a:ext uri="{28A0092B-C50C-407E-A947-70E740481C1C}">
                <a14:useLocalDpi xmlns:a14="http://schemas.microsoft.com/office/drawing/2010/main" val="0"/>
              </a:ext>
            </a:extLst>
          </a:blip>
          <a:srcRect t="4913" r="19167" b="79626"/>
          <a:stretch/>
        </p:blipFill>
        <p:spPr>
          <a:xfrm>
            <a:off x="152400" y="685800"/>
            <a:ext cx="7010400" cy="1040859"/>
          </a:xfrm>
          <a:prstGeom prst="rect">
            <a:avLst/>
          </a:prstGeom>
        </p:spPr>
      </p:pic>
    </p:spTree>
    <p:extLst>
      <p:ext uri="{BB962C8B-B14F-4D97-AF65-F5344CB8AC3E}">
        <p14:creationId xmlns:p14="http://schemas.microsoft.com/office/powerpoint/2010/main" val="20420320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marL="91440" marR="3573779" indent="182880" algn="just">
          <a:spcBef>
            <a:spcPts val="600"/>
          </a:spcBef>
          <a:buClr>
            <a:srgbClr val="FF0000"/>
          </a:buClr>
          <a:buSzPct val="54166"/>
          <a:buFont typeface="Wingdings"/>
          <a:buChar char="◼"/>
          <a:tabLst>
            <a:tab pos="286385" algn="l"/>
            <a:tab pos="756920" algn="l"/>
          </a:tabLst>
          <a:defRPr sz="2400" smtClean="0">
            <a:latin typeface="Abadi" panose="020B0604020104020204" pitchFamily="34" charset="0"/>
            <a:cs typeface="Times New Roman"/>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26961</TotalTime>
  <Words>3423</Words>
  <Application>Microsoft Office PowerPoint</Application>
  <PresentationFormat>Widescreen</PresentationFormat>
  <Paragraphs>378</Paragraphs>
  <Slides>37</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Cambria</vt:lpstr>
      <vt:lpstr>Courier New</vt:lpstr>
      <vt:lpstr>Myriad Pro</vt:lpstr>
      <vt:lpstr>Wingdings</vt:lpstr>
      <vt:lpstr>Office Theme</vt:lpstr>
      <vt:lpstr>PowerPoint Presentation</vt:lpstr>
      <vt:lpstr>GIỚI THIỆU HỌC PHẦN</vt:lpstr>
      <vt:lpstr>NỘI DUNG: Chương 1. Cơ bản về ngôn ngữ lập trình C Chương 2. Các kiểu dữ liệu Chương 3. Các lệnh điều khiển Chương 4. Hàm và tổ chức chương trình Chương 5. Cấu trúc Chương 6. Nhập xuất dữ liệu trên tệp  </vt:lpstr>
      <vt:lpstr>GIỚI THIỆU HỌC PHẦN</vt:lpstr>
      <vt:lpstr>GIỚI THIỆU HỌC PHẦN</vt:lpstr>
      <vt:lpstr>CƠ BẢN VỀ NGÔN NGỮ LẬP TÌNH C 1.1. Tập ký tự 1.2. Tên 1.3. Một số khái niệm  1.4. Cấu trúc một chương trình C đơn giản 1.5. Một số chương trình ví dụ 1.6. Một số quy tắc cần nhớ khi viết chương trình 1.7. Cách thực hiện trên máy tính 1.8. Một số hàm chuẩn thường dùng  </vt:lpstr>
      <vt:lpstr>1.1 Tập ký tự</vt:lpstr>
      <vt:lpstr>1.1 Tập ký tự</vt:lpstr>
      <vt:lpstr>1.1 Tập ký tự</vt:lpstr>
      <vt:lpstr>1.1 Tập ký tự</vt:lpstr>
      <vt:lpstr>1.2. Tên</vt:lpstr>
      <vt:lpstr>1.2. Tên</vt:lpstr>
      <vt:lpstr>1.2. Tên</vt:lpstr>
      <vt:lpstr>1.3. Một số khái niệm</vt:lpstr>
      <vt:lpstr>1.3. Một số khái niệm</vt:lpstr>
      <vt:lpstr>1.3. Một số khái niệm</vt:lpstr>
      <vt:lpstr>PowerPoint Presentation</vt:lpstr>
      <vt:lpstr>PowerPoint Presentation</vt:lpstr>
      <vt:lpstr>PowerPoint Presentation</vt:lpstr>
      <vt:lpstr>1.4. Cấu trúc cơ bản của một chương trình C</vt:lpstr>
      <vt:lpstr>1.4. Cấu trúc cơ bản của chương trình C</vt:lpstr>
      <vt:lpstr>1.4. Cấu trúc cơ bản của chương trình C</vt:lpstr>
      <vt:lpstr>1.5. Một số chương trình ví dụ</vt:lpstr>
      <vt:lpstr>1.5. Một số chương trình ví dụ</vt:lpstr>
      <vt:lpstr>1.5. Một số chương trình ví dụ</vt:lpstr>
      <vt:lpstr>1.6. Một số qui tắc khi viết chương trình</vt:lpstr>
      <vt:lpstr>1.7. Cách thực hiện trên máy tính</vt:lpstr>
      <vt:lpstr>1.7. Cách thực hiện trên máy tính</vt:lpstr>
      <vt:lpstr>Chương trình soạn thảo và dịch C online:</vt:lpstr>
      <vt:lpstr>1.7. Cách thực hiện trên máy tính</vt:lpstr>
      <vt:lpstr>1.8. Một số hàm chuẩn thường dùng</vt:lpstr>
      <vt:lpstr>1.8. Một số hàm chuẩn thường dùng</vt:lpstr>
      <vt:lpstr>1.8. Một số hàm chuẩn thường dùng</vt:lpstr>
      <vt:lpstr>1.8. Một số hàm chuẩn thường dùng</vt:lpstr>
      <vt:lpstr>1.8. Một số hàm chuẩn thường dùng</vt:lpstr>
      <vt:lpstr>1.8. Một số hàm chuẩn thường dùng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Bich hang</dc:creator>
  <cp:lastModifiedBy>VU HOANG NAM DAO</cp:lastModifiedBy>
  <cp:revision>2427</cp:revision>
  <dcterms:created xsi:type="dcterms:W3CDTF">2013-02-19T03:52:16Z</dcterms:created>
  <dcterms:modified xsi:type="dcterms:W3CDTF">2025-09-23T11:52:00Z</dcterms:modified>
</cp:coreProperties>
</file>